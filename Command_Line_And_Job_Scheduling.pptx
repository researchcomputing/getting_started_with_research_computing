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56"/>
  </p:notesMasterIdLst>
  <p:sldIdLst>
    <p:sldId id="256" r:id="rId5"/>
    <p:sldId id="430" r:id="rId6"/>
    <p:sldId id="365" r:id="rId7"/>
    <p:sldId id="261" r:id="rId8"/>
    <p:sldId id="351" r:id="rId9"/>
    <p:sldId id="450" r:id="rId10"/>
    <p:sldId id="418" r:id="rId11"/>
    <p:sldId id="420" r:id="rId12"/>
    <p:sldId id="421" r:id="rId13"/>
    <p:sldId id="400" r:id="rId14"/>
    <p:sldId id="404" r:id="rId15"/>
    <p:sldId id="405" r:id="rId16"/>
    <p:sldId id="424" r:id="rId17"/>
    <p:sldId id="407" r:id="rId18"/>
    <p:sldId id="425" r:id="rId19"/>
    <p:sldId id="263" r:id="rId20"/>
    <p:sldId id="426" r:id="rId21"/>
    <p:sldId id="431" r:id="rId22"/>
    <p:sldId id="374" r:id="rId23"/>
    <p:sldId id="432" r:id="rId24"/>
    <p:sldId id="433" r:id="rId25"/>
    <p:sldId id="434" r:id="rId26"/>
    <p:sldId id="373" r:id="rId27"/>
    <p:sldId id="435" r:id="rId28"/>
    <p:sldId id="436" r:id="rId29"/>
    <p:sldId id="437" r:id="rId30"/>
    <p:sldId id="438" r:id="rId31"/>
    <p:sldId id="439" r:id="rId32"/>
    <p:sldId id="440" r:id="rId33"/>
    <p:sldId id="444" r:id="rId34"/>
    <p:sldId id="441" r:id="rId35"/>
    <p:sldId id="442" r:id="rId36"/>
    <p:sldId id="443" r:id="rId37"/>
    <p:sldId id="445" r:id="rId38"/>
    <p:sldId id="446" r:id="rId39"/>
    <p:sldId id="447" r:id="rId40"/>
    <p:sldId id="370" r:id="rId41"/>
    <p:sldId id="371" r:id="rId42"/>
    <p:sldId id="354" r:id="rId43"/>
    <p:sldId id="355" r:id="rId44"/>
    <p:sldId id="429" r:id="rId45"/>
    <p:sldId id="427" r:id="rId46"/>
    <p:sldId id="396" r:id="rId47"/>
    <p:sldId id="383" r:id="rId48"/>
    <p:sldId id="384" r:id="rId49"/>
    <p:sldId id="359" r:id="rId50"/>
    <p:sldId id="361" r:id="rId51"/>
    <p:sldId id="362" r:id="rId52"/>
    <p:sldId id="416" r:id="rId53"/>
    <p:sldId id="448" r:id="rId54"/>
    <p:sldId id="44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91206C-2BA2-452A-5B48-4B2D08511887}" name="Michael Joseph Schneider" initials="MS" userId="S::misc7570@colorado.edu::0526a63a-26d6-4239-972a-179b08dd2c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FE0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56"/>
    <p:restoredTop sz="97228"/>
  </p:normalViewPr>
  <p:slideViewPr>
    <p:cSldViewPr snapToGrid="0">
      <p:cViewPr varScale="1">
        <p:scale>
          <a:sx n="172" d="100"/>
          <a:sy n="172" d="100"/>
        </p:scale>
        <p:origin x="10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A08D6-E137-3341-A5EE-84219A24203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6901F-C6C3-9E47-9843-744856EDD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0E6FC-C58D-CA46-93FA-98E1AAB1BA5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30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316551ed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316551eda_0_13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workshop is meant to be empowering and information-rich – to help you get the most out of your HPC workflow.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Feel free to ask questions during the presentations and to discuss ideas/thoughts during breaks and the hands-on portion of the workshop.</a:t>
            </a:r>
            <a:endParaRPr dirty="0"/>
          </a:p>
        </p:txBody>
      </p:sp>
      <p:sp>
        <p:nvSpPr>
          <p:cNvPr id="130" name="Google Shape;130;g12316551ed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Jobs do not run immediately but instead wait in a SLURM managed queue.  A job’s placement in the queue is dependent on multiple factors. We will discuss a few of the most common factors, but a general rule to follow is that the more resources a job requests the longer it will wait in the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89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</a:t>
            </a:r>
            <a:r>
              <a:rPr lang="en-US" dirty="0" err="1"/>
              <a:t>hello.sh</a:t>
            </a:r>
            <a:r>
              <a:rPr lang="en-US" dirty="0"/>
              <a:t> file you </a:t>
            </a:r>
            <a:r>
              <a:rPr lang="en-US" dirty="0" err="1"/>
              <a:t>chmod’d</a:t>
            </a:r>
            <a:r>
              <a:rPr lang="en-US" dirty="0"/>
              <a:t> was a bash shell script.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implies that the Bash script is running in a separate independent shell. This separate shell terminates at the end of the script, leaving the parent shell, the shell we’re in, unaffected.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pwd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echo $$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PID OF CURRENT PROCESS</a:t>
            </a:r>
            <a:endParaRPr dirty="0"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FF08-17DB-28FC-AC3E-D0CE3185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089E0-940F-F89C-AEDB-4483A7E3C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E7A55-A2DC-8455-F874-C7762F954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Jobs do not run immediately but instead wait in a SLURM managed queue.  A job’s placement in the queue is dependent on multiple factors. We will discuss a few of the most common factors, but a general rule to follow is that the more resources a job requests the longer it will wait in the queue.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1DDC3-11A8-B552-D2B9-C2EE619A2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57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79A2-6C01-2D82-2026-873F0C42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B4BD3-D55B-C978-3890-0BC25B056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632A4-DAED-18E7-2A05-12E1398AB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Partition – Defines what type of hardware your job has access to. </a:t>
            </a:r>
          </a:p>
          <a:p>
            <a:endParaRPr lang="en-US" dirty="0"/>
          </a:p>
          <a:p>
            <a:r>
              <a:rPr lang="en-US" dirty="0" err="1"/>
              <a:t>Ntasks</a:t>
            </a:r>
            <a:r>
              <a:rPr lang="en-US" dirty="0"/>
              <a:t> – How many CPU cores your job is requesting</a:t>
            </a:r>
          </a:p>
          <a:p>
            <a:endParaRPr lang="en-US" dirty="0"/>
          </a:p>
          <a:p>
            <a:r>
              <a:rPr lang="en-US" dirty="0"/>
              <a:t>Nodes – How many nodes your job will run across (typically 1, but can be more)</a:t>
            </a:r>
          </a:p>
          <a:p>
            <a:endParaRPr lang="en-US" dirty="0"/>
          </a:p>
          <a:p>
            <a:r>
              <a:rPr lang="en-US" dirty="0"/>
              <a:t>Wall Time – How much time your job needs to run on the system (can be a few minutes, a few hours, to multiple days)</a:t>
            </a:r>
          </a:p>
          <a:p>
            <a:endParaRPr lang="en-US" dirty="0"/>
          </a:p>
          <a:p>
            <a:r>
              <a:rPr lang="en-US" dirty="0"/>
              <a:t>Quality of Service (QOS) – Defines additional job constraints – i.e. limits to how much your job can request.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ED7FE-C9C0-4E32-9AFC-C2DAB812B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08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D0A3E20E-FC8A-5CE7-3FB3-E125CF50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F7B83B71-ECA6-67CD-8273-82DEA8414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A9D89E84-E581-89A7-7FA7-E771B1827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 nodes are organized into partitions – logical groups of similarly spec’d hardware.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Partitions make it easier to request specific resources and ensure a more consistent user experience.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Alpine Cluster has four primary partitions.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  <a:endParaRPr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9D29B984-FBEC-866C-F88B-A129F4D25A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341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3B3E419D-42DC-9BF8-E574-79B5FE75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E2B5DF0E-33E4-CD33-E622-8A5DDB436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9F259969-7916-7A22-7681-4C78BEE02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amilan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285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  <a:endParaRPr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186D727F-2132-DA15-78AF-130F8F1B1E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5803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2C0D8D7D-F11A-6ED5-0EA5-19E98E5B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50EA0C7D-3FEF-4C96-8B9F-1773780BE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B7914616-93C1-BF2D-A39D-0222189A5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amem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48 CPU Cores per node (12)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 (10)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21.5 GB of RAM per CPU (1 TB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29DCA4C4-C232-5907-9F06-1B58CD873E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490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F8D2C90A-5B73-4508-615E-264362A9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B16E7737-79B1-8E6E-5A38-C6999827C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F931679B-1D1E-8F7D-0C6C-336DB0BAB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GPU’s per Node (Nvidia A100)</a:t>
            </a:r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1382B4DD-9E5B-2333-B86F-57C4B9715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058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4AEB09C-00E5-8F93-C01E-34DCA8FC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B468BC0F-AD51-A90A-E685-BFC983EF0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9CD8BF36-4E58-DC63-9B9E-3C3A3BA1C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ami100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 GPU’s per Node (AMD MI100)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Detailed Information on Alpine Hardware: 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curc.readthedocs.io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/latest/clusters/alpine/alpine-</a:t>
            </a:r>
            <a:r>
              <a:rPr lang="en-US" dirty="0" err="1"/>
              <a:t>hardware.html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2FE227A3-0A7E-F0BB-133C-485346F260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378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1E7D0-0725-6665-14DF-9F7A4523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A6DA9-F009-EEE8-8B1A-8E90DAF76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0F619-60A5-1FB2-D41A-47126FD18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long </a:t>
            </a:r>
            <a:r>
              <a:rPr lang="en-US" dirty="0" err="1"/>
              <a:t>qos</a:t>
            </a:r>
            <a:r>
              <a:rPr lang="en-US" dirty="0"/>
              <a:t> has longer queue </a:t>
            </a:r>
            <a:r>
              <a:rPr lang="en-US"/>
              <a:t>wait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A2D7E-DA2B-ACA6-AA95-DE7BC011E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43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FBDD-18EF-3EDE-7CA2-4E60F453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75BAB-96D6-30D0-B2AF-AAF74B1A9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6AB2A-C9F5-E41C-C786-266D4AC3E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long </a:t>
            </a:r>
            <a:r>
              <a:rPr lang="en-US" dirty="0" err="1"/>
              <a:t>qos</a:t>
            </a:r>
            <a:r>
              <a:rPr lang="en-US" dirty="0"/>
              <a:t> has longer queue </a:t>
            </a:r>
            <a:r>
              <a:rPr lang="en-US"/>
              <a:t>wait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72852-BB9D-24B5-015C-014BB57B6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289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3A9B1-007B-13AA-060E-AA5FF107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C4436-5598-A78E-DBEB-EFACD36C6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3121B-DED7-2B48-F877-68E205E9C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long </a:t>
            </a:r>
            <a:r>
              <a:rPr lang="en-US" dirty="0" err="1"/>
              <a:t>qos</a:t>
            </a:r>
            <a:r>
              <a:rPr lang="en-US" dirty="0"/>
              <a:t> has longer queue </a:t>
            </a:r>
            <a:r>
              <a:rPr lang="en-US"/>
              <a:t>wait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0AE-EC8C-3A14-F8F9-ACEA4E4F8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28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9927-4C90-402D-D4FA-DE392C2F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B8E0F-1BDF-86CA-BB2E-8BD8CF327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6C142-3031-06D7-4B05-60A3CA8F7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long </a:t>
            </a:r>
            <a:r>
              <a:rPr lang="en-US" dirty="0" err="1"/>
              <a:t>qos</a:t>
            </a:r>
            <a:r>
              <a:rPr lang="en-US" dirty="0"/>
              <a:t> has longer queue </a:t>
            </a:r>
            <a:r>
              <a:rPr lang="en-US"/>
              <a:t>wait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17CEF-F18E-56BE-6FAC-7438DF30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389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BD51-25E1-0F1C-054E-F778B831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96864-F886-9DBF-E4EF-491A4BF35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C0CBE-D626-6BBF-8401-EC3775677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Jobs do not run immediately but instead wait in a SLURM managed queue.  A job’s placement in the queue is dependent on multiple factors. We will discuss a few of the most common factors, but a general rule to follow is that the more resources a job requests the longer it will wait in the queue.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023E9-13F8-BD48-4E77-8E2FCB1E3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19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F51B7-29B3-0112-5E32-83A871CFE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962EB-B378-2736-9CAE-339AD941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6D1BE-9966-E586-1474-A9DFBA683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you have a general idea of what resources you plan to request, you will need to consider the type of job you are wanting to schedule. A batch job or an interactive job.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82BE5-474D-4859-22C8-B864105EB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86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FC44-A34E-28D1-FE49-D832B52E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7BE60-168F-5349-1DDD-710230AAB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F71DE-BF13-6457-4DAF-DEFF595D8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you have a general idea of what resources you plan to request, you will need to consider the type of job you are wanting to schedule. A batch job or an interactive job.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83CEA-8AF0-2722-6646-76C90C8C3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60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DF2B-675D-239C-E650-982B125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37A37-8653-7393-1295-E5E418AEE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65B49-4672-A46E-CE55-24825C0AD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23C39-22FC-A8E6-3C5D-583D8A3BE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09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17E46-49BC-FBAD-7E02-8504716A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D6A41-4937-8E88-ABEC-A39E9A59F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733E8-1DA8-857B-4671-7714847F2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C58A9-C264-4351-474A-E99697DBF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549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F6531-9052-44FE-6875-825A68F6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DE30D-05CD-D15D-375E-A830D1B31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9F8E3-592D-C6C8-6811-56A331877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you have a general idea of what resources you plan to request, you will need to consider the type of job you are wanting to schedule. A batch job or an interactive job.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459B2-5D56-15DF-545F-CA7BCAAB7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911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C57E-C2FA-62A3-CFAD-FA9A3D02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3225B-783E-ABB6-174D-F820456C9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ECF32-6210-6AF5-6EAC-583EC3A90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3EA2F-18CA-AC4E-DD26-703E89203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348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C96C-9B1E-B70B-1010-EEC80ACB8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BB30A-3C4C-7C9D-E79E-D5C1E4E0F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1A3A5-2CF4-0DDD-65D7-E4FE30C0E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89BE1-C032-9DB3-F537-A25A39FED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005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232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308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21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522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0D89-6906-7AE4-7E91-B3575E8E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85DE2-BF0B-B41C-543E-B97A11527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D6A8D-EDE2-023B-A521-F8A5342AF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151F9-BACF-5D57-CA63-DBF49896D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443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9885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en-US" sz="1200" i="0" u="none" strike="noStrike" cap="none" dirty="0">
                <a:solidFill>
                  <a:schemeClr val="dk1"/>
                </a:solidFill>
              </a:rPr>
              <a:t>Output files are important for debugging and verifying a job has completed successfully. Always include a --output directive!</a:t>
            </a:r>
          </a:p>
          <a:p>
            <a:pPr marL="349885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en-US" sz="1200" i="0" u="none" strike="noStrike" cap="none" dirty="0">
                <a:solidFill>
                  <a:schemeClr val="dk1"/>
                </a:solidFill>
              </a:rPr>
              <a:t>The output file is created in directory job was run unless specified in your </a:t>
            </a:r>
            <a:r>
              <a:rPr lang="en-US" sz="1200" i="0" u="none" strike="noStrike" cap="none" dirty="0">
                <a:solidFill>
                  <a:srgbClr val="0070C0"/>
                </a:solidFill>
              </a:rPr>
              <a:t>--output </a:t>
            </a:r>
            <a:r>
              <a:rPr lang="en-US" sz="1200" i="0" u="none" strike="noStrike" cap="none" dirty="0">
                <a:solidFill>
                  <a:schemeClr val="dk1"/>
                </a:solidFill>
              </a:rPr>
              <a:t>directive.</a:t>
            </a:r>
            <a:endParaRPr lang="en-US" sz="900" i="0" u="none" strike="noStrike" cap="none" dirty="0">
              <a:solidFill>
                <a:schemeClr val="tx1"/>
              </a:solidFill>
            </a:endParaRPr>
          </a:p>
          <a:p>
            <a:pPr marL="349885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en-US" sz="1200" i="0" u="none" strike="noStrike" cap="none" dirty="0">
                <a:solidFill>
                  <a:schemeClr val="dk1"/>
                </a:solidFill>
              </a:rPr>
              <a:t>If the </a:t>
            </a:r>
            <a:r>
              <a:rPr lang="en-US" sz="1200" i="0" u="none" strike="noStrike" cap="none" dirty="0">
                <a:solidFill>
                  <a:srgbClr val="000000"/>
                </a:solidFill>
              </a:rPr>
              <a:t>directive </a:t>
            </a:r>
            <a:r>
              <a:rPr lang="en-US" sz="1200" i="0" u="none" strike="noStrike" cap="none" dirty="0">
                <a:solidFill>
                  <a:srgbClr val="0070C0"/>
                </a:solidFill>
              </a:rPr>
              <a:t>--output </a:t>
            </a:r>
            <a:r>
              <a:rPr lang="en-US" sz="1200" i="0" u="none" strike="noStrike" cap="none" dirty="0">
                <a:solidFill>
                  <a:schemeClr val="dk1"/>
                </a:solidFill>
              </a:rPr>
              <a:t>is not provided, then a generic file name will be used (</a:t>
            </a:r>
            <a:r>
              <a:rPr lang="en-US" sz="1200" i="0" u="none" strike="noStrike" cap="none" dirty="0" err="1">
                <a:solidFill>
                  <a:schemeClr val="dk1"/>
                </a:solidFill>
              </a:rPr>
              <a:t>slurm_xxxxxx.out</a:t>
            </a:r>
            <a:r>
              <a:rPr lang="en-US" sz="1200" i="0" u="none" strike="noStrike" cap="none" dirty="0">
                <a:solidFill>
                  <a:schemeClr val="dk1"/>
                </a:solidFill>
              </a:rPr>
              <a:t>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691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94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085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09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120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414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984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2316551eda_0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5" name="Google Shape;895;g12316551eda_0_8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g12316551eda_0_8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2316551eda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0" name="Google Shape;910;g12316551eda_0_8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g12316551eda_0_8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2933-1853-3695-5698-EA2C873D5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39900-6690-4850-B14D-CFF0A6DDB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3EF43-FA77-3703-DB72-C6218B04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/>
              <a:t>9/12/25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2B1B4-AC37-41B2-EB63-E0D769F4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3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1D7D-D016-C86F-111E-51245E7B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B542-AE2F-4E58-DD66-7DA9CB44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321B0-98E4-9776-8ABB-72C7B07A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70515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/>
              <a:t>9/12/25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58BD9-1414-8B11-5258-F11F3BBA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4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F543F-785B-81AD-859C-25E1E14F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1285-AC5A-F005-FEA3-CACE5986B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EED0-1DC9-A7B8-1AA0-116CA0EB6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A560F-461C-6043-9BC4-489BA92F716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16A367C9-3AA6-1192-2565-6CDE4E3F4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46811"/>
            <a:ext cx="4724400" cy="5842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A2128F-B59B-98EB-B50C-F663F9DCC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/>
              <a:t>9/12/25</a:t>
            </a:r>
          </a:p>
        </p:txBody>
      </p:sp>
    </p:spTree>
    <p:extLst>
      <p:ext uri="{BB962C8B-B14F-4D97-AF65-F5344CB8AC3E}">
        <p14:creationId xmlns:p14="http://schemas.microsoft.com/office/powerpoint/2010/main" val="250484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c.colorado.ed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curc.readthedocs.io/en/lates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access/logging-in.html" TargetMode="External"/><Relationship Id="rId2" Type="http://schemas.openxmlformats.org/officeDocument/2006/relationships/hyperlink" Target="https://ondemand-rmacc.rc.colorado.ed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access/logging-in.html" TargetMode="External"/><Relationship Id="rId2" Type="http://schemas.openxmlformats.org/officeDocument/2006/relationships/hyperlink" Target="https://ondemand-rmacc.rc.colorado.ed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access/logging-in.html" TargetMode="External"/><Relationship Id="rId2" Type="http://schemas.openxmlformats.org/officeDocument/2006/relationships/hyperlink" Target="https://ondemand-rmacc.rc.colorado.edu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curc.readthedocs.io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urc.readthedocs.io/en/latest/getting_started/trainings_and_consults/index.html#weekly-office-hours" TargetMode="External"/><Relationship Id="rId4" Type="http://schemas.openxmlformats.org/officeDocument/2006/relationships/hyperlink" Target="https://www.colorado.edu/crdds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.zoom.us/m/bPlTUoGhy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32560"/>
          <a:stretch/>
        </p:blipFill>
        <p:spPr>
          <a:xfrm>
            <a:off x="0" y="0"/>
            <a:ext cx="12208413" cy="45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>
            <a:off x="459256" y="4836507"/>
            <a:ext cx="112899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lang="en-US" sz="4400" dirty="0"/>
              <a:t>Getting Started with Research Computing</a:t>
            </a:r>
            <a:br>
              <a:rPr lang="en-US" sz="4400" dirty="0"/>
            </a:br>
            <a:r>
              <a:rPr lang="en-US" sz="3200" dirty="0"/>
              <a:t>From Command Line to Job Scheduling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0082-60A2-8E8C-93CB-F5A869FA2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dirty="0"/>
              <a:t>Useful CURC links</a:t>
            </a:r>
          </a:p>
        </p:txBody>
      </p:sp>
      <p:sp>
        <p:nvSpPr>
          <p:cNvPr id="4" name="Google Shape;98;p14">
            <a:extLst>
              <a:ext uri="{FF2B5EF4-FFF2-40B4-BE49-F238E27FC236}">
                <a16:creationId xmlns:a16="http://schemas.microsoft.com/office/drawing/2014/main" id="{68E75E60-516C-5ACC-9B2C-B6A1774A889E}"/>
              </a:ext>
            </a:extLst>
          </p:cNvPr>
          <p:cNvSpPr txBox="1">
            <a:spLocks/>
          </p:cNvSpPr>
          <p:nvPr/>
        </p:nvSpPr>
        <p:spPr>
          <a:xfrm>
            <a:off x="279955" y="2331720"/>
            <a:ext cx="70104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Website: </a:t>
            </a:r>
            <a:r>
              <a:rPr lang="en-US" sz="2400" u="sng" dirty="0">
                <a:solidFill>
                  <a:schemeClr val="hlink"/>
                </a:solidFill>
                <a:ea typeface="Arial"/>
                <a:cs typeface="Arial"/>
                <a:hlinkClick r:id="rId3"/>
              </a:rPr>
              <a:t>www.rc.colorado.edu</a:t>
            </a:r>
            <a:endParaRPr lang="en-US" sz="2400" dirty="0">
              <a:solidFill>
                <a:schemeClr val="hlink"/>
              </a:solidFill>
              <a:ea typeface="Arial"/>
              <a:cs typeface="Arial"/>
            </a:endParaRPr>
          </a:p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Documentation:</a:t>
            </a:r>
            <a:r>
              <a:rPr lang="en-US" sz="2400" dirty="0">
                <a:ea typeface="Arial"/>
                <a:cs typeface="Arial"/>
              </a:rPr>
              <a:t> </a:t>
            </a:r>
            <a:r>
              <a:rPr lang="en-US" sz="2400" dirty="0">
                <a:ea typeface="Arial"/>
                <a:cs typeface="Arial"/>
                <a:hlinkClick r:id="rId4"/>
              </a:rPr>
              <a:t>curc.readthedocs.io</a:t>
            </a:r>
            <a:r>
              <a:rPr lang="en-US" sz="2400" dirty="0">
                <a:ea typeface="Arial"/>
                <a:cs typeface="Arial"/>
              </a:rPr>
              <a:t> </a:t>
            </a:r>
          </a:p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Support request form:</a:t>
            </a:r>
            <a:r>
              <a:rPr lang="en-US" sz="2400" dirty="0">
                <a:ea typeface="Arial"/>
                <a:cs typeface="Arial"/>
              </a:rPr>
              <a:t> </a:t>
            </a:r>
            <a:r>
              <a:rPr lang="en-US" sz="2400" dirty="0">
                <a:solidFill>
                  <a:srgbClr val="0563C1"/>
                </a:solidFill>
                <a:ea typeface="Arial"/>
                <a:cs typeface="Arial"/>
              </a:rPr>
              <a:t>colorado.service-now.com/req_portal?id=ucb_sc_rc_form</a:t>
            </a:r>
            <a:r>
              <a:rPr lang="en-US" sz="2400" dirty="0">
                <a:solidFill>
                  <a:srgbClr val="0000FF"/>
                </a:solidFill>
                <a:ea typeface="Arial"/>
                <a:cs typeface="Arial"/>
              </a:rPr>
              <a:t> </a:t>
            </a:r>
            <a:endParaRPr lang="en-US" sz="2400" u="sng" dirty="0">
              <a:solidFill>
                <a:srgbClr val="0000FF"/>
              </a:solidFill>
              <a:ea typeface="Arial"/>
              <a:cs typeface="Arial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CE29C41-6B27-6F60-8168-62581B12D518}"/>
              </a:ext>
            </a:extLst>
          </p:cNvPr>
          <p:cNvSpPr txBox="1">
            <a:spLocks/>
          </p:cNvSpPr>
          <p:nvPr/>
        </p:nvSpPr>
        <p:spPr>
          <a:xfrm>
            <a:off x="5841558" y="6367559"/>
            <a:ext cx="50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6A7983A4-F384-C340-9CB2-175593F0E4F5}" type="slidenum">
              <a:rPr lang="en-US"/>
              <a:pPr algn="l"/>
              <a:t>2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EE983C-BF7D-9FDC-C0C2-904D80A68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565968" y="2331720"/>
            <a:ext cx="3931920" cy="2194560"/>
            <a:chOff x="2734356" y="510892"/>
            <a:chExt cx="3931920" cy="2194560"/>
          </a:xfrm>
        </p:grpSpPr>
        <p:pic>
          <p:nvPicPr>
            <p:cNvPr id="9" name="Picture 8" descr="A black and gold logo&#10;&#10;Description automatically generated">
              <a:extLst>
                <a:ext uri="{FF2B5EF4-FFF2-40B4-BE49-F238E27FC236}">
                  <a16:creationId xmlns:a16="http://schemas.microsoft.com/office/drawing/2014/main" id="{7FB1F572-2B82-EC63-473F-35770E4B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4649" y="693772"/>
              <a:ext cx="3571335" cy="1828800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D607CAF-4F62-005D-FDF3-5BB59B1A5EF9}"/>
                </a:ext>
              </a:extLst>
            </p:cNvPr>
            <p:cNvSpPr/>
            <p:nvPr/>
          </p:nvSpPr>
          <p:spPr>
            <a:xfrm>
              <a:off x="2734356" y="510892"/>
              <a:ext cx="3931920" cy="2194560"/>
            </a:xfrm>
            <a:prstGeom prst="roundRect">
              <a:avLst>
                <a:gd name="adj" fmla="val 8994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A574-E021-E66F-50EE-C0BCBF2D2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387600"/>
            <a:ext cx="9144000" cy="2387600"/>
          </a:xfrm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dirty="0"/>
              <a:t>The user support team</a:t>
            </a:r>
          </a:p>
        </p:txBody>
      </p:sp>
      <p:pic>
        <p:nvPicPr>
          <p:cNvPr id="8" name="Picture 7" descr="Picture showing the RC User Support team">
            <a:extLst>
              <a:ext uri="{FF2B5EF4-FFF2-40B4-BE49-F238E27FC236}">
                <a16:creationId xmlns:a16="http://schemas.microsoft.com/office/drawing/2014/main" id="{13513FD8-9948-2F45-CF62-A1A2AFBA5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04" y="43608"/>
            <a:ext cx="10689866" cy="60130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AEEA2-192E-AA62-50EE-AA62ABA07F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096000" y="6324601"/>
            <a:ext cx="682920" cy="36512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56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4277455" y="4488215"/>
            <a:ext cx="335941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Helvetica Neue"/>
                <a:ea typeface="Helvetica Neue"/>
                <a:cs typeface="Helvetica Neue"/>
                <a:sym typeface="Helvetica Neue"/>
              </a:rPr>
              <a:t>Ask Questions</a:t>
            </a:r>
            <a:endParaRPr sz="32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Graphic 4" descr="An icon of two people discussing a question, with a speech bubble containing a question mark above them">
            <a:extLst>
              <a:ext uri="{FF2B5EF4-FFF2-40B4-BE49-F238E27FC236}">
                <a16:creationId xmlns:a16="http://schemas.microsoft.com/office/drawing/2014/main" id="{81316737-E39C-896D-10BE-E6C435DF9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9764" y="711954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BB18D-FB7D-F2BF-A154-79E6A345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5</a:t>
            </a:fld>
            <a:endParaRPr lang="en-US"/>
          </a:p>
        </p:txBody>
      </p:sp>
      <p:sp>
        <p:nvSpPr>
          <p:cNvPr id="21" name="Google Shape;225;p30">
            <a:extLst>
              <a:ext uri="{FF2B5EF4-FFF2-40B4-BE49-F238E27FC236}">
                <a16:creationId xmlns:a16="http://schemas.microsoft.com/office/drawing/2014/main" id="{8E6FEFA0-D4B8-CC71-FDDD-F918B7C3F7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03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 Light"/>
              <a:buNone/>
            </a:pPr>
            <a:r>
              <a:rPr lang="en-US" dirty="0">
                <a:sym typeface="Helvetica Neue Light"/>
              </a:rPr>
              <a:t>General Overview of Job Submission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F113AD-1E98-5E7F-5452-270D5896A74B}"/>
              </a:ext>
            </a:extLst>
          </p:cNvPr>
          <p:cNvGrpSpPr/>
          <p:nvPr/>
        </p:nvGrpSpPr>
        <p:grpSpPr>
          <a:xfrm>
            <a:off x="1069178" y="1759077"/>
            <a:ext cx="3636619" cy="3339847"/>
            <a:chOff x="1069178" y="1759077"/>
            <a:chExt cx="3636619" cy="3339847"/>
          </a:xfrm>
        </p:grpSpPr>
        <p:pic>
          <p:nvPicPr>
            <p:cNvPr id="6" name="Google Shape;210;p30">
              <a:extLst>
                <a:ext uri="{FF2B5EF4-FFF2-40B4-BE49-F238E27FC236}">
                  <a16:creationId xmlns:a16="http://schemas.microsoft.com/office/drawing/2014/main" id="{6445D8FA-61FC-C99C-FBF0-FE41F2867EA6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69178" y="2240351"/>
              <a:ext cx="2377292" cy="2377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Right Arrow Callout 27">
              <a:extLst>
                <a:ext uri="{FF2B5EF4-FFF2-40B4-BE49-F238E27FC236}">
                  <a16:creationId xmlns:a16="http://schemas.microsoft.com/office/drawing/2014/main" id="{D1F6003B-6623-8814-EF42-BD56D32E21D1}"/>
                </a:ext>
              </a:extLst>
            </p:cNvPr>
            <p:cNvSpPr/>
            <p:nvPr/>
          </p:nvSpPr>
          <p:spPr>
            <a:xfrm>
              <a:off x="1094954" y="1759077"/>
              <a:ext cx="3610843" cy="3339847"/>
            </a:xfrm>
            <a:prstGeom prst="rightArrowCallou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D54623E-55FE-5016-88E7-859D6212172B}"/>
                </a:ext>
              </a:extLst>
            </p:cNvPr>
            <p:cNvGrpSpPr/>
            <p:nvPr/>
          </p:nvGrpSpPr>
          <p:grpSpPr>
            <a:xfrm>
              <a:off x="1082066" y="1873651"/>
              <a:ext cx="2351516" cy="707886"/>
              <a:chOff x="540307" y="1873650"/>
              <a:chExt cx="2351516" cy="707886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AF5CB76-729A-3C38-279C-2C7E61E3A9B0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A96D8E1-31CF-5327-5B67-2EDC22CED229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6AC7A0-B089-F320-3991-E46034178576}"/>
                </a:ext>
              </a:extLst>
            </p:cNvPr>
            <p:cNvSpPr txBox="1"/>
            <p:nvPr/>
          </p:nvSpPr>
          <p:spPr>
            <a:xfrm>
              <a:off x="1094954" y="443298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Login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6A08A5C-F308-5451-92D0-FC4C0A7EE7C4}"/>
              </a:ext>
            </a:extLst>
          </p:cNvPr>
          <p:cNvGrpSpPr/>
          <p:nvPr/>
        </p:nvGrpSpPr>
        <p:grpSpPr>
          <a:xfrm>
            <a:off x="4913198" y="1759077"/>
            <a:ext cx="3631266" cy="3339847"/>
            <a:chOff x="4913198" y="1759077"/>
            <a:chExt cx="3631266" cy="3339847"/>
          </a:xfrm>
        </p:grpSpPr>
        <p:sp>
          <p:nvSpPr>
            <p:cNvPr id="34" name="Right Arrow Callout 33">
              <a:extLst>
                <a:ext uri="{FF2B5EF4-FFF2-40B4-BE49-F238E27FC236}">
                  <a16:creationId xmlns:a16="http://schemas.microsoft.com/office/drawing/2014/main" id="{3E5C80A0-E947-38AD-F1D4-923A324CA447}"/>
                </a:ext>
              </a:extLst>
            </p:cNvPr>
            <p:cNvSpPr/>
            <p:nvPr/>
          </p:nvSpPr>
          <p:spPr>
            <a:xfrm>
              <a:off x="4933621" y="1759077"/>
              <a:ext cx="3610843" cy="3339847"/>
            </a:xfrm>
            <a:prstGeom prst="rightArrowCallou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775936-EA5C-533D-7DFE-4A84895E5977}"/>
                </a:ext>
              </a:extLst>
            </p:cNvPr>
            <p:cNvGrpSpPr/>
            <p:nvPr/>
          </p:nvGrpSpPr>
          <p:grpSpPr>
            <a:xfrm>
              <a:off x="4920733" y="1873651"/>
              <a:ext cx="2351516" cy="707886"/>
              <a:chOff x="540307" y="1873650"/>
              <a:chExt cx="2351516" cy="707886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641A5BB-77EA-273B-8E7A-8664CF1EA0C5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A54F45C-49A2-0592-EF97-EEB15755B068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56C0665-D303-870A-8948-8814BB5FE8E1}"/>
                </a:ext>
              </a:extLst>
            </p:cNvPr>
            <p:cNvSpPr txBox="1"/>
            <p:nvPr/>
          </p:nvSpPr>
          <p:spPr>
            <a:xfrm>
              <a:off x="4913198" y="443619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Resources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14DDDDD-3CB5-2CD6-2422-43D3B8458EA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73040" y="2755023"/>
              <a:ext cx="1645920" cy="1546836"/>
              <a:chOff x="8412658" y="2617108"/>
              <a:chExt cx="1929294" cy="181315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FC66A7A-0575-898D-E9E1-B3F27F73801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412658" y="2617108"/>
                <a:ext cx="1078992" cy="1082299"/>
                <a:chOff x="4726983" y="2457616"/>
                <a:chExt cx="2062421" cy="1993113"/>
              </a:xfrm>
            </p:grpSpPr>
            <p:sp>
              <p:nvSpPr>
                <p:cNvPr id="23" name="Rounded Rectangle 22" descr="An icon representing a computer chip">
                  <a:extLst>
                    <a:ext uri="{FF2B5EF4-FFF2-40B4-BE49-F238E27FC236}">
                      <a16:creationId xmlns:a16="http://schemas.microsoft.com/office/drawing/2014/main" id="{8D2450D7-B329-63DB-EDD1-E07E82D72D90}"/>
                    </a:ext>
                  </a:extLst>
                </p:cNvPr>
                <p:cNvSpPr/>
                <p:nvPr/>
              </p:nvSpPr>
              <p:spPr>
                <a:xfrm>
                  <a:off x="4726983" y="2457616"/>
                  <a:ext cx="2062421" cy="1993113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" name="Graphic 23">
                  <a:extLst>
                    <a:ext uri="{FF2B5EF4-FFF2-40B4-BE49-F238E27FC236}">
                      <a16:creationId xmlns:a16="http://schemas.microsoft.com/office/drawing/2014/main" id="{FE8221AE-93C6-A7FB-48DE-4AB479C030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75767" y="2671746"/>
                  <a:ext cx="1564852" cy="1564852"/>
                </a:xfrm>
                <a:prstGeom prst="rect">
                  <a:avLst/>
                </a:prstGeom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97D9C63-4800-BBEA-DC3F-F8FD0C412D20}"/>
                  </a:ext>
                </a:extLst>
              </p:cNvPr>
              <p:cNvGrpSpPr/>
              <p:nvPr/>
            </p:nvGrpSpPr>
            <p:grpSpPr>
              <a:xfrm>
                <a:off x="9262960" y="3347959"/>
                <a:ext cx="1078992" cy="1082299"/>
                <a:chOff x="9174826" y="3192427"/>
                <a:chExt cx="1078992" cy="1082299"/>
              </a:xfrm>
            </p:grpSpPr>
            <p:sp>
              <p:nvSpPr>
                <p:cNvPr id="42" name="Rounded Rectangle 41" descr="An icon of a stopwatch">
                  <a:extLst>
                    <a:ext uri="{FF2B5EF4-FFF2-40B4-BE49-F238E27FC236}">
                      <a16:creationId xmlns:a16="http://schemas.microsoft.com/office/drawing/2014/main" id="{F0D502A3-CB15-6B69-EDED-92F7C83A89B1}"/>
                    </a:ext>
                  </a:extLst>
                </p:cNvPr>
                <p:cNvSpPr/>
                <p:nvPr/>
              </p:nvSpPr>
              <p:spPr>
                <a:xfrm>
                  <a:off x="9174826" y="3192427"/>
                  <a:ext cx="1078992" cy="1082299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45" name="Graphic 44" descr="Stopwatch with solid fill">
                  <a:extLst>
                    <a:ext uri="{FF2B5EF4-FFF2-40B4-BE49-F238E27FC236}">
                      <a16:creationId xmlns:a16="http://schemas.microsoft.com/office/drawing/2014/main" id="{BC741E21-006A-309E-B444-555F73882B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02842" y="3322096"/>
                  <a:ext cx="822960" cy="82296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098B293-4659-5662-076E-F58D6E65E23A}"/>
              </a:ext>
            </a:extLst>
          </p:cNvPr>
          <p:cNvGrpSpPr/>
          <p:nvPr/>
        </p:nvGrpSpPr>
        <p:grpSpPr>
          <a:xfrm>
            <a:off x="8747203" y="1764792"/>
            <a:ext cx="2358559" cy="3334132"/>
            <a:chOff x="8747203" y="1764792"/>
            <a:chExt cx="2358559" cy="3334132"/>
          </a:xfrm>
        </p:grpSpPr>
        <p:pic>
          <p:nvPicPr>
            <p:cNvPr id="2" name="Picture 2" descr="The logo of the Slurm workload manager">
              <a:extLst>
                <a:ext uri="{FF2B5EF4-FFF2-40B4-BE49-F238E27FC236}">
                  <a16:creationId xmlns:a16="http://schemas.microsoft.com/office/drawing/2014/main" id="{6CB1CD0B-FBFC-C08B-ACC5-7272C42BC2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089"/>
            <a:stretch/>
          </p:blipFill>
          <p:spPr bwMode="auto">
            <a:xfrm>
              <a:off x="9087422" y="2803512"/>
              <a:ext cx="1698054" cy="1366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E613B8-83CC-2DE3-004F-C699F420D014}"/>
                </a:ext>
              </a:extLst>
            </p:cNvPr>
            <p:cNvSpPr txBox="1"/>
            <p:nvPr/>
          </p:nvSpPr>
          <p:spPr>
            <a:xfrm>
              <a:off x="8758419" y="443298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Job Request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7AA69B1-C5FC-5B47-22B1-1893FB15BCBD}"/>
                </a:ext>
              </a:extLst>
            </p:cNvPr>
            <p:cNvSpPr/>
            <p:nvPr/>
          </p:nvSpPr>
          <p:spPr>
            <a:xfrm>
              <a:off x="8767136" y="1764792"/>
              <a:ext cx="2338626" cy="333413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C7D732F-E0EA-02A1-C116-7C8AD7AE53A4}"/>
                </a:ext>
              </a:extLst>
            </p:cNvPr>
            <p:cNvGrpSpPr/>
            <p:nvPr/>
          </p:nvGrpSpPr>
          <p:grpSpPr>
            <a:xfrm>
              <a:off x="8747203" y="1891582"/>
              <a:ext cx="2351516" cy="707886"/>
              <a:chOff x="540307" y="1873650"/>
              <a:chExt cx="2351516" cy="707886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1B292E2-B647-B3FC-DFA6-2C2C40737E41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3A141B5-4BED-68AB-8415-8477992B4656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273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21DF-6CFF-1A13-6F53-64FE730E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DF08-3D51-1550-1D86-968CF68D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Nodes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2C59-5E5A-C34C-523B-0073B458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928" y="563753"/>
            <a:ext cx="10515600" cy="4351338"/>
          </a:xfrm>
        </p:spPr>
        <p:txBody>
          <a:bodyPr>
            <a:normAutofit/>
          </a:bodyPr>
          <a:lstStyle/>
          <a:p>
            <a:pPr marL="377825" lvl="1" indent="-243840"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dirty="0">
                <a:ea typeface="Helvetica Neue Light" panose="02000403000000020004" pitchFamily="2" charset="0"/>
                <a:sym typeface="Arial"/>
              </a:rPr>
              <a:t>Navigate to </a:t>
            </a:r>
            <a:r>
              <a:rPr lang="en-US" dirty="0">
                <a:ea typeface="Helvetica Neue Light" panose="02000403000000020004" pitchFamily="2" charset="0"/>
                <a:sym typeface="Arial"/>
                <a:hlinkClick r:id="rId2"/>
              </a:rPr>
              <a:t>https://ondemand-rmacc.rc.colorado.edu</a:t>
            </a:r>
            <a:r>
              <a:rPr lang="en-US" dirty="0">
                <a:ea typeface="Helvetica Neue Light" panose="02000403000000020004" pitchFamily="2" charset="0"/>
                <a:sym typeface="Arial"/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  <a:ea typeface="Helvetica Neue Light" panose="02000403000000020004" pitchFamily="2" charset="0"/>
              <a:cs typeface="Source Sans Pro Light" panose="020F0302020204030204" pitchFamily="34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rgbClr val="FF0000"/>
              </a:solidFill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Choose your organization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Enter your password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Authenticate by accepting the Duo push to your smartphone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Select the “Clusters” app to bring up an Alpine terminal</a:t>
            </a:r>
          </a:p>
          <a:p>
            <a:pPr marL="0" lvl="1" indent="0">
              <a:buClr>
                <a:srgbClr val="A9A57C"/>
              </a:buClr>
              <a:buSzPts val="2550"/>
              <a:buNone/>
            </a:pPr>
            <a:endParaRPr lang="en-US" dirty="0">
              <a:ea typeface="Helvetica Neue Light" panose="02000403000000020004" pitchFamily="2" charset="0"/>
              <a:hlinkClick r:id="rId3"/>
            </a:endParaRPr>
          </a:p>
          <a:p>
            <a:pPr marL="133985" lvl="1">
              <a:buClr>
                <a:srgbClr val="A9A57C"/>
              </a:buClr>
              <a:buSzPts val="2550"/>
            </a:pP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https://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curc.readthedocs.io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en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/latest/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open_ondemand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index.html</a:t>
            </a:r>
            <a:endParaRPr lang="en-US" dirty="0">
              <a:solidFill>
                <a:srgbClr val="0070C0"/>
              </a:solidFill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4E2A8-A53B-1490-81FA-6C578DCE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FA786-1F2A-876F-21A0-E14E47954B1A}"/>
              </a:ext>
            </a:extLst>
          </p:cNvPr>
          <p:cNvSpPr txBox="1"/>
          <p:nvPr/>
        </p:nvSpPr>
        <p:spPr>
          <a:xfrm>
            <a:off x="838200" y="1992351"/>
            <a:ext cx="85139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Login Node is the entryway onto our system. They are meant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Viewing or editing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Submitting Jobs</a:t>
            </a:r>
          </a:p>
          <a:p>
            <a:endParaRPr lang="en-US" dirty="0"/>
          </a:p>
          <a:p>
            <a:r>
              <a:rPr lang="en-US" dirty="0"/>
              <a:t>Login nodes should </a:t>
            </a:r>
            <a:r>
              <a:rPr lang="en-US" b="1" u="sng" dirty="0"/>
              <a:t>never</a:t>
            </a:r>
            <a:r>
              <a:rPr lang="en-US" dirty="0"/>
              <a:t> be used to run code or software.</a:t>
            </a:r>
          </a:p>
          <a:p>
            <a:endParaRPr lang="en-US" dirty="0"/>
          </a:p>
          <a:p>
            <a:r>
              <a:rPr lang="en-US" dirty="0"/>
              <a:t>Once you are on a terminal, you will know you are on a login node by looking at the command prompt. If it contains “login”, you are on a login node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Google Shape;677;p69">
            <a:extLst>
              <a:ext uri="{FF2B5EF4-FFF2-40B4-BE49-F238E27FC236}">
                <a16:creationId xmlns:a16="http://schemas.microsoft.com/office/drawing/2014/main" id="{E9A8ADAB-D6A2-D92B-FE75-ED16CD68B408}"/>
              </a:ext>
            </a:extLst>
          </p:cNvPr>
          <p:cNvSpPr/>
          <p:nvPr/>
        </p:nvSpPr>
        <p:spPr>
          <a:xfrm>
            <a:off x="1172737" y="4802369"/>
            <a:ext cx="7689900" cy="453574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[ralphie@login-ci3]$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9352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A1313-9657-F454-22E2-46B04EED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7F6A-5CE0-70BC-441B-34840809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Terminal (SSH)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F9F6-AE7B-3251-4D99-5B8675921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928" y="563753"/>
            <a:ext cx="10515600" cy="4351338"/>
          </a:xfrm>
        </p:spPr>
        <p:txBody>
          <a:bodyPr>
            <a:normAutofit/>
          </a:bodyPr>
          <a:lstStyle/>
          <a:p>
            <a:pPr marL="377825" lvl="1" indent="-243840"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dirty="0">
                <a:ea typeface="Helvetica Neue Light" panose="02000403000000020004" pitchFamily="2" charset="0"/>
                <a:sym typeface="Arial"/>
              </a:rPr>
              <a:t>Navigate to </a:t>
            </a:r>
            <a:r>
              <a:rPr lang="en-US" dirty="0">
                <a:ea typeface="Helvetica Neue Light" panose="02000403000000020004" pitchFamily="2" charset="0"/>
                <a:sym typeface="Arial"/>
                <a:hlinkClick r:id="rId2"/>
              </a:rPr>
              <a:t>https://ondemand-rmacc.rc.colorado.edu</a:t>
            </a:r>
            <a:r>
              <a:rPr lang="en-US" dirty="0">
                <a:ea typeface="Helvetica Neue Light" panose="02000403000000020004" pitchFamily="2" charset="0"/>
                <a:sym typeface="Arial"/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  <a:ea typeface="Helvetica Neue Light" panose="02000403000000020004" pitchFamily="2" charset="0"/>
              <a:cs typeface="Source Sans Pro Light" panose="020F0302020204030204" pitchFamily="34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rgbClr val="FF0000"/>
              </a:solidFill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Choose your organization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Enter your password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Authenticate by accepting the Duo push to your smartphone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Select the “Clusters” app to bring up an Alpine terminal</a:t>
            </a:r>
          </a:p>
          <a:p>
            <a:pPr marL="0" lvl="1" indent="0">
              <a:buClr>
                <a:srgbClr val="A9A57C"/>
              </a:buClr>
              <a:buSzPts val="2550"/>
              <a:buNone/>
            </a:pPr>
            <a:endParaRPr lang="en-US" dirty="0">
              <a:ea typeface="Helvetica Neue Light" panose="02000403000000020004" pitchFamily="2" charset="0"/>
              <a:hlinkClick r:id="rId3"/>
            </a:endParaRPr>
          </a:p>
          <a:p>
            <a:pPr marL="133985" lvl="1">
              <a:buClr>
                <a:srgbClr val="A9A57C"/>
              </a:buClr>
              <a:buSzPts val="2550"/>
            </a:pP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https://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curc.readthedocs.io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en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/latest/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open_ondemand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index.html</a:t>
            </a:r>
            <a:endParaRPr lang="en-US" dirty="0">
              <a:solidFill>
                <a:srgbClr val="0070C0"/>
              </a:solidFill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1D166-D987-88B8-6738-07B992AA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401788-2892-6E4D-D958-E0632262B29C}"/>
              </a:ext>
            </a:extLst>
          </p:cNvPr>
          <p:cNvGrpSpPr/>
          <p:nvPr/>
        </p:nvGrpSpPr>
        <p:grpSpPr>
          <a:xfrm>
            <a:off x="573024" y="1554479"/>
            <a:ext cx="4151376" cy="3657600"/>
            <a:chOff x="573024" y="1929383"/>
            <a:chExt cx="4151376" cy="3657600"/>
          </a:xfrm>
        </p:grpSpPr>
        <p:pic>
          <p:nvPicPr>
            <p:cNvPr id="7" name="Graphic 6" descr="Cmd Terminal with solid fill">
              <a:extLst>
                <a:ext uri="{FF2B5EF4-FFF2-40B4-BE49-F238E27FC236}">
                  <a16:creationId xmlns:a16="http://schemas.microsoft.com/office/drawing/2014/main" id="{F1DDD5EC-105C-3E60-DE65-4CC28E9AF2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3024" y="1929383"/>
              <a:ext cx="4151376" cy="36576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D72C11-B961-655B-E69C-BE10533B0BE1}"/>
                </a:ext>
              </a:extLst>
            </p:cNvPr>
            <p:cNvSpPr txBox="1"/>
            <p:nvPr/>
          </p:nvSpPr>
          <p:spPr>
            <a:xfrm>
              <a:off x="2185416" y="3250351"/>
              <a:ext cx="17668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/>
                <a:t>SSH</a:t>
              </a:r>
            </a:p>
          </p:txBody>
        </p:sp>
      </p:grpSp>
      <p:sp>
        <p:nvSpPr>
          <p:cNvPr id="12" name="Bent Arrow 11">
            <a:extLst>
              <a:ext uri="{FF2B5EF4-FFF2-40B4-BE49-F238E27FC236}">
                <a16:creationId xmlns:a16="http://schemas.microsoft.com/office/drawing/2014/main" id="{5ACB68FC-0281-C9CD-755D-26E15E31FA0E}"/>
              </a:ext>
            </a:extLst>
          </p:cNvPr>
          <p:cNvSpPr/>
          <p:nvPr/>
        </p:nvSpPr>
        <p:spPr>
          <a:xfrm rot="16200000">
            <a:off x="2259811" y="4644227"/>
            <a:ext cx="1015664" cy="1164453"/>
          </a:xfrm>
          <a:prstGeom prst="bentArrow">
            <a:avLst>
              <a:gd name="adj1" fmla="val 27759"/>
              <a:gd name="adj2" fmla="val 33968"/>
              <a:gd name="adj3" fmla="val 38796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B14C88-755D-5565-1558-7CE4F687ED2E}"/>
              </a:ext>
            </a:extLst>
          </p:cNvPr>
          <p:cNvSpPr txBox="1"/>
          <p:nvPr/>
        </p:nvSpPr>
        <p:spPr>
          <a:xfrm>
            <a:off x="3475775" y="5272399"/>
            <a:ext cx="6887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Available to CU Boulder, CSU, </a:t>
            </a:r>
          </a:p>
          <a:p>
            <a:r>
              <a:rPr lang="en-US" sz="3600" b="1" dirty="0"/>
              <a:t>CU Anschutz</a:t>
            </a:r>
          </a:p>
        </p:txBody>
      </p:sp>
    </p:spTree>
    <p:extLst>
      <p:ext uri="{BB962C8B-B14F-4D97-AF65-F5344CB8AC3E}">
        <p14:creationId xmlns:p14="http://schemas.microsoft.com/office/powerpoint/2010/main" val="91994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49B6-FA0E-632E-BFE9-5EF53952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000C-7CEA-027F-5DAE-EDB1A472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8863" cy="1325563"/>
          </a:xfrm>
        </p:spPr>
        <p:txBody>
          <a:bodyPr/>
          <a:lstStyle/>
          <a:p>
            <a:r>
              <a:rPr lang="en-US" dirty="0"/>
              <a:t>Accessing the Terminal (Open OnDemand)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7CF39-6EA0-DD1F-2D81-639D9CFA3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928" y="563753"/>
            <a:ext cx="10515600" cy="4351338"/>
          </a:xfrm>
        </p:spPr>
        <p:txBody>
          <a:bodyPr>
            <a:normAutofit/>
          </a:bodyPr>
          <a:lstStyle/>
          <a:p>
            <a:pPr marL="377825" lvl="1" indent="-243840"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dirty="0">
                <a:ea typeface="Helvetica Neue Light" panose="02000403000000020004" pitchFamily="2" charset="0"/>
                <a:sym typeface="Arial"/>
              </a:rPr>
              <a:t>Navigate to </a:t>
            </a:r>
            <a:r>
              <a:rPr lang="en-US" dirty="0">
                <a:ea typeface="Helvetica Neue Light" panose="02000403000000020004" pitchFamily="2" charset="0"/>
                <a:sym typeface="Arial"/>
                <a:hlinkClick r:id="rId2"/>
              </a:rPr>
              <a:t>https://ondemand-rmacc.rc.colorado.edu</a:t>
            </a:r>
            <a:r>
              <a:rPr lang="en-US" dirty="0">
                <a:ea typeface="Helvetica Neue Light" panose="02000403000000020004" pitchFamily="2" charset="0"/>
                <a:sym typeface="Arial"/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  <a:ea typeface="Helvetica Neue Light" panose="02000403000000020004" pitchFamily="2" charset="0"/>
              <a:cs typeface="Source Sans Pro Light" panose="020F0302020204030204" pitchFamily="34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rgbClr val="FF0000"/>
              </a:solidFill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Choose your organization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Enter your password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Authenticate by accepting the Duo push to your smartphone</a:t>
            </a: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00000"/>
              </a:lnSpc>
              <a:spcBef>
                <a:spcPts val="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ea typeface="Helvetica Neue Light" panose="02000403000000020004" pitchFamily="2" charset="0"/>
                <a:sym typeface="Wingdings" pitchFamily="2" charset="2"/>
              </a:rPr>
              <a:t>Select the “Clusters” app to bring up an Alpine terminal</a:t>
            </a:r>
          </a:p>
          <a:p>
            <a:pPr marL="0" lvl="1" indent="0">
              <a:buClr>
                <a:srgbClr val="A9A57C"/>
              </a:buClr>
              <a:buSzPts val="2550"/>
              <a:buNone/>
            </a:pPr>
            <a:endParaRPr lang="en-US" dirty="0">
              <a:ea typeface="Helvetica Neue Light" panose="02000403000000020004" pitchFamily="2" charset="0"/>
              <a:hlinkClick r:id="rId3"/>
            </a:endParaRPr>
          </a:p>
          <a:p>
            <a:pPr marL="133985" lvl="1">
              <a:buClr>
                <a:srgbClr val="A9A57C"/>
              </a:buClr>
              <a:buSzPts val="2550"/>
            </a:pP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https://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curc.readthedocs.io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en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/latest/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open_ondemand</a:t>
            </a:r>
            <a:r>
              <a:rPr lang="en-US" dirty="0">
                <a:solidFill>
                  <a:srgbClr val="0070C0"/>
                </a:solidFill>
                <a:ea typeface="Helvetica Neue Light" panose="02000403000000020004" pitchFamily="2" charset="0"/>
              </a:rPr>
              <a:t>/</a:t>
            </a:r>
            <a:r>
              <a:rPr lang="en-US" dirty="0" err="1">
                <a:solidFill>
                  <a:srgbClr val="0070C0"/>
                </a:solidFill>
                <a:ea typeface="Helvetica Neue Light" panose="02000403000000020004" pitchFamily="2" charset="0"/>
              </a:rPr>
              <a:t>index.html</a:t>
            </a:r>
            <a:endParaRPr lang="en-US" dirty="0">
              <a:solidFill>
                <a:srgbClr val="0070C0"/>
              </a:solidFill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92857-3DA0-E8E3-DFD3-E045D955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E25198-1369-D4C5-51BB-81C57861825F}"/>
              </a:ext>
            </a:extLst>
          </p:cNvPr>
          <p:cNvGrpSpPr/>
          <p:nvPr/>
        </p:nvGrpSpPr>
        <p:grpSpPr>
          <a:xfrm>
            <a:off x="573024" y="1554479"/>
            <a:ext cx="4151376" cy="3657600"/>
            <a:chOff x="573024" y="1929383"/>
            <a:chExt cx="4151376" cy="3657600"/>
          </a:xfrm>
        </p:grpSpPr>
        <p:pic>
          <p:nvPicPr>
            <p:cNvPr id="7" name="Graphic 6" descr="Cmd Terminal with solid fill">
              <a:extLst>
                <a:ext uri="{FF2B5EF4-FFF2-40B4-BE49-F238E27FC236}">
                  <a16:creationId xmlns:a16="http://schemas.microsoft.com/office/drawing/2014/main" id="{72615F4C-761B-7DA5-B792-44E6106896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3024" y="1929383"/>
              <a:ext cx="4151376" cy="36576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A68AD3-91A2-EB77-18A0-E2F2771A9AD8}"/>
                </a:ext>
              </a:extLst>
            </p:cNvPr>
            <p:cNvSpPr txBox="1"/>
            <p:nvPr/>
          </p:nvSpPr>
          <p:spPr>
            <a:xfrm>
              <a:off x="2185416" y="3250351"/>
              <a:ext cx="17668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/>
                <a:t>SSH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D032D55-B880-8085-C60C-441CCBC12A44}"/>
              </a:ext>
            </a:extLst>
          </p:cNvPr>
          <p:cNvGrpSpPr/>
          <p:nvPr/>
        </p:nvGrpSpPr>
        <p:grpSpPr>
          <a:xfrm>
            <a:off x="5534135" y="1779011"/>
            <a:ext cx="6152927" cy="3208537"/>
            <a:chOff x="5534135" y="1929383"/>
            <a:chExt cx="6152927" cy="320853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15E240A-128C-0721-3473-E1CC67C50B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0319" y="1929383"/>
              <a:ext cx="5500561" cy="3208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C9EB0A2-80FF-ABBE-28D7-E35F40EB1D10}"/>
                </a:ext>
              </a:extLst>
            </p:cNvPr>
            <p:cNvSpPr/>
            <p:nvPr/>
          </p:nvSpPr>
          <p:spPr>
            <a:xfrm rot="5400000">
              <a:off x="7453689" y="457188"/>
              <a:ext cx="2313820" cy="6152927"/>
            </a:xfrm>
            <a:prstGeom prst="roundRect">
              <a:avLst>
                <a:gd name="adj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61D4D72-04D4-3D0A-C757-A28D399697A7}"/>
              </a:ext>
            </a:extLst>
          </p:cNvPr>
          <p:cNvSpPr txBox="1"/>
          <p:nvPr/>
        </p:nvSpPr>
        <p:spPr>
          <a:xfrm>
            <a:off x="3466983" y="5272399"/>
            <a:ext cx="6887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Available to CU Boulder, CSU, </a:t>
            </a:r>
          </a:p>
          <a:p>
            <a:r>
              <a:rPr lang="en-US" sz="3600" b="1" dirty="0"/>
              <a:t>CU Anschutz</a:t>
            </a:r>
          </a:p>
        </p:txBody>
      </p:sp>
      <p:sp>
        <p:nvSpPr>
          <p:cNvPr id="4" name="Bent Arrow 3">
            <a:extLst>
              <a:ext uri="{FF2B5EF4-FFF2-40B4-BE49-F238E27FC236}">
                <a16:creationId xmlns:a16="http://schemas.microsoft.com/office/drawing/2014/main" id="{8903F95E-55D5-EC56-DE14-E4C91F299303}"/>
              </a:ext>
            </a:extLst>
          </p:cNvPr>
          <p:cNvSpPr/>
          <p:nvPr/>
        </p:nvSpPr>
        <p:spPr>
          <a:xfrm rot="16200000">
            <a:off x="2259811" y="4644227"/>
            <a:ext cx="1015664" cy="1164453"/>
          </a:xfrm>
          <a:prstGeom prst="bentArrow">
            <a:avLst>
              <a:gd name="adj1" fmla="val 27759"/>
              <a:gd name="adj2" fmla="val 33968"/>
              <a:gd name="adj3" fmla="val 38796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31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9A8C-62EC-E57C-B5AC-E43ACE804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Accessing the Terminal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22216-06E5-B4E4-BE71-75150CB1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9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F50948-1CDE-F15C-1B84-1268992B0EF9}"/>
              </a:ext>
            </a:extLst>
          </p:cNvPr>
          <p:cNvGrpSpPr/>
          <p:nvPr/>
        </p:nvGrpSpPr>
        <p:grpSpPr>
          <a:xfrm>
            <a:off x="838200" y="1535240"/>
            <a:ext cx="9812640" cy="4391560"/>
            <a:chOff x="838200" y="1535240"/>
            <a:chExt cx="9812640" cy="4391560"/>
          </a:xfrm>
        </p:grpSpPr>
        <p:pic>
          <p:nvPicPr>
            <p:cNvPr id="7" name="Picture 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62B5603-6B0A-1049-94E5-A33C2715C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535240"/>
              <a:ext cx="5345845" cy="43915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3F0B396-882B-E124-6740-FAD0E23C9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200" r="51992" b="85195"/>
            <a:stretch>
              <a:fillRect/>
            </a:stretch>
          </p:blipFill>
          <p:spPr>
            <a:xfrm>
              <a:off x="6821424" y="1535240"/>
              <a:ext cx="3829416" cy="1737360"/>
            </a:xfrm>
            <a:prstGeom prst="round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A25DA60-FD6F-A998-C066-4DB5485CCEC6}"/>
                </a:ext>
              </a:extLst>
            </p:cNvPr>
            <p:cNvSpPr/>
            <p:nvPr/>
          </p:nvSpPr>
          <p:spPr>
            <a:xfrm>
              <a:off x="1975104" y="1535240"/>
              <a:ext cx="1399032" cy="604456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068BE46-195F-7289-29A3-1E032F01279A}"/>
                </a:ext>
              </a:extLst>
            </p:cNvPr>
            <p:cNvCxnSpPr/>
            <p:nvPr/>
          </p:nvCxnSpPr>
          <p:spPr>
            <a:xfrm>
              <a:off x="3374136" y="1837944"/>
              <a:ext cx="338328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2FA6D46-1D09-239E-8CDF-72A21D37154E}"/>
              </a:ext>
            </a:extLst>
          </p:cNvPr>
          <p:cNvSpPr txBox="1"/>
          <p:nvPr/>
        </p:nvSpPr>
        <p:spPr>
          <a:xfrm>
            <a:off x="6689540" y="3937312"/>
            <a:ext cx="4775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would like to access a terminal via ssh, please see:</a:t>
            </a:r>
          </a:p>
          <a:p>
            <a:r>
              <a:rPr lang="en-US" dirty="0"/>
              <a:t> </a:t>
            </a:r>
            <a:r>
              <a:rPr lang="en-US" dirty="0" err="1">
                <a:solidFill>
                  <a:srgbClr val="0563C1"/>
                </a:solidFill>
                <a:cs typeface="Arial"/>
                <a:sym typeface="Arial"/>
              </a:rPr>
              <a:t>curc.readthedocs.io</a:t>
            </a:r>
            <a:r>
              <a:rPr lang="en-US" dirty="0">
                <a:solidFill>
                  <a:srgbClr val="0563C1"/>
                </a:solidFill>
                <a:cs typeface="Arial"/>
                <a:sym typeface="Arial"/>
              </a:rPr>
              <a:t>/</a:t>
            </a:r>
            <a:r>
              <a:rPr lang="en-US" dirty="0" err="1">
                <a:solidFill>
                  <a:srgbClr val="0563C1"/>
                </a:solidFill>
                <a:cs typeface="Arial"/>
                <a:sym typeface="Arial"/>
              </a:rPr>
              <a:t>en</a:t>
            </a:r>
            <a:r>
              <a:rPr lang="en-US" dirty="0">
                <a:solidFill>
                  <a:srgbClr val="0563C1"/>
                </a:solidFill>
                <a:cs typeface="Arial"/>
                <a:sym typeface="Arial"/>
              </a:rPr>
              <a:t>/latest/</a:t>
            </a:r>
            <a:r>
              <a:rPr lang="en-US" dirty="0" err="1">
                <a:solidFill>
                  <a:srgbClr val="0563C1"/>
                </a:solidFill>
                <a:cs typeface="Arial"/>
                <a:sym typeface="Arial"/>
              </a:rPr>
              <a:t>getting_started</a:t>
            </a:r>
            <a:r>
              <a:rPr lang="en-US" dirty="0">
                <a:solidFill>
                  <a:srgbClr val="0563C1"/>
                </a:solidFill>
                <a:cs typeface="Arial"/>
                <a:sym typeface="Arial"/>
              </a:rPr>
              <a:t>/</a:t>
            </a:r>
            <a:r>
              <a:rPr lang="en-US" dirty="0" err="1">
                <a:solidFill>
                  <a:srgbClr val="0563C1"/>
                </a:solidFill>
                <a:cs typeface="Arial"/>
                <a:sym typeface="Arial"/>
              </a:rPr>
              <a:t>logging-in.html#terminal-access-for-different-operating-systems</a:t>
            </a:r>
            <a:r>
              <a:rPr lang="en-US" dirty="0">
                <a:solidFill>
                  <a:srgbClr val="0563C1"/>
                </a:solidFill>
                <a:cs typeface="Arial"/>
                <a:sym typeface="Arial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79121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7A85-75CE-B5C7-7739-FF43294C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300619"/>
            <a:ext cx="9506712" cy="1325563"/>
          </a:xfrm>
        </p:spPr>
        <p:txBody>
          <a:bodyPr/>
          <a:lstStyle/>
          <a:p>
            <a:r>
              <a:rPr lang="en-US" dirty="0"/>
              <a:t>Linux Command 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2D271-C3A8-074E-FFF1-4B8DF84C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CE1CA5-697B-D029-7FE7-F2D009956B39}"/>
              </a:ext>
            </a:extLst>
          </p:cNvPr>
          <p:cNvGrpSpPr>
            <a:grpSpLocks noChangeAspect="1"/>
          </p:cNvGrpSpPr>
          <p:nvPr/>
        </p:nvGrpSpPr>
        <p:grpSpPr>
          <a:xfrm>
            <a:off x="289560" y="414761"/>
            <a:ext cx="1097280" cy="1097280"/>
            <a:chOff x="7287768" y="1408176"/>
            <a:chExt cx="2286000" cy="2286000"/>
          </a:xfrm>
        </p:grpSpPr>
        <p:pic>
          <p:nvPicPr>
            <p:cNvPr id="6" name="Google Shape;120;p16">
              <a:extLst>
                <a:ext uri="{FF2B5EF4-FFF2-40B4-BE49-F238E27FC236}">
                  <a16:creationId xmlns:a16="http://schemas.microsoft.com/office/drawing/2014/main" id="{31BBCAC4-1C2A-D7A2-C754-3DC68A866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676983" y="1573086"/>
              <a:ext cx="1599009" cy="1737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C43F646-79E8-DA81-69AF-199DEF43DB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87768" y="1408176"/>
              <a:ext cx="2286000" cy="22860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049F409-F674-7932-E507-A46AC4AA9AD4}"/>
              </a:ext>
            </a:extLst>
          </p:cNvPr>
          <p:cNvSpPr txBox="1"/>
          <p:nvPr/>
        </p:nvSpPr>
        <p:spPr>
          <a:xfrm>
            <a:off x="2234417" y="4307226"/>
            <a:ext cx="3544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File Operations</a:t>
            </a:r>
          </a:p>
        </p:txBody>
      </p:sp>
      <p:pic>
        <p:nvPicPr>
          <p:cNvPr id="13" name="Graphic 12" descr="Open folder with solid fill">
            <a:extLst>
              <a:ext uri="{FF2B5EF4-FFF2-40B4-BE49-F238E27FC236}">
                <a16:creationId xmlns:a16="http://schemas.microsoft.com/office/drawing/2014/main" id="{C793D1E0-C52D-E0A0-E590-D1F9CAB351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6104" y="1664208"/>
            <a:ext cx="3108960" cy="3108960"/>
          </a:xfrm>
          <a:prstGeom prst="rect">
            <a:avLst/>
          </a:prstGeom>
        </p:spPr>
      </p:pic>
      <p:pic>
        <p:nvPicPr>
          <p:cNvPr id="19" name="Graphic 18" descr="Scroll with solid fill">
            <a:extLst>
              <a:ext uri="{FF2B5EF4-FFF2-40B4-BE49-F238E27FC236}">
                <a16:creationId xmlns:a16="http://schemas.microsoft.com/office/drawing/2014/main" id="{5E6A5D04-E2D9-9257-FDF4-5CFA7C9EC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1570" y="2029968"/>
            <a:ext cx="2377440" cy="23774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AA5060-E8A0-590D-6B76-CE0AC455A475}"/>
              </a:ext>
            </a:extLst>
          </p:cNvPr>
          <p:cNvSpPr txBox="1"/>
          <p:nvPr/>
        </p:nvSpPr>
        <p:spPr>
          <a:xfrm>
            <a:off x="7403796" y="4307226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Scripting</a:t>
            </a:r>
          </a:p>
        </p:txBody>
      </p:sp>
    </p:spTree>
    <p:extLst>
      <p:ext uri="{BB962C8B-B14F-4D97-AF65-F5344CB8AC3E}">
        <p14:creationId xmlns:p14="http://schemas.microsoft.com/office/powerpoint/2010/main" val="358224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D3E1B-63DE-13CD-8AD0-94C6DC44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11</a:t>
            </a:fld>
            <a:endParaRPr lang="en-US"/>
          </a:p>
        </p:txBody>
      </p:sp>
      <p:sp>
        <p:nvSpPr>
          <p:cNvPr id="6" name="Google Shape;389;p33">
            <a:extLst>
              <a:ext uri="{FF2B5EF4-FFF2-40B4-BE49-F238E27FC236}">
                <a16:creationId xmlns:a16="http://schemas.microsoft.com/office/drawing/2014/main" id="{29EC96DC-426B-7C01-1776-6B63530E4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950" y="640575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b="1" u="sng" dirty="0">
                <a:latin typeface="+mn-lt"/>
              </a:rPr>
              <a:t>L</a:t>
            </a:r>
            <a:r>
              <a:rPr lang="en-US" dirty="0">
                <a:latin typeface="+mn-lt"/>
              </a:rPr>
              <a:t>i</a:t>
            </a:r>
            <a:r>
              <a:rPr lang="en-US" b="1" u="sng" dirty="0">
                <a:latin typeface="+mn-lt"/>
              </a:rPr>
              <a:t>s</a:t>
            </a:r>
            <a:r>
              <a:rPr lang="en-US" dirty="0">
                <a:latin typeface="+mn-lt"/>
              </a:rPr>
              <a:t>t Files and Directories</a:t>
            </a:r>
            <a:endParaRPr dirty="0">
              <a:latin typeface="+mn-lt"/>
            </a:endParaRPr>
          </a:p>
        </p:txBody>
      </p:sp>
      <p:sp>
        <p:nvSpPr>
          <p:cNvPr id="7" name="Google Shape;391;p33">
            <a:extLst>
              <a:ext uri="{FF2B5EF4-FFF2-40B4-BE49-F238E27FC236}">
                <a16:creationId xmlns:a16="http://schemas.microsoft.com/office/drawing/2014/main" id="{B4016F04-24FF-059A-E0E9-34034B0B2F03}"/>
              </a:ext>
            </a:extLst>
          </p:cNvPr>
          <p:cNvSpPr txBox="1"/>
          <p:nvPr/>
        </p:nvSpPr>
        <p:spPr>
          <a:xfrm>
            <a:off x="448975" y="1911538"/>
            <a:ext cx="11294050" cy="444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l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s [option] [file/directory]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 -l (long format)         -a (all files)</a:t>
            </a:r>
          </a:p>
          <a:p>
            <a:pPr marL="12700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 -h (readable file size)  -r (reverse sort)</a:t>
            </a:r>
          </a:p>
          <a:p>
            <a:pPr marL="12700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 -S (sort by file size)</a:t>
            </a:r>
          </a:p>
          <a:p>
            <a:pPr marL="12700">
              <a:lnSpc>
                <a:spcPct val="125000"/>
              </a:lnSpc>
              <a:buClr>
                <a:srgbClr val="CEB97C"/>
              </a:buClr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 -t (sort by modification time)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49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C18EB-13F5-43F0-2F07-DFAD4293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12</a:t>
            </a:fld>
            <a:endParaRPr lang="en-US"/>
          </a:p>
        </p:txBody>
      </p:sp>
      <p:sp>
        <p:nvSpPr>
          <p:cNvPr id="6" name="Google Shape;251;p28">
            <a:extLst>
              <a:ext uri="{FF2B5EF4-FFF2-40B4-BE49-F238E27FC236}">
                <a16:creationId xmlns:a16="http://schemas.microsoft.com/office/drawing/2014/main" id="{3E998812-C6CE-F047-D7FC-6B938EF683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686" y="356858"/>
            <a:ext cx="10182023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Standard CURC Directories</a:t>
            </a:r>
            <a:endParaRPr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6CA5B1BD-41BA-BEDD-9A12-63DF1449EE7F}"/>
              </a:ext>
            </a:extLst>
          </p:cNvPr>
          <p:cNvSpPr/>
          <p:nvPr/>
        </p:nvSpPr>
        <p:spPr>
          <a:xfrm>
            <a:off x="260838" y="3393641"/>
            <a:ext cx="1453515" cy="35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/home/&lt;user&gt;</a:t>
            </a:r>
            <a:endParaRPr lang="en-US" sz="22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E845F0D-C0B1-2D7D-D68E-4F917EC5ADEE}"/>
              </a:ext>
            </a:extLst>
          </p:cNvPr>
          <p:cNvGrpSpPr/>
          <p:nvPr/>
        </p:nvGrpSpPr>
        <p:grpSpPr>
          <a:xfrm>
            <a:off x="593070" y="2127006"/>
            <a:ext cx="11358181" cy="2613503"/>
            <a:chOff x="593070" y="2127006"/>
            <a:chExt cx="11358181" cy="2613503"/>
          </a:xfrm>
        </p:grpSpPr>
        <p:sp>
          <p:nvSpPr>
            <p:cNvPr id="62" name="Shape 1">
              <a:extLst>
                <a:ext uri="{FF2B5EF4-FFF2-40B4-BE49-F238E27FC236}">
                  <a16:creationId xmlns:a16="http://schemas.microsoft.com/office/drawing/2014/main" id="{F84A57B2-7547-22F9-E48E-17760A383F62}"/>
                </a:ext>
              </a:extLst>
            </p:cNvPr>
            <p:cNvSpPr/>
            <p:nvPr/>
          </p:nvSpPr>
          <p:spPr>
            <a:xfrm>
              <a:off x="932223" y="2127006"/>
              <a:ext cx="8001254" cy="0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2">
              <a:extLst>
                <a:ext uri="{FF2B5EF4-FFF2-40B4-BE49-F238E27FC236}">
                  <a16:creationId xmlns:a16="http://schemas.microsoft.com/office/drawing/2014/main" id="{6A1C0401-49EF-CB15-0EC5-BD87A7DD7ED0}"/>
                </a:ext>
              </a:extLst>
            </p:cNvPr>
            <p:cNvSpPr/>
            <p:nvPr/>
          </p:nvSpPr>
          <p:spPr>
            <a:xfrm>
              <a:off x="932223" y="2127006"/>
              <a:ext cx="0" cy="498348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3">
              <a:extLst>
                <a:ext uri="{FF2B5EF4-FFF2-40B4-BE49-F238E27FC236}">
                  <a16:creationId xmlns:a16="http://schemas.microsoft.com/office/drawing/2014/main" id="{BC714367-BA2D-FD4D-65F5-33D75689A0A9}"/>
                </a:ext>
              </a:extLst>
            </p:cNvPr>
            <p:cNvSpPr/>
            <p:nvPr/>
          </p:nvSpPr>
          <p:spPr>
            <a:xfrm>
              <a:off x="2690284" y="2127006"/>
              <a:ext cx="0" cy="498348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4">
              <a:extLst>
                <a:ext uri="{FF2B5EF4-FFF2-40B4-BE49-F238E27FC236}">
                  <a16:creationId xmlns:a16="http://schemas.microsoft.com/office/drawing/2014/main" id="{C47BC24F-5E1F-7AB3-A1A8-F5AF3FEEE6B0}"/>
                </a:ext>
              </a:extLst>
            </p:cNvPr>
            <p:cNvSpPr/>
            <p:nvPr/>
          </p:nvSpPr>
          <p:spPr>
            <a:xfrm>
              <a:off x="4441424" y="2127006"/>
              <a:ext cx="0" cy="498348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5">
              <a:extLst>
                <a:ext uri="{FF2B5EF4-FFF2-40B4-BE49-F238E27FC236}">
                  <a16:creationId xmlns:a16="http://schemas.microsoft.com/office/drawing/2014/main" id="{C408814A-E587-B2DD-1861-316A854AE3A0}"/>
                </a:ext>
              </a:extLst>
            </p:cNvPr>
            <p:cNvSpPr/>
            <p:nvPr/>
          </p:nvSpPr>
          <p:spPr>
            <a:xfrm>
              <a:off x="6199485" y="2127006"/>
              <a:ext cx="0" cy="242253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766C30A6-F4FE-EEBD-C4F5-4341438672FF}"/>
                </a:ext>
              </a:extLst>
            </p:cNvPr>
            <p:cNvSpPr/>
            <p:nvPr/>
          </p:nvSpPr>
          <p:spPr>
            <a:xfrm>
              <a:off x="8926556" y="2127006"/>
              <a:ext cx="0" cy="498348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7">
              <a:extLst>
                <a:ext uri="{FF2B5EF4-FFF2-40B4-BE49-F238E27FC236}">
                  <a16:creationId xmlns:a16="http://schemas.microsoft.com/office/drawing/2014/main" id="{FC334432-7213-1D23-C5C2-D938C047CCBE}"/>
                </a:ext>
              </a:extLst>
            </p:cNvPr>
            <p:cNvSpPr/>
            <p:nvPr/>
          </p:nvSpPr>
          <p:spPr>
            <a:xfrm>
              <a:off x="593070" y="2543055"/>
              <a:ext cx="858266" cy="380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25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/home</a:t>
              </a:r>
              <a:endParaRPr lang="en-US" sz="2500" dirty="0"/>
            </a:p>
          </p:txBody>
        </p:sp>
        <p:sp>
          <p:nvSpPr>
            <p:cNvPr id="69" name="Text 8">
              <a:extLst>
                <a:ext uri="{FF2B5EF4-FFF2-40B4-BE49-F238E27FC236}">
                  <a16:creationId xmlns:a16="http://schemas.microsoft.com/office/drawing/2014/main" id="{5A62249A-CEC1-3E18-62C6-9D03940C955E}"/>
                </a:ext>
              </a:extLst>
            </p:cNvPr>
            <p:cNvSpPr/>
            <p:nvPr/>
          </p:nvSpPr>
          <p:spPr>
            <a:xfrm>
              <a:off x="2264612" y="2543055"/>
              <a:ext cx="1038225" cy="380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25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/projects</a:t>
              </a:r>
              <a:endParaRPr lang="en-US" sz="2500" dirty="0"/>
            </a:p>
          </p:txBody>
        </p:sp>
        <p:sp>
          <p:nvSpPr>
            <p:cNvPr id="70" name="Text 9">
              <a:extLst>
                <a:ext uri="{FF2B5EF4-FFF2-40B4-BE49-F238E27FC236}">
                  <a16:creationId xmlns:a16="http://schemas.microsoft.com/office/drawing/2014/main" id="{945E2161-6879-AF54-723F-3F84468AFCEC}"/>
                </a:ext>
              </a:extLst>
            </p:cNvPr>
            <p:cNvSpPr/>
            <p:nvPr/>
          </p:nvSpPr>
          <p:spPr>
            <a:xfrm>
              <a:off x="4057280" y="2566521"/>
              <a:ext cx="982853" cy="380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25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/scratch</a:t>
              </a:r>
              <a:endParaRPr lang="en-US" sz="2500" dirty="0"/>
            </a:p>
          </p:txBody>
        </p:sp>
        <p:sp>
          <p:nvSpPr>
            <p:cNvPr id="71" name="Text 10">
              <a:extLst>
                <a:ext uri="{FF2B5EF4-FFF2-40B4-BE49-F238E27FC236}">
                  <a16:creationId xmlns:a16="http://schemas.microsoft.com/office/drawing/2014/main" id="{BDA28349-CCB1-D51F-DA3B-CEBF8DD2620F}"/>
                </a:ext>
              </a:extLst>
            </p:cNvPr>
            <p:cNvSpPr/>
            <p:nvPr/>
          </p:nvSpPr>
          <p:spPr>
            <a:xfrm>
              <a:off x="5881096" y="2362337"/>
              <a:ext cx="830580" cy="2907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25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/curc</a:t>
              </a:r>
              <a:endParaRPr lang="en-US" sz="2500" dirty="0"/>
            </a:p>
          </p:txBody>
        </p:sp>
        <p:sp>
          <p:nvSpPr>
            <p:cNvPr id="72" name="Text 11">
              <a:extLst>
                <a:ext uri="{FF2B5EF4-FFF2-40B4-BE49-F238E27FC236}">
                  <a16:creationId xmlns:a16="http://schemas.microsoft.com/office/drawing/2014/main" id="{6477E823-B668-B538-BEE2-D139BB507F4D}"/>
                </a:ext>
              </a:extLst>
            </p:cNvPr>
            <p:cNvSpPr/>
            <p:nvPr/>
          </p:nvSpPr>
          <p:spPr>
            <a:xfrm>
              <a:off x="5888017" y="2715334"/>
              <a:ext cx="1072833" cy="1522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(software stack)</a:t>
              </a:r>
              <a:endParaRPr lang="en-US" sz="1200" dirty="0"/>
            </a:p>
          </p:txBody>
        </p:sp>
        <p:sp>
          <p:nvSpPr>
            <p:cNvPr id="73" name="Text 12">
              <a:extLst>
                <a:ext uri="{FF2B5EF4-FFF2-40B4-BE49-F238E27FC236}">
                  <a16:creationId xmlns:a16="http://schemas.microsoft.com/office/drawing/2014/main" id="{C9B69215-6FEB-CB6D-1EF9-2FE57F15619D}"/>
                </a:ext>
              </a:extLst>
            </p:cNvPr>
            <p:cNvSpPr/>
            <p:nvPr/>
          </p:nvSpPr>
          <p:spPr>
            <a:xfrm>
              <a:off x="8746597" y="2604590"/>
              <a:ext cx="484505" cy="380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5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/pl</a:t>
              </a:r>
              <a:endParaRPr lang="en-US" sz="2500" dirty="0"/>
            </a:p>
          </p:txBody>
        </p:sp>
        <p:sp>
          <p:nvSpPr>
            <p:cNvPr id="74" name="Shape 13">
              <a:extLst>
                <a:ext uri="{FF2B5EF4-FFF2-40B4-BE49-F238E27FC236}">
                  <a16:creationId xmlns:a16="http://schemas.microsoft.com/office/drawing/2014/main" id="{35872FC4-F16A-D4BE-804C-17173BD6BDD6}"/>
                </a:ext>
              </a:extLst>
            </p:cNvPr>
            <p:cNvSpPr/>
            <p:nvPr/>
          </p:nvSpPr>
          <p:spPr>
            <a:xfrm>
              <a:off x="939145" y="2909136"/>
              <a:ext cx="0" cy="456819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07FA9F19-90A9-9244-0EDF-DD1D5C8A4F68}"/>
                </a:ext>
              </a:extLst>
            </p:cNvPr>
            <p:cNvSpPr/>
            <p:nvPr/>
          </p:nvSpPr>
          <p:spPr>
            <a:xfrm>
              <a:off x="2697206" y="2909136"/>
              <a:ext cx="0" cy="456819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C6EA4DD5-CABA-36F2-9DE1-E17FFC3F18BC}"/>
                </a:ext>
              </a:extLst>
            </p:cNvPr>
            <p:cNvSpPr/>
            <p:nvPr/>
          </p:nvSpPr>
          <p:spPr>
            <a:xfrm>
              <a:off x="1915076" y="3393641"/>
              <a:ext cx="1591945" cy="35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2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/projects/&lt;user&gt;</a:t>
              </a:r>
              <a:endParaRPr lang="en-US" sz="2200" dirty="0"/>
            </a:p>
          </p:txBody>
        </p:sp>
        <p:sp>
          <p:nvSpPr>
            <p:cNvPr id="78" name="Shape 17">
              <a:extLst>
                <a:ext uri="{FF2B5EF4-FFF2-40B4-BE49-F238E27FC236}">
                  <a16:creationId xmlns:a16="http://schemas.microsoft.com/office/drawing/2014/main" id="{D82A27B9-DA7F-01FB-6553-5BA77F2753DD}"/>
                </a:ext>
              </a:extLst>
            </p:cNvPr>
            <p:cNvSpPr/>
            <p:nvPr/>
          </p:nvSpPr>
          <p:spPr>
            <a:xfrm>
              <a:off x="4462188" y="2909136"/>
              <a:ext cx="0" cy="456819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18">
              <a:extLst>
                <a:ext uri="{FF2B5EF4-FFF2-40B4-BE49-F238E27FC236}">
                  <a16:creationId xmlns:a16="http://schemas.microsoft.com/office/drawing/2014/main" id="{2488637E-5685-591F-F2A9-B80F58C11AEA}"/>
                </a:ext>
              </a:extLst>
            </p:cNvPr>
            <p:cNvSpPr/>
            <p:nvPr/>
          </p:nvSpPr>
          <p:spPr>
            <a:xfrm>
              <a:off x="3744492" y="3365955"/>
              <a:ext cx="1522730" cy="35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2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/scratch/alpine</a:t>
              </a:r>
              <a:endParaRPr lang="en-US" sz="2200" dirty="0"/>
            </a:p>
          </p:txBody>
        </p:sp>
        <p:sp>
          <p:nvSpPr>
            <p:cNvPr id="80" name="Shape 19">
              <a:extLst>
                <a:ext uri="{FF2B5EF4-FFF2-40B4-BE49-F238E27FC236}">
                  <a16:creationId xmlns:a16="http://schemas.microsoft.com/office/drawing/2014/main" id="{DB02772A-365A-61C1-2133-BE0B97A0CB66}"/>
                </a:ext>
              </a:extLst>
            </p:cNvPr>
            <p:cNvSpPr/>
            <p:nvPr/>
          </p:nvSpPr>
          <p:spPr>
            <a:xfrm>
              <a:off x="4462188" y="3725873"/>
              <a:ext cx="0" cy="588328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20">
              <a:extLst>
                <a:ext uri="{FF2B5EF4-FFF2-40B4-BE49-F238E27FC236}">
                  <a16:creationId xmlns:a16="http://schemas.microsoft.com/office/drawing/2014/main" id="{7193255B-88AB-479F-F665-46EEC20EBB2E}"/>
                </a:ext>
              </a:extLst>
            </p:cNvPr>
            <p:cNvSpPr/>
            <p:nvPr/>
          </p:nvSpPr>
          <p:spPr>
            <a:xfrm>
              <a:off x="3579696" y="4339062"/>
              <a:ext cx="1938020" cy="401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 algn="l">
                <a:buNone/>
              </a:pPr>
              <a:r>
                <a:rPr lang="en-US" sz="2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/scratch/alpine/&lt;user&gt;</a:t>
              </a:r>
              <a:endParaRPr lang="en-US" sz="2200" dirty="0"/>
            </a:p>
          </p:txBody>
        </p:sp>
        <p:sp>
          <p:nvSpPr>
            <p:cNvPr id="82" name="Shape 21">
              <a:extLst>
                <a:ext uri="{FF2B5EF4-FFF2-40B4-BE49-F238E27FC236}">
                  <a16:creationId xmlns:a16="http://schemas.microsoft.com/office/drawing/2014/main" id="{98AAE701-30B7-0DCF-AB1A-382DB76375EA}"/>
                </a:ext>
              </a:extLst>
            </p:cNvPr>
            <p:cNvSpPr/>
            <p:nvPr/>
          </p:nvSpPr>
          <p:spPr>
            <a:xfrm>
              <a:off x="8919634" y="2992194"/>
              <a:ext cx="2207958" cy="0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22">
              <a:extLst>
                <a:ext uri="{FF2B5EF4-FFF2-40B4-BE49-F238E27FC236}">
                  <a16:creationId xmlns:a16="http://schemas.microsoft.com/office/drawing/2014/main" id="{A754E921-4590-914B-EA8F-94D42ED779E8}"/>
                </a:ext>
              </a:extLst>
            </p:cNvPr>
            <p:cNvSpPr/>
            <p:nvPr/>
          </p:nvSpPr>
          <p:spPr>
            <a:xfrm>
              <a:off x="8919634" y="2992194"/>
              <a:ext cx="0" cy="352997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Shape 23">
              <a:extLst>
                <a:ext uri="{FF2B5EF4-FFF2-40B4-BE49-F238E27FC236}">
                  <a16:creationId xmlns:a16="http://schemas.microsoft.com/office/drawing/2014/main" id="{D56F742A-E615-83B9-605B-5AFB3D8BBDE5}"/>
                </a:ext>
              </a:extLst>
            </p:cNvPr>
            <p:cNvSpPr/>
            <p:nvPr/>
          </p:nvSpPr>
          <p:spPr>
            <a:xfrm>
              <a:off x="11127592" y="2992194"/>
              <a:ext cx="0" cy="352997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24">
              <a:extLst>
                <a:ext uri="{FF2B5EF4-FFF2-40B4-BE49-F238E27FC236}">
                  <a16:creationId xmlns:a16="http://schemas.microsoft.com/office/drawing/2014/main" id="{D66BF242-0215-B388-14F1-D8736BDC4C42}"/>
                </a:ext>
              </a:extLst>
            </p:cNvPr>
            <p:cNvSpPr/>
            <p:nvPr/>
          </p:nvSpPr>
          <p:spPr>
            <a:xfrm>
              <a:off x="8490501" y="3386719"/>
              <a:ext cx="1072833" cy="35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2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/pl/active</a:t>
              </a:r>
              <a:endParaRPr lang="en-US" sz="2200" dirty="0"/>
            </a:p>
          </p:txBody>
        </p:sp>
        <p:sp>
          <p:nvSpPr>
            <p:cNvPr id="86" name="Text 25">
              <a:extLst>
                <a:ext uri="{FF2B5EF4-FFF2-40B4-BE49-F238E27FC236}">
                  <a16:creationId xmlns:a16="http://schemas.microsoft.com/office/drawing/2014/main" id="{2B70B4BD-74B1-294F-8D31-19443268CF96}"/>
                </a:ext>
              </a:extLst>
            </p:cNvPr>
            <p:cNvSpPr/>
            <p:nvPr/>
          </p:nvSpPr>
          <p:spPr>
            <a:xfrm>
              <a:off x="10650009" y="3386719"/>
              <a:ext cx="1142048" cy="35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2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/pl/archive</a:t>
              </a:r>
              <a:endParaRPr lang="en-US" sz="2200" dirty="0"/>
            </a:p>
          </p:txBody>
        </p:sp>
        <p:sp>
          <p:nvSpPr>
            <p:cNvPr id="87" name="Shape 26">
              <a:extLst>
                <a:ext uri="{FF2B5EF4-FFF2-40B4-BE49-F238E27FC236}">
                  <a16:creationId xmlns:a16="http://schemas.microsoft.com/office/drawing/2014/main" id="{C73D1A8E-A458-7137-0B6C-6AA0EBD8942C}"/>
                </a:ext>
              </a:extLst>
            </p:cNvPr>
            <p:cNvSpPr/>
            <p:nvPr/>
          </p:nvSpPr>
          <p:spPr>
            <a:xfrm>
              <a:off x="8926556" y="3705108"/>
              <a:ext cx="0" cy="560642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27">
              <a:extLst>
                <a:ext uri="{FF2B5EF4-FFF2-40B4-BE49-F238E27FC236}">
                  <a16:creationId xmlns:a16="http://schemas.microsoft.com/office/drawing/2014/main" id="{F318DEA4-71FF-CF1C-E2BE-BB2F78E352AD}"/>
                </a:ext>
              </a:extLst>
            </p:cNvPr>
            <p:cNvSpPr/>
            <p:nvPr/>
          </p:nvSpPr>
          <p:spPr>
            <a:xfrm>
              <a:off x="11127592" y="3705108"/>
              <a:ext cx="0" cy="560642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28">
              <a:extLst>
                <a:ext uri="{FF2B5EF4-FFF2-40B4-BE49-F238E27FC236}">
                  <a16:creationId xmlns:a16="http://schemas.microsoft.com/office/drawing/2014/main" id="{4FDE1D9B-6996-9AC2-4E12-FFFEC540BA03}"/>
                </a:ext>
              </a:extLst>
            </p:cNvPr>
            <p:cNvSpPr/>
            <p:nvPr/>
          </p:nvSpPr>
          <p:spPr>
            <a:xfrm>
              <a:off x="8137504" y="4265750"/>
              <a:ext cx="1730375" cy="380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2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/pl/active/&lt;group&gt;</a:t>
              </a:r>
              <a:endParaRPr lang="en-US" sz="2200" dirty="0"/>
            </a:p>
          </p:txBody>
        </p:sp>
        <p:sp>
          <p:nvSpPr>
            <p:cNvPr id="90" name="Text 29">
              <a:extLst>
                <a:ext uri="{FF2B5EF4-FFF2-40B4-BE49-F238E27FC236}">
                  <a16:creationId xmlns:a16="http://schemas.microsoft.com/office/drawing/2014/main" id="{06122E52-9D21-086B-B54E-1FC166F113BE}"/>
                </a:ext>
              </a:extLst>
            </p:cNvPr>
            <p:cNvSpPr/>
            <p:nvPr/>
          </p:nvSpPr>
          <p:spPr>
            <a:xfrm>
              <a:off x="10220876" y="4265750"/>
              <a:ext cx="1730375" cy="380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 algn="l">
                <a:buNone/>
              </a:pPr>
              <a:r>
                <a:rPr lang="en-US" sz="22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/pl/archive/&lt;group&gt;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54153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5B5DA-BC6A-7BA7-29D4-08F9204B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9173-4CCA-F71B-04B5-91BA41E0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File Operations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0C9A1-5845-D561-B1F3-AE1A4949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13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868109-8DDA-00F1-76C1-1411E8180F00}"/>
              </a:ext>
            </a:extLst>
          </p:cNvPr>
          <p:cNvGrpSpPr/>
          <p:nvPr/>
        </p:nvGrpSpPr>
        <p:grpSpPr>
          <a:xfrm>
            <a:off x="1470660" y="1462088"/>
            <a:ext cx="9250680" cy="4543807"/>
            <a:chOff x="2254948" y="1462088"/>
            <a:chExt cx="9250680" cy="454380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3D9678-2E76-3E55-D6E2-36200B4A28C3}"/>
                </a:ext>
              </a:extLst>
            </p:cNvPr>
            <p:cNvGrpSpPr/>
            <p:nvPr/>
          </p:nvGrpSpPr>
          <p:grpSpPr>
            <a:xfrm>
              <a:off x="2254948" y="1462088"/>
              <a:ext cx="3474720" cy="2089594"/>
              <a:chOff x="2254948" y="1844230"/>
              <a:chExt cx="3474720" cy="2089594"/>
            </a:xfrm>
          </p:grpSpPr>
          <p:pic>
            <p:nvPicPr>
              <p:cNvPr id="8" name="Graphic 7" descr="Open folder outline">
                <a:extLst>
                  <a:ext uri="{FF2B5EF4-FFF2-40B4-BE49-F238E27FC236}">
                    <a16:creationId xmlns:a16="http://schemas.microsoft.com/office/drawing/2014/main" id="{93FC7E3C-272D-62E3-604B-82C88C201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875532" y="2971800"/>
                <a:ext cx="0" cy="0"/>
              </a:xfrm>
              <a:prstGeom prst="rect">
                <a:avLst/>
              </a:prstGeom>
            </p:spPr>
          </p:pic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1E1EC58D-E66E-F5E9-8E69-92CDF35683AC}"/>
                  </a:ext>
                </a:extLst>
              </p:cNvPr>
              <p:cNvSpPr/>
              <p:nvPr/>
            </p:nvSpPr>
            <p:spPr>
              <a:xfrm>
                <a:off x="2254948" y="1844230"/>
                <a:ext cx="3474720" cy="2089594"/>
              </a:xfrm>
              <a:prstGeom prst="round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E18E69-4A6A-5B22-87B5-0CFACD4691B1}"/>
                  </a:ext>
                </a:extLst>
              </p:cNvPr>
              <p:cNvSpPr txBox="1"/>
              <p:nvPr/>
            </p:nvSpPr>
            <p:spPr>
              <a:xfrm>
                <a:off x="2317811" y="3181668"/>
                <a:ext cx="33489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chemeClr val="accent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cd [-o] &lt;path&gt;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ED40F7-7D64-888C-08A5-19FC803F5427}"/>
                  </a:ext>
                </a:extLst>
              </p:cNvPr>
              <p:cNvSpPr txBox="1"/>
              <p:nvPr/>
            </p:nvSpPr>
            <p:spPr>
              <a:xfrm>
                <a:off x="2999889" y="2014340"/>
                <a:ext cx="1984839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/>
                  <a:t>Change </a:t>
                </a:r>
              </a:p>
              <a:p>
                <a:pPr algn="ctr"/>
                <a:r>
                  <a:rPr lang="en-US" sz="3200" b="1" dirty="0"/>
                  <a:t>Directory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E25A928-ACE1-7794-2A29-E38B9B600A94}"/>
                </a:ext>
              </a:extLst>
            </p:cNvPr>
            <p:cNvGrpSpPr/>
            <p:nvPr/>
          </p:nvGrpSpPr>
          <p:grpSpPr>
            <a:xfrm>
              <a:off x="6019228" y="1462088"/>
              <a:ext cx="5486400" cy="2089594"/>
              <a:chOff x="2014999" y="1844230"/>
              <a:chExt cx="4114800" cy="2089594"/>
            </a:xfrm>
          </p:grpSpPr>
          <p:pic>
            <p:nvPicPr>
              <p:cNvPr id="14" name="Graphic 13" descr="Open folder outline">
                <a:extLst>
                  <a:ext uri="{FF2B5EF4-FFF2-40B4-BE49-F238E27FC236}">
                    <a16:creationId xmlns:a16="http://schemas.microsoft.com/office/drawing/2014/main" id="{06A1603C-FD67-7A77-1556-CA3E65C8B0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875532" y="2971800"/>
                <a:ext cx="0" cy="0"/>
              </a:xfrm>
              <a:prstGeom prst="rect">
                <a:avLst/>
              </a:prstGeom>
            </p:spPr>
          </p:pic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005D8A23-1E7B-56B7-FA44-70B4B3819EE7}"/>
                  </a:ext>
                </a:extLst>
              </p:cNvPr>
              <p:cNvSpPr/>
              <p:nvPr/>
            </p:nvSpPr>
            <p:spPr>
              <a:xfrm>
                <a:off x="2014999" y="1844230"/>
                <a:ext cx="4114800" cy="2089594"/>
              </a:xfrm>
              <a:prstGeom prst="round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3DDA6F-EE57-F771-6066-10223EE52066}"/>
                  </a:ext>
                </a:extLst>
              </p:cNvPr>
              <p:cNvSpPr txBox="1"/>
              <p:nvPr/>
            </p:nvSpPr>
            <p:spPr>
              <a:xfrm>
                <a:off x="2058867" y="3181668"/>
                <a:ext cx="402706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 err="1">
                    <a:solidFill>
                      <a:schemeClr val="accent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mkdir</a:t>
                </a:r>
                <a:r>
                  <a:rPr lang="en-US" sz="3200" b="1" dirty="0">
                    <a:solidFill>
                      <a:schemeClr val="accent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[-o] &lt;path&gt;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6B899B-ACD2-C6A0-0046-2FAD5F77A9FB}"/>
                  </a:ext>
                </a:extLst>
              </p:cNvPr>
              <p:cNvSpPr txBox="1"/>
              <p:nvPr/>
            </p:nvSpPr>
            <p:spPr>
              <a:xfrm>
                <a:off x="3079980" y="2014340"/>
                <a:ext cx="1984839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/>
                  <a:t>Make </a:t>
                </a:r>
              </a:p>
              <a:p>
                <a:pPr algn="ctr"/>
                <a:r>
                  <a:rPr lang="en-US" sz="3200" b="1" dirty="0"/>
                  <a:t>Directory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4900AFF-1E42-7815-4763-1050602C2771}"/>
                </a:ext>
              </a:extLst>
            </p:cNvPr>
            <p:cNvGrpSpPr/>
            <p:nvPr/>
          </p:nvGrpSpPr>
          <p:grpSpPr>
            <a:xfrm>
              <a:off x="2254948" y="3916301"/>
              <a:ext cx="5486400" cy="2089594"/>
              <a:chOff x="2238984" y="1844230"/>
              <a:chExt cx="3478273" cy="2089594"/>
            </a:xfrm>
          </p:grpSpPr>
          <p:pic>
            <p:nvPicPr>
              <p:cNvPr id="19" name="Graphic 18" descr="Open folder outline">
                <a:extLst>
                  <a:ext uri="{FF2B5EF4-FFF2-40B4-BE49-F238E27FC236}">
                    <a16:creationId xmlns:a16="http://schemas.microsoft.com/office/drawing/2014/main" id="{7619D01D-3E4F-7B09-D3B4-C6A2762F0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875532" y="2971800"/>
                <a:ext cx="0" cy="0"/>
              </a:xfrm>
              <a:prstGeom prst="rect">
                <a:avLst/>
              </a:prstGeom>
            </p:spPr>
          </p:pic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5C4562FB-7C03-8BD1-998A-7F011482916C}"/>
                  </a:ext>
                </a:extLst>
              </p:cNvPr>
              <p:cNvSpPr/>
              <p:nvPr/>
            </p:nvSpPr>
            <p:spPr>
              <a:xfrm>
                <a:off x="2238984" y="1844230"/>
                <a:ext cx="3478273" cy="2089594"/>
              </a:xfrm>
              <a:prstGeom prst="round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BC9B5B-3CF7-804E-D51B-00BDDC734B9A}"/>
                  </a:ext>
                </a:extLst>
              </p:cNvPr>
              <p:cNvSpPr txBox="1"/>
              <p:nvPr/>
            </p:nvSpPr>
            <p:spPr>
              <a:xfrm>
                <a:off x="2271696" y="3181668"/>
                <a:ext cx="341284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chemeClr val="accent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cp [-o] &lt;source&gt; &lt;</a:t>
                </a:r>
                <a:r>
                  <a:rPr lang="en-US" sz="3200" b="1" dirty="0" err="1">
                    <a:solidFill>
                      <a:schemeClr val="accent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dest</a:t>
                </a:r>
                <a:r>
                  <a:rPr lang="en-US" sz="3200" b="1" dirty="0">
                    <a:solidFill>
                      <a:schemeClr val="accent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&gt;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A21E4C-9245-1DA6-0994-1FA1B615320B}"/>
                  </a:ext>
                </a:extLst>
              </p:cNvPr>
              <p:cNvSpPr txBox="1"/>
              <p:nvPr/>
            </p:nvSpPr>
            <p:spPr>
              <a:xfrm>
                <a:off x="2742739" y="2014340"/>
                <a:ext cx="2470764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/>
                  <a:t>Copy / Move </a:t>
                </a:r>
              </a:p>
              <a:p>
                <a:pPr algn="ctr"/>
                <a:r>
                  <a:rPr lang="en-US" sz="3200" b="1" dirty="0"/>
                  <a:t>Files &amp; Directories 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F762859-AFFB-01F6-9BC0-972AD90C53EF}"/>
                </a:ext>
              </a:extLst>
            </p:cNvPr>
            <p:cNvGrpSpPr/>
            <p:nvPr/>
          </p:nvGrpSpPr>
          <p:grpSpPr>
            <a:xfrm>
              <a:off x="8030908" y="3916301"/>
              <a:ext cx="3474720" cy="2089594"/>
              <a:chOff x="2254948" y="1844230"/>
              <a:chExt cx="3474720" cy="2089594"/>
            </a:xfrm>
          </p:grpSpPr>
          <p:pic>
            <p:nvPicPr>
              <p:cNvPr id="24" name="Graphic 23" descr="Open folder outline">
                <a:extLst>
                  <a:ext uri="{FF2B5EF4-FFF2-40B4-BE49-F238E27FC236}">
                    <a16:creationId xmlns:a16="http://schemas.microsoft.com/office/drawing/2014/main" id="{1C0AF813-67D3-F2EB-05E1-D283404B8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875532" y="2971800"/>
                <a:ext cx="0" cy="0"/>
              </a:xfrm>
              <a:prstGeom prst="rect">
                <a:avLst/>
              </a:prstGeom>
            </p:spPr>
          </p:pic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C9851041-E733-31A0-23AA-9FEE8EB9118C}"/>
                  </a:ext>
                </a:extLst>
              </p:cNvPr>
              <p:cNvSpPr/>
              <p:nvPr/>
            </p:nvSpPr>
            <p:spPr>
              <a:xfrm>
                <a:off x="2254948" y="1844230"/>
                <a:ext cx="3474720" cy="2089594"/>
              </a:xfrm>
              <a:prstGeom prst="round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D33C83-4A9B-CA16-5E91-678EF8E7F46C}"/>
                  </a:ext>
                </a:extLst>
              </p:cNvPr>
              <p:cNvSpPr txBox="1"/>
              <p:nvPr/>
            </p:nvSpPr>
            <p:spPr>
              <a:xfrm>
                <a:off x="2317811" y="3181668"/>
                <a:ext cx="33489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chemeClr val="accent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rm [-o] &lt;path&gt;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C318CE-5B6E-B6F2-6BB6-733FA143943F}"/>
                  </a:ext>
                </a:extLst>
              </p:cNvPr>
              <p:cNvSpPr txBox="1"/>
              <p:nvPr/>
            </p:nvSpPr>
            <p:spPr>
              <a:xfrm>
                <a:off x="3228317" y="2014340"/>
                <a:ext cx="1527982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/>
                  <a:t>Delete </a:t>
                </a:r>
              </a:p>
              <a:p>
                <a:pPr algn="ctr"/>
                <a:r>
                  <a:rPr lang="en-US" sz="3200" b="1" dirty="0"/>
                  <a:t>Files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4259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A80F-467A-598A-27CA-29D7AB90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061" y="83771"/>
            <a:ext cx="11265877" cy="1325563"/>
          </a:xfrm>
        </p:spPr>
        <p:txBody>
          <a:bodyPr/>
          <a:lstStyle/>
          <a:p>
            <a:r>
              <a:rPr lang="en-US" dirty="0"/>
              <a:t>Create and edit a file – Terminal Text Editors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D91E8-1460-FB3B-3CB2-3E96670D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14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70EF3A4-5D20-8FC8-D18B-D1E2A7B2D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03" y="1919771"/>
            <a:ext cx="2588146" cy="259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undefined">
            <a:extLst>
              <a:ext uri="{FF2B5EF4-FFF2-40B4-BE49-F238E27FC236}">
                <a16:creationId xmlns:a16="http://schemas.microsoft.com/office/drawing/2014/main" id="{7ED316EC-14FF-145E-0407-F8D5D7370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554" y="1892931"/>
            <a:ext cx="2504284" cy="250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B0254-9AB2-7400-7547-32E8717BC092}"/>
              </a:ext>
            </a:extLst>
          </p:cNvPr>
          <p:cNvSpPr txBox="1"/>
          <p:nvPr/>
        </p:nvSpPr>
        <p:spPr>
          <a:xfrm>
            <a:off x="5192896" y="4667972"/>
            <a:ext cx="15376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Nano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2634B4-AF40-DF74-B510-3B418611DD74}"/>
              </a:ext>
            </a:extLst>
          </p:cNvPr>
          <p:cNvSpPr txBox="1"/>
          <p:nvPr/>
        </p:nvSpPr>
        <p:spPr>
          <a:xfrm>
            <a:off x="1605392" y="4706490"/>
            <a:ext cx="1199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Vim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DE716-6152-038B-9818-B2CAD2E0D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243" y="1776826"/>
            <a:ext cx="2793505" cy="2736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35EB34-99AB-6FA2-4581-3E5B01CD1D91}"/>
              </a:ext>
            </a:extLst>
          </p:cNvPr>
          <p:cNvSpPr txBox="1"/>
          <p:nvPr/>
        </p:nvSpPr>
        <p:spPr>
          <a:xfrm>
            <a:off x="8883077" y="4667972"/>
            <a:ext cx="18758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Emacs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38BD-DBBE-2994-7077-B94D7FE3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187"/>
            <a:ext cx="10515600" cy="1325563"/>
          </a:xfrm>
        </p:spPr>
        <p:txBody>
          <a:bodyPr/>
          <a:lstStyle/>
          <a:p>
            <a:r>
              <a:rPr lang="en-US" dirty="0"/>
              <a:t>Creating a Bash Script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F1B2F-F244-BE48-7497-088CA2C3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15</a:t>
            </a:fld>
            <a:endParaRPr lang="en-US"/>
          </a:p>
        </p:txBody>
      </p:sp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F651B605-88E9-D063-5E96-8891257EE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0" y="1615675"/>
            <a:ext cx="4116910" cy="411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5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6;p31">
            <a:extLst>
              <a:ext uri="{FF2B5EF4-FFF2-40B4-BE49-F238E27FC236}">
                <a16:creationId xmlns:a16="http://schemas.microsoft.com/office/drawing/2014/main" id="{7BB7D35D-D791-33B1-E779-2E55122C2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901" y="188360"/>
            <a:ext cx="9962909" cy="71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ctr" anchorCtr="0">
            <a:spAutoFit/>
          </a:bodyPr>
          <a:lstStyle/>
          <a:p>
            <a:pPr marL="299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Shell script basics</a:t>
            </a:r>
            <a:endParaRPr dirty="0"/>
          </a:p>
        </p:txBody>
      </p:sp>
      <p:sp>
        <p:nvSpPr>
          <p:cNvPr id="223" name="Google Shape;223;p32"/>
          <p:cNvSpPr txBox="1"/>
          <p:nvPr/>
        </p:nvSpPr>
        <p:spPr>
          <a:xfrm>
            <a:off x="672775" y="1190417"/>
            <a:ext cx="10302600" cy="209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900" rIns="0" bIns="0" anchor="t" anchorCtr="0">
            <a:spAutoFit/>
          </a:bodyPr>
          <a:lstStyle/>
          <a:p>
            <a:pPr marL="67713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In shell scripts, the first line must specify the shell e.g.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#!/bin/bash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+mn-lt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683448" marR="28477" lvl="0" indent="-349218" algn="l" rtl="0">
              <a:lnSpc>
                <a:spcPct val="125000"/>
              </a:lnSpc>
              <a:spcBef>
                <a:spcPts val="507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The program loader recognizes the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#!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 and will interpret the rest of the line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(/bin/bash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) as the interpreter program.</a:t>
            </a:r>
            <a:endParaRPr sz="24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</a:endParaRPr>
          </a:p>
          <a:p>
            <a:pPr marL="67713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If a line starts with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#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, it is a comment and is not run.</a:t>
            </a:r>
            <a:endParaRPr sz="24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</a:endParaRPr>
          </a:p>
        </p:txBody>
      </p:sp>
      <p:sp>
        <p:nvSpPr>
          <p:cNvPr id="222" name="Google Shape;222;p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775" y="3510125"/>
            <a:ext cx="6070925" cy="24156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944700" y="3497425"/>
            <a:ext cx="5694600" cy="271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475" rIns="0" bIns="0" anchor="t" anchorCtr="0">
            <a:spAutoFit/>
          </a:bodyPr>
          <a:lstStyle/>
          <a:p>
            <a:pPr marL="29975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b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#look at the files in /</a:t>
            </a:r>
            <a:r>
              <a:rPr lang="en-US" sz="2600" i="1" dirty="0" err="1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75" marR="1212522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 sz="2600" dirty="0">
                <a:solidFill>
                  <a:srgbClr val="00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2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9975" marR="1212522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 </a:t>
            </a:r>
            <a:endParaRPr dirty="0"/>
          </a:p>
          <a:p>
            <a:pPr marL="29975" marR="1212522" lvl="0" indent="0" algn="l" rtl="0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32"/>
          <p:cNvSpPr txBox="1"/>
          <p:nvPr/>
        </p:nvSpPr>
        <p:spPr>
          <a:xfrm>
            <a:off x="6996234" y="3454776"/>
            <a:ext cx="3228731" cy="279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450" rIns="0" bIns="0" anchor="t" anchorCtr="0">
            <a:spAutoFit/>
          </a:bodyPr>
          <a:lstStyle/>
          <a:p>
            <a:pPr marL="29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Shell to run</a:t>
            </a:r>
            <a:endParaRPr sz="25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Comment</a:t>
            </a:r>
            <a:endParaRPr sz="25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Change directories</a:t>
            </a:r>
            <a:endParaRPr sz="25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List everything in /</a:t>
            </a:r>
            <a:r>
              <a:rPr lang="en-US" sz="2500" dirty="0" err="1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tmp</a:t>
            </a: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endParaRPr sz="13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06900"/>
              </a:lnSpc>
              <a:spcBef>
                <a:spcPts val="319"/>
              </a:spcBef>
              <a:spcAft>
                <a:spcPts val="0"/>
              </a:spcAft>
              <a:buNone/>
            </a:pPr>
            <a:endParaRPr sz="2500" dirty="0">
              <a:solidFill>
                <a:schemeClr val="dk2"/>
              </a:solidFill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732C146-9EAD-2FB1-DBB8-E744A2E5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AF56-F053-8140-3372-ECB31243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F2681-0074-923B-B3BD-4A160FBA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17</a:t>
            </a:fld>
            <a:endParaRPr lang="en-US"/>
          </a:p>
        </p:txBody>
      </p:sp>
      <p:sp>
        <p:nvSpPr>
          <p:cNvPr id="21" name="Google Shape;225;p30">
            <a:extLst>
              <a:ext uri="{FF2B5EF4-FFF2-40B4-BE49-F238E27FC236}">
                <a16:creationId xmlns:a16="http://schemas.microsoft.com/office/drawing/2014/main" id="{0BB9CD20-92CD-3ECF-7E94-052979523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4711" y="1899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 Light"/>
              <a:buNone/>
            </a:pPr>
            <a:r>
              <a:rPr lang="en-US" dirty="0">
                <a:latin typeface="Helvetica Neue Light"/>
                <a:ea typeface="Helvetica Neue Light"/>
                <a:sym typeface="Helvetica Neue Light"/>
              </a:rPr>
              <a:t>Selecting Resources</a:t>
            </a:r>
            <a:endParaRPr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8608F1A0-B9A3-6A6F-DC5C-ED59C872F653}"/>
              </a:ext>
            </a:extLst>
          </p:cNvPr>
          <p:cNvSpPr/>
          <p:nvPr/>
        </p:nvSpPr>
        <p:spPr>
          <a:xfrm rot="10800000">
            <a:off x="5536006" y="5245515"/>
            <a:ext cx="1133856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C244DB-99FC-94A6-83D5-A16D6F77A1DB}"/>
              </a:ext>
            </a:extLst>
          </p:cNvPr>
          <p:cNvGrpSpPr/>
          <p:nvPr/>
        </p:nvGrpSpPr>
        <p:grpSpPr>
          <a:xfrm>
            <a:off x="1069178" y="1759077"/>
            <a:ext cx="3636619" cy="3339847"/>
            <a:chOff x="1069178" y="1759077"/>
            <a:chExt cx="3636619" cy="3339847"/>
          </a:xfrm>
        </p:grpSpPr>
        <p:pic>
          <p:nvPicPr>
            <p:cNvPr id="4" name="Google Shape;210;p30">
              <a:extLst>
                <a:ext uri="{FF2B5EF4-FFF2-40B4-BE49-F238E27FC236}">
                  <a16:creationId xmlns:a16="http://schemas.microsoft.com/office/drawing/2014/main" id="{220775E6-6C27-3769-8D78-E78019811C21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69178" y="2240351"/>
              <a:ext cx="2377292" cy="2377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ight Arrow Callout 7">
              <a:extLst>
                <a:ext uri="{FF2B5EF4-FFF2-40B4-BE49-F238E27FC236}">
                  <a16:creationId xmlns:a16="http://schemas.microsoft.com/office/drawing/2014/main" id="{573DEB1B-FED6-BDB1-D8EF-9E3C1D2D757C}"/>
                </a:ext>
              </a:extLst>
            </p:cNvPr>
            <p:cNvSpPr/>
            <p:nvPr/>
          </p:nvSpPr>
          <p:spPr>
            <a:xfrm>
              <a:off x="1094954" y="1759077"/>
              <a:ext cx="3610843" cy="3339847"/>
            </a:xfrm>
            <a:prstGeom prst="rightArrowCallou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4A1583-5C7D-56AF-E836-C1344C33C95E}"/>
                </a:ext>
              </a:extLst>
            </p:cNvPr>
            <p:cNvGrpSpPr/>
            <p:nvPr/>
          </p:nvGrpSpPr>
          <p:grpSpPr>
            <a:xfrm>
              <a:off x="1082066" y="1873651"/>
              <a:ext cx="2351516" cy="707886"/>
              <a:chOff x="540307" y="1873650"/>
              <a:chExt cx="2351516" cy="70788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88F24A-12B6-A6B0-6D31-DF31E29B1081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A146D39-1C95-4EEC-20C4-8CDC0FB0B7A1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61BAD5-EA30-7474-588F-A9D2C6D00748}"/>
                </a:ext>
              </a:extLst>
            </p:cNvPr>
            <p:cNvSpPr txBox="1"/>
            <p:nvPr/>
          </p:nvSpPr>
          <p:spPr>
            <a:xfrm>
              <a:off x="1094954" y="443298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Login Node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B210F8-01B3-10BE-EA99-162E2249A0BC}"/>
              </a:ext>
            </a:extLst>
          </p:cNvPr>
          <p:cNvGrpSpPr/>
          <p:nvPr/>
        </p:nvGrpSpPr>
        <p:grpSpPr>
          <a:xfrm>
            <a:off x="4913198" y="1759077"/>
            <a:ext cx="3631266" cy="3339847"/>
            <a:chOff x="4913198" y="1759077"/>
            <a:chExt cx="3631266" cy="3339847"/>
          </a:xfrm>
        </p:grpSpPr>
        <p:sp>
          <p:nvSpPr>
            <p:cNvPr id="14" name="Right Arrow Callout 13">
              <a:extLst>
                <a:ext uri="{FF2B5EF4-FFF2-40B4-BE49-F238E27FC236}">
                  <a16:creationId xmlns:a16="http://schemas.microsoft.com/office/drawing/2014/main" id="{9EC4DCA0-7E7E-F3BB-8BE8-E0968AEFD6B4}"/>
                </a:ext>
              </a:extLst>
            </p:cNvPr>
            <p:cNvSpPr/>
            <p:nvPr/>
          </p:nvSpPr>
          <p:spPr>
            <a:xfrm>
              <a:off x="4933621" y="1759077"/>
              <a:ext cx="3610843" cy="3339847"/>
            </a:xfrm>
            <a:prstGeom prst="rightArrowCallou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B742497-4AD1-8E90-4B12-509A38292BE0}"/>
                </a:ext>
              </a:extLst>
            </p:cNvPr>
            <p:cNvGrpSpPr/>
            <p:nvPr/>
          </p:nvGrpSpPr>
          <p:grpSpPr>
            <a:xfrm>
              <a:off x="4920733" y="1873651"/>
              <a:ext cx="2351516" cy="707886"/>
              <a:chOff x="540307" y="1873650"/>
              <a:chExt cx="2351516" cy="707886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0E3008-29B0-8237-BE36-B9B634EADBCF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C813C34-B45F-2EC9-6E07-DD82B6D014BF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D923E9E-35C5-191F-E1C1-DAFE43E92B54}"/>
                </a:ext>
              </a:extLst>
            </p:cNvPr>
            <p:cNvSpPr txBox="1"/>
            <p:nvPr/>
          </p:nvSpPr>
          <p:spPr>
            <a:xfrm>
              <a:off x="4913198" y="443619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Resources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643E18-E94E-5FC8-1086-B1FDCAF740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73040" y="2755023"/>
              <a:ext cx="1645920" cy="1546836"/>
              <a:chOff x="8412658" y="2617108"/>
              <a:chExt cx="1929294" cy="181315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F6DAAEE-FF50-FE76-10A5-ECE4655072C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412658" y="2617108"/>
                <a:ext cx="1078992" cy="1082299"/>
                <a:chOff x="4726983" y="2457616"/>
                <a:chExt cx="2062421" cy="1993113"/>
              </a:xfrm>
            </p:grpSpPr>
            <p:sp>
              <p:nvSpPr>
                <p:cNvPr id="26" name="Rounded Rectangle 25" descr="An icon representing a computer chip">
                  <a:extLst>
                    <a:ext uri="{FF2B5EF4-FFF2-40B4-BE49-F238E27FC236}">
                      <a16:creationId xmlns:a16="http://schemas.microsoft.com/office/drawing/2014/main" id="{0122618A-79AC-0727-58FA-89B67EA54E4F}"/>
                    </a:ext>
                  </a:extLst>
                </p:cNvPr>
                <p:cNvSpPr/>
                <p:nvPr/>
              </p:nvSpPr>
              <p:spPr>
                <a:xfrm>
                  <a:off x="4726983" y="2457616"/>
                  <a:ext cx="2062421" cy="1993113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7" name="Graphic 26">
                  <a:extLst>
                    <a:ext uri="{FF2B5EF4-FFF2-40B4-BE49-F238E27FC236}">
                      <a16:creationId xmlns:a16="http://schemas.microsoft.com/office/drawing/2014/main" id="{D298EA29-E9AD-E303-6D76-AF297FA5CC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75767" y="2671746"/>
                  <a:ext cx="1564852" cy="1564852"/>
                </a:xfrm>
                <a:prstGeom prst="rect">
                  <a:avLst/>
                </a:prstGeom>
              </p:spPr>
            </p:pic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EA79F8D-90F4-1EC3-4851-A37266F85EA4}"/>
                  </a:ext>
                </a:extLst>
              </p:cNvPr>
              <p:cNvGrpSpPr/>
              <p:nvPr/>
            </p:nvGrpSpPr>
            <p:grpSpPr>
              <a:xfrm>
                <a:off x="9262960" y="3347959"/>
                <a:ext cx="1078992" cy="1082299"/>
                <a:chOff x="9174826" y="3192427"/>
                <a:chExt cx="1078992" cy="1082299"/>
              </a:xfrm>
            </p:grpSpPr>
            <p:sp>
              <p:nvSpPr>
                <p:cNvPr id="20" name="Rounded Rectangle 19" descr="An icon of a stopwatch">
                  <a:extLst>
                    <a:ext uri="{FF2B5EF4-FFF2-40B4-BE49-F238E27FC236}">
                      <a16:creationId xmlns:a16="http://schemas.microsoft.com/office/drawing/2014/main" id="{35EF6FB0-879E-8DDD-2B0B-B7BA82ED729C}"/>
                    </a:ext>
                  </a:extLst>
                </p:cNvPr>
                <p:cNvSpPr/>
                <p:nvPr/>
              </p:nvSpPr>
              <p:spPr>
                <a:xfrm>
                  <a:off x="9174826" y="3192427"/>
                  <a:ext cx="1078992" cy="1082299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5" name="Graphic 24" descr="Stopwatch with solid fill">
                  <a:extLst>
                    <a:ext uri="{FF2B5EF4-FFF2-40B4-BE49-F238E27FC236}">
                      <a16:creationId xmlns:a16="http://schemas.microsoft.com/office/drawing/2014/main" id="{992BE49E-87BF-91F9-8DE2-9E0177838F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02842" y="3322096"/>
                  <a:ext cx="822960" cy="82296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19B1EED-EF95-298C-77CC-7730AEBABB9C}"/>
              </a:ext>
            </a:extLst>
          </p:cNvPr>
          <p:cNvGrpSpPr/>
          <p:nvPr/>
        </p:nvGrpSpPr>
        <p:grpSpPr>
          <a:xfrm>
            <a:off x="8747203" y="1764792"/>
            <a:ext cx="2358559" cy="3334132"/>
            <a:chOff x="8747203" y="1764792"/>
            <a:chExt cx="2358559" cy="3334132"/>
          </a:xfrm>
        </p:grpSpPr>
        <p:pic>
          <p:nvPicPr>
            <p:cNvPr id="44" name="Picture 2" descr="The logo of the Slurm workload manager">
              <a:extLst>
                <a:ext uri="{FF2B5EF4-FFF2-40B4-BE49-F238E27FC236}">
                  <a16:creationId xmlns:a16="http://schemas.microsoft.com/office/drawing/2014/main" id="{EB120A5C-EC01-7F90-1801-E217FCD813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089"/>
            <a:stretch/>
          </p:blipFill>
          <p:spPr bwMode="auto">
            <a:xfrm>
              <a:off x="9087422" y="2803512"/>
              <a:ext cx="1698054" cy="1366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D30ABE-341C-9838-7162-DDC3396B04AC}"/>
                </a:ext>
              </a:extLst>
            </p:cNvPr>
            <p:cNvSpPr txBox="1"/>
            <p:nvPr/>
          </p:nvSpPr>
          <p:spPr>
            <a:xfrm>
              <a:off x="8758419" y="443298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Job Request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574274E-F8B8-C57A-AC09-90A2E1C4A2B0}"/>
                </a:ext>
              </a:extLst>
            </p:cNvPr>
            <p:cNvSpPr/>
            <p:nvPr/>
          </p:nvSpPr>
          <p:spPr>
            <a:xfrm>
              <a:off x="8767136" y="1764792"/>
              <a:ext cx="2338626" cy="333413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6843779-CFFC-FD64-B841-D348C4975140}"/>
                </a:ext>
              </a:extLst>
            </p:cNvPr>
            <p:cNvGrpSpPr/>
            <p:nvPr/>
          </p:nvGrpSpPr>
          <p:grpSpPr>
            <a:xfrm>
              <a:off x="8747203" y="1891582"/>
              <a:ext cx="2351516" cy="707886"/>
              <a:chOff x="540307" y="1873650"/>
              <a:chExt cx="2351516" cy="707886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6F96D75-0876-F30B-322D-DCFE03D2A7F7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AD0C639-8A2C-BF86-A91C-2BE93BC7AD5F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6035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6D56-E9CD-895A-05DC-627099CB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24CA-76FB-0A00-2616-338923B9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Resource Requests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7CEDD-410C-FE3C-8DFF-847969FE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18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89ABE8-DED3-5EDA-A99D-D33F7839AA09}"/>
              </a:ext>
            </a:extLst>
          </p:cNvPr>
          <p:cNvGrpSpPr/>
          <p:nvPr/>
        </p:nvGrpSpPr>
        <p:grpSpPr>
          <a:xfrm>
            <a:off x="6339683" y="1985805"/>
            <a:ext cx="2468880" cy="2949023"/>
            <a:chOff x="3471280" y="1960061"/>
            <a:chExt cx="2468880" cy="294902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19298AC-3C10-E8D7-5FCC-82E88F54205D}"/>
                </a:ext>
              </a:extLst>
            </p:cNvPr>
            <p:cNvSpPr/>
            <p:nvPr/>
          </p:nvSpPr>
          <p:spPr>
            <a:xfrm>
              <a:off x="3471280" y="1960061"/>
              <a:ext cx="2468880" cy="29490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An icon representing a computer chip">
              <a:extLst>
                <a:ext uri="{FF2B5EF4-FFF2-40B4-BE49-F238E27FC236}">
                  <a16:creationId xmlns:a16="http://schemas.microsoft.com/office/drawing/2014/main" id="{2C96318A-1E33-64EC-EF5D-42AD665022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74200" y="2110541"/>
              <a:ext cx="1463040" cy="146304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85307A-16A3-FDDA-CCD5-CC778A6F25FC}"/>
                </a:ext>
              </a:extLst>
            </p:cNvPr>
            <p:cNvSpPr txBox="1"/>
            <p:nvPr/>
          </p:nvSpPr>
          <p:spPr>
            <a:xfrm>
              <a:off x="3471280" y="3642524"/>
              <a:ext cx="246887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Cores, GPUs,</a:t>
              </a:r>
            </a:p>
            <a:p>
              <a:pPr algn="ctr"/>
              <a:r>
                <a:rPr lang="en-US" sz="2800" b="1" dirty="0"/>
                <a:t>and Nodes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6F05D52-5A96-F0C5-887C-F75B7E612303}"/>
              </a:ext>
            </a:extLst>
          </p:cNvPr>
          <p:cNvGrpSpPr/>
          <p:nvPr/>
        </p:nvGrpSpPr>
        <p:grpSpPr>
          <a:xfrm>
            <a:off x="591024" y="1960061"/>
            <a:ext cx="2468880" cy="2949023"/>
            <a:chOff x="591024" y="1960061"/>
            <a:chExt cx="2468880" cy="2949023"/>
          </a:xfrm>
        </p:grpSpPr>
        <p:sp>
          <p:nvSpPr>
            <p:cNvPr id="6" name="Rounded Rectangle 5" descr="An icon representing computer servers">
              <a:extLst>
                <a:ext uri="{FF2B5EF4-FFF2-40B4-BE49-F238E27FC236}">
                  <a16:creationId xmlns:a16="http://schemas.microsoft.com/office/drawing/2014/main" id="{4502DE34-8143-2807-6667-9AEE077E56E8}"/>
                </a:ext>
              </a:extLst>
            </p:cNvPr>
            <p:cNvSpPr/>
            <p:nvPr/>
          </p:nvSpPr>
          <p:spPr>
            <a:xfrm>
              <a:off x="591024" y="1960061"/>
              <a:ext cx="2468880" cy="29490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C7A1AC-92E1-72AB-3B92-482B39BB1F8A}"/>
                </a:ext>
              </a:extLst>
            </p:cNvPr>
            <p:cNvSpPr txBox="1"/>
            <p:nvPr/>
          </p:nvSpPr>
          <p:spPr>
            <a:xfrm>
              <a:off x="868240" y="3598703"/>
              <a:ext cx="19144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Partition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A0A0A28-9E7B-3F5E-A656-79D568ECCC25}"/>
                </a:ext>
              </a:extLst>
            </p:cNvPr>
            <p:cNvGrpSpPr/>
            <p:nvPr/>
          </p:nvGrpSpPr>
          <p:grpSpPr>
            <a:xfrm>
              <a:off x="828128" y="2316334"/>
              <a:ext cx="1994672" cy="1046573"/>
              <a:chOff x="838200" y="2198126"/>
              <a:chExt cx="1994672" cy="1046573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3D66CCE-E844-D09F-5D73-C3869EF02239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3363C6F-E5A9-8E18-E581-4FC10ACE4658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A9F34C0-0568-CAA5-0575-85C93F66B669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0539A2C-B86F-C62E-D368-EBCB0B9A5962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BD37F0E-BA1F-18A7-CFC5-F988BBBA9FFC}"/>
              </a:ext>
            </a:extLst>
          </p:cNvPr>
          <p:cNvGrpSpPr/>
          <p:nvPr/>
        </p:nvGrpSpPr>
        <p:grpSpPr>
          <a:xfrm>
            <a:off x="9311483" y="1972317"/>
            <a:ext cx="2468880" cy="2960167"/>
            <a:chOff x="6351536" y="1948917"/>
            <a:chExt cx="2468880" cy="296016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84EA2F3-8F34-6D92-21AB-E3F22027A1EB}"/>
                </a:ext>
              </a:extLst>
            </p:cNvPr>
            <p:cNvSpPr/>
            <p:nvPr/>
          </p:nvSpPr>
          <p:spPr>
            <a:xfrm>
              <a:off x="6351536" y="1948917"/>
              <a:ext cx="2468880" cy="2960167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B31BE7-3F1F-2CC6-AEF0-B6C250D5F50A}"/>
                </a:ext>
              </a:extLst>
            </p:cNvPr>
            <p:cNvSpPr txBox="1"/>
            <p:nvPr/>
          </p:nvSpPr>
          <p:spPr>
            <a:xfrm>
              <a:off x="6628752" y="3598702"/>
              <a:ext cx="19144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Wall Time</a:t>
              </a:r>
            </a:p>
          </p:txBody>
        </p:sp>
        <p:pic>
          <p:nvPicPr>
            <p:cNvPr id="23" name="Graphic 22" descr="An icon representing a stopwatch">
              <a:extLst>
                <a:ext uri="{FF2B5EF4-FFF2-40B4-BE49-F238E27FC236}">
                  <a16:creationId xmlns:a16="http://schemas.microsoft.com/office/drawing/2014/main" id="{F63B2A87-3EC2-C978-9BEE-84289FA4EF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54456" y="2108099"/>
              <a:ext cx="1463040" cy="146304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BBB75D-DA3B-0F46-D0DE-5C1AA47F8E05}"/>
              </a:ext>
            </a:extLst>
          </p:cNvPr>
          <p:cNvGrpSpPr/>
          <p:nvPr/>
        </p:nvGrpSpPr>
        <p:grpSpPr>
          <a:xfrm>
            <a:off x="3471280" y="1974661"/>
            <a:ext cx="2468880" cy="2960167"/>
            <a:chOff x="9231793" y="1948917"/>
            <a:chExt cx="2468880" cy="2960167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ADCCDA8-0A94-F8F6-F3FC-A631B161CA2C}"/>
                </a:ext>
              </a:extLst>
            </p:cNvPr>
            <p:cNvSpPr/>
            <p:nvPr/>
          </p:nvSpPr>
          <p:spPr>
            <a:xfrm>
              <a:off x="9231793" y="1948917"/>
              <a:ext cx="2468880" cy="2960167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77B193-DF7D-30A3-4D34-7863BCD83F48}"/>
                </a:ext>
              </a:extLst>
            </p:cNvPr>
            <p:cNvSpPr txBox="1"/>
            <p:nvPr/>
          </p:nvSpPr>
          <p:spPr>
            <a:xfrm>
              <a:off x="9509009" y="3606035"/>
              <a:ext cx="191444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Quality of Service</a:t>
              </a:r>
            </a:p>
          </p:txBody>
        </p:sp>
        <p:grpSp>
          <p:nvGrpSpPr>
            <p:cNvPr id="27" name="Group 26" descr="An icon of two horizontal arrows pointing inward towards the same vertical line">
              <a:extLst>
                <a:ext uri="{FF2B5EF4-FFF2-40B4-BE49-F238E27FC236}">
                  <a16:creationId xmlns:a16="http://schemas.microsoft.com/office/drawing/2014/main" id="{52A1F7A9-D0C2-258F-4B03-C59FDC23181D}"/>
                </a:ext>
              </a:extLst>
            </p:cNvPr>
            <p:cNvGrpSpPr/>
            <p:nvPr/>
          </p:nvGrpSpPr>
          <p:grpSpPr>
            <a:xfrm>
              <a:off x="9631316" y="2329377"/>
              <a:ext cx="1669833" cy="1188720"/>
              <a:chOff x="9673851" y="2181479"/>
              <a:chExt cx="1669833" cy="1188720"/>
            </a:xfrm>
          </p:grpSpPr>
          <p:sp>
            <p:nvSpPr>
              <p:cNvPr id="24" name="Left Arrow 23">
                <a:extLst>
                  <a:ext uri="{FF2B5EF4-FFF2-40B4-BE49-F238E27FC236}">
                    <a16:creationId xmlns:a16="http://schemas.microsoft.com/office/drawing/2014/main" id="{FBC70599-7D57-88E4-CB56-C07C15716015}"/>
                  </a:ext>
                </a:extLst>
              </p:cNvPr>
              <p:cNvSpPr/>
              <p:nvPr/>
            </p:nvSpPr>
            <p:spPr>
              <a:xfrm>
                <a:off x="10687262" y="2272919"/>
                <a:ext cx="656422" cy="1005840"/>
              </a:xfrm>
              <a:prstGeom prst="lef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Left Arrow 24">
                <a:extLst>
                  <a:ext uri="{FF2B5EF4-FFF2-40B4-BE49-F238E27FC236}">
                    <a16:creationId xmlns:a16="http://schemas.microsoft.com/office/drawing/2014/main" id="{66EF8CCF-69AF-BE63-A2E6-3D2F62B1461E}"/>
                  </a:ext>
                </a:extLst>
              </p:cNvPr>
              <p:cNvSpPr/>
              <p:nvPr/>
            </p:nvSpPr>
            <p:spPr>
              <a:xfrm flipH="1">
                <a:off x="9673851" y="2272919"/>
                <a:ext cx="656422" cy="1005840"/>
              </a:xfrm>
              <a:prstGeom prst="lef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DB789D6E-E1AB-4E95-2605-B345A32A13C1}"/>
                  </a:ext>
                </a:extLst>
              </p:cNvPr>
              <p:cNvSpPr/>
              <p:nvPr/>
            </p:nvSpPr>
            <p:spPr>
              <a:xfrm>
                <a:off x="10424366" y="2181479"/>
                <a:ext cx="168802" cy="118872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243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5B02276A-EFC9-E7C2-56F0-15CCD49C1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7D534403-D252-E56D-64B7-44E21E45E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</a:t>
            </a:r>
            <a:endParaRPr dirty="0"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AE45C49E-CFDF-4306-581F-E7ACE6829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6870102" y="1658302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 descr="Image representing the idea that Alpine partitions are largely composed of compute nodes">
            <a:extLst>
              <a:ext uri="{FF2B5EF4-FFF2-40B4-BE49-F238E27FC236}">
                <a16:creationId xmlns:a16="http://schemas.microsoft.com/office/drawing/2014/main" id="{DD647B26-5158-ED42-CDA4-27A3D335058F}"/>
              </a:ext>
            </a:extLst>
          </p:cNvPr>
          <p:cNvGrpSpPr/>
          <p:nvPr/>
        </p:nvGrpSpPr>
        <p:grpSpPr>
          <a:xfrm>
            <a:off x="7889814" y="2417736"/>
            <a:ext cx="2124371" cy="2346859"/>
            <a:chOff x="4726983" y="2457616"/>
            <a:chExt cx="2124371" cy="234685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5A1E32A-FBBF-CBF4-94B4-DF3636D17AFA}"/>
                </a:ext>
              </a:extLst>
            </p:cNvPr>
            <p:cNvSpPr/>
            <p:nvPr/>
          </p:nvSpPr>
          <p:spPr>
            <a:xfrm>
              <a:off x="4726983" y="2457616"/>
              <a:ext cx="2124371" cy="2346859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972347B-25BA-10DB-0E6E-398291FF4D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06742" y="2646573"/>
              <a:ext cx="1564852" cy="156485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3E7AB5-FB90-9A16-0C8D-3BCFE2EBFFA7}"/>
                </a:ext>
              </a:extLst>
            </p:cNvPr>
            <p:cNvSpPr txBox="1"/>
            <p:nvPr/>
          </p:nvSpPr>
          <p:spPr>
            <a:xfrm>
              <a:off x="5006742" y="4211425"/>
              <a:ext cx="15648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>
                  <a:latin typeface="Consolas" panose="020B0609020204030204" pitchFamily="49" charset="0"/>
                  <a:cs typeface="Consolas" panose="020B0609020204030204" pitchFamily="49" charset="0"/>
                </a:rPr>
                <a:t>COMPUTE</a:t>
              </a:r>
            </a:p>
          </p:txBody>
        </p:sp>
      </p:grp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9C3F2E95-0E07-2372-59C3-B43352347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960BD-3184-C968-F3A0-05BF3BE46FC3}"/>
              </a:ext>
            </a:extLst>
          </p:cNvPr>
          <p:cNvSpPr txBox="1"/>
          <p:nvPr/>
        </p:nvSpPr>
        <p:spPr>
          <a:xfrm>
            <a:off x="418170" y="2113086"/>
            <a:ext cx="576775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Partitions are a collection of compute nodes with common characteristics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nodes can be thought of as a desktop without a monitor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in-depth information on partitions see: </a:t>
            </a:r>
            <a:r>
              <a:rPr lang="en-US" sz="2400" dirty="0" err="1">
                <a:solidFill>
                  <a:srgbClr val="0563C1"/>
                </a:solidFill>
                <a:cs typeface="Arial"/>
              </a:rPr>
              <a:t>curc.readthedocs.io</a:t>
            </a:r>
            <a:r>
              <a:rPr lang="en-US" sz="2400" dirty="0">
                <a:solidFill>
                  <a:srgbClr val="0563C1"/>
                </a:solidFill>
                <a:cs typeface="Arial"/>
              </a:rPr>
              <a:t>/</a:t>
            </a:r>
            <a:r>
              <a:rPr lang="en-US" sz="2400" dirty="0" err="1">
                <a:solidFill>
                  <a:srgbClr val="0563C1"/>
                </a:solidFill>
                <a:cs typeface="Arial"/>
              </a:rPr>
              <a:t>en</a:t>
            </a:r>
            <a:r>
              <a:rPr lang="en-US" sz="2400" dirty="0">
                <a:solidFill>
                  <a:srgbClr val="0563C1"/>
                </a:solidFill>
                <a:cs typeface="Arial"/>
              </a:rPr>
              <a:t>/latest/clusters/alpine/</a:t>
            </a:r>
            <a:r>
              <a:rPr lang="en-US" sz="2400" dirty="0" err="1">
                <a:solidFill>
                  <a:srgbClr val="0563C1"/>
                </a:solidFill>
                <a:cs typeface="Arial"/>
              </a:rPr>
              <a:t>alpine-hardware.html#partitions</a:t>
            </a:r>
            <a:endParaRPr lang="en-US" sz="2400" dirty="0">
              <a:solidFill>
                <a:srgbClr val="0563C1"/>
              </a:solidFill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458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81F2AE31-C903-A075-45AE-C9FAEB5B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4B98FC8C-FF06-0B8F-D96A-382401CBC8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 - </a:t>
            </a:r>
            <a:r>
              <a:rPr lang="en-US" dirty="0" err="1"/>
              <a:t>acpu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754FF-9970-1B20-3829-DC5CA731B804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CPU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8588F9C-8692-06CC-DB20-8C929554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D76C4C27-CF16-32EF-2B02-DC875A46C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534216B3-960E-27F8-DB59-CBB6C56DE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55669"/>
          <a:stretch/>
        </p:blipFill>
        <p:spPr bwMode="auto">
          <a:xfrm>
            <a:off x="3750073" y="1405542"/>
            <a:ext cx="612771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2BC4644A-1F59-1D3E-58BF-5166C03C3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pSp>
        <p:nvGrpSpPr>
          <p:cNvPr id="3" name="Group 2" descr="Image showing the progress through the 4 goals, currently selected is the Nodes and partitions goal">
            <a:extLst>
              <a:ext uri="{FF2B5EF4-FFF2-40B4-BE49-F238E27FC236}">
                <a16:creationId xmlns:a16="http://schemas.microsoft.com/office/drawing/2014/main" id="{FB70FDF7-F0CF-630D-6265-5660232568EA}"/>
              </a:ext>
            </a:extLst>
          </p:cNvPr>
          <p:cNvGrpSpPr/>
          <p:nvPr/>
        </p:nvGrpSpPr>
        <p:grpSpPr>
          <a:xfrm>
            <a:off x="3500628" y="5983890"/>
            <a:ext cx="4941299" cy="744920"/>
            <a:chOff x="4158096" y="6113080"/>
            <a:chExt cx="3806091" cy="744920"/>
          </a:xfrm>
        </p:grpSpPr>
        <p:pic>
          <p:nvPicPr>
            <p:cNvPr id="4" name="Graphic 3" descr="Programmer female with solid fill">
              <a:extLst>
                <a:ext uri="{FF2B5EF4-FFF2-40B4-BE49-F238E27FC236}">
                  <a16:creationId xmlns:a16="http://schemas.microsoft.com/office/drawing/2014/main" id="{9624BE26-912F-9545-55A2-F661083011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930F88-A2AF-FEFF-D4FF-41FDC45D86CE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6" name="Graphic 5" descr="Processor with solid fill">
              <a:extLst>
                <a:ext uri="{FF2B5EF4-FFF2-40B4-BE49-F238E27FC236}">
                  <a16:creationId xmlns:a16="http://schemas.microsoft.com/office/drawing/2014/main" id="{EDD4F489-D930-ECC2-B5B1-87A0EAF323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7" name="Graphic 6" descr="Database with solid fill">
              <a:extLst>
                <a:ext uri="{FF2B5EF4-FFF2-40B4-BE49-F238E27FC236}">
                  <a16:creationId xmlns:a16="http://schemas.microsoft.com/office/drawing/2014/main" id="{595CBF2A-53BC-05DB-3BCA-B2E4B1CDD0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344C7A-DF58-DCFE-D6A0-7F545143A5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7AE85F7-C03D-E224-56B3-8036A81B5223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840B3B4-2862-074C-ACEA-ADC8B68BC17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C84EA8CD-7CD3-495F-D870-1004966CCD04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3EF021C-A6E2-C7D1-D96A-6F2B6B56C7E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581522-5029-949C-F454-7DD535DC1A64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9DE0AF-6849-0542-A07A-64BE86A97B15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D133B7-7167-873D-6620-32C216B177D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7238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A50FCCDE-C33A-5A78-D620-566B793C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6BC7BDC2-8F23-2E3F-A086-6D562460F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 - </a:t>
            </a:r>
            <a:r>
              <a:rPr lang="en-US" dirty="0" err="1"/>
              <a:t>amem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5B12A5-AE6B-359E-D1DB-AD85914D07AF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CPU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12EE2A-F148-A6F1-A41B-ED2B6A15E60D}"/>
              </a:ext>
            </a:extLst>
          </p:cNvPr>
          <p:cNvSpPr txBox="1"/>
          <p:nvPr/>
        </p:nvSpPr>
        <p:spPr>
          <a:xfrm>
            <a:off x="457200" y="3692138"/>
            <a:ext cx="25908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amem</a:t>
            </a:r>
            <a:endParaRPr lang="en-US" sz="2800" b="1" dirty="0"/>
          </a:p>
          <a:p>
            <a:pPr algn="ctr"/>
            <a:r>
              <a:rPr lang="en-US" sz="2400" dirty="0"/>
              <a:t>High Memory CPU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4D11255-D11F-B19F-2577-DDA92EB5F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183031EF-805D-5644-5589-4AC8E2F29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2AC8105C-28B0-043F-7305-E318EA850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20" r="46078"/>
          <a:stretch/>
        </p:blipFill>
        <p:spPr bwMode="auto">
          <a:xfrm>
            <a:off x="4362844" y="1405541"/>
            <a:ext cx="725556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F3AB29-CED6-F8D1-8E74-4FF609409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2AA80F52-4811-9F38-571E-FB21B2CF1C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7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DEDF127B-CF79-2CE4-041D-EB50B103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A2C910E0-1C77-E540-47C6-C28109A76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0" y="-72216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 – NVIDIA GPUs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85C647-92DD-4626-7035-1B19163D1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36424" y="1137958"/>
            <a:ext cx="2590800" cy="2849639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F03BA3-F1DC-A196-7B02-13163CF5624E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CPU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A7216-D6BA-9BD2-32C3-7B5DC8A50E05}"/>
              </a:ext>
            </a:extLst>
          </p:cNvPr>
          <p:cNvSpPr txBox="1"/>
          <p:nvPr/>
        </p:nvSpPr>
        <p:spPr>
          <a:xfrm>
            <a:off x="9036424" y="1137958"/>
            <a:ext cx="25908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aa100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al40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ah200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artxpro6000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Nvidia GPUs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EFB6CF-8B26-3C6C-BF5E-2EAEDC815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C29DF53-653E-1BAC-A40A-E5FB3DF10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FBE6356-92C3-F795-FEFA-FD85AA9BD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47" r="24103"/>
          <a:stretch/>
        </p:blipFill>
        <p:spPr bwMode="auto">
          <a:xfrm>
            <a:off x="5815179" y="1405542"/>
            <a:ext cx="868310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3AB5A099-FD35-ECC0-75B4-0C79F54F98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2688E-8D37-CF30-0CEA-ABA4D5FE26BF}"/>
              </a:ext>
            </a:extLst>
          </p:cNvPr>
          <p:cNvSpPr txBox="1"/>
          <p:nvPr/>
        </p:nvSpPr>
        <p:spPr>
          <a:xfrm>
            <a:off x="457200" y="3692138"/>
            <a:ext cx="25908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amem</a:t>
            </a:r>
            <a:endParaRPr lang="en-US" sz="2800" b="1" dirty="0"/>
          </a:p>
          <a:p>
            <a:pPr algn="ctr"/>
            <a:r>
              <a:rPr lang="en-US" sz="2400" dirty="0"/>
              <a:t>High Memory CPU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1053FE-8757-D3C8-0C37-AC96CACD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27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69A8D0B7-E62C-9A89-6ED2-CF369D8E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781FE0DD-2F2F-B38E-5996-41801CDCD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2136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 – AMD GPUs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99D89E-03FF-3F17-B5E0-EF5494B79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36424" y="1137958"/>
            <a:ext cx="2590800" cy="284963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03D932-8DC9-50A2-F9AC-801EFA96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36424" y="4257002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59802-B800-F03E-CB1E-52C845AB7B46}"/>
              </a:ext>
            </a:extLst>
          </p:cNvPr>
          <p:cNvSpPr txBox="1"/>
          <p:nvPr/>
        </p:nvSpPr>
        <p:spPr>
          <a:xfrm>
            <a:off x="457200" y="2092446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General CPU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F8C06C-F808-2A89-69FF-0B0CECD94420}"/>
              </a:ext>
            </a:extLst>
          </p:cNvPr>
          <p:cNvSpPr txBox="1"/>
          <p:nvPr/>
        </p:nvSpPr>
        <p:spPr>
          <a:xfrm>
            <a:off x="9036424" y="1137958"/>
            <a:ext cx="25908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aa100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al40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ah200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artxpro6000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Nvidia GPUs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2E2EE0-5C2F-FCC9-6F4E-DEBD550F2BFF}"/>
              </a:ext>
            </a:extLst>
          </p:cNvPr>
          <p:cNvSpPr txBox="1"/>
          <p:nvPr/>
        </p:nvSpPr>
        <p:spPr>
          <a:xfrm>
            <a:off x="9036424" y="4503774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ami100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AMD GPUs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AF8A3E-2720-16D0-C499-2353D3163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16FB7C0-0E1D-A232-FF0F-589BB28EC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15215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B1E5D66B-D824-5714-CCCF-038F4345FA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B08938C-C5B3-8D2A-89C4-52115E7E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2" r="2"/>
          <a:stretch/>
        </p:blipFill>
        <p:spPr bwMode="auto">
          <a:xfrm>
            <a:off x="6638445" y="1405543"/>
            <a:ext cx="176862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2FC800-929A-9CC5-C62A-B71794F7B253}"/>
              </a:ext>
            </a:extLst>
          </p:cNvPr>
          <p:cNvSpPr txBox="1"/>
          <p:nvPr/>
        </p:nvSpPr>
        <p:spPr>
          <a:xfrm>
            <a:off x="457200" y="3692138"/>
            <a:ext cx="25908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amem</a:t>
            </a:r>
            <a:endParaRPr lang="en-US" sz="2800" b="1" dirty="0"/>
          </a:p>
          <a:p>
            <a:pPr algn="ctr"/>
            <a:r>
              <a:rPr lang="en-US" sz="2400" dirty="0"/>
              <a:t>High Memory CPU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E4D590-5236-5369-0694-9D7225B56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26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BDCE-2DDB-FCB0-B97F-3E51A17E9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BD7D-8C6B-C869-725A-56A552C7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sym typeface="Helvetica Neue Light"/>
              </a:rPr>
              <a:t>Alpine Testing 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D015-7FE1-32C8-51E1-16EF98464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091" y="1475759"/>
            <a:ext cx="10709817" cy="435261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For several of the different types of hardware, we provide testing resources. These resources enable quicker access. </a:t>
            </a:r>
          </a:p>
          <a:p>
            <a:pPr lvl="1"/>
            <a:r>
              <a:rPr lang="en-US" sz="2200" dirty="0"/>
              <a:t>There are restrictions on the amount of resources you can request</a:t>
            </a:r>
          </a:p>
          <a:p>
            <a:r>
              <a:rPr lang="en-US" sz="2400" dirty="0"/>
              <a:t>Access to testing resources is enabled through a combination of partition and QoS selection</a:t>
            </a:r>
          </a:p>
          <a:p>
            <a:r>
              <a:rPr lang="en-US" sz="2400" dirty="0"/>
              <a:t>Available testing resources:</a:t>
            </a:r>
          </a:p>
          <a:p>
            <a:pPr lvl="1"/>
            <a:r>
              <a:rPr lang="en-US" sz="2200" dirty="0"/>
              <a:t>Standard CPUs</a:t>
            </a:r>
          </a:p>
          <a:p>
            <a:pPr lvl="1"/>
            <a:r>
              <a:rPr lang="en-US" sz="2200" dirty="0"/>
              <a:t>Compute nodes for verifying parallel applications</a:t>
            </a:r>
          </a:p>
          <a:p>
            <a:pPr lvl="1"/>
            <a:r>
              <a:rPr lang="en-US" sz="2200" dirty="0"/>
              <a:t>NVIDIA A100 and AMD MI100 GPUs</a:t>
            </a:r>
          </a:p>
          <a:p>
            <a:pPr lvl="1"/>
            <a:endParaRPr lang="en-US" sz="2200" dirty="0"/>
          </a:p>
          <a:p>
            <a:pPr marL="0" indent="0">
              <a:buNone/>
            </a:pPr>
            <a:r>
              <a:rPr lang="en-US" sz="2400" dirty="0"/>
              <a:t>For more information see: </a:t>
            </a:r>
            <a:r>
              <a:rPr lang="en-US" sz="2400" dirty="0" err="1">
                <a:solidFill>
                  <a:srgbClr val="0563C1"/>
                </a:solidFill>
                <a:cs typeface="Arial"/>
              </a:rPr>
              <a:t>curc.readthedocs.io</a:t>
            </a:r>
            <a:r>
              <a:rPr lang="en-US" sz="2400" dirty="0">
                <a:solidFill>
                  <a:srgbClr val="0563C1"/>
                </a:solidFill>
                <a:cs typeface="Arial"/>
              </a:rPr>
              <a:t>/</a:t>
            </a:r>
            <a:r>
              <a:rPr lang="en-US" sz="2400" dirty="0" err="1">
                <a:solidFill>
                  <a:srgbClr val="0563C1"/>
                </a:solidFill>
                <a:cs typeface="Arial"/>
              </a:rPr>
              <a:t>en</a:t>
            </a:r>
            <a:r>
              <a:rPr lang="en-US" sz="2400" dirty="0">
                <a:solidFill>
                  <a:srgbClr val="0563C1"/>
                </a:solidFill>
                <a:cs typeface="Arial"/>
              </a:rPr>
              <a:t>/latest/clusters/alpine/</a:t>
            </a:r>
            <a:r>
              <a:rPr lang="en-US" sz="2400" dirty="0" err="1">
                <a:solidFill>
                  <a:srgbClr val="0563C1"/>
                </a:solidFill>
                <a:cs typeface="Arial"/>
              </a:rPr>
              <a:t>alpine-hardware.html#special-purpose-resources</a:t>
            </a:r>
            <a:endParaRPr lang="en-US" sz="2400" dirty="0">
              <a:solidFill>
                <a:srgbClr val="0563C1"/>
              </a:solidFill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42292-AE93-4C7C-B4A7-CB94AB22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4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595E-DAE0-1FDA-14E2-05C6077B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12F8-AA17-772E-6677-CA2417C8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76"/>
            <a:ext cx="10515600" cy="1325563"/>
          </a:xfrm>
        </p:spPr>
        <p:txBody>
          <a:bodyPr/>
          <a:lstStyle/>
          <a:p>
            <a:r>
              <a:rPr lang="en-US" dirty="0">
                <a:sym typeface="Helvetica Neue Light"/>
              </a:rPr>
              <a:t>Quality of Service (QoS)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FA2D-5A9C-64E5-1818-83620058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2108200"/>
          </a:xfrm>
        </p:spPr>
        <p:txBody>
          <a:bodyPr/>
          <a:lstStyle/>
          <a:p>
            <a:r>
              <a:rPr lang="en-US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Quality of Service specifies additional constraints for a given partition.</a:t>
            </a:r>
          </a:p>
          <a:p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On Alpine, QoS can be used to run long jobs, specify testing partitions, and select high-memory nodes</a:t>
            </a:r>
          </a:p>
        </p:txBody>
      </p:sp>
      <p:graphicFrame>
        <p:nvGraphicFramePr>
          <p:cNvPr id="6" name="Google Shape;457;p47">
            <a:extLst>
              <a:ext uri="{FF2B5EF4-FFF2-40B4-BE49-F238E27FC236}">
                <a16:creationId xmlns:a16="http://schemas.microsoft.com/office/drawing/2014/main" id="{9D9176A1-4877-B532-5467-0A3B59E8D4E6}"/>
              </a:ext>
            </a:extLst>
          </p:cNvPr>
          <p:cNvGraphicFramePr/>
          <p:nvPr/>
        </p:nvGraphicFramePr>
        <p:xfrm>
          <a:off x="838200" y="3137262"/>
          <a:ext cx="10204937" cy="2986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23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9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3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11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QoS</a:t>
                      </a:r>
                      <a:endParaRPr sz="1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wall time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jobs/user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nodes/user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1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QoS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H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jobs needing longer wall times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D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1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mem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High-memory jobs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7 D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79699"/>
                  </a:ext>
                </a:extLst>
              </a:tr>
              <a:tr h="5630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testing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For jobs submitted to testing partitions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 H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480231"/>
                  </a:ext>
                </a:extLst>
              </a:tr>
              <a:tr h="5630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compile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For jobs submitted to compile partition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 H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59383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1E9F5-4FCC-4A61-BE94-0E8FBFCC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6F0E6-2B0E-23CB-E1AC-52D70C86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E5D6-97FC-8E2F-6E6C-BCEB284F8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76"/>
            <a:ext cx="10515600" cy="1325563"/>
          </a:xfrm>
        </p:spPr>
        <p:txBody>
          <a:bodyPr/>
          <a:lstStyle/>
          <a:p>
            <a:r>
              <a:rPr lang="en-US" dirty="0">
                <a:sym typeface="Helvetica Neue Light"/>
              </a:rPr>
              <a:t>Selecting Hardware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63A0-7AAD-CE14-BE42-A4A9FA0B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8278" cy="32221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Once a partition and QoS are selected, we need to say how much of the hardware we would like to use</a:t>
            </a:r>
          </a:p>
          <a:p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The most common selections are </a:t>
            </a:r>
          </a:p>
          <a:p>
            <a:pPr lvl="1"/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The number of cores (often called “</a:t>
            </a:r>
            <a:r>
              <a:rPr lang="en-US" dirty="0" err="1">
                <a:solidFill>
                  <a:srgbClr val="2F2B20"/>
                </a:solidFill>
                <a:latin typeface="Arial"/>
                <a:cs typeface="Arial"/>
                <a:sym typeface="Arial"/>
              </a:rPr>
              <a:t>ntasks</a:t>
            </a:r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” on our system)</a:t>
            </a:r>
          </a:p>
          <a:p>
            <a:pPr lvl="1"/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The number computes nodes (often referred to as “nodes”)</a:t>
            </a:r>
          </a:p>
          <a:p>
            <a:pPr lvl="1"/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The type of GPU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D81AB-A51F-7B41-E6AC-60B10790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34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1EABC-E222-1436-FA78-0243A985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C058-48E2-EF87-1665-7FC5E12F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76"/>
            <a:ext cx="10515600" cy="1325563"/>
          </a:xfrm>
        </p:spPr>
        <p:txBody>
          <a:bodyPr/>
          <a:lstStyle/>
          <a:p>
            <a:r>
              <a:rPr lang="en-US" dirty="0">
                <a:sym typeface="Helvetica Neue Light"/>
              </a:rPr>
              <a:t>GRES 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184BE-D895-9FD0-54E5-D060BBDF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8278" cy="32221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Once</a:t>
            </a:r>
          </a:p>
          <a:p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MIG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23D85-F8DA-F3C1-0456-B7943E3C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42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5C23-DD0E-8418-7104-BEBD2101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AB93-A076-6924-5EBE-142FDD8B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76"/>
            <a:ext cx="10515600" cy="1325563"/>
          </a:xfrm>
        </p:spPr>
        <p:txBody>
          <a:bodyPr/>
          <a:lstStyle/>
          <a:p>
            <a:r>
              <a:rPr lang="en-US" dirty="0" err="1">
                <a:sym typeface="Helvetica Neue Light"/>
              </a:rPr>
              <a:t>Walltime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B6D3-2A13-7853-77B6-7186F5718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8278" cy="322216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2F2B20"/>
                </a:solidFill>
                <a:latin typeface="Arial"/>
                <a:cs typeface="Arial"/>
                <a:sym typeface="Arial"/>
              </a:rPr>
              <a:t>Walltime</a:t>
            </a:r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 or “run time” is how long you want to run on the selected resources </a:t>
            </a:r>
          </a:p>
          <a:p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How long do I specify? </a:t>
            </a:r>
          </a:p>
          <a:p>
            <a:pPr lvl="1"/>
            <a:r>
              <a:rPr lang="en-US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Downsides to requesting too much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1AEA4-442A-4969-E885-6D61604C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25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0266-CD00-C38A-47A9-FF9BB2FC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32731-D078-1A8A-478F-25675808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29</a:t>
            </a:fld>
            <a:endParaRPr lang="en-US"/>
          </a:p>
        </p:txBody>
      </p:sp>
      <p:sp>
        <p:nvSpPr>
          <p:cNvPr id="21" name="Google Shape;225;p30">
            <a:extLst>
              <a:ext uri="{FF2B5EF4-FFF2-40B4-BE49-F238E27FC236}">
                <a16:creationId xmlns:a16="http://schemas.microsoft.com/office/drawing/2014/main" id="{A0605272-BE98-92AD-D034-42553F6B3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4711" y="1899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 Light"/>
              <a:buNone/>
            </a:pPr>
            <a:r>
              <a:rPr lang="en-US" dirty="0">
                <a:sym typeface="Helvetica Neue Light"/>
              </a:rPr>
              <a:t>Selecting Resources</a:t>
            </a:r>
            <a:endParaRPr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0D76E484-48E7-79A3-60D1-85A73CF1247B}"/>
              </a:ext>
            </a:extLst>
          </p:cNvPr>
          <p:cNvSpPr/>
          <p:nvPr/>
        </p:nvSpPr>
        <p:spPr>
          <a:xfrm rot="10800000">
            <a:off x="9369521" y="5340571"/>
            <a:ext cx="1133856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D34D9C-F989-D664-2005-21CE4A86ABCA}"/>
              </a:ext>
            </a:extLst>
          </p:cNvPr>
          <p:cNvGrpSpPr/>
          <p:nvPr/>
        </p:nvGrpSpPr>
        <p:grpSpPr>
          <a:xfrm>
            <a:off x="1069178" y="1759077"/>
            <a:ext cx="3636619" cy="3339847"/>
            <a:chOff x="1069178" y="1759077"/>
            <a:chExt cx="3636619" cy="3339847"/>
          </a:xfrm>
        </p:grpSpPr>
        <p:pic>
          <p:nvPicPr>
            <p:cNvPr id="4" name="Google Shape;210;p30">
              <a:extLst>
                <a:ext uri="{FF2B5EF4-FFF2-40B4-BE49-F238E27FC236}">
                  <a16:creationId xmlns:a16="http://schemas.microsoft.com/office/drawing/2014/main" id="{8B458A91-FF0A-1F38-B5B7-137B75883FB2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69178" y="2240351"/>
              <a:ext cx="2377292" cy="2377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ight Arrow Callout 7">
              <a:extLst>
                <a:ext uri="{FF2B5EF4-FFF2-40B4-BE49-F238E27FC236}">
                  <a16:creationId xmlns:a16="http://schemas.microsoft.com/office/drawing/2014/main" id="{414F5456-ED2A-312F-BA97-C95C1B0BC431}"/>
                </a:ext>
              </a:extLst>
            </p:cNvPr>
            <p:cNvSpPr/>
            <p:nvPr/>
          </p:nvSpPr>
          <p:spPr>
            <a:xfrm>
              <a:off x="1094954" y="1759077"/>
              <a:ext cx="3610843" cy="3339847"/>
            </a:xfrm>
            <a:prstGeom prst="rightArrowCallou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98CE92A-4C4C-F2C1-7343-E6FA210FBE0C}"/>
                </a:ext>
              </a:extLst>
            </p:cNvPr>
            <p:cNvGrpSpPr/>
            <p:nvPr/>
          </p:nvGrpSpPr>
          <p:grpSpPr>
            <a:xfrm>
              <a:off x="1082066" y="1873651"/>
              <a:ext cx="2351516" cy="707886"/>
              <a:chOff x="540307" y="1873650"/>
              <a:chExt cx="2351516" cy="70788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AA1F5E-DBA8-BC74-58B7-1751988076F6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1EAB982-7162-9D1E-37BB-AE701054CD1F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728923-CAAA-B7E7-8A6A-7EA197CEA88E}"/>
                </a:ext>
              </a:extLst>
            </p:cNvPr>
            <p:cNvSpPr txBox="1"/>
            <p:nvPr/>
          </p:nvSpPr>
          <p:spPr>
            <a:xfrm>
              <a:off x="1094954" y="443298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Login Node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D8E21F-3C16-A70A-A99A-E4AEBC1E58FE}"/>
              </a:ext>
            </a:extLst>
          </p:cNvPr>
          <p:cNvGrpSpPr/>
          <p:nvPr/>
        </p:nvGrpSpPr>
        <p:grpSpPr>
          <a:xfrm>
            <a:off x="4913198" y="1759077"/>
            <a:ext cx="3631266" cy="3339847"/>
            <a:chOff x="4913198" y="1759077"/>
            <a:chExt cx="3631266" cy="3339847"/>
          </a:xfrm>
        </p:grpSpPr>
        <p:sp>
          <p:nvSpPr>
            <p:cNvPr id="14" name="Right Arrow Callout 13">
              <a:extLst>
                <a:ext uri="{FF2B5EF4-FFF2-40B4-BE49-F238E27FC236}">
                  <a16:creationId xmlns:a16="http://schemas.microsoft.com/office/drawing/2014/main" id="{56074ACA-4643-AA03-1166-0377BD941636}"/>
                </a:ext>
              </a:extLst>
            </p:cNvPr>
            <p:cNvSpPr/>
            <p:nvPr/>
          </p:nvSpPr>
          <p:spPr>
            <a:xfrm>
              <a:off x="4933621" y="1759077"/>
              <a:ext cx="3610843" cy="3339847"/>
            </a:xfrm>
            <a:prstGeom prst="rightArrowCallou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92E9AF6-328F-19CC-DA36-112E527B6DA8}"/>
                </a:ext>
              </a:extLst>
            </p:cNvPr>
            <p:cNvGrpSpPr/>
            <p:nvPr/>
          </p:nvGrpSpPr>
          <p:grpSpPr>
            <a:xfrm>
              <a:off x="4920733" y="1873651"/>
              <a:ext cx="2351516" cy="707886"/>
              <a:chOff x="540307" y="1873650"/>
              <a:chExt cx="2351516" cy="707886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EFD36C-F04B-72BB-9574-06CADB98B04D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4A8B5C5-51E8-7466-E028-302296E01D4F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4EFAE1-E5AD-B347-4DDC-7DD5D72304CB}"/>
                </a:ext>
              </a:extLst>
            </p:cNvPr>
            <p:cNvSpPr txBox="1"/>
            <p:nvPr/>
          </p:nvSpPr>
          <p:spPr>
            <a:xfrm>
              <a:off x="4913198" y="443619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Resources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734962A-039B-3174-4456-8ABA8A6BF28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73040" y="2755023"/>
              <a:ext cx="1645920" cy="1546836"/>
              <a:chOff x="8412658" y="2617108"/>
              <a:chExt cx="1929294" cy="181315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F2FA2A3-8E13-692F-47DC-AACAB2515DF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412658" y="2617108"/>
                <a:ext cx="1078992" cy="1082299"/>
                <a:chOff x="4726983" y="2457616"/>
                <a:chExt cx="2062421" cy="1993113"/>
              </a:xfrm>
            </p:grpSpPr>
            <p:sp>
              <p:nvSpPr>
                <p:cNvPr id="26" name="Rounded Rectangle 25" descr="An icon representing a computer chip">
                  <a:extLst>
                    <a:ext uri="{FF2B5EF4-FFF2-40B4-BE49-F238E27FC236}">
                      <a16:creationId xmlns:a16="http://schemas.microsoft.com/office/drawing/2014/main" id="{CFAFDB09-506C-42CF-6B6B-BE4C2405B272}"/>
                    </a:ext>
                  </a:extLst>
                </p:cNvPr>
                <p:cNvSpPr/>
                <p:nvPr/>
              </p:nvSpPr>
              <p:spPr>
                <a:xfrm>
                  <a:off x="4726983" y="2457616"/>
                  <a:ext cx="2062421" cy="1993113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7" name="Graphic 26">
                  <a:extLst>
                    <a:ext uri="{FF2B5EF4-FFF2-40B4-BE49-F238E27FC236}">
                      <a16:creationId xmlns:a16="http://schemas.microsoft.com/office/drawing/2014/main" id="{2D07500D-9B13-64D7-8F33-6D2CD03E7F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75767" y="2671746"/>
                  <a:ext cx="1564852" cy="1564852"/>
                </a:xfrm>
                <a:prstGeom prst="rect">
                  <a:avLst/>
                </a:prstGeom>
              </p:spPr>
            </p:pic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5D4BE65-8A28-D62A-4C2A-1FC319267D8C}"/>
                  </a:ext>
                </a:extLst>
              </p:cNvPr>
              <p:cNvGrpSpPr/>
              <p:nvPr/>
            </p:nvGrpSpPr>
            <p:grpSpPr>
              <a:xfrm>
                <a:off x="9262960" y="3347959"/>
                <a:ext cx="1078992" cy="1082299"/>
                <a:chOff x="9174826" y="3192427"/>
                <a:chExt cx="1078992" cy="1082299"/>
              </a:xfrm>
            </p:grpSpPr>
            <p:sp>
              <p:nvSpPr>
                <p:cNvPr id="20" name="Rounded Rectangle 19" descr="An icon of a stopwatch">
                  <a:extLst>
                    <a:ext uri="{FF2B5EF4-FFF2-40B4-BE49-F238E27FC236}">
                      <a16:creationId xmlns:a16="http://schemas.microsoft.com/office/drawing/2014/main" id="{54E095ED-174C-45A0-0363-72AE018014E8}"/>
                    </a:ext>
                  </a:extLst>
                </p:cNvPr>
                <p:cNvSpPr/>
                <p:nvPr/>
              </p:nvSpPr>
              <p:spPr>
                <a:xfrm>
                  <a:off x="9174826" y="3192427"/>
                  <a:ext cx="1078992" cy="1082299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5" name="Graphic 24" descr="Stopwatch with solid fill">
                  <a:extLst>
                    <a:ext uri="{FF2B5EF4-FFF2-40B4-BE49-F238E27FC236}">
                      <a16:creationId xmlns:a16="http://schemas.microsoft.com/office/drawing/2014/main" id="{9F43AB8D-E92F-1148-F572-416D95FDAE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02842" y="3322096"/>
                  <a:ext cx="822960" cy="82296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BD498DD-BE63-D019-CA25-189761565FD7}"/>
              </a:ext>
            </a:extLst>
          </p:cNvPr>
          <p:cNvGrpSpPr/>
          <p:nvPr/>
        </p:nvGrpSpPr>
        <p:grpSpPr>
          <a:xfrm>
            <a:off x="8747203" y="1764792"/>
            <a:ext cx="2358559" cy="3334132"/>
            <a:chOff x="8747203" y="1764792"/>
            <a:chExt cx="2358559" cy="3334132"/>
          </a:xfrm>
        </p:grpSpPr>
        <p:pic>
          <p:nvPicPr>
            <p:cNvPr id="44" name="Picture 2" descr="The logo of the Slurm workload manager">
              <a:extLst>
                <a:ext uri="{FF2B5EF4-FFF2-40B4-BE49-F238E27FC236}">
                  <a16:creationId xmlns:a16="http://schemas.microsoft.com/office/drawing/2014/main" id="{A3A6F250-68AA-D999-1944-C460AD9153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089"/>
            <a:stretch/>
          </p:blipFill>
          <p:spPr bwMode="auto">
            <a:xfrm>
              <a:off x="9087422" y="2803512"/>
              <a:ext cx="1698054" cy="1366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5073609-3ED6-D3C9-7C20-F3497BEA684B}"/>
                </a:ext>
              </a:extLst>
            </p:cNvPr>
            <p:cNvSpPr txBox="1"/>
            <p:nvPr/>
          </p:nvSpPr>
          <p:spPr>
            <a:xfrm>
              <a:off x="8758419" y="4432982"/>
              <a:ext cx="2338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Job Request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EC49E83-226A-15BA-AFC9-468D4F5E281F}"/>
                </a:ext>
              </a:extLst>
            </p:cNvPr>
            <p:cNvSpPr/>
            <p:nvPr/>
          </p:nvSpPr>
          <p:spPr>
            <a:xfrm>
              <a:off x="8767136" y="1764792"/>
              <a:ext cx="2338626" cy="333413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2A3D37E-C5B4-23A0-41C0-99A8FB3B0844}"/>
                </a:ext>
              </a:extLst>
            </p:cNvPr>
            <p:cNvGrpSpPr/>
            <p:nvPr/>
          </p:nvGrpSpPr>
          <p:grpSpPr>
            <a:xfrm>
              <a:off x="8747203" y="1891582"/>
              <a:ext cx="2351516" cy="707886"/>
              <a:chOff x="540307" y="1873650"/>
              <a:chExt cx="2351516" cy="707886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C720AFF-5152-D169-093F-90B1FBF90CA7}"/>
                  </a:ext>
                </a:extLst>
              </p:cNvPr>
              <p:cNvSpPr txBox="1"/>
              <p:nvPr/>
            </p:nvSpPr>
            <p:spPr>
              <a:xfrm>
                <a:off x="540307" y="1873650"/>
                <a:ext cx="2351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787AAA0-E77E-C111-289F-2CF0755E4764}"/>
                  </a:ext>
                </a:extLst>
              </p:cNvPr>
              <p:cNvSpPr/>
              <p:nvPr/>
            </p:nvSpPr>
            <p:spPr>
              <a:xfrm>
                <a:off x="1396025" y="1901951"/>
                <a:ext cx="640080" cy="6400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0515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0617-0666-E878-70B5-A1BD416EB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EF42-BA73-9A05-DD77-EB61AC2E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91"/>
            <a:ext cx="10515600" cy="1325563"/>
          </a:xfrm>
        </p:spPr>
        <p:txBody>
          <a:bodyPr/>
          <a:lstStyle/>
          <a:p>
            <a:r>
              <a:rPr lang="en-US" dirty="0"/>
              <a:t>Planned Maintenance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5307E-1328-FFDA-4BAC-FF718AC8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78ED3-706B-AB70-FC82-4FDAEF170EA4}"/>
              </a:ext>
            </a:extLst>
          </p:cNvPr>
          <p:cNvSpPr txBox="1"/>
          <p:nvPr/>
        </p:nvSpPr>
        <p:spPr>
          <a:xfrm>
            <a:off x="3337932" y="2304585"/>
            <a:ext cx="500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Planned maintenance is … </a:t>
            </a:r>
          </a:p>
        </p:txBody>
      </p:sp>
    </p:spTree>
    <p:extLst>
      <p:ext uri="{BB962C8B-B14F-4D97-AF65-F5344CB8AC3E}">
        <p14:creationId xmlns:p14="http://schemas.microsoft.com/office/powerpoint/2010/main" val="94318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F7EE-8529-C957-850C-D05C9D459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3C40-5499-1E66-0CA5-1A0705CA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91"/>
            <a:ext cx="10515600" cy="1325563"/>
          </a:xfrm>
        </p:spPr>
        <p:txBody>
          <a:bodyPr/>
          <a:lstStyle/>
          <a:p>
            <a:r>
              <a:rPr lang="en-US" dirty="0"/>
              <a:t>Batch vs Interactive Jobs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C2F5F-B807-D784-081F-3B32B3A7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31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8E736A-7947-EE7A-4678-F4E31408E72D}"/>
              </a:ext>
            </a:extLst>
          </p:cNvPr>
          <p:cNvGrpSpPr/>
          <p:nvPr/>
        </p:nvGrpSpPr>
        <p:grpSpPr>
          <a:xfrm>
            <a:off x="3372129" y="2268586"/>
            <a:ext cx="5343664" cy="2960167"/>
            <a:chOff x="3424168" y="1948917"/>
            <a:chExt cx="5343664" cy="296016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D7A3ED-821E-BB6F-5641-85D5CE360CD5}"/>
                </a:ext>
              </a:extLst>
            </p:cNvPr>
            <p:cNvGrpSpPr/>
            <p:nvPr/>
          </p:nvGrpSpPr>
          <p:grpSpPr>
            <a:xfrm>
              <a:off x="3424168" y="1948917"/>
              <a:ext cx="5343664" cy="2960167"/>
              <a:chOff x="6357009" y="1948917"/>
              <a:chExt cx="5343664" cy="2960167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EB19255-9CD8-81CF-BB4B-54900D426E23}"/>
                  </a:ext>
                </a:extLst>
              </p:cNvPr>
              <p:cNvSpPr/>
              <p:nvPr/>
            </p:nvSpPr>
            <p:spPr>
              <a:xfrm>
                <a:off x="6357009" y="1948917"/>
                <a:ext cx="2468880" cy="2949023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18631C2-A132-3700-E80E-19088F61F609}"/>
                  </a:ext>
                </a:extLst>
              </p:cNvPr>
              <p:cNvSpPr/>
              <p:nvPr/>
            </p:nvSpPr>
            <p:spPr>
              <a:xfrm>
                <a:off x="9231793" y="1948917"/>
                <a:ext cx="2468880" cy="2960167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DB6E1F-94E0-76DF-9754-C5A29B1FAE7B}"/>
                  </a:ext>
                </a:extLst>
              </p:cNvPr>
              <p:cNvSpPr txBox="1"/>
              <p:nvPr/>
            </p:nvSpPr>
            <p:spPr>
              <a:xfrm>
                <a:off x="9420249" y="3598703"/>
                <a:ext cx="209196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Interactive</a:t>
                </a:r>
              </a:p>
              <a:p>
                <a:pPr algn="ctr"/>
                <a:r>
                  <a:rPr lang="en-US" sz="2800" b="1" dirty="0"/>
                  <a:t>Job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94AB67-EDF1-F066-79B3-E5790D516265}"/>
                  </a:ext>
                </a:extLst>
              </p:cNvPr>
              <p:cNvSpPr txBox="1"/>
              <p:nvPr/>
            </p:nvSpPr>
            <p:spPr>
              <a:xfrm>
                <a:off x="6634225" y="3587559"/>
                <a:ext cx="191444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Batch</a:t>
                </a:r>
              </a:p>
              <a:p>
                <a:pPr algn="ctr"/>
                <a:r>
                  <a:rPr lang="en-US" sz="2800" b="1" dirty="0"/>
                  <a:t>Job</a:t>
                </a:r>
              </a:p>
            </p:txBody>
          </p:sp>
          <p:pic>
            <p:nvPicPr>
              <p:cNvPr id="15" name="Graphic 14" descr="An icon of a person programming on a laptop">
                <a:extLst>
                  <a:ext uri="{FF2B5EF4-FFF2-40B4-BE49-F238E27FC236}">
                    <a16:creationId xmlns:a16="http://schemas.microsoft.com/office/drawing/2014/main" id="{54DD9B6F-D7A1-07A2-97A8-39C87AB71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26153" y="2206872"/>
                <a:ext cx="1280160" cy="1280160"/>
              </a:xfrm>
              <a:prstGeom prst="rect">
                <a:avLst/>
              </a:prstGeom>
            </p:spPr>
          </p:pic>
        </p:grpSp>
        <p:pic>
          <p:nvPicPr>
            <p:cNvPr id="17" name="Graphic 16" descr="An icon representing a file or document">
              <a:extLst>
                <a:ext uri="{FF2B5EF4-FFF2-40B4-BE49-F238E27FC236}">
                  <a16:creationId xmlns:a16="http://schemas.microsoft.com/office/drawing/2014/main" id="{D40FBE46-BFB3-A198-58EE-83F3CC9576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18528" y="2206872"/>
              <a:ext cx="1280160" cy="12801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0406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7DFA3-5110-BFBC-7E61-7CC12389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1FB9-57BC-89B2-4E6B-8B32E1A03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16"/>
            <a:ext cx="10515600" cy="1325563"/>
          </a:xfrm>
        </p:spPr>
        <p:txBody>
          <a:bodyPr/>
          <a:lstStyle/>
          <a:p>
            <a:r>
              <a:rPr lang="en-US" dirty="0"/>
              <a:t>Batch Jobs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EFA4B-17AF-5B22-E346-078C64D8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44EAFD-E4A2-3B20-2AF6-224D103A3C3D}"/>
              </a:ext>
            </a:extLst>
          </p:cNvPr>
          <p:cNvSpPr txBox="1"/>
          <p:nvPr/>
        </p:nvSpPr>
        <p:spPr>
          <a:xfrm>
            <a:off x="160197" y="1994315"/>
            <a:ext cx="308837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0" indent="-2349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Runs a job script</a:t>
            </a:r>
          </a:p>
          <a:p>
            <a:pPr marL="234950" indent="-2349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No need for user input</a:t>
            </a:r>
          </a:p>
          <a:p>
            <a:pPr marL="234950" indent="-2349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Best for tested workflows and long/big jobs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FF9413-AF66-3B44-0DBA-46F85CADD4D4}"/>
              </a:ext>
            </a:extLst>
          </p:cNvPr>
          <p:cNvGrpSpPr/>
          <p:nvPr/>
        </p:nvGrpSpPr>
        <p:grpSpPr>
          <a:xfrm>
            <a:off x="3424168" y="1948917"/>
            <a:ext cx="5343664" cy="2960167"/>
            <a:chOff x="3424168" y="1948917"/>
            <a:chExt cx="5343664" cy="29601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07040C0-DE5D-8B66-F16C-AA887D18049D}"/>
                </a:ext>
              </a:extLst>
            </p:cNvPr>
            <p:cNvGrpSpPr/>
            <p:nvPr/>
          </p:nvGrpSpPr>
          <p:grpSpPr>
            <a:xfrm>
              <a:off x="3424168" y="1948917"/>
              <a:ext cx="5343664" cy="2960167"/>
              <a:chOff x="6357009" y="1948917"/>
              <a:chExt cx="5343664" cy="2960167"/>
            </a:xfrm>
          </p:grpSpPr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A929CAED-116B-4FF4-F439-FF1FEF2DAA0C}"/>
                  </a:ext>
                </a:extLst>
              </p:cNvPr>
              <p:cNvSpPr/>
              <p:nvPr/>
            </p:nvSpPr>
            <p:spPr>
              <a:xfrm>
                <a:off x="6357009" y="1948917"/>
                <a:ext cx="2468880" cy="2949023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D9828C0A-A937-7C55-98A2-35DBEBA65963}"/>
                  </a:ext>
                </a:extLst>
              </p:cNvPr>
              <p:cNvSpPr/>
              <p:nvPr/>
            </p:nvSpPr>
            <p:spPr>
              <a:xfrm>
                <a:off x="9231793" y="1948917"/>
                <a:ext cx="2468880" cy="2960167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276ED2-0A65-F281-EF55-EDBBF58593E6}"/>
                  </a:ext>
                </a:extLst>
              </p:cNvPr>
              <p:cNvSpPr txBox="1"/>
              <p:nvPr/>
            </p:nvSpPr>
            <p:spPr>
              <a:xfrm>
                <a:off x="9420249" y="3598703"/>
                <a:ext cx="209196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Interactive</a:t>
                </a:r>
              </a:p>
              <a:p>
                <a:pPr algn="ctr"/>
                <a:r>
                  <a:rPr lang="en-US" sz="2800" b="1" dirty="0"/>
                  <a:t>Job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2086C8-A33B-E2DC-8C8B-FCFCC8A8E1BC}"/>
                  </a:ext>
                </a:extLst>
              </p:cNvPr>
              <p:cNvSpPr txBox="1"/>
              <p:nvPr/>
            </p:nvSpPr>
            <p:spPr>
              <a:xfrm>
                <a:off x="6634225" y="3587559"/>
                <a:ext cx="191444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Batch</a:t>
                </a:r>
              </a:p>
              <a:p>
                <a:pPr algn="ctr"/>
                <a:r>
                  <a:rPr lang="en-US" sz="2800" b="1" dirty="0"/>
                  <a:t>Job</a:t>
                </a:r>
              </a:p>
            </p:txBody>
          </p:sp>
          <p:pic>
            <p:nvPicPr>
              <p:cNvPr id="24" name="Graphic 23" descr="An icon of a person programming on a laptop">
                <a:extLst>
                  <a:ext uri="{FF2B5EF4-FFF2-40B4-BE49-F238E27FC236}">
                    <a16:creationId xmlns:a16="http://schemas.microsoft.com/office/drawing/2014/main" id="{76ABB1BB-7A37-0718-43EC-81E099C659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26153" y="2206872"/>
                <a:ext cx="1280160" cy="1280160"/>
              </a:xfrm>
              <a:prstGeom prst="rect">
                <a:avLst/>
              </a:prstGeom>
            </p:spPr>
          </p:pic>
        </p:grpSp>
        <p:pic>
          <p:nvPicPr>
            <p:cNvPr id="19" name="Graphic 18" descr="An icon representing a file or document">
              <a:extLst>
                <a:ext uri="{FF2B5EF4-FFF2-40B4-BE49-F238E27FC236}">
                  <a16:creationId xmlns:a16="http://schemas.microsoft.com/office/drawing/2014/main" id="{D7C34AFB-86A2-793E-CDD0-E8E43D59E0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18528" y="2206872"/>
              <a:ext cx="1280160" cy="12801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8689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1FC0-3AD8-06A5-88C3-49CEDC6D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0087-ACDB-90AE-3696-BAC8254D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16"/>
            <a:ext cx="10515600" cy="1325563"/>
          </a:xfrm>
        </p:spPr>
        <p:txBody>
          <a:bodyPr/>
          <a:lstStyle/>
          <a:p>
            <a:r>
              <a:rPr lang="en-US" dirty="0"/>
              <a:t>Interactive Jobs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01677-1C2C-5558-7AE4-0A49C88F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33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28697-2372-B16C-61ED-73DACE02410A}"/>
              </a:ext>
            </a:extLst>
          </p:cNvPr>
          <p:cNvSpPr txBox="1"/>
          <p:nvPr/>
        </p:nvSpPr>
        <p:spPr>
          <a:xfrm>
            <a:off x="8956904" y="1994314"/>
            <a:ext cx="308837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0" indent="-2349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Terminal or GUI</a:t>
            </a:r>
          </a:p>
          <a:p>
            <a:pPr marL="234950" indent="-2349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Requires active user input</a:t>
            </a:r>
          </a:p>
          <a:p>
            <a:pPr marL="234950" indent="-2349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Best for development and exploration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2A463C-C1C7-DBC6-2C46-4CC480B9271B}"/>
              </a:ext>
            </a:extLst>
          </p:cNvPr>
          <p:cNvGrpSpPr/>
          <p:nvPr/>
        </p:nvGrpSpPr>
        <p:grpSpPr>
          <a:xfrm>
            <a:off x="3424168" y="1948917"/>
            <a:ext cx="5343664" cy="2960167"/>
            <a:chOff x="3424168" y="1948917"/>
            <a:chExt cx="5343664" cy="296016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29CA036-2B62-5E9C-C26C-21970ADF69DB}"/>
                </a:ext>
              </a:extLst>
            </p:cNvPr>
            <p:cNvGrpSpPr/>
            <p:nvPr/>
          </p:nvGrpSpPr>
          <p:grpSpPr>
            <a:xfrm>
              <a:off x="3424168" y="1948917"/>
              <a:ext cx="5343664" cy="2960167"/>
              <a:chOff x="6357009" y="1948917"/>
              <a:chExt cx="5343664" cy="2960167"/>
            </a:xfrm>
          </p:grpSpPr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EBDE617D-2D77-E7B3-D147-B231AFC59D2D}"/>
                  </a:ext>
                </a:extLst>
              </p:cNvPr>
              <p:cNvSpPr/>
              <p:nvPr/>
            </p:nvSpPr>
            <p:spPr>
              <a:xfrm>
                <a:off x="6357009" y="1948917"/>
                <a:ext cx="2468880" cy="2949023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49BE665-6220-CB9B-9A9B-10BA60715703}"/>
                  </a:ext>
                </a:extLst>
              </p:cNvPr>
              <p:cNvSpPr/>
              <p:nvPr/>
            </p:nvSpPr>
            <p:spPr>
              <a:xfrm>
                <a:off x="9231793" y="1948917"/>
                <a:ext cx="2468880" cy="2960167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3C5999-F21A-59DF-5638-6C324A840743}"/>
                  </a:ext>
                </a:extLst>
              </p:cNvPr>
              <p:cNvSpPr txBox="1"/>
              <p:nvPr/>
            </p:nvSpPr>
            <p:spPr>
              <a:xfrm>
                <a:off x="9420249" y="3598703"/>
                <a:ext cx="209196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Interactive</a:t>
                </a:r>
              </a:p>
              <a:p>
                <a:pPr algn="ctr"/>
                <a:r>
                  <a:rPr lang="en-US" sz="2800" b="1" dirty="0"/>
                  <a:t>Job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98E922-3457-38FC-F6D6-85B33CC84168}"/>
                  </a:ext>
                </a:extLst>
              </p:cNvPr>
              <p:cNvSpPr txBox="1"/>
              <p:nvPr/>
            </p:nvSpPr>
            <p:spPr>
              <a:xfrm>
                <a:off x="6634225" y="3587559"/>
                <a:ext cx="191444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Batch</a:t>
                </a:r>
              </a:p>
              <a:p>
                <a:pPr algn="ctr"/>
                <a:r>
                  <a:rPr lang="en-US" sz="2800" b="1" dirty="0"/>
                  <a:t>Job</a:t>
                </a:r>
              </a:p>
            </p:txBody>
          </p:sp>
          <p:pic>
            <p:nvPicPr>
              <p:cNvPr id="25" name="Graphic 24" descr="An icon of a person programming on a laptop">
                <a:extLst>
                  <a:ext uri="{FF2B5EF4-FFF2-40B4-BE49-F238E27FC236}">
                    <a16:creationId xmlns:a16="http://schemas.microsoft.com/office/drawing/2014/main" id="{07393C4B-8E86-71F2-D05F-280A12AE1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26153" y="2206872"/>
                <a:ext cx="1280160" cy="1280160"/>
              </a:xfrm>
              <a:prstGeom prst="rect">
                <a:avLst/>
              </a:prstGeom>
            </p:spPr>
          </p:pic>
        </p:grpSp>
        <p:pic>
          <p:nvPicPr>
            <p:cNvPr id="20" name="Graphic 19" descr="An icon representing a file or a document">
              <a:extLst>
                <a:ext uri="{FF2B5EF4-FFF2-40B4-BE49-F238E27FC236}">
                  <a16:creationId xmlns:a16="http://schemas.microsoft.com/office/drawing/2014/main" id="{A143587B-8A7E-CE44-6249-3A3D243069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18528" y="2206872"/>
              <a:ext cx="1280160" cy="12801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2964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8F5C-843C-1042-FD0A-C057E07CA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2C17-DD7D-9248-BD8C-574C2CD7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91"/>
            <a:ext cx="10515600" cy="1325563"/>
          </a:xfrm>
        </p:spPr>
        <p:txBody>
          <a:bodyPr/>
          <a:lstStyle/>
          <a:p>
            <a:r>
              <a:rPr lang="en-US" dirty="0" err="1"/>
              <a:t>Slurm</a:t>
            </a:r>
            <a:r>
              <a:rPr lang="en-US" dirty="0"/>
              <a:t> Directives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81A90-4F9D-573E-6096-B83BA102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B7597-FB95-7F32-8231-A0B2E11461B2}"/>
              </a:ext>
            </a:extLst>
          </p:cNvPr>
          <p:cNvSpPr txBox="1"/>
          <p:nvPr/>
        </p:nvSpPr>
        <p:spPr>
          <a:xfrm>
            <a:off x="944136" y="1813929"/>
            <a:ext cx="96346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Slurm</a:t>
            </a:r>
            <a:r>
              <a:rPr lang="en-US" dirty="0"/>
              <a:t> is a popular resource manager for High-Performance Computing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Grabs the resources you are requesting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Determines when your job will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Slurm</a:t>
            </a:r>
            <a:r>
              <a:rPr lang="en-US" dirty="0"/>
              <a:t> directives are how we tell </a:t>
            </a:r>
            <a:r>
              <a:rPr lang="en-US" dirty="0" err="1"/>
              <a:t>Slurm</a:t>
            </a:r>
            <a:r>
              <a:rPr lang="en-US" dirty="0"/>
              <a:t> what resources we would like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Are used for both interactive and batch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710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9CF7-32EF-DAC5-7DD8-74D583CF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E945-C7E1-16E3-0841-5FD73FA4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Common </a:t>
            </a:r>
            <a:r>
              <a:rPr lang="en-US" b="1" dirty="0" err="1">
                <a:latin typeface="Century Gothic" panose="020B0502020202020204" pitchFamily="34" charset="0"/>
              </a:rPr>
              <a:t>Slurm</a:t>
            </a:r>
            <a:r>
              <a:rPr lang="en-US" b="1" dirty="0">
                <a:latin typeface="Century Gothic" panose="020B0502020202020204" pitchFamily="34" charset="0"/>
              </a:rPr>
              <a:t> Directives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732FF-E7A0-5065-1B9F-259E000DF213}"/>
              </a:ext>
            </a:extLst>
          </p:cNvPr>
          <p:cNvSpPr txBox="1"/>
          <p:nvPr/>
        </p:nvSpPr>
        <p:spPr>
          <a:xfrm>
            <a:off x="838200" y="1894367"/>
            <a:ext cx="9519914" cy="3472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40665" marR="0" lvl="0" indent="-205740" algn="l" rtl="0">
              <a:lnSpc>
                <a:spcPct val="122511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Partition – A collection of compute nodes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--partition=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partition_name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2F2B20"/>
                </a:solidFill>
              </a:rPr>
              <a:t>Quality of service (QoS) – System defined constraints for a job (more on this later!)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b="1" dirty="0">
                <a:solidFill>
                  <a:srgbClr val="2F2B20"/>
                </a:solidFill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-US" sz="1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2F2B20"/>
                </a:solidFill>
              </a:rPr>
              <a:t>Allocation</a:t>
            </a:r>
            <a:r>
              <a:rPr lang="en-US" b="1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rgbClr val="2F2B20"/>
                </a:solidFill>
                <a:latin typeface="Arial"/>
                <a:cs typeface="Arial"/>
                <a:sym typeface="Arial"/>
              </a:rPr>
              <a:t>– Account to “charge to”</a:t>
            </a:r>
            <a:endParaRPr lang="en-US"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--account=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account_name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2F2B20"/>
                </a:solidFill>
              </a:rPr>
              <a:t>Number of nodes to run on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--nodes=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&lt;nodes&gt;</a:t>
            </a:r>
            <a:endParaRPr lang="en-US" b="1" dirty="0">
              <a:solidFill>
                <a:schemeClr val="dk1"/>
              </a:solidFill>
            </a:endParaRP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2F2B20"/>
                </a:solidFill>
              </a:rPr>
              <a:t>Number of cores to run on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-US" sz="1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&lt;number-of-tasks&gt;</a:t>
            </a:r>
            <a:endParaRPr lang="en-US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5-Point Star 2" descr="Red star marking partition as a required directive">
            <a:extLst>
              <a:ext uri="{FF2B5EF4-FFF2-40B4-BE49-F238E27FC236}">
                <a16:creationId xmlns:a16="http://schemas.microsoft.com/office/drawing/2014/main" id="{2B55D852-E469-8741-F5D6-AC99016B0802}"/>
              </a:ext>
            </a:extLst>
          </p:cNvPr>
          <p:cNvSpPr/>
          <p:nvPr/>
        </p:nvSpPr>
        <p:spPr>
          <a:xfrm>
            <a:off x="644768" y="1990293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 descr="Red star marking Quality of Service (qos) as a required directive">
            <a:extLst>
              <a:ext uri="{FF2B5EF4-FFF2-40B4-BE49-F238E27FC236}">
                <a16:creationId xmlns:a16="http://schemas.microsoft.com/office/drawing/2014/main" id="{F437DEB5-E616-4C3E-3712-85C899B03EF2}"/>
              </a:ext>
            </a:extLst>
          </p:cNvPr>
          <p:cNvSpPr/>
          <p:nvPr/>
        </p:nvSpPr>
        <p:spPr>
          <a:xfrm>
            <a:off x="644768" y="2679024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 descr="Red star explaining that a red star indicates a required directive">
            <a:extLst>
              <a:ext uri="{FF2B5EF4-FFF2-40B4-BE49-F238E27FC236}">
                <a16:creationId xmlns:a16="http://schemas.microsoft.com/office/drawing/2014/main" id="{26ACB300-0268-3693-7077-B6C4538447B1}"/>
              </a:ext>
            </a:extLst>
          </p:cNvPr>
          <p:cNvSpPr/>
          <p:nvPr/>
        </p:nvSpPr>
        <p:spPr>
          <a:xfrm>
            <a:off x="644768" y="5767573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11002-4267-A5C2-0CA3-3DB92675F027}"/>
              </a:ext>
            </a:extLst>
          </p:cNvPr>
          <p:cNvSpPr txBox="1"/>
          <p:nvPr/>
        </p:nvSpPr>
        <p:spPr>
          <a:xfrm>
            <a:off x="893887" y="5684019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Must be specified for every job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95F16-BC11-4B54-3291-14BA3325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25B08-345E-06B0-A86F-E88C437F10D4}"/>
              </a:ext>
            </a:extLst>
          </p:cNvPr>
          <p:cNvSpPr txBox="1"/>
          <p:nvPr/>
        </p:nvSpPr>
        <p:spPr>
          <a:xfrm>
            <a:off x="8214731" y="4514468"/>
            <a:ext cx="487505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solidFill>
                  <a:srgbClr val="FF0000"/>
                </a:solidFill>
              </a:rPr>
              <a:t>ADD GRES</a:t>
            </a:r>
          </a:p>
        </p:txBody>
      </p:sp>
    </p:spTree>
    <p:extLst>
      <p:ext uri="{BB962C8B-B14F-4D97-AF65-F5344CB8AC3E}">
        <p14:creationId xmlns:p14="http://schemas.microsoft.com/office/powerpoint/2010/main" val="2767024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BE79-5A03-F5D8-50D1-D4F6CC2A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BD48-74F1-E6DA-23CB-A8AC715E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60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Common </a:t>
            </a:r>
            <a:r>
              <a:rPr lang="en-US" b="1" dirty="0" err="1">
                <a:latin typeface="Century Gothic" panose="020B0502020202020204" pitchFamily="34" charset="0"/>
              </a:rPr>
              <a:t>Slurm</a:t>
            </a:r>
            <a:r>
              <a:rPr lang="en-US" b="1" dirty="0">
                <a:latin typeface="Century Gothic" panose="020B0502020202020204" pitchFamily="34" charset="0"/>
              </a:rPr>
              <a:t> Directives cont.</a:t>
            </a:r>
          </a:p>
        </p:txBody>
      </p:sp>
      <p:sp>
        <p:nvSpPr>
          <p:cNvPr id="6" name="Google Shape;434;p45">
            <a:extLst>
              <a:ext uri="{FF2B5EF4-FFF2-40B4-BE49-F238E27FC236}">
                <a16:creationId xmlns:a16="http://schemas.microsoft.com/office/drawing/2014/main" id="{AD369E8A-07F2-3C1C-8295-E231CFF93432}"/>
              </a:ext>
            </a:extLst>
          </p:cNvPr>
          <p:cNvSpPr txBox="1"/>
          <p:nvPr/>
        </p:nvSpPr>
        <p:spPr>
          <a:xfrm>
            <a:off x="838200" y="1787035"/>
            <a:ext cx="9429751" cy="353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240665" marR="0" lvl="0" indent="-202692" algn="l" rtl="0">
              <a:lnSpc>
                <a:spcPct val="119836"/>
              </a:lnSpc>
              <a:spcBef>
                <a:spcPts val="26"/>
              </a:spcBef>
              <a:spcAft>
                <a:spcPts val="0"/>
              </a:spcAft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Wall time – How long you want to run on these resources</a:t>
            </a:r>
          </a:p>
          <a:p>
            <a:pPr marL="697865" lvl="1" indent="-202692">
              <a:lnSpc>
                <a:spcPct val="119836"/>
              </a:lnSpc>
              <a:spcBef>
                <a:spcPts val="26"/>
              </a:spcBef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--time=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&lt;wall time&gt;</a:t>
            </a:r>
            <a:endParaRPr lang="en-US" dirty="0">
              <a:solidFill>
                <a:srgbClr val="2F2B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0665" marR="0" lvl="0" indent="-202692" algn="l" rtl="0">
              <a:lnSpc>
                <a:spcPct val="119836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Job name</a:t>
            </a:r>
          </a:p>
          <a:p>
            <a:pPr marL="697865" lvl="1" indent="-202692">
              <a:lnSpc>
                <a:spcPct val="119836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--job-name=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&lt;jobname&gt;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0665" marR="0" lvl="0" indent="-205740" algn="l" rtl="0">
              <a:lnSpc>
                <a:spcPct val="122511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Char char="•"/>
            </a:pPr>
            <a:r>
              <a:rPr lang="en-US" sz="1800" b="1" dirty="0">
                <a:solidFill>
                  <a:srgbClr val="2F2B20"/>
                </a:solidFill>
              </a:rPr>
              <a:t>Output – Where all output that would be written to the terminal should go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--output=</a:t>
            </a:r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&lt;name&gt;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Send an email when events happen in the job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--mail-type=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&lt;type&gt;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Email address to send updates to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--mail-user=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&lt;user&gt;</a:t>
            </a:r>
          </a:p>
        </p:txBody>
      </p:sp>
      <p:sp>
        <p:nvSpPr>
          <p:cNvPr id="3" name="5-Point Star 2" descr="Red star explaining that a red star indicates a required directive">
            <a:extLst>
              <a:ext uri="{FF2B5EF4-FFF2-40B4-BE49-F238E27FC236}">
                <a16:creationId xmlns:a16="http://schemas.microsoft.com/office/drawing/2014/main" id="{62E56462-2B0D-6C0F-08FB-A8010F52D320}"/>
              </a:ext>
            </a:extLst>
          </p:cNvPr>
          <p:cNvSpPr/>
          <p:nvPr/>
        </p:nvSpPr>
        <p:spPr>
          <a:xfrm>
            <a:off x="548052" y="5746724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38856-66BD-AC1D-8EC8-3231B1628865}"/>
              </a:ext>
            </a:extLst>
          </p:cNvPr>
          <p:cNvSpPr txBox="1"/>
          <p:nvPr/>
        </p:nvSpPr>
        <p:spPr>
          <a:xfrm>
            <a:off x="797171" y="5663170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Must be specified for every job</a:t>
            </a:r>
          </a:p>
        </p:txBody>
      </p:sp>
      <p:sp>
        <p:nvSpPr>
          <p:cNvPr id="8" name="5-Point Star 7" descr="Red star explaining that time is a required directive">
            <a:extLst>
              <a:ext uri="{FF2B5EF4-FFF2-40B4-BE49-F238E27FC236}">
                <a16:creationId xmlns:a16="http://schemas.microsoft.com/office/drawing/2014/main" id="{F96BD528-E3F6-BEA0-C198-71294565DDB2}"/>
              </a:ext>
            </a:extLst>
          </p:cNvPr>
          <p:cNvSpPr/>
          <p:nvPr/>
        </p:nvSpPr>
        <p:spPr>
          <a:xfrm>
            <a:off x="548052" y="1808863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09A08-339A-78A1-2928-78C1BF0D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71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42CE9-0675-EC06-F000-CC9AD35A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468"/>
            <a:ext cx="10515600" cy="1325563"/>
          </a:xfrm>
        </p:spPr>
        <p:txBody>
          <a:bodyPr/>
          <a:lstStyle/>
          <a:p>
            <a:r>
              <a:rPr lang="en-US" dirty="0">
                <a:sym typeface="Helvetica Neue Light"/>
              </a:rPr>
              <a:t>Starting an interactive job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4FEDA-43EC-712B-B865-19D679DBF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798" dirty="0" err="1">
                <a:solidFill>
                  <a:srgbClr val="0070C0"/>
                </a:solidFill>
              </a:rPr>
              <a:t>acompile</a:t>
            </a:r>
            <a:r>
              <a:rPr lang="en-US" sz="2798" dirty="0">
                <a:solidFill>
                  <a:srgbClr val="2F2B20"/>
                </a:solidFill>
              </a:rPr>
              <a:t> </a:t>
            </a:r>
          </a:p>
          <a:p>
            <a:pPr marL="522288" indent="-222250"/>
            <a:r>
              <a:rPr lang="en-US" sz="2398" dirty="0">
                <a:solidFill>
                  <a:srgbClr val="2F2B20"/>
                </a:solidFill>
              </a:rPr>
              <a:t>A custom CURC command</a:t>
            </a:r>
          </a:p>
          <a:p>
            <a:pPr marL="522288" indent="-222250"/>
            <a:r>
              <a:rPr lang="en-US" sz="2398" dirty="0">
                <a:solidFill>
                  <a:srgbClr val="2F2B20"/>
                </a:solidFill>
              </a:rPr>
              <a:t>Submits an interactive job to the </a:t>
            </a:r>
            <a:r>
              <a:rPr lang="en-US" sz="2398" dirty="0" err="1">
                <a:solidFill>
                  <a:srgbClr val="2F2B20"/>
                </a:solidFill>
              </a:rPr>
              <a:t>acompile</a:t>
            </a:r>
            <a:r>
              <a:rPr lang="en-US" sz="2398" dirty="0">
                <a:solidFill>
                  <a:srgbClr val="2F2B20"/>
                </a:solidFill>
              </a:rPr>
              <a:t> testing resources </a:t>
            </a:r>
          </a:p>
          <a:p>
            <a:pPr marL="522288" indent="-222250"/>
            <a:r>
              <a:rPr lang="en-US" sz="2398" dirty="0">
                <a:solidFill>
                  <a:srgbClr val="2F2B20"/>
                </a:solidFill>
              </a:rPr>
              <a:t>Limit of 4 CPUs for up to 12 hours </a:t>
            </a:r>
          </a:p>
          <a:p>
            <a:pPr marL="522288" indent="-222250"/>
            <a:r>
              <a:rPr lang="en-US" sz="2398" dirty="0">
                <a:solidFill>
                  <a:srgbClr val="2F2B20"/>
                </a:solidFill>
              </a:rPr>
              <a:t>Focused on compiling/building software and small workflows</a:t>
            </a:r>
          </a:p>
          <a:p>
            <a:pPr marL="0" indent="0">
              <a:buNone/>
            </a:pPr>
            <a:endParaRPr lang="en-US" sz="10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sinteractive</a:t>
            </a:r>
            <a:endParaRPr lang="en-US" sz="28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22288" indent="-222250"/>
            <a:r>
              <a:rPr lang="en-US" sz="2400" dirty="0"/>
              <a:t>Request any partition, more resources, and longer </a:t>
            </a:r>
            <a:r>
              <a:rPr lang="en-US" sz="2400" dirty="0" err="1"/>
              <a:t>walltime</a:t>
            </a:r>
            <a:endParaRPr lang="en-US" sz="2400" dirty="0"/>
          </a:p>
          <a:p>
            <a:pPr marL="522288" indent="-222250"/>
            <a:r>
              <a:rPr lang="en-US" sz="2400" dirty="0">
                <a:solidFill>
                  <a:srgbClr val="2F2B20"/>
                </a:solidFill>
              </a:rPr>
              <a:t>Subject to standard wait times (not immediate access)</a:t>
            </a:r>
          </a:p>
          <a:p>
            <a:pPr marL="522288" indent="-222250"/>
            <a:r>
              <a:rPr lang="en-US" sz="2400" dirty="0">
                <a:solidFill>
                  <a:srgbClr val="2F2B20"/>
                </a:solidFill>
              </a:rPr>
              <a:t>As the name implies, allows you to access a job interactively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C126B-89FC-72C8-59A3-0FCCDCDA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51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A83B-11EF-CA66-2994-83CD5298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sym typeface="Helvetica Neue Light"/>
              </a:rPr>
              <a:t>Running an interactive job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4B3B-750F-BC61-3BAB-ECDD9C58D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585" y="1325563"/>
            <a:ext cx="10515600" cy="4351338"/>
          </a:xfrm>
        </p:spPr>
        <p:txBody>
          <a:bodyPr/>
          <a:lstStyle/>
          <a:p>
            <a:r>
              <a:rPr lang="en-US" dirty="0"/>
              <a:t>Here we will run a Python script using an interactive job</a:t>
            </a:r>
          </a:p>
          <a:p>
            <a:r>
              <a:rPr lang="en-US" dirty="0"/>
              <a:t>First request resources: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the job starts you will be put on a compute node and you can execute your commands: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quit: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43048-956C-658F-9280-F986F073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38</a:t>
            </a:fld>
            <a:endParaRPr lang="en-US"/>
          </a:p>
        </p:txBody>
      </p:sp>
      <p:sp>
        <p:nvSpPr>
          <p:cNvPr id="6" name="Google Shape;676;p69">
            <a:extLst>
              <a:ext uri="{FF2B5EF4-FFF2-40B4-BE49-F238E27FC236}">
                <a16:creationId xmlns:a16="http://schemas.microsoft.com/office/drawing/2014/main" id="{3A5FD3D4-9009-92D0-8F81-15435F50C02D}"/>
              </a:ext>
            </a:extLst>
          </p:cNvPr>
          <p:cNvSpPr/>
          <p:nvPr/>
        </p:nvSpPr>
        <p:spPr>
          <a:xfrm>
            <a:off x="719253" y="2368977"/>
            <a:ext cx="11191875" cy="40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[ralphie@login-ci3]$ </a:t>
            </a:r>
            <a:r>
              <a:rPr lang="en-US" sz="16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sinteractive</a:t>
            </a:r>
            <a:r>
              <a:rPr lang="en-US" sz="16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--partition=</a:t>
            </a:r>
            <a:r>
              <a:rPr lang="en-US" sz="16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acpu</a:t>
            </a:r>
            <a:r>
              <a:rPr lang="en-US" sz="16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--</a:t>
            </a:r>
            <a:r>
              <a:rPr lang="en-US" sz="16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16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6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n-US" sz="16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-normal --time=10 --</a:t>
            </a:r>
            <a:r>
              <a:rPr lang="en-US" sz="16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16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=1 --nodes=1</a:t>
            </a:r>
            <a:endParaRPr sz="16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677;p69">
            <a:extLst>
              <a:ext uri="{FF2B5EF4-FFF2-40B4-BE49-F238E27FC236}">
                <a16:creationId xmlns:a16="http://schemas.microsoft.com/office/drawing/2014/main" id="{508607B9-0D5C-B404-BA51-BC3402A6C455}"/>
              </a:ext>
            </a:extLst>
          </p:cNvPr>
          <p:cNvSpPr/>
          <p:nvPr/>
        </p:nvSpPr>
        <p:spPr>
          <a:xfrm>
            <a:off x="719253" y="3848798"/>
            <a:ext cx="7689900" cy="748481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[ralphie@c3cpu-e2-u1]$ module load anaconda  </a:t>
            </a:r>
            <a:endParaRPr b="1" dirty="0">
              <a:solidFill>
                <a:srgbClr val="0070C0"/>
              </a:solidFill>
            </a:endParaRPr>
          </a:p>
          <a:p>
            <a:pPr lvl="0"/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[ralphie@c3cpu-e2-u1]$ python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my_very_cool_script.py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678;p69">
            <a:extLst>
              <a:ext uri="{FF2B5EF4-FFF2-40B4-BE49-F238E27FC236}">
                <a16:creationId xmlns:a16="http://schemas.microsoft.com/office/drawing/2014/main" id="{A82BCC9A-F85C-03B7-2975-78EF4B73C029}"/>
              </a:ext>
            </a:extLst>
          </p:cNvPr>
          <p:cNvSpPr/>
          <p:nvPr/>
        </p:nvSpPr>
        <p:spPr>
          <a:xfrm>
            <a:off x="719253" y="5416325"/>
            <a:ext cx="7689900" cy="40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[ralphie@c3cpu-e2-u1]$ exit</a:t>
            </a:r>
            <a:endParaRPr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99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6005-17DF-C163-F359-579D84C6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Neue Light"/>
                <a:ea typeface="Helvetica Neue Light"/>
                <a:cs typeface="Helvetica Neue Light"/>
                <a:sym typeface="Helvetica Neue Light"/>
              </a:rPr>
              <a:t>Batch Jobs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79D60-9D88-06D2-2DBF-7409090E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750"/>
            <a:ext cx="10515600" cy="330835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b="1" dirty="0">
                <a:solidFill>
                  <a:srgbClr val="2F2B20"/>
                </a:solidFill>
              </a:rPr>
              <a:t>Batch Jobs</a:t>
            </a:r>
            <a:r>
              <a:rPr lang="en-US" dirty="0">
                <a:solidFill>
                  <a:srgbClr val="2F2B20"/>
                </a:solidFill>
              </a:rPr>
              <a:t> are jobs you submit to the scheduler that are run later without supervision</a:t>
            </a:r>
            <a:endParaRPr lang="en-US" dirty="0"/>
          </a:p>
          <a:p>
            <a:r>
              <a:rPr lang="en-US" dirty="0">
                <a:solidFill>
                  <a:srgbClr val="2F2B20"/>
                </a:solidFill>
              </a:rPr>
              <a:t>A job script is simply a script that includes </a:t>
            </a:r>
            <a:r>
              <a:rPr lang="en-US" b="1" dirty="0">
                <a:solidFill>
                  <a:srgbClr val="2F2B20"/>
                </a:solidFill>
              </a:rPr>
              <a:t>SLURM directives</a:t>
            </a:r>
            <a:r>
              <a:rPr lang="en-US" dirty="0">
                <a:solidFill>
                  <a:srgbClr val="2F2B20"/>
                </a:solidFill>
              </a:rPr>
              <a:t> (resource specifics) ahead of any commands.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085E6-3FF9-B283-DB43-4334640E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03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85C88-55D5-AAC5-53EB-EE49AA2D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Neue Light"/>
                <a:ea typeface="Helvetica Neue Light"/>
                <a:cs typeface="Helvetica Neue Light"/>
                <a:sym typeface="Helvetica Neue Light"/>
              </a:rPr>
              <a:t>Anatomy of a job script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EA042-C86E-8A83-DDA4-9FCEA90C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40</a:t>
            </a:fld>
            <a:endParaRPr lang="en-US"/>
          </a:p>
        </p:txBody>
      </p:sp>
      <p:sp>
        <p:nvSpPr>
          <p:cNvPr id="6" name="Google Shape;418;p43">
            <a:extLst>
              <a:ext uri="{FF2B5EF4-FFF2-40B4-BE49-F238E27FC236}">
                <a16:creationId xmlns:a16="http://schemas.microsoft.com/office/drawing/2014/main" id="{549AC956-14EB-7A28-3E05-7BC3C33B1571}"/>
              </a:ext>
            </a:extLst>
          </p:cNvPr>
          <p:cNvSpPr txBox="1"/>
          <p:nvPr/>
        </p:nvSpPr>
        <p:spPr>
          <a:xfrm>
            <a:off x="838200" y="1891183"/>
            <a:ext cx="10515600" cy="3706118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#!/bin/bash</a:t>
            </a:r>
            <a:endParaRPr sz="24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Directives </a:t>
            </a:r>
            <a:endParaRPr sz="24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#SBATCH --&lt;option&gt;=&lt;value&gt; </a:t>
            </a:r>
            <a:endParaRPr sz="24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Software</a:t>
            </a:r>
            <a:endParaRPr sz="24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module load &lt;software&gt;</a:t>
            </a:r>
            <a:endParaRPr sz="24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User scripting</a:t>
            </a:r>
            <a:endParaRPr sz="24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&lt;command&gt;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3434683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8713F-2EF8-AEBD-6D37-EF3013CB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6E75-A8BA-7D39-896B-E2BA1491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Directives in a job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5C334-04C4-B977-D208-CBF8F7CAD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512" y="3082924"/>
            <a:ext cx="7800975" cy="6921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--&lt;option&gt;=</a:t>
            </a:r>
            <a:r>
              <a:rPr lang="en-US" sz="3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&lt;value&gt;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0B011-F9D7-5C76-072E-30EE9A5B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78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F3C24-5FE4-F44A-9B79-1F0B71D2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C6B0-3280-1E93-7B3D-78EE2046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i="1" dirty="0"/>
              <a:t>Job</a:t>
            </a:r>
            <a:r>
              <a:rPr lang="en-US" dirty="0"/>
              <a:t> Script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5A7FD-380B-179F-1602-A18E53F1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42</a:t>
            </a:fld>
            <a:endParaRPr lang="en-US"/>
          </a:p>
        </p:txBody>
      </p:sp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9689758E-1B00-4D06-E38E-2112E42DD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0" y="1316736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188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CB0E-A1F5-9F88-0F48-B1581C48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Example job script</a:t>
            </a:r>
          </a:p>
        </p:txBody>
      </p:sp>
      <p:sp>
        <p:nvSpPr>
          <p:cNvPr id="6" name="Google Shape;427;p44">
            <a:extLst>
              <a:ext uri="{FF2B5EF4-FFF2-40B4-BE49-F238E27FC236}">
                <a16:creationId xmlns:a16="http://schemas.microsoft.com/office/drawing/2014/main" id="{3C594338-B5E4-A7B3-5DB7-FF0FB0681EBC}"/>
              </a:ext>
            </a:extLst>
          </p:cNvPr>
          <p:cNvSpPr txBox="1"/>
          <p:nvPr/>
        </p:nvSpPr>
        <p:spPr>
          <a:xfrm>
            <a:off x="812442" y="1830091"/>
            <a:ext cx="10515600" cy="4321671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Directives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                  	# Number of requested tasks/cores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--time=0:01:00              	# Max run time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--partition=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acpu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	       # Specify Alpine CPU node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-normal                # Specify QoS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--output=test_%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j.out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	# Rename standard output file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Software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module purge                          # Purge all existing modules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User commands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echo "This is a test submitted by $USER" </a:t>
            </a:r>
            <a:endParaRPr b="1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C2D7056-BAA3-C8C6-4D0A-7F2F3322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BDA560F-461C-6043-9BC4-489BA92F716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74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5264D-A9C0-1D4A-624B-7AC6EE67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2D0F-6DFD-07C9-A8D4-F861D334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a Job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2C94-20DF-72B3-D453-1A93522B2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02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3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32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job_file</a:t>
            </a:r>
            <a:r>
              <a:rPr lang="en-US" sz="3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&gt; &lt;other-directives&gt;</a:t>
            </a:r>
            <a:endParaRPr lang="en-US" sz="3200" dirty="0"/>
          </a:p>
          <a:p>
            <a:r>
              <a:rPr lang="en-US" dirty="0"/>
              <a:t>Command to submit a job to the SLURM job scheduler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8C311-FCBC-08FC-838D-7ADAF62E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129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8AE96-F3D6-EDF7-A73D-5614F1AE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2794-CACB-DCB6-969E-6AF91EC0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a Job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72141-1295-763B-E558-961F7FE17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02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3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32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job_file</a:t>
            </a:r>
            <a:r>
              <a:rPr lang="en-US" sz="3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&gt; &lt;other-directives&gt;</a:t>
            </a:r>
            <a:endParaRPr lang="en-US" sz="3200" dirty="0"/>
          </a:p>
          <a:p>
            <a:r>
              <a:rPr lang="en-US" dirty="0"/>
              <a:t>Command to submit a job to the SLURM job scheduler</a:t>
            </a:r>
          </a:p>
          <a:p>
            <a:r>
              <a:rPr lang="en-US" dirty="0"/>
              <a:t>If we created the job script “</a:t>
            </a:r>
            <a:r>
              <a:rPr lang="en-US" dirty="0" err="1"/>
              <a:t>my_first_job.sh</a:t>
            </a:r>
            <a:r>
              <a:rPr lang="en-US" dirty="0"/>
              <a:t>” then we would submit it as follows:</a:t>
            </a:r>
          </a:p>
          <a:p>
            <a:pPr marL="915988" indent="0">
              <a:buNone/>
            </a:pP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2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/path/to/</a:t>
            </a: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my_first_job.sh</a:t>
            </a:r>
            <a:r>
              <a:rPr lang="en-US" sz="2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DA7B8-79FE-AA4D-D627-7DC08012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654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D66B-C564-6FF8-F795-C4157D7B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a Job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07AB8-A2B1-B61F-443C-A12B8E2C9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02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3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32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job_file</a:t>
            </a:r>
            <a:r>
              <a:rPr lang="en-US" sz="3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&gt; &lt;other-directives&gt;</a:t>
            </a:r>
            <a:endParaRPr lang="en-US" sz="3200" dirty="0"/>
          </a:p>
          <a:p>
            <a:r>
              <a:rPr lang="en-US" dirty="0"/>
              <a:t>Command to submit a job to the </a:t>
            </a:r>
            <a:r>
              <a:rPr lang="en-US" dirty="0" err="1"/>
              <a:t>Slurm</a:t>
            </a:r>
            <a:r>
              <a:rPr lang="en-US" dirty="0"/>
              <a:t> job scheduler</a:t>
            </a:r>
          </a:p>
          <a:p>
            <a:r>
              <a:rPr lang="en-US" dirty="0"/>
              <a:t>If we created the job script “</a:t>
            </a:r>
            <a:r>
              <a:rPr lang="en-US" dirty="0" err="1"/>
              <a:t>my_first_job.sh</a:t>
            </a:r>
            <a:r>
              <a:rPr lang="en-US" dirty="0"/>
              <a:t>” then we would submit it as follows:</a:t>
            </a:r>
          </a:p>
          <a:p>
            <a:pPr marL="915988" indent="0">
              <a:spcAft>
                <a:spcPts val="1800"/>
              </a:spcAft>
              <a:buNone/>
            </a:pP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2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/path/to/</a:t>
            </a: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my_first_job.sh</a:t>
            </a:r>
            <a:endParaRPr lang="en-US" dirty="0"/>
          </a:p>
          <a:p>
            <a:r>
              <a:rPr lang="en-US" dirty="0"/>
              <a:t>Modify </a:t>
            </a:r>
            <a:r>
              <a:rPr lang="en-US" dirty="0" err="1"/>
              <a:t>Slurm</a:t>
            </a:r>
            <a:r>
              <a:rPr lang="en-US" dirty="0"/>
              <a:t> directives in the batch script:</a:t>
            </a:r>
          </a:p>
          <a:p>
            <a:pPr marL="915988" indent="0">
              <a:buNone/>
            </a:pP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2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/path/to/</a:t>
            </a: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my_first_job.sh</a:t>
            </a:r>
            <a:r>
              <a:rPr lang="en-US" sz="2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--</a:t>
            </a: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=12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3A6D-36CC-2497-91D7-3D0FF7E0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687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5463-50BF-24AF-3C10-D30FBDDE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Neue Light"/>
                <a:ea typeface="Helvetica Neue Light"/>
                <a:cs typeface="Helvetica Neue Light"/>
                <a:sym typeface="Helvetica Neue Light"/>
              </a:rPr>
              <a:t>Checking your jobs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4A38D-FDC4-C07B-A6A5-96D3864A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squeue</a:t>
            </a:r>
            <a:r>
              <a:rPr lang="en-US" dirty="0"/>
              <a:t>: Monitor your jobs status </a:t>
            </a:r>
            <a:r>
              <a:rPr lang="en-US" b="1" dirty="0"/>
              <a:t>in queue and while running</a:t>
            </a:r>
            <a:r>
              <a:rPr lang="en-US" dirty="0"/>
              <a:t>:</a:t>
            </a:r>
          </a:p>
          <a:p>
            <a:pPr marL="685800" lvl="1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800"/>
              <a:buChar char="•"/>
            </a:pP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default,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 shows all jobs in queue can specify using: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rgbClr val="0070C0"/>
                </a:solidFill>
              </a:rPr>
              <a:t>sacct</a:t>
            </a:r>
            <a:r>
              <a:rPr lang="en-US" dirty="0"/>
              <a:t>: Check back on usage statistics of </a:t>
            </a:r>
            <a:r>
              <a:rPr lang="en-US" b="1" dirty="0"/>
              <a:t>previous Jobs</a:t>
            </a:r>
          </a:p>
          <a:p>
            <a:pPr marL="685800" lvl="1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800"/>
              <a:buChar char="•"/>
            </a:pPr>
            <a:r>
              <a:rPr lang="en-US" sz="28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By default, only checks all jobs from the start of the current day can specify using:</a:t>
            </a:r>
          </a:p>
          <a:p>
            <a:endParaRPr lang="en-US" b="1" dirty="0"/>
          </a:p>
        </p:txBody>
      </p:sp>
      <p:sp>
        <p:nvSpPr>
          <p:cNvPr id="10" name="Google Shape;513;p52">
            <a:extLst>
              <a:ext uri="{FF2B5EF4-FFF2-40B4-BE49-F238E27FC236}">
                <a16:creationId xmlns:a16="http://schemas.microsoft.com/office/drawing/2014/main" id="{6270ABA3-0AD8-3DB2-D330-EF60D5D9006E}"/>
              </a:ext>
            </a:extLst>
          </p:cNvPr>
          <p:cNvSpPr/>
          <p:nvPr/>
        </p:nvSpPr>
        <p:spPr>
          <a:xfrm>
            <a:off x="1620572" y="2662251"/>
            <a:ext cx="7263300" cy="7080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squeue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–u 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squeue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–p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&lt;partition&gt;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514;p52">
            <a:extLst>
              <a:ext uri="{FF2B5EF4-FFF2-40B4-BE49-F238E27FC236}">
                <a16:creationId xmlns:a16="http://schemas.microsoft.com/office/drawing/2014/main" id="{CAE36032-1193-A772-7D31-F09CE2559DD8}"/>
              </a:ext>
            </a:extLst>
          </p:cNvPr>
          <p:cNvSpPr/>
          <p:nvPr/>
        </p:nvSpPr>
        <p:spPr>
          <a:xfrm>
            <a:off x="1620572" y="5040513"/>
            <a:ext cx="7263300" cy="10158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 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 –u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 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 --start=MM/DD/YY –u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180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–j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&lt;job-id&gt;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1835F56-1994-3251-C6BE-9145A84CFEAA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560F-461C-6043-9BC4-489BA92F7161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699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7107-FD63-3C5A-931B-D01E0BD5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your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E9A12-6AB5-5F86-E292-71CEE3639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check the percentage of CPU and memory usage of a job </a:t>
            </a:r>
            <a:r>
              <a:rPr lang="en-US" sz="2800" b="1" dirty="0"/>
              <a:t>after it completes, </a:t>
            </a:r>
            <a:r>
              <a:rPr lang="en-US" sz="2800" dirty="0"/>
              <a:t>use </a:t>
            </a:r>
            <a:r>
              <a:rPr lang="en-US" sz="2800" dirty="0" err="1">
                <a:solidFill>
                  <a:srgbClr val="0070C0"/>
                </a:solidFill>
              </a:rPr>
              <a:t>seff</a:t>
            </a:r>
            <a:endParaRPr lang="en-US" sz="2800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To see general statistics for your submitted jobs, use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jobstats</a:t>
            </a:r>
            <a:r>
              <a:rPr lang="en-US" dirty="0"/>
              <a:t> </a:t>
            </a:r>
          </a:p>
        </p:txBody>
      </p:sp>
      <p:sp>
        <p:nvSpPr>
          <p:cNvPr id="6" name="Google Shape;524;p53">
            <a:extLst>
              <a:ext uri="{FF2B5EF4-FFF2-40B4-BE49-F238E27FC236}">
                <a16:creationId xmlns:a16="http://schemas.microsoft.com/office/drawing/2014/main" id="{CF4DCEF5-D99B-F879-C459-5E4536E68F31}"/>
              </a:ext>
            </a:extLst>
          </p:cNvPr>
          <p:cNvSpPr/>
          <p:nvPr/>
        </p:nvSpPr>
        <p:spPr>
          <a:xfrm>
            <a:off x="1185579" y="4241445"/>
            <a:ext cx="7263450" cy="7389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module load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slurmtools</a:t>
            </a:r>
            <a:endParaRPr lang="en-US" sz="20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jobstats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 &lt;# of days&gt;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525;p53">
            <a:extLst>
              <a:ext uri="{FF2B5EF4-FFF2-40B4-BE49-F238E27FC236}">
                <a16:creationId xmlns:a16="http://schemas.microsoft.com/office/drawing/2014/main" id="{5D84A3AA-B607-E8D8-B14E-9655F494AA9B}"/>
              </a:ext>
            </a:extLst>
          </p:cNvPr>
          <p:cNvSpPr/>
          <p:nvPr/>
        </p:nvSpPr>
        <p:spPr>
          <a:xfrm>
            <a:off x="1185729" y="2757419"/>
            <a:ext cx="7263300" cy="7389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module load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slurmtools</a:t>
            </a:r>
            <a:endParaRPr sz="20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seff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&lt;job number&gt;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BBE5115-E911-129B-C175-8232773E456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560F-461C-6043-9BC4-489BA92F7161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355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E62E-E30C-F963-780F-4C867BBE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Job Monitoring - XDMOD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966D6-9645-45E3-95A6-E25C97B4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49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36BD517-D6FE-03D3-3158-D78C63FF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195" y="1462088"/>
            <a:ext cx="8128005" cy="4114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94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6"/>
          <p:cNvSpPr txBox="1">
            <a:spLocks noGrp="1"/>
          </p:cNvSpPr>
          <p:nvPr>
            <p:ph type="title"/>
          </p:nvPr>
        </p:nvSpPr>
        <p:spPr>
          <a:xfrm>
            <a:off x="838200" y="80816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Help! I’m stuck, where do I go?</a:t>
            </a:r>
            <a:endParaRPr dirty="0"/>
          </a:p>
        </p:txBody>
      </p:sp>
      <p:sp>
        <p:nvSpPr>
          <p:cNvPr id="899" name="Google Shape;899;p76"/>
          <p:cNvSpPr txBox="1">
            <a:spLocks noGrp="1"/>
          </p:cNvSpPr>
          <p:nvPr>
            <p:ph type="body" idx="1"/>
          </p:nvPr>
        </p:nvSpPr>
        <p:spPr>
          <a:xfrm>
            <a:off x="437990" y="1406516"/>
            <a:ext cx="11107911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200" b="1" u="sng" dirty="0">
                <a:solidFill>
                  <a:srgbClr val="1D1C1D"/>
                </a:solidFill>
              </a:rPr>
              <a:t>Documentation</a:t>
            </a:r>
            <a:r>
              <a:rPr lang="en-US" sz="2200" dirty="0">
                <a:solidFill>
                  <a:srgbClr val="1D1C1D"/>
                </a:solidFill>
              </a:rPr>
              <a:t>: </a:t>
            </a:r>
            <a:r>
              <a:rPr lang="en-US" sz="2200" u="sng" dirty="0">
                <a:solidFill>
                  <a:schemeClr val="hlink"/>
                </a:solidFill>
                <a:hlinkClick r:id="rId3"/>
              </a:rPr>
              <a:t>curc.readthedocs.io</a:t>
            </a:r>
            <a:r>
              <a:rPr lang="en-US" sz="2200" dirty="0">
                <a:solidFill>
                  <a:srgbClr val="1D1C1D"/>
                </a:solidFill>
              </a:rPr>
              <a:t> </a:t>
            </a:r>
            <a:endParaRPr sz="2200" dirty="0">
              <a:solidFill>
                <a:srgbClr val="1D1C1D"/>
              </a:solidFill>
            </a:endParaRP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200" b="1" u="sng" dirty="0">
                <a:solidFill>
                  <a:srgbClr val="1D1C1D"/>
                </a:solidFill>
              </a:rPr>
              <a:t>Trainings with Center for Research Data and Digital Scholarship (CRDDS)</a:t>
            </a:r>
            <a:r>
              <a:rPr lang="en-US" sz="2200" dirty="0">
                <a:solidFill>
                  <a:srgbClr val="1D1C1D"/>
                </a:solidFill>
              </a:rPr>
              <a:t>: </a:t>
            </a:r>
            <a:r>
              <a:rPr lang="en-US" sz="2200" u="sng" dirty="0">
                <a:solidFill>
                  <a:schemeClr val="hlink"/>
                </a:solidFill>
                <a:hlinkClick r:id="rId4"/>
              </a:rPr>
              <a:t>www.colorado.edu/crdds</a:t>
            </a:r>
            <a:r>
              <a:rPr lang="en-US" sz="2200" dirty="0">
                <a:solidFill>
                  <a:srgbClr val="1D1C1D"/>
                </a:solidFill>
              </a:rPr>
              <a:t> </a:t>
            </a:r>
          </a:p>
          <a:p>
            <a:pPr indent="-374650">
              <a:lnSpc>
                <a:spcPct val="150001"/>
              </a:lnSpc>
              <a:spcBef>
                <a:spcPts val="300"/>
              </a:spcBef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200" b="1" u="sng" dirty="0">
                <a:solidFill>
                  <a:srgbClr val="1D1C1D"/>
                </a:solidFill>
              </a:rPr>
              <a:t>Support request form</a:t>
            </a:r>
            <a:r>
              <a:rPr lang="en-US" sz="2200" dirty="0">
                <a:solidFill>
                  <a:srgbClr val="1D1C1D"/>
                </a:solidFill>
              </a:rPr>
              <a:t>: </a:t>
            </a:r>
            <a:r>
              <a:rPr lang="en-US" sz="2200" dirty="0" err="1">
                <a:solidFill>
                  <a:srgbClr val="0563C1"/>
                </a:solidFill>
              </a:rPr>
              <a:t>colorado.service-now.com</a:t>
            </a:r>
            <a:r>
              <a:rPr lang="en-US" sz="2200" dirty="0">
                <a:solidFill>
                  <a:srgbClr val="0563C1"/>
                </a:solidFill>
              </a:rPr>
              <a:t>/</a:t>
            </a:r>
            <a:r>
              <a:rPr lang="en-US" sz="2200" dirty="0" err="1">
                <a:solidFill>
                  <a:srgbClr val="0563C1"/>
                </a:solidFill>
              </a:rPr>
              <a:t>req_portal?id</a:t>
            </a:r>
            <a:r>
              <a:rPr lang="en-US" sz="2200" dirty="0">
                <a:solidFill>
                  <a:srgbClr val="0563C1"/>
                </a:solidFill>
              </a:rPr>
              <a:t>=</a:t>
            </a:r>
            <a:r>
              <a:rPr lang="en-US" sz="2200" dirty="0" err="1">
                <a:solidFill>
                  <a:srgbClr val="0563C1"/>
                </a:solidFill>
              </a:rPr>
              <a:t>ucb_sc_rc_form</a:t>
            </a:r>
            <a:endParaRPr lang="en-US" sz="2200" dirty="0">
              <a:solidFill>
                <a:srgbClr val="0563C1"/>
              </a:solidFill>
            </a:endParaRPr>
          </a:p>
          <a:p>
            <a:pPr indent="-374650">
              <a:lnSpc>
                <a:spcPct val="150001"/>
              </a:lnSpc>
              <a:spcBef>
                <a:spcPts val="300"/>
              </a:spcBef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200" b="1" u="sng" dirty="0">
                <a:solidFill>
                  <a:schemeClr val="tx1"/>
                </a:solidFill>
                <a:hlinkClick r:id="rId5"/>
              </a:rPr>
              <a:t>Consult Hours</a:t>
            </a:r>
            <a:r>
              <a:rPr lang="en-US" sz="2200" b="1" dirty="0">
                <a:solidFill>
                  <a:schemeClr val="tx1"/>
                </a:solidFill>
                <a:hlinkClick r:id="rId5"/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(Tuesday 1:00-2:00pm in-person or virtually, Thursday 1:00-2:00pm virtually)</a:t>
            </a:r>
          </a:p>
        </p:txBody>
      </p:sp>
      <p:sp>
        <p:nvSpPr>
          <p:cNvPr id="900" name="Google Shape;900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8"/>
          <p:cNvSpPr txBox="1">
            <a:spLocks noGrp="1"/>
          </p:cNvSpPr>
          <p:nvPr>
            <p:ph type="title"/>
          </p:nvPr>
        </p:nvSpPr>
        <p:spPr>
          <a:xfrm>
            <a:off x="68664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Survey and feedback</a:t>
            </a:r>
            <a:endParaRPr dirty="0"/>
          </a:p>
        </p:txBody>
      </p:sp>
      <p:sp>
        <p:nvSpPr>
          <p:cNvPr id="914" name="Google Shape;914;p78"/>
          <p:cNvSpPr txBox="1">
            <a:spLocks noGrp="1"/>
          </p:cNvSpPr>
          <p:nvPr>
            <p:ph type="body" idx="1"/>
          </p:nvPr>
        </p:nvSpPr>
        <p:spPr>
          <a:xfrm>
            <a:off x="681996" y="2914389"/>
            <a:ext cx="6438580" cy="826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r>
              <a:rPr lang="en-US" sz="3300" dirty="0">
                <a:hlinkClick r:id="rId3"/>
              </a:rPr>
              <a:t>https://</a:t>
            </a:r>
            <a:r>
              <a:rPr lang="en-US" sz="3300" dirty="0" err="1">
                <a:hlinkClick r:id="rId3"/>
              </a:rPr>
              <a:t>s.zoom.us</a:t>
            </a:r>
            <a:r>
              <a:rPr lang="en-US" sz="3300" dirty="0">
                <a:hlinkClick r:id="rId3"/>
              </a:rPr>
              <a:t>/m/bPlTUoGhy</a:t>
            </a:r>
            <a:r>
              <a:rPr lang="en-US" sz="3300" dirty="0"/>
              <a:t> </a:t>
            </a:r>
            <a:endParaRPr sz="3300" dirty="0"/>
          </a:p>
        </p:txBody>
      </p:sp>
      <p:sp>
        <p:nvSpPr>
          <p:cNvPr id="915" name="Google Shape;915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pic>
        <p:nvPicPr>
          <p:cNvPr id="4" name="Picture 3" descr="QR code for https://s.zoom.us/m/bPlTUoGhy &#13;&#10;">
            <a:extLst>
              <a:ext uri="{FF2B5EF4-FFF2-40B4-BE49-F238E27FC236}">
                <a16:creationId xmlns:a16="http://schemas.microsoft.com/office/drawing/2014/main" id="{564303DD-19B4-0BEF-F5ED-CFEBD5E7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754" y="1750549"/>
            <a:ext cx="3160701" cy="31539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B Content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c16b9d-8c83-445e-a4f4-1fe3d2f43f13" xsi:nil="true"/>
    <lcf76f155ced4ddcb4097134ff3c332f xmlns="7e49f7d3-8802-46ca-9604-495ce27f67f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7320DB280744439FF1CC777D09ECA4" ma:contentTypeVersion="15" ma:contentTypeDescription="Create a new document." ma:contentTypeScope="" ma:versionID="e50b92032c956cc777cf00ac7d475189">
  <xsd:schema xmlns:xsd="http://www.w3.org/2001/XMLSchema" xmlns:xs="http://www.w3.org/2001/XMLSchema" xmlns:p="http://schemas.microsoft.com/office/2006/metadata/properties" xmlns:ns2="7e49f7d3-8802-46ca-9604-495ce27f67f4" xmlns:ns3="a1519f9a-9d6a-41c1-afc9-552e4069f82f" xmlns:ns4="92c16b9d-8c83-445e-a4f4-1fe3d2f43f13" targetNamespace="http://schemas.microsoft.com/office/2006/metadata/properties" ma:root="true" ma:fieldsID="fcd7cab68a23f1df7b42ced4f3edf141" ns2:_="" ns3:_="" ns4:_="">
    <xsd:import namespace="7e49f7d3-8802-46ca-9604-495ce27f67f4"/>
    <xsd:import namespace="a1519f9a-9d6a-41c1-afc9-552e4069f82f"/>
    <xsd:import namespace="92c16b9d-8c83-445e-a4f4-1fe3d2f43f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49f7d3-8802-46ca-9604-495ce27f67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19f9a-9d6a-41c1-afc9-552e4069f82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c16b9d-8c83-445e-a4f4-1fe3d2f43f1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5373c19-887a-4e93-8582-23ebe3fe2f18}" ma:internalName="TaxCatchAll" ma:showField="CatchAllData" ma:web="a1519f9a-9d6a-41c1-afc9-552e4069f8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B02FF4-25A1-49FE-9DF7-DD19F525B7FA}">
  <ds:schemaRefs>
    <ds:schemaRef ds:uri="7e49f7d3-8802-46ca-9604-495ce27f67f4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92c16b9d-8c83-445e-a4f4-1fe3d2f43f13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a1519f9a-9d6a-41c1-afc9-552e4069f82f"/>
  </ds:schemaRefs>
</ds:datastoreItem>
</file>

<file path=customXml/itemProps2.xml><?xml version="1.0" encoding="utf-8"?>
<ds:datastoreItem xmlns:ds="http://schemas.openxmlformats.org/officeDocument/2006/customXml" ds:itemID="{6BBC22CE-40EC-4545-8FE9-90326628051D}">
  <ds:schemaRefs>
    <ds:schemaRef ds:uri="7e49f7d3-8802-46ca-9604-495ce27f67f4"/>
    <ds:schemaRef ds:uri="92c16b9d-8c83-445e-a4f4-1fe3d2f43f13"/>
    <ds:schemaRef ds:uri="a1519f9a-9d6a-41c1-afc9-552e4069f8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6B4C708-AA43-4CE7-BE2D-F9D9A02F494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11208</TotalTime>
  <Words>3057</Words>
  <Application>Microsoft Macintosh PowerPoint</Application>
  <PresentationFormat>Widescreen</PresentationFormat>
  <Paragraphs>557</Paragraphs>
  <Slides>51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Arial Black</vt:lpstr>
      <vt:lpstr>Calibri</vt:lpstr>
      <vt:lpstr>Century Gothic</vt:lpstr>
      <vt:lpstr>Consolas</vt:lpstr>
      <vt:lpstr>Courier New</vt:lpstr>
      <vt:lpstr>Helvetica Neue</vt:lpstr>
      <vt:lpstr>Helvetica Neue Light</vt:lpstr>
      <vt:lpstr>Times New Roman</vt:lpstr>
      <vt:lpstr>CUB Content </vt:lpstr>
      <vt:lpstr>Getting Started with Research Computing From Command Line to Job Scheduling</vt:lpstr>
      <vt:lpstr>Useful CURC links</vt:lpstr>
      <vt:lpstr>The user support team</vt:lpstr>
      <vt:lpstr>PowerPoint Presentation</vt:lpstr>
      <vt:lpstr>General Overview of Job Submission</vt:lpstr>
      <vt:lpstr>Login Nodes</vt:lpstr>
      <vt:lpstr>Accessing the Terminal (SSH)</vt:lpstr>
      <vt:lpstr>Accessing the Terminal (Open OnDemand)</vt:lpstr>
      <vt:lpstr>Accessing the Terminal</vt:lpstr>
      <vt:lpstr>Linux Command Line</vt:lpstr>
      <vt:lpstr>List Files and Directories</vt:lpstr>
      <vt:lpstr>Standard CURC Directories</vt:lpstr>
      <vt:lpstr>File Operations</vt:lpstr>
      <vt:lpstr>Create and edit a file – Terminal Text Editors</vt:lpstr>
      <vt:lpstr>Creating a Bash Script</vt:lpstr>
      <vt:lpstr>Shell script basics</vt:lpstr>
      <vt:lpstr>Selecting Resources</vt:lpstr>
      <vt:lpstr>Common Resource Requests</vt:lpstr>
      <vt:lpstr>Alpine Partitions</vt:lpstr>
      <vt:lpstr>Alpine Partitions - acpu</vt:lpstr>
      <vt:lpstr>Alpine Partitions - amem</vt:lpstr>
      <vt:lpstr>Alpine Partitions – NVIDIA GPUs</vt:lpstr>
      <vt:lpstr>Alpine Partitions – AMD GPUs</vt:lpstr>
      <vt:lpstr>Alpine Testing Resources</vt:lpstr>
      <vt:lpstr>Quality of Service (QoS)</vt:lpstr>
      <vt:lpstr>Selecting Hardware</vt:lpstr>
      <vt:lpstr>GRES Type</vt:lpstr>
      <vt:lpstr>Walltime</vt:lpstr>
      <vt:lpstr>Selecting Resources</vt:lpstr>
      <vt:lpstr>Planned Maintenance </vt:lpstr>
      <vt:lpstr>Batch vs Interactive Jobs</vt:lpstr>
      <vt:lpstr>Batch Jobs</vt:lpstr>
      <vt:lpstr>Interactive Jobs</vt:lpstr>
      <vt:lpstr>Slurm Directives</vt:lpstr>
      <vt:lpstr>Common Slurm Directives</vt:lpstr>
      <vt:lpstr>Common Slurm Directives cont.</vt:lpstr>
      <vt:lpstr>Starting an interactive job</vt:lpstr>
      <vt:lpstr>Running an interactive job</vt:lpstr>
      <vt:lpstr>Batch Jobs</vt:lpstr>
      <vt:lpstr>Anatomy of a job script </vt:lpstr>
      <vt:lpstr>Directives in a job script</vt:lpstr>
      <vt:lpstr>Creating a Job Script</vt:lpstr>
      <vt:lpstr>Example job script</vt:lpstr>
      <vt:lpstr>Submitting a Job script</vt:lpstr>
      <vt:lpstr>Submitting a Job script</vt:lpstr>
      <vt:lpstr>Submitting a Job script</vt:lpstr>
      <vt:lpstr>Checking your jobs</vt:lpstr>
      <vt:lpstr>Checking your jobs</vt:lpstr>
      <vt:lpstr>Job Monitoring - XDMOD</vt:lpstr>
      <vt:lpstr>Help! I’m stuck, where do I go?</vt:lpstr>
      <vt:lpstr>Survey and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CURC Alpine Allocations</dc:title>
  <dc:creator>Layla Freeborn</dc:creator>
  <cp:lastModifiedBy>Brandon Reyes</cp:lastModifiedBy>
  <cp:revision>58</cp:revision>
  <cp:lastPrinted>2025-09-12T16:15:41Z</cp:lastPrinted>
  <dcterms:created xsi:type="dcterms:W3CDTF">2023-01-13T17:07:22Z</dcterms:created>
  <dcterms:modified xsi:type="dcterms:W3CDTF">2026-08-28T21:09:11Z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0x010100DC7320DB280744439FF1CC777D09ECA4</vt:lpwstr>
  </property>
</Properties>
</file>