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60" r:id="rId4"/>
  </p:sldMasterIdLst>
  <p:notesMasterIdLst>
    <p:notesMasterId r:id="rId53"/>
  </p:notesMasterIdLst>
  <p:sldIdLst>
    <p:sldId id="256" r:id="rId5"/>
    <p:sldId id="430" r:id="rId6"/>
    <p:sldId id="365" r:id="rId7"/>
    <p:sldId id="261" r:id="rId8"/>
    <p:sldId id="351" r:id="rId9"/>
    <p:sldId id="450" r:id="rId10"/>
    <p:sldId id="420" r:id="rId11"/>
    <p:sldId id="421" r:id="rId12"/>
    <p:sldId id="400" r:id="rId13"/>
    <p:sldId id="404" r:id="rId14"/>
    <p:sldId id="405" r:id="rId15"/>
    <p:sldId id="424" r:id="rId16"/>
    <p:sldId id="407" r:id="rId17"/>
    <p:sldId id="425" r:id="rId18"/>
    <p:sldId id="263" r:id="rId19"/>
    <p:sldId id="426" r:id="rId20"/>
    <p:sldId id="431" r:id="rId21"/>
    <p:sldId id="374" r:id="rId22"/>
    <p:sldId id="432" r:id="rId23"/>
    <p:sldId id="433" r:id="rId24"/>
    <p:sldId id="434" r:id="rId25"/>
    <p:sldId id="373" r:id="rId26"/>
    <p:sldId id="435" r:id="rId27"/>
    <p:sldId id="436" r:id="rId28"/>
    <p:sldId id="437" r:id="rId29"/>
    <p:sldId id="438" r:id="rId30"/>
    <p:sldId id="439" r:id="rId31"/>
    <p:sldId id="440" r:id="rId32"/>
    <p:sldId id="444" r:id="rId33"/>
    <p:sldId id="441" r:id="rId34"/>
    <p:sldId id="442" r:id="rId35"/>
    <p:sldId id="443" r:id="rId36"/>
    <p:sldId id="445" r:id="rId37"/>
    <p:sldId id="446" r:id="rId38"/>
    <p:sldId id="447" r:id="rId39"/>
    <p:sldId id="370" r:id="rId40"/>
    <p:sldId id="371" r:id="rId41"/>
    <p:sldId id="354" r:id="rId42"/>
    <p:sldId id="355" r:id="rId43"/>
    <p:sldId id="429" r:id="rId44"/>
    <p:sldId id="427" r:id="rId45"/>
    <p:sldId id="396" r:id="rId46"/>
    <p:sldId id="359" r:id="rId47"/>
    <p:sldId id="361" r:id="rId48"/>
    <p:sldId id="362" r:id="rId49"/>
    <p:sldId id="416" r:id="rId50"/>
    <p:sldId id="448" r:id="rId51"/>
    <p:sldId id="449" r:id="rId5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1691206C-2BA2-452A-5B48-4B2D08511887}" name="Michael Joseph Schneider" initials="MS" userId="S::misc7570@colorado.edu::0526a63a-26d6-4239-972a-179b08dd2c7c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9DFE0"/>
    <a:srgbClr val="D883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6856"/>
    <p:restoredTop sz="97228"/>
  </p:normalViewPr>
  <p:slideViewPr>
    <p:cSldViewPr snapToGrid="0">
      <p:cViewPr varScale="1">
        <p:scale>
          <a:sx n="172" d="100"/>
          <a:sy n="172" d="100"/>
        </p:scale>
        <p:origin x="1048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50" Type="http://schemas.openxmlformats.org/officeDocument/2006/relationships/slide" Target="slides/slide46.xml"/><Relationship Id="rId55" Type="http://schemas.openxmlformats.org/officeDocument/2006/relationships/viewProps" Target="viewProp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notesMaster" Target="notesMasters/notesMaster1.xml"/><Relationship Id="rId58" Type="http://schemas.microsoft.com/office/2018/10/relationships/authors" Target="authors.xml"/><Relationship Id="rId5" Type="http://schemas.openxmlformats.org/officeDocument/2006/relationships/slide" Target="slides/slide1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theme" Target="theme/theme1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tableStyles" Target="tableStyles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2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2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FDA08D6-E137-3341-A5EE-84219A24203E}" type="datetimeFigureOut">
              <a:rPr lang="en-US" smtClean="0"/>
              <a:t>8/28/26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49"/>
            <a:ext cx="5486400" cy="3600451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926901F-C6C3-9E47-9843-744856EDDD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5400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>
            <a:spLocks noGrp="1"/>
          </p:cNvSpPr>
          <p:nvPr>
            <p:ph type="body" idx="1"/>
          </p:nvPr>
        </p:nvSpPr>
        <p:spPr>
          <a:xfrm>
            <a:off x="685800" y="4400549"/>
            <a:ext cx="5486400" cy="36004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93" name="Google Shape;93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100" name="Google Shape;10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A60E6FC-C58D-CA46-93FA-98E1AAB1BA51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983082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g12316551eda_0_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9" name="Google Shape;129;g12316551eda_0_13:notes"/>
          <p:cNvSpPr txBox="1">
            <a:spLocks noGrp="1"/>
          </p:cNvSpPr>
          <p:nvPr>
            <p:ph type="body" idx="1"/>
          </p:nvPr>
        </p:nvSpPr>
        <p:spPr>
          <a:xfrm>
            <a:off x="685800" y="4400549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This workshop is meant to be empowering and information-rich – to help you get the most out of your HPC workflow.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Feel free to ask questions during the presentations and to discuss ideas/thoughts during breaks and the hands-on portion of the workshop.</a:t>
            </a:r>
            <a:endParaRPr dirty="0"/>
          </a:p>
        </p:txBody>
      </p:sp>
      <p:sp>
        <p:nvSpPr>
          <p:cNvPr id="130" name="Google Shape;130;g12316551eda_0_13:notes"/>
          <p:cNvSpPr txBox="1">
            <a:spLocks noGrp="1"/>
          </p:cNvSpPr>
          <p:nvPr>
            <p:ph type="sldNum" idx="12"/>
          </p:nvPr>
        </p:nvSpPr>
        <p:spPr>
          <a:xfrm>
            <a:off x="3884613" y="8685215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3. Jobs do not run immediately but instead wait in a SLURM managed queue.  A job’s placement in the queue is dependent on multiple factors. We will discuss a few of the most common factors, but a general rule to follow is that the more resources a job requests the longer it will wait in the queue.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6901F-C6C3-9E47-9843-744856EDDD7A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66897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The </a:t>
            </a:r>
            <a:r>
              <a:rPr lang="en-US" dirty="0" err="1"/>
              <a:t>hello.sh</a:t>
            </a:r>
            <a:r>
              <a:rPr lang="en-US" dirty="0"/>
              <a:t> file you </a:t>
            </a:r>
            <a:r>
              <a:rPr lang="en-US" dirty="0" err="1"/>
              <a:t>chmod’d</a:t>
            </a:r>
            <a:r>
              <a:rPr lang="en-US" dirty="0"/>
              <a:t> was a bash shell script.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This implies that the Bash script is running in a separate independent shell. This separate shell terminates at the end of the script, leaving the parent shell, the shell we’re in, unaffected.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 err="1"/>
              <a:t>pwd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echo $$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PID OF CURRENT PROCESS</a:t>
            </a:r>
            <a:endParaRPr dirty="0"/>
          </a:p>
        </p:txBody>
      </p:sp>
      <p:sp>
        <p:nvSpPr>
          <p:cNvPr id="220" name="Google Shape;220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3EFF08-17DB-28FC-AC3E-D0CE318520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3D089E0-940F-F89C-AEDB-4483A7E3C7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FE7A55-A2DC-8455-F874-C7762F9541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3. Jobs do not run immediately but instead wait in a SLURM managed queue.  A job’s placement in the queue is dependent on multiple factors. We will discuss a few of the most common factors, but a general rule to follow is that the more resources a job requests the longer it will wait in the queue.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31DDC3-11A8-B552-D2B9-C2EE619A242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6901F-C6C3-9E47-9843-744856EDDD7A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12572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D979A2-6C01-2D82-2026-873F0C42DD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69B4BD3-D55B-C978-3890-0BC25B0563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0D632A4-DAED-18E7-2A05-12E1398AB6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Partition – Defines what type of hardware your job has access to. </a:t>
            </a:r>
          </a:p>
          <a:p>
            <a:endParaRPr lang="en-US" dirty="0"/>
          </a:p>
          <a:p>
            <a:r>
              <a:rPr lang="en-US" dirty="0" err="1"/>
              <a:t>Ntasks</a:t>
            </a:r>
            <a:r>
              <a:rPr lang="en-US" dirty="0"/>
              <a:t> – How many CPU cores your job is requesting</a:t>
            </a:r>
          </a:p>
          <a:p>
            <a:endParaRPr lang="en-US" dirty="0"/>
          </a:p>
          <a:p>
            <a:r>
              <a:rPr lang="en-US" dirty="0"/>
              <a:t>Nodes – How many nodes your job will run across (typically 1, but can be more)</a:t>
            </a:r>
          </a:p>
          <a:p>
            <a:endParaRPr lang="en-US" dirty="0"/>
          </a:p>
          <a:p>
            <a:r>
              <a:rPr lang="en-US" dirty="0"/>
              <a:t>Wall Time – How much time your job needs to run on the system (can be a few minutes, a few hours, to multiple days)</a:t>
            </a:r>
          </a:p>
          <a:p>
            <a:endParaRPr lang="en-US" dirty="0"/>
          </a:p>
          <a:p>
            <a:r>
              <a:rPr lang="en-US" dirty="0"/>
              <a:t>Quality of Service (QOS) – Defines additional job constraints – i.e. limits to how much your job can request.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AED7FE-C9C0-4E32-9AFC-C2DAB812B7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6901F-C6C3-9E47-9843-744856EDDD7A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170874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0">
          <a:extLst>
            <a:ext uri="{FF2B5EF4-FFF2-40B4-BE49-F238E27FC236}">
              <a16:creationId xmlns:a16="http://schemas.microsoft.com/office/drawing/2014/main" id="{D0A3E20E-FC8A-5CE7-3FB3-E125CF5074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g12316551eda_0_238:notes">
            <a:extLst>
              <a:ext uri="{FF2B5EF4-FFF2-40B4-BE49-F238E27FC236}">
                <a16:creationId xmlns:a16="http://schemas.microsoft.com/office/drawing/2014/main" id="{F7B83B71-ECA6-67CD-8273-82DEA841473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332" name="Google Shape;332;g12316551eda_0_238:notes">
            <a:extLst>
              <a:ext uri="{FF2B5EF4-FFF2-40B4-BE49-F238E27FC236}">
                <a16:creationId xmlns:a16="http://schemas.microsoft.com/office/drawing/2014/main" id="{A9D89E84-E581-89A7-7FA7-E771B1827C0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Compute nodes are organized into partitions – logical groups of similarly spec’d hardware.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Partitions make it easier to request specific resources and ensure a more consistent user experience.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The Alpine Cluster has four primary partitions.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Detailed Information on Alpine Hardware: </a:t>
            </a:r>
            <a:br>
              <a:rPr lang="en-US"/>
            </a:br>
            <a:r>
              <a:rPr lang="en-US"/>
              <a:t>https://</a:t>
            </a:r>
            <a:r>
              <a:rPr lang="en-US" err="1"/>
              <a:t>curc.readthedocs.io</a:t>
            </a:r>
            <a:r>
              <a:rPr lang="en-US"/>
              <a:t>/</a:t>
            </a:r>
            <a:r>
              <a:rPr lang="en-US" err="1"/>
              <a:t>en</a:t>
            </a:r>
            <a:r>
              <a:rPr lang="en-US"/>
              <a:t>/latest/clusters/alpine/alpine-</a:t>
            </a:r>
            <a:r>
              <a:rPr lang="en-US" err="1"/>
              <a:t>hardware.html</a:t>
            </a:r>
            <a:r>
              <a:rPr lang="en-US"/>
              <a:t> </a:t>
            </a:r>
            <a:endParaRPr/>
          </a:p>
        </p:txBody>
      </p:sp>
      <p:sp>
        <p:nvSpPr>
          <p:cNvPr id="333" name="Google Shape;333;g12316551eda_0_238:notes">
            <a:extLst>
              <a:ext uri="{FF2B5EF4-FFF2-40B4-BE49-F238E27FC236}">
                <a16:creationId xmlns:a16="http://schemas.microsoft.com/office/drawing/2014/main" id="{9D29B984-FBEC-866C-F88B-A129F4D25AE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18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2134176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0">
          <a:extLst>
            <a:ext uri="{FF2B5EF4-FFF2-40B4-BE49-F238E27FC236}">
              <a16:creationId xmlns:a16="http://schemas.microsoft.com/office/drawing/2014/main" id="{3B3E419D-42DC-9BF8-E574-79B5FE756C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g12316551eda_0_238:notes">
            <a:extLst>
              <a:ext uri="{FF2B5EF4-FFF2-40B4-BE49-F238E27FC236}">
                <a16:creationId xmlns:a16="http://schemas.microsoft.com/office/drawing/2014/main" id="{E2B5DF0E-33E4-CD33-E622-8A5DDB436E5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332" name="Google Shape;332;g12316551eda_0_238:notes">
            <a:extLst>
              <a:ext uri="{FF2B5EF4-FFF2-40B4-BE49-F238E27FC236}">
                <a16:creationId xmlns:a16="http://schemas.microsoft.com/office/drawing/2014/main" id="{9F259969-7916-7A22-7681-4C78BEE02A4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err="1"/>
              <a:t>amilan</a:t>
            </a:r>
            <a:r>
              <a:rPr lang="en-US"/>
              <a:t>: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285 Nodes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64 CPU Cores per Node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3.75 GB of RAM per CPU (240 GB total)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Detailed Information on Alpine Hardware: </a:t>
            </a:r>
            <a:br>
              <a:rPr lang="en-US"/>
            </a:br>
            <a:r>
              <a:rPr lang="en-US"/>
              <a:t>https://</a:t>
            </a:r>
            <a:r>
              <a:rPr lang="en-US" err="1"/>
              <a:t>curc.readthedocs.io</a:t>
            </a:r>
            <a:r>
              <a:rPr lang="en-US"/>
              <a:t>/</a:t>
            </a:r>
            <a:r>
              <a:rPr lang="en-US" err="1"/>
              <a:t>en</a:t>
            </a:r>
            <a:r>
              <a:rPr lang="en-US"/>
              <a:t>/latest/clusters/alpine/alpine-</a:t>
            </a:r>
            <a:r>
              <a:rPr lang="en-US" err="1"/>
              <a:t>hardware.html</a:t>
            </a:r>
            <a:r>
              <a:rPr lang="en-US"/>
              <a:t> </a:t>
            </a:r>
            <a:endParaRPr/>
          </a:p>
        </p:txBody>
      </p:sp>
      <p:sp>
        <p:nvSpPr>
          <p:cNvPr id="333" name="Google Shape;333;g12316551eda_0_238:notes">
            <a:extLst>
              <a:ext uri="{FF2B5EF4-FFF2-40B4-BE49-F238E27FC236}">
                <a16:creationId xmlns:a16="http://schemas.microsoft.com/office/drawing/2014/main" id="{186D727F-2132-DA15-78AF-130F8F1B1EE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19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67580377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0">
          <a:extLst>
            <a:ext uri="{FF2B5EF4-FFF2-40B4-BE49-F238E27FC236}">
              <a16:creationId xmlns:a16="http://schemas.microsoft.com/office/drawing/2014/main" id="{2C0D8D7D-F11A-6ED5-0EA5-19E98E5BB2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g12316551eda_0_238:notes">
            <a:extLst>
              <a:ext uri="{FF2B5EF4-FFF2-40B4-BE49-F238E27FC236}">
                <a16:creationId xmlns:a16="http://schemas.microsoft.com/office/drawing/2014/main" id="{50EA0C7D-3FEF-4C96-8B9F-1773780BE67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332" name="Google Shape;332;g12316551eda_0_238:notes">
            <a:extLst>
              <a:ext uri="{FF2B5EF4-FFF2-40B4-BE49-F238E27FC236}">
                <a16:creationId xmlns:a16="http://schemas.microsoft.com/office/drawing/2014/main" id="{B7914616-93C1-BF2D-A39D-0222189A572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err="1"/>
              <a:t>amem</a:t>
            </a:r>
            <a:r>
              <a:rPr lang="en-US"/>
              <a:t>: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22 Nodes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48 CPU Cores per node (12)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64 CPU Cores per node (10)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21.5 GB of RAM per CPU (1 TB total)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Detailed Information on Alpine Hardware: </a:t>
            </a:r>
            <a:br>
              <a:rPr lang="en-US"/>
            </a:br>
            <a:r>
              <a:rPr lang="en-US"/>
              <a:t>https://</a:t>
            </a:r>
            <a:r>
              <a:rPr lang="en-US" err="1"/>
              <a:t>curc.readthedocs.io</a:t>
            </a:r>
            <a:r>
              <a:rPr lang="en-US"/>
              <a:t>/</a:t>
            </a:r>
            <a:r>
              <a:rPr lang="en-US" err="1"/>
              <a:t>en</a:t>
            </a:r>
            <a:r>
              <a:rPr lang="en-US"/>
              <a:t>/latest/clusters/alpine/alpine-</a:t>
            </a:r>
            <a:r>
              <a:rPr lang="en-US" err="1"/>
              <a:t>hardware.html</a:t>
            </a:r>
            <a:r>
              <a:rPr lang="en-US"/>
              <a:t> </a:t>
            </a:r>
          </a:p>
        </p:txBody>
      </p:sp>
      <p:sp>
        <p:nvSpPr>
          <p:cNvPr id="333" name="Google Shape;333;g12316551eda_0_238:notes">
            <a:extLst>
              <a:ext uri="{FF2B5EF4-FFF2-40B4-BE49-F238E27FC236}">
                <a16:creationId xmlns:a16="http://schemas.microsoft.com/office/drawing/2014/main" id="{29DCA4C4-C232-5907-9F06-1B58CD873E1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20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02349002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0">
          <a:extLst>
            <a:ext uri="{FF2B5EF4-FFF2-40B4-BE49-F238E27FC236}">
              <a16:creationId xmlns:a16="http://schemas.microsoft.com/office/drawing/2014/main" id="{F8D2C90A-5B73-4508-615E-264362A909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g12316551eda_0_238:notes">
            <a:extLst>
              <a:ext uri="{FF2B5EF4-FFF2-40B4-BE49-F238E27FC236}">
                <a16:creationId xmlns:a16="http://schemas.microsoft.com/office/drawing/2014/main" id="{B16E7737-79B1-8E6E-5A38-C6999827C50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332" name="Google Shape;332;g12316551eda_0_238:notes">
            <a:extLst>
              <a:ext uri="{FF2B5EF4-FFF2-40B4-BE49-F238E27FC236}">
                <a16:creationId xmlns:a16="http://schemas.microsoft.com/office/drawing/2014/main" id="{F931679B-1D1E-8F7D-0C6C-336DB0BAB53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aa100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12 Nodes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64 CPU Cores per Node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3.75 GB of RAM per CPU (240 GB total)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3 GPU’s per Node (Nvidia A100)</a:t>
            </a:r>
          </a:p>
        </p:txBody>
      </p:sp>
      <p:sp>
        <p:nvSpPr>
          <p:cNvPr id="333" name="Google Shape;333;g12316551eda_0_238:notes">
            <a:extLst>
              <a:ext uri="{FF2B5EF4-FFF2-40B4-BE49-F238E27FC236}">
                <a16:creationId xmlns:a16="http://schemas.microsoft.com/office/drawing/2014/main" id="{1382B4DD-9E5B-2333-B86F-57C4B97154D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21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92105811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0">
          <a:extLst>
            <a:ext uri="{FF2B5EF4-FFF2-40B4-BE49-F238E27FC236}">
              <a16:creationId xmlns:a16="http://schemas.microsoft.com/office/drawing/2014/main" id="{A4AEB09C-00E5-8F93-C01E-34DCA8FC78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g12316551eda_0_238:notes">
            <a:extLst>
              <a:ext uri="{FF2B5EF4-FFF2-40B4-BE49-F238E27FC236}">
                <a16:creationId xmlns:a16="http://schemas.microsoft.com/office/drawing/2014/main" id="{B468BC0F-AD51-A90A-E685-BFC983EF0D2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332" name="Google Shape;332;g12316551eda_0_238:notes">
            <a:extLst>
              <a:ext uri="{FF2B5EF4-FFF2-40B4-BE49-F238E27FC236}">
                <a16:creationId xmlns:a16="http://schemas.microsoft.com/office/drawing/2014/main" id="{9CD8BF36-4E58-DC63-9B9E-3C3A3BA1C8C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ami100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8 Nodes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64 CPU Cores per Node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3.75 GB of RAM per CPU (240 GB total)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3 GPU’s per Node (AMD MI100)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en-US" dirty="0"/>
              <a:t>Detailed Information on Alpine Hardware: </a:t>
            </a:r>
            <a:br>
              <a:rPr lang="en-US" dirty="0"/>
            </a:br>
            <a:r>
              <a:rPr lang="en-US" dirty="0"/>
              <a:t>https://</a:t>
            </a:r>
            <a:r>
              <a:rPr lang="en-US" dirty="0" err="1"/>
              <a:t>curc.readthedocs.io</a:t>
            </a:r>
            <a:r>
              <a:rPr lang="en-US" dirty="0"/>
              <a:t>/</a:t>
            </a:r>
            <a:r>
              <a:rPr lang="en-US" dirty="0" err="1"/>
              <a:t>en</a:t>
            </a:r>
            <a:r>
              <a:rPr lang="en-US" dirty="0"/>
              <a:t>/latest/clusters/alpine/alpine-</a:t>
            </a:r>
            <a:r>
              <a:rPr lang="en-US" dirty="0" err="1"/>
              <a:t>hardware.html</a:t>
            </a:r>
            <a:r>
              <a:rPr lang="en-US" dirty="0"/>
              <a:t>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33" name="Google Shape;333;g12316551eda_0_238:notes">
            <a:extLst>
              <a:ext uri="{FF2B5EF4-FFF2-40B4-BE49-F238E27FC236}">
                <a16:creationId xmlns:a16="http://schemas.microsoft.com/office/drawing/2014/main" id="{2FE227A3-0A7E-F0BB-133C-485346F2602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22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50137828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C1E7D0-0725-6665-14DF-9F7A4523EB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69A6DA9-F009-EEE8-8B1A-8E90DAF76E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2B0F619-60A5-1FB2-D41A-47126FD187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Note: long </a:t>
            </a:r>
            <a:r>
              <a:rPr lang="en-US" dirty="0" err="1"/>
              <a:t>qos</a:t>
            </a:r>
            <a:r>
              <a:rPr lang="en-US" dirty="0"/>
              <a:t> has longer queue </a:t>
            </a:r>
            <a:r>
              <a:rPr lang="en-US"/>
              <a:t>wait times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FA2D7E-DA2B-ACA6-AA95-DE7BC011E5C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6901F-C6C3-9E47-9843-744856EDDD7A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084306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86FBDD-18EF-3EDE-7CA2-4E60F4533B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E75BAB-96D6-30D0-B2AF-AAF74B1A9D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436AB2A-C9F5-E41C-C786-266D4AC3E8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Note: long </a:t>
            </a:r>
            <a:r>
              <a:rPr lang="en-US" dirty="0" err="1"/>
              <a:t>qos</a:t>
            </a:r>
            <a:r>
              <a:rPr lang="en-US" dirty="0"/>
              <a:t> has longer queue </a:t>
            </a:r>
            <a:r>
              <a:rPr lang="en-US"/>
              <a:t>wait times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172852-BB9D-24B5-015C-014BB57B6F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6901F-C6C3-9E47-9843-744856EDDD7A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872892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A3A9B1-007B-13AA-060E-AA5FF107D6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44C4436-5598-A78E-DBEB-EFACD36C65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203121B-DED7-2B48-F877-68E205E9C8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Note: long </a:t>
            </a:r>
            <a:r>
              <a:rPr lang="en-US" dirty="0" err="1"/>
              <a:t>qos</a:t>
            </a:r>
            <a:r>
              <a:rPr lang="en-US" dirty="0"/>
              <a:t> has longer queue </a:t>
            </a:r>
            <a:r>
              <a:rPr lang="en-US"/>
              <a:t>wait times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EED0AE-EC8C-3A14-F8F9-ACEA4E4F82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6901F-C6C3-9E47-9843-744856EDDD7A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02874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DA9927-4C90-402D-D4FA-DE392C2F0F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8AB8E0F-1BDF-86CA-BB2E-8BD8CF3270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8A6C142-3031-06D7-4B05-60A3CA8F78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Note: long </a:t>
            </a:r>
            <a:r>
              <a:rPr lang="en-US" dirty="0" err="1"/>
              <a:t>qos</a:t>
            </a:r>
            <a:r>
              <a:rPr lang="en-US" dirty="0"/>
              <a:t> has longer queue </a:t>
            </a:r>
            <a:r>
              <a:rPr lang="en-US"/>
              <a:t>wait times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D17CEF-F18E-56BE-6FAC-7438DF3001F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6901F-C6C3-9E47-9843-744856EDDD7A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153897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4DBD51-25E1-0F1C-054E-F778B831E1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B096864-F886-9DBF-E4EF-491A4BF356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E0C0CBE-D626-6BBF-8401-EC37756772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3. Jobs do not run immediately but instead wait in a SLURM managed queue.  A job’s placement in the queue is dependent on multiple factors. We will discuss a few of the most common factors, but a general rule to follow is that the more resources a job requests the longer it will wait in the queue.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6023E9-13F8-BD48-4E77-8E2FCB1E3E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6901F-C6C3-9E47-9843-744856EDDD7A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761971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BF51B7-29B3-0112-5E32-83A871CFE0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C1962EB-B378-2736-9CAE-339AD94199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376D1BE-9966-E586-1474-A9DFBA683F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Now that you have a general idea of what resources you plan to request, you will need to consider the type of job you are wanting to schedule. A batch job or an interactive job.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382BE5-474D-4859-22C8-B864105EB2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6901F-C6C3-9E47-9843-744856EDDD7A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148660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BBFC44-A34E-28D1-FE49-D832B52E96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497BE60-168F-5349-1DDD-710230AAB8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FFF71DE-BF13-6457-4DAF-DEFF595D84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Now that you have a general idea of what resources you plan to request, you will need to consider the type of job you are wanting to schedule. A batch job or an interactive job.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D83CEA-8AF0-2722-6646-76C90C8C31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6901F-C6C3-9E47-9843-744856EDDD7A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846005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13DF2B-675D-239C-E650-982B125596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0C37A37-8653-7393-1295-E5E418AEEB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665B49-4672-A46E-CE55-24825C0ADD7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623C39-22FC-A8E6-3C5D-583D8A3BE9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6901F-C6C3-9E47-9843-744856EDDD7A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100952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B17E46-49BC-FBAD-7E02-8504716A06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AD6A41-4937-8E88-ABEC-A39E9A59F0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12733E8-1DA8-857B-4671-7714847F20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6C58A9-C264-4351-474A-E99697DBF9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6901F-C6C3-9E47-9843-744856EDDD7A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115496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7F6531-9052-44FE-6875-825A68F606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5EDE30D-05CD-D15D-375E-A830D1B3162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359F8E3-592D-C6C8-6811-56A3318779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Now that you have a general idea of what resources you plan to request, you will need to consider the type of job you are wanting to schedule. A batch job or an interactive job.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F459B2-5D56-15DF-545F-CA7BCAAB7A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6901F-C6C3-9E47-9843-744856EDDD7A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369116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39C57E-C2FA-62A3-CFAD-FA9A3D029D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23225B-783E-ABB6-174D-F820456C95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AECF32-6210-6AF5-6EAC-583EC3A90F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E3EA2F-18CA-AC4E-DD26-703E892032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6901F-C6C3-9E47-9843-744856EDDD7A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403487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2EC96C-9B1E-B70B-1010-EEC80ACB82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B7BB30A-3C4C-7C9D-E79E-D5C1E4E0F74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EF1A3A5-2CF4-0DDD-65D7-E4FE30C0E0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F89BE1-C032-9DB3-F537-A25A39FEDB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6901F-C6C3-9E47-9843-744856EDDD7A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700054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6901F-C6C3-9E47-9843-744856EDDD7A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452328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6901F-C6C3-9E47-9843-744856EDDD7A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673088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6901F-C6C3-9E47-9843-744856EDDD7A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322167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6901F-C6C3-9E47-9843-744856EDDD7A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3852235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FF0D89-6906-7AE4-7E91-B3575E8E63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AE85DE2-BF0B-B41C-543E-B97A115273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DBD6A8D-EDE2-023B-A521-F8A5342AF0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2151F9-BACF-5D57-CA63-DBF49896D5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6901F-C6C3-9E47-9843-744856EDDD7A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844432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349885" marR="0" lvl="1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</a:pPr>
            <a:r>
              <a:rPr lang="en-US" sz="1200" i="0" u="none" strike="noStrike" cap="none" dirty="0">
                <a:solidFill>
                  <a:schemeClr val="dk1"/>
                </a:solidFill>
              </a:rPr>
              <a:t>Output files are important for debugging and verifying a job has completed successfully. Always include a --output directive!</a:t>
            </a:r>
          </a:p>
          <a:p>
            <a:pPr marL="349885" marR="0" lvl="1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</a:pPr>
            <a:r>
              <a:rPr lang="en-US" sz="1200" i="0" u="none" strike="noStrike" cap="none" dirty="0">
                <a:solidFill>
                  <a:schemeClr val="dk1"/>
                </a:solidFill>
              </a:rPr>
              <a:t>The output file is created in directory job was run unless specified in your </a:t>
            </a:r>
            <a:r>
              <a:rPr lang="en-US" sz="1200" i="0" u="none" strike="noStrike" cap="none" dirty="0">
                <a:solidFill>
                  <a:srgbClr val="0070C0"/>
                </a:solidFill>
              </a:rPr>
              <a:t>--output </a:t>
            </a:r>
            <a:r>
              <a:rPr lang="en-US" sz="1200" i="0" u="none" strike="noStrike" cap="none" dirty="0">
                <a:solidFill>
                  <a:schemeClr val="dk1"/>
                </a:solidFill>
              </a:rPr>
              <a:t>directive.</a:t>
            </a:r>
            <a:endParaRPr lang="en-US" sz="900" i="0" u="none" strike="noStrike" cap="none" dirty="0">
              <a:solidFill>
                <a:schemeClr val="tx1"/>
              </a:solidFill>
            </a:endParaRPr>
          </a:p>
          <a:p>
            <a:pPr marL="349885" marR="0" lvl="1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</a:pPr>
            <a:r>
              <a:rPr lang="en-US" sz="1200" i="0" u="none" strike="noStrike" cap="none" dirty="0">
                <a:solidFill>
                  <a:schemeClr val="dk1"/>
                </a:solidFill>
              </a:rPr>
              <a:t>If the </a:t>
            </a:r>
            <a:r>
              <a:rPr lang="en-US" sz="1200" i="0" u="none" strike="noStrike" cap="none" dirty="0">
                <a:solidFill>
                  <a:srgbClr val="000000"/>
                </a:solidFill>
              </a:rPr>
              <a:t>directive </a:t>
            </a:r>
            <a:r>
              <a:rPr lang="en-US" sz="1200" i="0" u="none" strike="noStrike" cap="none" dirty="0">
                <a:solidFill>
                  <a:srgbClr val="0070C0"/>
                </a:solidFill>
              </a:rPr>
              <a:t>--output </a:t>
            </a:r>
            <a:r>
              <a:rPr lang="en-US" sz="1200" i="0" u="none" strike="noStrike" cap="none" dirty="0">
                <a:solidFill>
                  <a:schemeClr val="dk1"/>
                </a:solidFill>
              </a:rPr>
              <a:t>is not provided, then a generic file name will be used (</a:t>
            </a:r>
            <a:r>
              <a:rPr lang="en-US" sz="1200" i="0" u="none" strike="noStrike" cap="none" dirty="0" err="1">
                <a:solidFill>
                  <a:schemeClr val="dk1"/>
                </a:solidFill>
              </a:rPr>
              <a:t>slurm_xxxxxx.out</a:t>
            </a:r>
            <a:r>
              <a:rPr lang="en-US" sz="1200" i="0" u="none" strike="noStrike" cap="none" dirty="0">
                <a:solidFill>
                  <a:schemeClr val="dk1"/>
                </a:solidFill>
              </a:rPr>
              <a:t>).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6901F-C6C3-9E47-9843-744856EDDD7A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7269190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6901F-C6C3-9E47-9843-744856EDDD7A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960900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6901F-C6C3-9E47-9843-744856EDDD7A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7512075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6901F-C6C3-9E47-9843-744856EDDD7A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9441442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6901F-C6C3-9E47-9843-744856EDDD7A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3898473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4" name="Google Shape;894;g12316551eda_0_8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895" name="Google Shape;895;g12316551eda_0_86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6" name="Google Shape;896;g12316551eda_0_86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47</a:t>
            </a:fld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9" name="Google Shape;909;g12316551eda_0_8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910" name="Google Shape;910;g12316551eda_0_87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1" name="Google Shape;911;g12316551eda_0_87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48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A22933-1853-3695-5698-EA2C873D55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8339900-6690-4850-B14D-CFF0A6DDBA4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03EF43-FA77-3703-DB72-C6218B0476B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7244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en-US"/>
              <a:t>9/12/25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62B1B4-AC37-41B2-EB63-E0D769F470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A560F-461C-6043-9BC4-489BA92F71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98381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BE1D7D-D016-C86F-111E-51245E7BA7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70B542-AE2F-4E58-DD66-7DA9CB4445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D321B0-98E4-9776-8ABB-72C7B07ABE9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724400" y="6370515"/>
            <a:ext cx="2743200" cy="365125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en-US"/>
              <a:t>9/12/25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E58BD9-1414-8B11-5258-F11F3BBA13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A560F-461C-6043-9BC4-489BA92F71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5646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0FF543F-785B-81AD-859C-25E1E14F9B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A11285-AC5A-F005-FEA3-CACE5986B4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9AEED0-1DC9-A7B8-1AA0-116CA0EB678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BDA560F-461C-6043-9BC4-489BA92F7161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 descr="Shape&#10;&#10;Description automatically generated with medium confidence">
            <a:extLst>
              <a:ext uri="{FF2B5EF4-FFF2-40B4-BE49-F238E27FC236}">
                <a16:creationId xmlns:a16="http://schemas.microsoft.com/office/drawing/2014/main" id="{16A367C9-3AA6-1192-2565-6CDE4E3F4F0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0" y="6246811"/>
            <a:ext cx="4724400" cy="584200"/>
          </a:xfrm>
          <a:prstGeom prst="rect">
            <a:avLst/>
          </a:prstGeom>
        </p:spPr>
      </p:pic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6CA2128F-B59B-98EB-B50C-F663F9DCCD8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724400" y="635634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algn="ctr"/>
            <a:r>
              <a:rPr lang="en-US"/>
              <a:t>9/12/25</a:t>
            </a:r>
          </a:p>
        </p:txBody>
      </p:sp>
    </p:spTree>
    <p:extLst>
      <p:ext uri="{BB962C8B-B14F-4D97-AF65-F5344CB8AC3E}">
        <p14:creationId xmlns:p14="http://schemas.microsoft.com/office/powerpoint/2010/main" val="25048417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://www.rc.colorado.edu/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hyperlink" Target="https://curc.readthedocs.io/en/latest/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svg"/><Relationship Id="rId4" Type="http://schemas.openxmlformats.org/officeDocument/2006/relationships/image" Target="../media/image7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curc.readthedocs.io/en/latest/access/logging-in.html" TargetMode="External"/><Relationship Id="rId2" Type="http://schemas.openxmlformats.org/officeDocument/2006/relationships/hyperlink" Target="https://ondemand-rmacc.rc.colorado.edu/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curc.readthedocs.io/en/latest/access/logging-in.html" TargetMode="External"/><Relationship Id="rId2" Type="http://schemas.openxmlformats.org/officeDocument/2006/relationships/hyperlink" Target="https://ondemand-rmacc.rc.colorado.edu/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jpeg"/><Relationship Id="rId4" Type="http://schemas.openxmlformats.org/officeDocument/2006/relationships/image" Target="../media/image10.sv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sv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sv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sv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svg"/><Relationship Id="rId4" Type="http://schemas.openxmlformats.org/officeDocument/2006/relationships/image" Target="../media/image7.sv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sv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sv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svg"/><Relationship Id="rId5" Type="http://schemas.openxmlformats.org/officeDocument/2006/relationships/image" Target="../media/image24.svg"/><Relationship Id="rId4" Type="http://schemas.openxmlformats.org/officeDocument/2006/relationships/image" Target="../media/image23.sv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svg"/><Relationship Id="rId4" Type="http://schemas.openxmlformats.org/officeDocument/2006/relationships/image" Target="../media/image7.sv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sv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sv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sv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sv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sv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sv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sv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hyperlink" Target="http://curc.readthedocs.io/" TargetMode="External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curc.readthedocs.io/en/latest/getting_started/trainings_and_consults/index.html#weekly-office-hours" TargetMode="External"/><Relationship Id="rId4" Type="http://schemas.openxmlformats.org/officeDocument/2006/relationships/hyperlink" Target="https://www.colorado.edu/crdds/" TargetMode="Externa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hyperlink" Target="https://s.zoom.us/m/bPlTUoGhy" TargetMode="External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5" name="Google Shape;95;p1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b="32560"/>
          <a:stretch/>
        </p:blipFill>
        <p:spPr>
          <a:xfrm>
            <a:off x="0" y="0"/>
            <a:ext cx="12208413" cy="4500750"/>
          </a:xfrm>
          <a:prstGeom prst="rect">
            <a:avLst/>
          </a:prstGeom>
          <a:noFill/>
          <a:ln>
            <a:noFill/>
          </a:ln>
        </p:spPr>
      </p:pic>
      <p:sp>
        <p:nvSpPr>
          <p:cNvPr id="96" name="Google Shape;96;p14"/>
          <p:cNvSpPr txBox="1">
            <a:spLocks noGrp="1"/>
          </p:cNvSpPr>
          <p:nvPr>
            <p:ph type="ctrTitle"/>
          </p:nvPr>
        </p:nvSpPr>
        <p:spPr>
          <a:xfrm>
            <a:off x="459256" y="4836507"/>
            <a:ext cx="11289900" cy="118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 Black"/>
              <a:buNone/>
            </a:pPr>
            <a:r>
              <a:rPr lang="en-US" sz="4400" dirty="0"/>
              <a:t>Getting Started with Research Computing</a:t>
            </a:r>
            <a:br>
              <a:rPr lang="en-US" sz="4400" dirty="0"/>
            </a:br>
            <a:r>
              <a:rPr lang="en-US" sz="3200" dirty="0"/>
              <a:t>From Command Line to Job Scheduling</a:t>
            </a:r>
            <a:endParaRPr sz="4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0F0082-60A2-8E8C-93CB-F5A869FA28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1325563"/>
            <a:ext cx="10515600" cy="1325563"/>
          </a:xfrm>
        </p:spPr>
        <p:txBody>
          <a:bodyPr spcFirstLastPara="1" wrap="square" lIns="91425" tIns="45700" rIns="91425" bIns="45700" anchor="b" anchorCtr="0">
            <a:normAutofit/>
          </a:bodyPr>
          <a:lstStyle/>
          <a:p>
            <a:r>
              <a:rPr lang="en-US" dirty="0"/>
              <a:t>Useful CURC links</a:t>
            </a:r>
          </a:p>
        </p:txBody>
      </p:sp>
      <p:sp>
        <p:nvSpPr>
          <p:cNvPr id="4" name="Google Shape;98;p14">
            <a:extLst>
              <a:ext uri="{FF2B5EF4-FFF2-40B4-BE49-F238E27FC236}">
                <a16:creationId xmlns:a16="http://schemas.microsoft.com/office/drawing/2014/main" id="{68E75E60-516C-5ACC-9B2C-B6A1774A889E}"/>
              </a:ext>
            </a:extLst>
          </p:cNvPr>
          <p:cNvSpPr txBox="1">
            <a:spLocks/>
          </p:cNvSpPr>
          <p:nvPr/>
        </p:nvSpPr>
        <p:spPr>
          <a:xfrm>
            <a:off x="279955" y="2331720"/>
            <a:ext cx="7010400" cy="219456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8569" tIns="34275" rIns="68569" bIns="34275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25000"/>
              </a:lnSpc>
              <a:spcBef>
                <a:spcPts val="600"/>
              </a:spcBef>
              <a:buSzPts val="2500"/>
              <a:buNone/>
            </a:pPr>
            <a:r>
              <a:rPr lang="en-US" sz="2400" b="1" dirty="0">
                <a:ea typeface="Arial"/>
                <a:cs typeface="Arial"/>
              </a:rPr>
              <a:t>Website: </a:t>
            </a:r>
            <a:r>
              <a:rPr lang="en-US" sz="2400" u="sng" dirty="0">
                <a:solidFill>
                  <a:schemeClr val="hlink"/>
                </a:solidFill>
                <a:ea typeface="Arial"/>
                <a:cs typeface="Arial"/>
                <a:hlinkClick r:id="rId3"/>
              </a:rPr>
              <a:t>www.rc.colorado.edu</a:t>
            </a:r>
            <a:endParaRPr lang="en-US" sz="2400" dirty="0">
              <a:solidFill>
                <a:schemeClr val="hlink"/>
              </a:solidFill>
              <a:ea typeface="Arial"/>
              <a:cs typeface="Arial"/>
            </a:endParaRPr>
          </a:p>
          <a:p>
            <a:pPr marL="0" indent="0">
              <a:lnSpc>
                <a:spcPct val="125000"/>
              </a:lnSpc>
              <a:spcBef>
                <a:spcPts val="600"/>
              </a:spcBef>
              <a:buSzPts val="2500"/>
              <a:buNone/>
            </a:pPr>
            <a:r>
              <a:rPr lang="en-US" sz="2400" b="1" dirty="0">
                <a:ea typeface="Arial"/>
                <a:cs typeface="Arial"/>
              </a:rPr>
              <a:t>Documentation:</a:t>
            </a:r>
            <a:r>
              <a:rPr lang="en-US" sz="2400" dirty="0">
                <a:ea typeface="Arial"/>
                <a:cs typeface="Arial"/>
              </a:rPr>
              <a:t> </a:t>
            </a:r>
            <a:r>
              <a:rPr lang="en-US" sz="2400" dirty="0">
                <a:ea typeface="Arial"/>
                <a:cs typeface="Arial"/>
                <a:hlinkClick r:id="rId4"/>
              </a:rPr>
              <a:t>curc.readthedocs.io</a:t>
            </a:r>
            <a:r>
              <a:rPr lang="en-US" sz="2400" dirty="0">
                <a:ea typeface="Arial"/>
                <a:cs typeface="Arial"/>
              </a:rPr>
              <a:t> </a:t>
            </a:r>
          </a:p>
          <a:p>
            <a:pPr marL="0" indent="0">
              <a:lnSpc>
                <a:spcPct val="125000"/>
              </a:lnSpc>
              <a:spcBef>
                <a:spcPts val="600"/>
              </a:spcBef>
              <a:buSzPts val="2500"/>
              <a:buNone/>
            </a:pPr>
            <a:r>
              <a:rPr lang="en-US" sz="2400" b="1" dirty="0">
                <a:ea typeface="Arial"/>
                <a:cs typeface="Arial"/>
              </a:rPr>
              <a:t>Support request form:</a:t>
            </a:r>
            <a:r>
              <a:rPr lang="en-US" sz="2400" dirty="0">
                <a:ea typeface="Arial"/>
                <a:cs typeface="Arial"/>
              </a:rPr>
              <a:t> </a:t>
            </a:r>
            <a:r>
              <a:rPr lang="en-US" sz="2400" dirty="0">
                <a:solidFill>
                  <a:srgbClr val="0563C1"/>
                </a:solidFill>
                <a:ea typeface="Arial"/>
                <a:cs typeface="Arial"/>
              </a:rPr>
              <a:t>colorado.service-now.com/req_portal?id=ucb_sc_rc_form</a:t>
            </a:r>
            <a:r>
              <a:rPr lang="en-US" sz="2400" dirty="0">
                <a:solidFill>
                  <a:srgbClr val="0000FF"/>
                </a:solidFill>
                <a:ea typeface="Arial"/>
                <a:cs typeface="Arial"/>
              </a:rPr>
              <a:t> </a:t>
            </a:r>
            <a:endParaRPr lang="en-US" sz="2400" u="sng" dirty="0">
              <a:solidFill>
                <a:srgbClr val="0000FF"/>
              </a:solidFill>
              <a:ea typeface="Arial"/>
              <a:cs typeface="Arial"/>
            </a:endParaRP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7CE29C41-6B27-6F60-8168-62581B12D518}"/>
              </a:ext>
            </a:extLst>
          </p:cNvPr>
          <p:cNvSpPr txBox="1">
            <a:spLocks/>
          </p:cNvSpPr>
          <p:nvPr/>
        </p:nvSpPr>
        <p:spPr>
          <a:xfrm>
            <a:off x="5841558" y="6367559"/>
            <a:ext cx="50888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6A7983A4-F384-C340-9CB2-175593F0E4F5}" type="slidenum">
              <a:rPr lang="en-US"/>
              <a:pPr algn="l"/>
              <a:t>2</a:t>
            </a:fld>
            <a:endParaRPr lang="en-US" dirty="0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6EEE983C-BF7D-9FDC-C0C2-904D80A680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7565968" y="2331720"/>
            <a:ext cx="3931920" cy="2194560"/>
            <a:chOff x="2734356" y="510892"/>
            <a:chExt cx="3931920" cy="2194560"/>
          </a:xfrm>
        </p:grpSpPr>
        <p:pic>
          <p:nvPicPr>
            <p:cNvPr id="9" name="Picture 8" descr="A black and gold logo&#10;&#10;Description automatically generated">
              <a:extLst>
                <a:ext uri="{FF2B5EF4-FFF2-40B4-BE49-F238E27FC236}">
                  <a16:creationId xmlns:a16="http://schemas.microsoft.com/office/drawing/2014/main" id="{7FB1F572-2B82-EC63-473F-35770E4BD8B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914649" y="693772"/>
              <a:ext cx="3571335" cy="1828800"/>
            </a:xfrm>
            <a:prstGeom prst="rect">
              <a:avLst/>
            </a:prstGeom>
          </p:spPr>
        </p:pic>
        <p:sp>
          <p:nvSpPr>
            <p:cNvPr id="10" name="Rounded Rectangle 9">
              <a:extLst>
                <a:ext uri="{FF2B5EF4-FFF2-40B4-BE49-F238E27FC236}">
                  <a16:creationId xmlns:a16="http://schemas.microsoft.com/office/drawing/2014/main" id="{4D607CAF-4F62-005D-FDF3-5BB59B1A5EF9}"/>
                </a:ext>
              </a:extLst>
            </p:cNvPr>
            <p:cNvSpPr/>
            <p:nvPr/>
          </p:nvSpPr>
          <p:spPr>
            <a:xfrm>
              <a:off x="2734356" y="510892"/>
              <a:ext cx="3931920" cy="2194560"/>
            </a:xfrm>
            <a:prstGeom prst="roundRect">
              <a:avLst>
                <a:gd name="adj" fmla="val 8994"/>
              </a:avLst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83A574-E021-E66F-50EE-C0BCBF2D261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-2387600"/>
            <a:ext cx="9144000" cy="2387600"/>
          </a:xfrm>
        </p:spPr>
        <p:txBody>
          <a:bodyPr spcFirstLastPara="1" wrap="square" lIns="91425" tIns="45700" rIns="91425" bIns="45700" anchor="b" anchorCtr="0">
            <a:normAutofit/>
          </a:bodyPr>
          <a:lstStyle/>
          <a:p>
            <a:r>
              <a:rPr lang="en-US" dirty="0"/>
              <a:t>The user support team</a:t>
            </a:r>
          </a:p>
        </p:txBody>
      </p:sp>
      <p:pic>
        <p:nvPicPr>
          <p:cNvPr id="8" name="Picture 7" descr="Picture showing the RC User Support team">
            <a:extLst>
              <a:ext uri="{FF2B5EF4-FFF2-40B4-BE49-F238E27FC236}">
                <a16:creationId xmlns:a16="http://schemas.microsoft.com/office/drawing/2014/main" id="{13513FD8-9948-2F45-CF62-A1A2AFBA5E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304" y="43608"/>
            <a:ext cx="10689866" cy="6013050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49AEEA2-192E-AA62-50EE-AA62ABA07F8A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6096000" y="6324601"/>
            <a:ext cx="682920" cy="365125"/>
          </a:xfrm>
        </p:spPr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235618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6828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  <p:sp>
        <p:nvSpPr>
          <p:cNvPr id="136" name="Google Shape;136;p19"/>
          <p:cNvSpPr txBox="1"/>
          <p:nvPr/>
        </p:nvSpPr>
        <p:spPr>
          <a:xfrm>
            <a:off x="4277455" y="4488215"/>
            <a:ext cx="3359418" cy="6770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dirty="0">
                <a:latin typeface="Helvetica Neue"/>
                <a:ea typeface="Helvetica Neue"/>
                <a:cs typeface="Helvetica Neue"/>
                <a:sym typeface="Helvetica Neue"/>
              </a:rPr>
              <a:t>Ask Questions</a:t>
            </a:r>
            <a:endParaRPr sz="3200" b="1" dirty="0"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pic>
        <p:nvPicPr>
          <p:cNvPr id="5" name="Graphic 4" descr="An icon of two people discussing a question, with a speech bubble containing a question mark above them">
            <a:extLst>
              <a:ext uri="{FF2B5EF4-FFF2-40B4-BE49-F238E27FC236}">
                <a16:creationId xmlns:a16="http://schemas.microsoft.com/office/drawing/2014/main" id="{81316737-E39C-896D-10BE-E6C435DF931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899764" y="711954"/>
            <a:ext cx="411480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EDBB18D-FB7D-F2BF-A154-79E6A3457C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A560F-461C-6043-9BC4-489BA92F7161}" type="slidenum">
              <a:rPr lang="en-US" smtClean="0"/>
              <a:t>5</a:t>
            </a:fld>
            <a:endParaRPr lang="en-US"/>
          </a:p>
        </p:txBody>
      </p:sp>
      <p:sp>
        <p:nvSpPr>
          <p:cNvPr id="21" name="Google Shape;225;p30">
            <a:extLst>
              <a:ext uri="{FF2B5EF4-FFF2-40B4-BE49-F238E27FC236}">
                <a16:creationId xmlns:a16="http://schemas.microsoft.com/office/drawing/2014/main" id="{8E6FEFA0-D4B8-CC71-FDDD-F918B7C3F75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220386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Helvetica Neue Light"/>
              <a:buNone/>
            </a:pPr>
            <a:r>
              <a:rPr lang="en-US" dirty="0">
                <a:sym typeface="Helvetica Neue Light"/>
              </a:rPr>
              <a:t>General Overview of Job Submission</a:t>
            </a:r>
            <a:endParaRPr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D6F113AD-1E98-5E7F-5452-270D5896A74B}"/>
              </a:ext>
            </a:extLst>
          </p:cNvPr>
          <p:cNvGrpSpPr/>
          <p:nvPr/>
        </p:nvGrpSpPr>
        <p:grpSpPr>
          <a:xfrm>
            <a:off x="1069178" y="1759077"/>
            <a:ext cx="3636619" cy="3339847"/>
            <a:chOff x="1069178" y="1759077"/>
            <a:chExt cx="3636619" cy="3339847"/>
          </a:xfrm>
        </p:grpSpPr>
        <p:pic>
          <p:nvPicPr>
            <p:cNvPr id="6" name="Google Shape;210;p30">
              <a:extLst>
                <a:ext uri="{FF2B5EF4-FFF2-40B4-BE49-F238E27FC236}">
                  <a16:creationId xmlns:a16="http://schemas.microsoft.com/office/drawing/2014/main" id="{6445D8FA-61FC-C99C-FBF0-FE41F2867EA6}"/>
                </a:ext>
              </a:extLst>
            </p:cNvPr>
            <p:cNvPicPr preferRelativeResize="0">
              <a:picLocks noChangeAspect="1"/>
            </p:cNvPicPr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1069178" y="2240351"/>
              <a:ext cx="2377292" cy="2377297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8" name="Right Arrow Callout 27">
              <a:extLst>
                <a:ext uri="{FF2B5EF4-FFF2-40B4-BE49-F238E27FC236}">
                  <a16:creationId xmlns:a16="http://schemas.microsoft.com/office/drawing/2014/main" id="{D1F6003B-6623-8814-EF42-BD56D32E21D1}"/>
                </a:ext>
              </a:extLst>
            </p:cNvPr>
            <p:cNvSpPr/>
            <p:nvPr/>
          </p:nvSpPr>
          <p:spPr>
            <a:xfrm>
              <a:off x="1094954" y="1759077"/>
              <a:ext cx="3610843" cy="3339847"/>
            </a:xfrm>
            <a:prstGeom prst="rightArrowCallou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DD54623E-55FE-5016-88E7-859D6212172B}"/>
                </a:ext>
              </a:extLst>
            </p:cNvPr>
            <p:cNvGrpSpPr/>
            <p:nvPr/>
          </p:nvGrpSpPr>
          <p:grpSpPr>
            <a:xfrm>
              <a:off x="1082066" y="1873651"/>
              <a:ext cx="2351516" cy="707886"/>
              <a:chOff x="540307" y="1873650"/>
              <a:chExt cx="2351516" cy="707886"/>
            </a:xfrm>
          </p:grpSpPr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9AF5CB76-729A-3C38-279C-2C7E61E3A9B0}"/>
                  </a:ext>
                </a:extLst>
              </p:cNvPr>
              <p:cNvSpPr txBox="1"/>
              <p:nvPr/>
            </p:nvSpPr>
            <p:spPr>
              <a:xfrm>
                <a:off x="540307" y="1873650"/>
                <a:ext cx="2351516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4000" b="1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1</a:t>
                </a:r>
              </a:p>
            </p:txBody>
          </p:sp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AA96D8E1-31CF-5327-5B67-2EDC22CED229}"/>
                  </a:ext>
                </a:extLst>
              </p:cNvPr>
              <p:cNvSpPr/>
              <p:nvPr/>
            </p:nvSpPr>
            <p:spPr>
              <a:xfrm>
                <a:off x="1396025" y="1901951"/>
                <a:ext cx="640080" cy="640080"/>
              </a:xfrm>
              <a:prstGeom prst="ellips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9D6AC7A0-B089-F320-3991-E46034178576}"/>
                </a:ext>
              </a:extLst>
            </p:cNvPr>
            <p:cNvSpPr txBox="1"/>
            <p:nvPr/>
          </p:nvSpPr>
          <p:spPr>
            <a:xfrm>
              <a:off x="1094954" y="4432982"/>
              <a:ext cx="233862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/>
                <a:t>Login Node</a:t>
              </a: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D6A08A5C-F308-5451-92D0-FC4C0A7EE7C4}"/>
              </a:ext>
            </a:extLst>
          </p:cNvPr>
          <p:cNvGrpSpPr/>
          <p:nvPr/>
        </p:nvGrpSpPr>
        <p:grpSpPr>
          <a:xfrm>
            <a:off x="4913198" y="1759077"/>
            <a:ext cx="3631266" cy="3339847"/>
            <a:chOff x="4913198" y="1759077"/>
            <a:chExt cx="3631266" cy="3339847"/>
          </a:xfrm>
        </p:grpSpPr>
        <p:sp>
          <p:nvSpPr>
            <p:cNvPr id="34" name="Right Arrow Callout 33">
              <a:extLst>
                <a:ext uri="{FF2B5EF4-FFF2-40B4-BE49-F238E27FC236}">
                  <a16:creationId xmlns:a16="http://schemas.microsoft.com/office/drawing/2014/main" id="{3E5C80A0-E947-38AD-F1D4-923A324CA447}"/>
                </a:ext>
              </a:extLst>
            </p:cNvPr>
            <p:cNvSpPr/>
            <p:nvPr/>
          </p:nvSpPr>
          <p:spPr>
            <a:xfrm>
              <a:off x="4933621" y="1759077"/>
              <a:ext cx="3610843" cy="3339847"/>
            </a:xfrm>
            <a:prstGeom prst="rightArrowCallou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72775936-EA5C-533D-7DFE-4A84895E5977}"/>
                </a:ext>
              </a:extLst>
            </p:cNvPr>
            <p:cNvGrpSpPr/>
            <p:nvPr/>
          </p:nvGrpSpPr>
          <p:grpSpPr>
            <a:xfrm>
              <a:off x="4920733" y="1873651"/>
              <a:ext cx="2351516" cy="707886"/>
              <a:chOff x="540307" y="1873650"/>
              <a:chExt cx="2351516" cy="707886"/>
            </a:xfrm>
          </p:grpSpPr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E641A5BB-77EA-273B-8E7A-8664CF1EA0C5}"/>
                  </a:ext>
                </a:extLst>
              </p:cNvPr>
              <p:cNvSpPr txBox="1"/>
              <p:nvPr/>
            </p:nvSpPr>
            <p:spPr>
              <a:xfrm>
                <a:off x="540307" y="1873650"/>
                <a:ext cx="2351516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4000" b="1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2</a:t>
                </a:r>
              </a:p>
            </p:txBody>
          </p:sp>
          <p:sp>
            <p:nvSpPr>
              <p:cNvPr id="37" name="Oval 36">
                <a:extLst>
                  <a:ext uri="{FF2B5EF4-FFF2-40B4-BE49-F238E27FC236}">
                    <a16:creationId xmlns:a16="http://schemas.microsoft.com/office/drawing/2014/main" id="{7A54F45C-49A2-0592-EF97-EEB15755B068}"/>
                  </a:ext>
                </a:extLst>
              </p:cNvPr>
              <p:cNvSpPr/>
              <p:nvPr/>
            </p:nvSpPr>
            <p:spPr>
              <a:xfrm>
                <a:off x="1396025" y="1901951"/>
                <a:ext cx="640080" cy="640080"/>
              </a:xfrm>
              <a:prstGeom prst="ellips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856C0665-D303-870A-8948-8814BB5FE8E1}"/>
                </a:ext>
              </a:extLst>
            </p:cNvPr>
            <p:cNvSpPr txBox="1"/>
            <p:nvPr/>
          </p:nvSpPr>
          <p:spPr>
            <a:xfrm>
              <a:off x="4913198" y="4436192"/>
              <a:ext cx="233862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/>
                <a:t>Resources</a:t>
              </a:r>
            </a:p>
          </p:txBody>
        </p:sp>
        <p:grpSp>
          <p:nvGrpSpPr>
            <p:cNvPr id="47" name="Group 46">
              <a:extLst>
                <a:ext uri="{FF2B5EF4-FFF2-40B4-BE49-F238E27FC236}">
                  <a16:creationId xmlns:a16="http://schemas.microsoft.com/office/drawing/2014/main" id="{214DDDDD-3CB5-2CD6-2422-43D3B8458EA0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5273040" y="2755023"/>
              <a:ext cx="1645920" cy="1546836"/>
              <a:chOff x="8412658" y="2617108"/>
              <a:chExt cx="1929294" cy="1813150"/>
            </a:xfrm>
          </p:grpSpPr>
          <p:grpSp>
            <p:nvGrpSpPr>
              <p:cNvPr id="22" name="Group 21">
                <a:extLst>
                  <a:ext uri="{FF2B5EF4-FFF2-40B4-BE49-F238E27FC236}">
                    <a16:creationId xmlns:a16="http://schemas.microsoft.com/office/drawing/2014/main" id="{7FC66A7A-0575-898D-E9E1-B3F27F73801D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8412658" y="2617108"/>
                <a:ext cx="1078992" cy="1082299"/>
                <a:chOff x="4726983" y="2457616"/>
                <a:chExt cx="2062421" cy="1993113"/>
              </a:xfrm>
            </p:grpSpPr>
            <p:sp>
              <p:nvSpPr>
                <p:cNvPr id="23" name="Rounded Rectangle 22" descr="An icon representing a computer chip">
                  <a:extLst>
                    <a:ext uri="{FF2B5EF4-FFF2-40B4-BE49-F238E27FC236}">
                      <a16:creationId xmlns:a16="http://schemas.microsoft.com/office/drawing/2014/main" id="{8D2450D7-B329-63DB-EDD1-E07E82D72D90}"/>
                    </a:ext>
                  </a:extLst>
                </p:cNvPr>
                <p:cNvSpPr/>
                <p:nvPr/>
              </p:nvSpPr>
              <p:spPr>
                <a:xfrm>
                  <a:off x="4726983" y="2457616"/>
                  <a:ext cx="2062421" cy="1993113"/>
                </a:xfrm>
                <a:prstGeom prst="roundRect">
                  <a:avLst/>
                </a:prstGeom>
                <a:solidFill>
                  <a:schemeClr val="bg1"/>
                </a:solidFill>
                <a:ln w="571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pic>
              <p:nvPicPr>
                <p:cNvPr id="24" name="Graphic 23">
                  <a:extLst>
                    <a:ext uri="{FF2B5EF4-FFF2-40B4-BE49-F238E27FC236}">
                      <a16:creationId xmlns:a16="http://schemas.microsoft.com/office/drawing/2014/main" id="{FE8221AE-93C6-A7FB-48DE-4AB479C0309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4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975767" y="2671746"/>
                  <a:ext cx="1564852" cy="1564852"/>
                </a:xfrm>
                <a:prstGeom prst="rect">
                  <a:avLst/>
                </a:prstGeom>
              </p:spPr>
            </p:pic>
          </p:grpSp>
          <p:grpSp>
            <p:nvGrpSpPr>
              <p:cNvPr id="46" name="Group 45">
                <a:extLst>
                  <a:ext uri="{FF2B5EF4-FFF2-40B4-BE49-F238E27FC236}">
                    <a16:creationId xmlns:a16="http://schemas.microsoft.com/office/drawing/2014/main" id="{597D9C63-4800-BBEA-DC3F-F8FD0C412D20}"/>
                  </a:ext>
                </a:extLst>
              </p:cNvPr>
              <p:cNvGrpSpPr/>
              <p:nvPr/>
            </p:nvGrpSpPr>
            <p:grpSpPr>
              <a:xfrm>
                <a:off x="9262960" y="3347959"/>
                <a:ext cx="1078992" cy="1082299"/>
                <a:chOff x="9174826" y="3192427"/>
                <a:chExt cx="1078992" cy="1082299"/>
              </a:xfrm>
            </p:grpSpPr>
            <p:sp>
              <p:nvSpPr>
                <p:cNvPr id="42" name="Rounded Rectangle 41" descr="An icon of a stopwatch">
                  <a:extLst>
                    <a:ext uri="{FF2B5EF4-FFF2-40B4-BE49-F238E27FC236}">
                      <a16:creationId xmlns:a16="http://schemas.microsoft.com/office/drawing/2014/main" id="{F0D502A3-CB15-6B69-EDED-92F7C83A89B1}"/>
                    </a:ext>
                  </a:extLst>
                </p:cNvPr>
                <p:cNvSpPr/>
                <p:nvPr/>
              </p:nvSpPr>
              <p:spPr>
                <a:xfrm>
                  <a:off x="9174826" y="3192427"/>
                  <a:ext cx="1078992" cy="1082299"/>
                </a:xfrm>
                <a:prstGeom prst="roundRect">
                  <a:avLst/>
                </a:prstGeom>
                <a:solidFill>
                  <a:schemeClr val="bg1"/>
                </a:solidFill>
                <a:ln w="571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pic>
              <p:nvPicPr>
                <p:cNvPr id="45" name="Graphic 44" descr="Stopwatch with solid fill">
                  <a:extLst>
                    <a:ext uri="{FF2B5EF4-FFF2-40B4-BE49-F238E27FC236}">
                      <a16:creationId xmlns:a16="http://schemas.microsoft.com/office/drawing/2014/main" id="{BC741E21-006A-309E-B444-555F73882B6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302842" y="3322096"/>
                  <a:ext cx="822960" cy="822960"/>
                </a:xfrm>
                <a:prstGeom prst="rect">
                  <a:avLst/>
                </a:prstGeom>
              </p:spPr>
            </p:pic>
          </p:grpSp>
        </p:grp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F098B293-4659-5662-076E-F58D6E65E23A}"/>
              </a:ext>
            </a:extLst>
          </p:cNvPr>
          <p:cNvGrpSpPr/>
          <p:nvPr/>
        </p:nvGrpSpPr>
        <p:grpSpPr>
          <a:xfrm>
            <a:off x="8747203" y="1764792"/>
            <a:ext cx="2358559" cy="3334132"/>
            <a:chOff x="8747203" y="1764792"/>
            <a:chExt cx="2358559" cy="3334132"/>
          </a:xfrm>
        </p:grpSpPr>
        <p:pic>
          <p:nvPicPr>
            <p:cNvPr id="2" name="Picture 2" descr="The logo of the Slurm workload manager">
              <a:extLst>
                <a:ext uri="{FF2B5EF4-FFF2-40B4-BE49-F238E27FC236}">
                  <a16:creationId xmlns:a16="http://schemas.microsoft.com/office/drawing/2014/main" id="{6CB1CD0B-FBFC-C08B-ACC5-7272C42BC24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12089"/>
            <a:stretch/>
          </p:blipFill>
          <p:spPr bwMode="auto">
            <a:xfrm>
              <a:off x="9087422" y="2803512"/>
              <a:ext cx="1698054" cy="136656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FEE613B8-83CC-2DE3-004F-C699F420D014}"/>
                </a:ext>
              </a:extLst>
            </p:cNvPr>
            <p:cNvSpPr txBox="1"/>
            <p:nvPr/>
          </p:nvSpPr>
          <p:spPr>
            <a:xfrm>
              <a:off x="8758419" y="4432982"/>
              <a:ext cx="233862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/>
                <a:t>Job Request</a:t>
              </a:r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17AA69B1-C5FC-5B47-22B1-1893FB15BCBD}"/>
                </a:ext>
              </a:extLst>
            </p:cNvPr>
            <p:cNvSpPr/>
            <p:nvPr/>
          </p:nvSpPr>
          <p:spPr>
            <a:xfrm>
              <a:off x="8767136" y="1764792"/>
              <a:ext cx="2338626" cy="3334132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3C7D732F-E0EA-02A1-C116-7C8AD7AE53A4}"/>
                </a:ext>
              </a:extLst>
            </p:cNvPr>
            <p:cNvGrpSpPr/>
            <p:nvPr/>
          </p:nvGrpSpPr>
          <p:grpSpPr>
            <a:xfrm>
              <a:off x="8747203" y="1891582"/>
              <a:ext cx="2351516" cy="707886"/>
              <a:chOff x="540307" y="1873650"/>
              <a:chExt cx="2351516" cy="707886"/>
            </a:xfrm>
          </p:grpSpPr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D1B292E2-B647-B3FC-DFA6-2C2C40737E41}"/>
                  </a:ext>
                </a:extLst>
              </p:cNvPr>
              <p:cNvSpPr txBox="1"/>
              <p:nvPr/>
            </p:nvSpPr>
            <p:spPr>
              <a:xfrm>
                <a:off x="540307" y="1873650"/>
                <a:ext cx="2351516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4000" b="1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3</a:t>
                </a:r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F3A141B5-4BED-68AB-8415-8477992B4656}"/>
                  </a:ext>
                </a:extLst>
              </p:cNvPr>
              <p:cNvSpPr/>
              <p:nvPr/>
            </p:nvSpPr>
            <p:spPr>
              <a:xfrm>
                <a:off x="1396025" y="1901951"/>
                <a:ext cx="640080" cy="640080"/>
              </a:xfrm>
              <a:prstGeom prst="ellips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4427355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8421DF-6CFF-1A13-6F53-64FE730E62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87DF08-3D51-1550-1D86-968CF68DDB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Login Nodes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F62C59-5E5A-C34C-523B-0073B45815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377928" y="563753"/>
            <a:ext cx="10515600" cy="4351338"/>
          </a:xfrm>
        </p:spPr>
        <p:txBody>
          <a:bodyPr>
            <a:normAutofit/>
          </a:bodyPr>
          <a:lstStyle/>
          <a:p>
            <a:pPr marL="377825" lvl="1" indent="-243840">
              <a:buClr>
                <a:srgbClr val="A9A57C"/>
              </a:buClr>
              <a:buSzPts val="2550"/>
              <a:buFont typeface="Arial"/>
              <a:buChar char="•"/>
            </a:pPr>
            <a:r>
              <a:rPr lang="en-US" dirty="0">
                <a:ea typeface="Helvetica Neue Light" panose="02000403000000020004" pitchFamily="2" charset="0"/>
                <a:sym typeface="Arial"/>
              </a:rPr>
              <a:t>Navigate to </a:t>
            </a:r>
            <a:r>
              <a:rPr lang="en-US" dirty="0">
                <a:ea typeface="Helvetica Neue Light" panose="02000403000000020004" pitchFamily="2" charset="0"/>
                <a:sym typeface="Arial"/>
                <a:hlinkClick r:id="rId2"/>
              </a:rPr>
              <a:t>https://ondemand-rmacc.rc.colorado.edu</a:t>
            </a:r>
            <a:r>
              <a:rPr lang="en-US" dirty="0">
                <a:ea typeface="Helvetica Neue Light" panose="02000403000000020004" pitchFamily="2" charset="0"/>
                <a:sym typeface="Arial"/>
              </a:rPr>
              <a:t> </a:t>
            </a:r>
            <a:endParaRPr lang="en-US" dirty="0">
              <a:solidFill>
                <a:schemeClr val="accent1">
                  <a:lumMod val="75000"/>
                </a:schemeClr>
              </a:solidFill>
              <a:ea typeface="Helvetica Neue Light" panose="02000403000000020004" pitchFamily="2" charset="0"/>
              <a:cs typeface="Source Sans Pro Light" panose="020F0302020204030204" pitchFamily="34" charset="0"/>
              <a:sym typeface="Wingdings" pitchFamily="2" charset="2"/>
            </a:endParaRPr>
          </a:p>
          <a:p>
            <a:pPr marL="377825" lvl="0" indent="-243840">
              <a:lnSpc>
                <a:spcPct val="100000"/>
              </a:lnSpc>
              <a:spcBef>
                <a:spcPts val="0"/>
              </a:spcBef>
              <a:buClr>
                <a:srgbClr val="A9A57C"/>
              </a:buClr>
              <a:buSzPts val="2550"/>
              <a:buFont typeface="Arial"/>
              <a:buChar char="•"/>
            </a:pPr>
            <a:endParaRPr lang="en-US" sz="2400" dirty="0">
              <a:solidFill>
                <a:srgbClr val="FF0000"/>
              </a:solidFill>
              <a:ea typeface="Helvetica Neue Light" panose="02000403000000020004" pitchFamily="2" charset="0"/>
              <a:sym typeface="Wingdings" pitchFamily="2" charset="2"/>
            </a:endParaRPr>
          </a:p>
          <a:p>
            <a:pPr marL="377825" lvl="0" indent="-243840">
              <a:lnSpc>
                <a:spcPct val="100000"/>
              </a:lnSpc>
              <a:spcBef>
                <a:spcPts val="0"/>
              </a:spcBef>
              <a:buClr>
                <a:srgbClr val="A9A57C"/>
              </a:buClr>
              <a:buSzPts val="2550"/>
              <a:buFont typeface="Arial"/>
              <a:buChar char="•"/>
            </a:pPr>
            <a:r>
              <a:rPr lang="en-US" sz="2400" dirty="0">
                <a:ea typeface="Helvetica Neue Light" panose="02000403000000020004" pitchFamily="2" charset="0"/>
                <a:sym typeface="Wingdings" pitchFamily="2" charset="2"/>
              </a:rPr>
              <a:t>Choose your organization</a:t>
            </a:r>
          </a:p>
          <a:p>
            <a:pPr marL="377825" lvl="0" indent="-243840">
              <a:lnSpc>
                <a:spcPct val="100000"/>
              </a:lnSpc>
              <a:spcBef>
                <a:spcPts val="0"/>
              </a:spcBef>
              <a:buClr>
                <a:srgbClr val="A9A57C"/>
              </a:buClr>
              <a:buSzPts val="2550"/>
              <a:buFont typeface="Arial"/>
              <a:buChar char="•"/>
            </a:pPr>
            <a:endParaRPr lang="en-US" sz="2400" dirty="0">
              <a:ea typeface="Helvetica Neue Light" panose="02000403000000020004" pitchFamily="2" charset="0"/>
              <a:sym typeface="Wingdings" pitchFamily="2" charset="2"/>
            </a:endParaRPr>
          </a:p>
          <a:p>
            <a:pPr marL="377825" lvl="0" indent="-243840">
              <a:lnSpc>
                <a:spcPct val="100000"/>
              </a:lnSpc>
              <a:spcBef>
                <a:spcPts val="0"/>
              </a:spcBef>
              <a:buClr>
                <a:srgbClr val="A9A57C"/>
              </a:buClr>
              <a:buSzPts val="2550"/>
              <a:buFont typeface="Arial"/>
              <a:buChar char="•"/>
            </a:pPr>
            <a:r>
              <a:rPr lang="en-US" sz="2400" dirty="0">
                <a:ea typeface="Helvetica Neue Light" panose="02000403000000020004" pitchFamily="2" charset="0"/>
                <a:sym typeface="Wingdings" pitchFamily="2" charset="2"/>
              </a:rPr>
              <a:t>Enter your password</a:t>
            </a:r>
          </a:p>
          <a:p>
            <a:pPr marL="377825" lvl="0" indent="-243840">
              <a:lnSpc>
                <a:spcPct val="100000"/>
              </a:lnSpc>
              <a:spcBef>
                <a:spcPts val="0"/>
              </a:spcBef>
              <a:buClr>
                <a:srgbClr val="A9A57C"/>
              </a:buClr>
              <a:buSzPts val="2550"/>
              <a:buFont typeface="Arial"/>
              <a:buChar char="•"/>
            </a:pPr>
            <a:endParaRPr lang="en-US" sz="2400" dirty="0">
              <a:ea typeface="Helvetica Neue Light" panose="02000403000000020004" pitchFamily="2" charset="0"/>
              <a:sym typeface="Wingdings" pitchFamily="2" charset="2"/>
            </a:endParaRPr>
          </a:p>
          <a:p>
            <a:pPr marL="377825" lvl="0" indent="-243840">
              <a:lnSpc>
                <a:spcPct val="100000"/>
              </a:lnSpc>
              <a:spcBef>
                <a:spcPts val="0"/>
              </a:spcBef>
              <a:buClr>
                <a:srgbClr val="A9A57C"/>
              </a:buClr>
              <a:buSzPts val="2550"/>
              <a:buFont typeface="Arial"/>
              <a:buChar char="•"/>
            </a:pPr>
            <a:r>
              <a:rPr lang="en-US" sz="2400" dirty="0">
                <a:ea typeface="Helvetica Neue Light" panose="02000403000000020004" pitchFamily="2" charset="0"/>
                <a:sym typeface="Wingdings" pitchFamily="2" charset="2"/>
              </a:rPr>
              <a:t>Authenticate by accepting the Duo push to your smartphone</a:t>
            </a:r>
          </a:p>
          <a:p>
            <a:pPr marL="377825" lvl="0" indent="-243840">
              <a:lnSpc>
                <a:spcPct val="100000"/>
              </a:lnSpc>
              <a:spcBef>
                <a:spcPts val="0"/>
              </a:spcBef>
              <a:buClr>
                <a:srgbClr val="A9A57C"/>
              </a:buClr>
              <a:buSzPts val="2550"/>
              <a:buFont typeface="Arial"/>
              <a:buChar char="•"/>
            </a:pPr>
            <a:endParaRPr lang="en-US" sz="2400" dirty="0">
              <a:ea typeface="Helvetica Neue Light" panose="02000403000000020004" pitchFamily="2" charset="0"/>
              <a:sym typeface="Wingdings" pitchFamily="2" charset="2"/>
            </a:endParaRPr>
          </a:p>
          <a:p>
            <a:pPr marL="377825" lvl="0" indent="-243840">
              <a:lnSpc>
                <a:spcPct val="100000"/>
              </a:lnSpc>
              <a:spcBef>
                <a:spcPts val="0"/>
              </a:spcBef>
              <a:buClr>
                <a:srgbClr val="A9A57C"/>
              </a:buClr>
              <a:buSzPts val="2550"/>
              <a:buFont typeface="Arial"/>
              <a:buChar char="•"/>
            </a:pPr>
            <a:r>
              <a:rPr lang="en-US" sz="2400" dirty="0">
                <a:ea typeface="Helvetica Neue Light" panose="02000403000000020004" pitchFamily="2" charset="0"/>
                <a:sym typeface="Wingdings" pitchFamily="2" charset="2"/>
              </a:rPr>
              <a:t>Select the “Clusters” app to bring up an Alpine terminal</a:t>
            </a:r>
          </a:p>
          <a:p>
            <a:pPr marL="0" lvl="1" indent="0">
              <a:buClr>
                <a:srgbClr val="A9A57C"/>
              </a:buClr>
              <a:buSzPts val="2550"/>
              <a:buNone/>
            </a:pPr>
            <a:endParaRPr lang="en-US" dirty="0">
              <a:ea typeface="Helvetica Neue Light" panose="02000403000000020004" pitchFamily="2" charset="0"/>
              <a:hlinkClick r:id="rId3"/>
            </a:endParaRPr>
          </a:p>
          <a:p>
            <a:pPr marL="133985" lvl="1">
              <a:buClr>
                <a:srgbClr val="A9A57C"/>
              </a:buClr>
              <a:buSzPts val="2550"/>
            </a:pPr>
            <a:r>
              <a:rPr lang="en-US" dirty="0">
                <a:solidFill>
                  <a:srgbClr val="0070C0"/>
                </a:solidFill>
                <a:ea typeface="Helvetica Neue Light" panose="02000403000000020004" pitchFamily="2" charset="0"/>
              </a:rPr>
              <a:t>https://</a:t>
            </a:r>
            <a:r>
              <a:rPr lang="en-US" dirty="0" err="1">
                <a:solidFill>
                  <a:srgbClr val="0070C0"/>
                </a:solidFill>
                <a:ea typeface="Helvetica Neue Light" panose="02000403000000020004" pitchFamily="2" charset="0"/>
              </a:rPr>
              <a:t>curc.readthedocs.io</a:t>
            </a:r>
            <a:r>
              <a:rPr lang="en-US" dirty="0">
                <a:solidFill>
                  <a:srgbClr val="0070C0"/>
                </a:solidFill>
                <a:ea typeface="Helvetica Neue Light" panose="02000403000000020004" pitchFamily="2" charset="0"/>
              </a:rPr>
              <a:t>/</a:t>
            </a:r>
            <a:r>
              <a:rPr lang="en-US" dirty="0" err="1">
                <a:solidFill>
                  <a:srgbClr val="0070C0"/>
                </a:solidFill>
                <a:ea typeface="Helvetica Neue Light" panose="02000403000000020004" pitchFamily="2" charset="0"/>
              </a:rPr>
              <a:t>en</a:t>
            </a:r>
            <a:r>
              <a:rPr lang="en-US" dirty="0">
                <a:solidFill>
                  <a:srgbClr val="0070C0"/>
                </a:solidFill>
                <a:ea typeface="Helvetica Neue Light" panose="02000403000000020004" pitchFamily="2" charset="0"/>
              </a:rPr>
              <a:t>/latest/</a:t>
            </a:r>
            <a:r>
              <a:rPr lang="en-US" dirty="0" err="1">
                <a:solidFill>
                  <a:srgbClr val="0070C0"/>
                </a:solidFill>
                <a:ea typeface="Helvetica Neue Light" panose="02000403000000020004" pitchFamily="2" charset="0"/>
              </a:rPr>
              <a:t>open_ondemand</a:t>
            </a:r>
            <a:r>
              <a:rPr lang="en-US" dirty="0">
                <a:solidFill>
                  <a:srgbClr val="0070C0"/>
                </a:solidFill>
                <a:ea typeface="Helvetica Neue Light" panose="02000403000000020004" pitchFamily="2" charset="0"/>
              </a:rPr>
              <a:t>/</a:t>
            </a:r>
            <a:r>
              <a:rPr lang="en-US" dirty="0" err="1">
                <a:solidFill>
                  <a:srgbClr val="0070C0"/>
                </a:solidFill>
                <a:ea typeface="Helvetica Neue Light" panose="02000403000000020004" pitchFamily="2" charset="0"/>
              </a:rPr>
              <a:t>index.html</a:t>
            </a:r>
            <a:endParaRPr lang="en-US" dirty="0">
              <a:solidFill>
                <a:srgbClr val="0070C0"/>
              </a:solidFill>
              <a:ea typeface="Helvetica Neue Light" panose="02000403000000020004" pitchFamily="2" charset="0"/>
              <a:sym typeface="Arial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904E2A8-A53B-1490-81FA-6C578DCEB5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A560F-461C-6043-9BC4-489BA92F7161}" type="slidenum">
              <a:rPr lang="en-US" smtClean="0"/>
              <a:t>6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BDFA786-1F2A-876F-21A0-E14E47954B1A}"/>
              </a:ext>
            </a:extLst>
          </p:cNvPr>
          <p:cNvSpPr txBox="1"/>
          <p:nvPr/>
        </p:nvSpPr>
        <p:spPr>
          <a:xfrm>
            <a:off x="838200" y="1992351"/>
            <a:ext cx="8513956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 Login Node is the entryway onto our system. They are meant for: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Viewing or editing files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Submitting Jobs</a:t>
            </a:r>
          </a:p>
          <a:p>
            <a:endParaRPr lang="en-US" dirty="0"/>
          </a:p>
          <a:p>
            <a:r>
              <a:rPr lang="en-US" dirty="0"/>
              <a:t>Login nodes should </a:t>
            </a:r>
            <a:r>
              <a:rPr lang="en-US" b="1" u="sng" dirty="0"/>
              <a:t>never</a:t>
            </a:r>
            <a:r>
              <a:rPr lang="en-US" dirty="0"/>
              <a:t> be used to run code or software.</a:t>
            </a:r>
          </a:p>
          <a:p>
            <a:endParaRPr lang="en-US" dirty="0"/>
          </a:p>
          <a:p>
            <a:r>
              <a:rPr lang="en-US" dirty="0"/>
              <a:t>Once you are on a terminal, you will know you are on a login node by looking at the command prompt. If it contains “login”, you are on a login node</a:t>
            </a:r>
          </a:p>
          <a:p>
            <a:endParaRPr lang="en-US" dirty="0"/>
          </a:p>
          <a:p>
            <a:endParaRPr lang="en-US" dirty="0"/>
          </a:p>
          <a:p>
            <a:endParaRPr lang="en-US" sz="2000" b="1" dirty="0">
              <a:solidFill>
                <a:srgbClr val="0070C0"/>
              </a:solidFill>
              <a:latin typeface="Consolas"/>
              <a:cs typeface="Consolas"/>
            </a:endParaRP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6" name="Google Shape;677;p69">
            <a:extLst>
              <a:ext uri="{FF2B5EF4-FFF2-40B4-BE49-F238E27FC236}">
                <a16:creationId xmlns:a16="http://schemas.microsoft.com/office/drawing/2014/main" id="{E9A8ADAB-D6A2-D92B-FE75-ED16CD68B408}"/>
              </a:ext>
            </a:extLst>
          </p:cNvPr>
          <p:cNvSpPr/>
          <p:nvPr/>
        </p:nvSpPr>
        <p:spPr>
          <a:xfrm>
            <a:off x="1172737" y="4802369"/>
            <a:ext cx="7689900" cy="453574"/>
          </a:xfrm>
          <a:prstGeom prst="rect">
            <a:avLst/>
          </a:prstGeom>
          <a:noFill/>
          <a:ln w="9525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/>
            <a:r>
              <a:rPr lang="en-US" sz="2000" b="1" dirty="0">
                <a:solidFill>
                  <a:srgbClr val="0070C0"/>
                </a:solidFill>
                <a:latin typeface="Consolas"/>
                <a:cs typeface="Consolas"/>
                <a:sym typeface="Consolas"/>
              </a:rPr>
              <a:t>[ralphie@login-ci3]$</a:t>
            </a:r>
            <a:endParaRPr sz="2000" b="1" dirty="0">
              <a:solidFill>
                <a:srgbClr val="0070C0"/>
              </a:solidFill>
              <a:latin typeface="Consolas"/>
              <a:cs typeface="Consolas"/>
              <a:sym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15935200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8849B6-FA0E-632E-BFE9-5EF539529D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C3000C-7CEA-027F-5DAE-EDB1A472A1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848863" cy="1325563"/>
          </a:xfrm>
        </p:spPr>
        <p:txBody>
          <a:bodyPr/>
          <a:lstStyle/>
          <a:p>
            <a:r>
              <a:rPr lang="en-US" dirty="0"/>
              <a:t>Accessing the Terminal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77CF39-6EA0-DD1F-2D81-639D9CFA34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377928" y="563753"/>
            <a:ext cx="10515600" cy="4351338"/>
          </a:xfrm>
        </p:spPr>
        <p:txBody>
          <a:bodyPr>
            <a:normAutofit/>
          </a:bodyPr>
          <a:lstStyle/>
          <a:p>
            <a:pPr marL="377825" lvl="1" indent="-243840">
              <a:buClr>
                <a:srgbClr val="A9A57C"/>
              </a:buClr>
              <a:buSzPts val="2550"/>
              <a:buFont typeface="Arial"/>
              <a:buChar char="•"/>
            </a:pPr>
            <a:r>
              <a:rPr lang="en-US" dirty="0">
                <a:ea typeface="Helvetica Neue Light" panose="02000403000000020004" pitchFamily="2" charset="0"/>
                <a:sym typeface="Arial"/>
              </a:rPr>
              <a:t>Navigate to </a:t>
            </a:r>
            <a:r>
              <a:rPr lang="en-US" dirty="0">
                <a:ea typeface="Helvetica Neue Light" panose="02000403000000020004" pitchFamily="2" charset="0"/>
                <a:sym typeface="Arial"/>
                <a:hlinkClick r:id="rId2"/>
              </a:rPr>
              <a:t>https://ondemand-rmacc.rc.colorado.edu</a:t>
            </a:r>
            <a:r>
              <a:rPr lang="en-US" dirty="0">
                <a:ea typeface="Helvetica Neue Light" panose="02000403000000020004" pitchFamily="2" charset="0"/>
                <a:sym typeface="Arial"/>
              </a:rPr>
              <a:t> </a:t>
            </a:r>
            <a:endParaRPr lang="en-US" dirty="0">
              <a:solidFill>
                <a:schemeClr val="accent1">
                  <a:lumMod val="75000"/>
                </a:schemeClr>
              </a:solidFill>
              <a:ea typeface="Helvetica Neue Light" panose="02000403000000020004" pitchFamily="2" charset="0"/>
              <a:cs typeface="Source Sans Pro Light" panose="020F0302020204030204" pitchFamily="34" charset="0"/>
              <a:sym typeface="Wingdings" pitchFamily="2" charset="2"/>
            </a:endParaRPr>
          </a:p>
          <a:p>
            <a:pPr marL="377825" lvl="0" indent="-243840">
              <a:lnSpc>
                <a:spcPct val="100000"/>
              </a:lnSpc>
              <a:spcBef>
                <a:spcPts val="0"/>
              </a:spcBef>
              <a:buClr>
                <a:srgbClr val="A9A57C"/>
              </a:buClr>
              <a:buSzPts val="2550"/>
              <a:buFont typeface="Arial"/>
              <a:buChar char="•"/>
            </a:pPr>
            <a:endParaRPr lang="en-US" sz="2400" dirty="0">
              <a:solidFill>
                <a:srgbClr val="FF0000"/>
              </a:solidFill>
              <a:ea typeface="Helvetica Neue Light" panose="02000403000000020004" pitchFamily="2" charset="0"/>
              <a:sym typeface="Wingdings" pitchFamily="2" charset="2"/>
            </a:endParaRPr>
          </a:p>
          <a:p>
            <a:pPr marL="377825" lvl="0" indent="-243840">
              <a:lnSpc>
                <a:spcPct val="100000"/>
              </a:lnSpc>
              <a:spcBef>
                <a:spcPts val="0"/>
              </a:spcBef>
              <a:buClr>
                <a:srgbClr val="A9A57C"/>
              </a:buClr>
              <a:buSzPts val="2550"/>
              <a:buFont typeface="Arial"/>
              <a:buChar char="•"/>
            </a:pPr>
            <a:r>
              <a:rPr lang="en-US" sz="2400" dirty="0">
                <a:ea typeface="Helvetica Neue Light" panose="02000403000000020004" pitchFamily="2" charset="0"/>
                <a:sym typeface="Wingdings" pitchFamily="2" charset="2"/>
              </a:rPr>
              <a:t>Choose your organization</a:t>
            </a:r>
          </a:p>
          <a:p>
            <a:pPr marL="377825" lvl="0" indent="-243840">
              <a:lnSpc>
                <a:spcPct val="100000"/>
              </a:lnSpc>
              <a:spcBef>
                <a:spcPts val="0"/>
              </a:spcBef>
              <a:buClr>
                <a:srgbClr val="A9A57C"/>
              </a:buClr>
              <a:buSzPts val="2550"/>
              <a:buFont typeface="Arial"/>
              <a:buChar char="•"/>
            </a:pPr>
            <a:endParaRPr lang="en-US" sz="2400" dirty="0">
              <a:ea typeface="Helvetica Neue Light" panose="02000403000000020004" pitchFamily="2" charset="0"/>
              <a:sym typeface="Wingdings" pitchFamily="2" charset="2"/>
            </a:endParaRPr>
          </a:p>
          <a:p>
            <a:pPr marL="377825" lvl="0" indent="-243840">
              <a:lnSpc>
                <a:spcPct val="100000"/>
              </a:lnSpc>
              <a:spcBef>
                <a:spcPts val="0"/>
              </a:spcBef>
              <a:buClr>
                <a:srgbClr val="A9A57C"/>
              </a:buClr>
              <a:buSzPts val="2550"/>
              <a:buFont typeface="Arial"/>
              <a:buChar char="•"/>
            </a:pPr>
            <a:r>
              <a:rPr lang="en-US" sz="2400" dirty="0">
                <a:ea typeface="Helvetica Neue Light" panose="02000403000000020004" pitchFamily="2" charset="0"/>
                <a:sym typeface="Wingdings" pitchFamily="2" charset="2"/>
              </a:rPr>
              <a:t>Enter your password</a:t>
            </a:r>
          </a:p>
          <a:p>
            <a:pPr marL="377825" lvl="0" indent="-243840">
              <a:lnSpc>
                <a:spcPct val="100000"/>
              </a:lnSpc>
              <a:spcBef>
                <a:spcPts val="0"/>
              </a:spcBef>
              <a:buClr>
                <a:srgbClr val="A9A57C"/>
              </a:buClr>
              <a:buSzPts val="2550"/>
              <a:buFont typeface="Arial"/>
              <a:buChar char="•"/>
            </a:pPr>
            <a:endParaRPr lang="en-US" sz="2400" dirty="0">
              <a:ea typeface="Helvetica Neue Light" panose="02000403000000020004" pitchFamily="2" charset="0"/>
              <a:sym typeface="Wingdings" pitchFamily="2" charset="2"/>
            </a:endParaRPr>
          </a:p>
          <a:p>
            <a:pPr marL="377825" lvl="0" indent="-243840">
              <a:lnSpc>
                <a:spcPct val="100000"/>
              </a:lnSpc>
              <a:spcBef>
                <a:spcPts val="0"/>
              </a:spcBef>
              <a:buClr>
                <a:srgbClr val="A9A57C"/>
              </a:buClr>
              <a:buSzPts val="2550"/>
              <a:buFont typeface="Arial"/>
              <a:buChar char="•"/>
            </a:pPr>
            <a:r>
              <a:rPr lang="en-US" sz="2400" dirty="0">
                <a:ea typeface="Helvetica Neue Light" panose="02000403000000020004" pitchFamily="2" charset="0"/>
                <a:sym typeface="Wingdings" pitchFamily="2" charset="2"/>
              </a:rPr>
              <a:t>Authenticate by accepting the Duo push to your smartphone</a:t>
            </a:r>
          </a:p>
          <a:p>
            <a:pPr marL="377825" lvl="0" indent="-243840">
              <a:lnSpc>
                <a:spcPct val="100000"/>
              </a:lnSpc>
              <a:spcBef>
                <a:spcPts val="0"/>
              </a:spcBef>
              <a:buClr>
                <a:srgbClr val="A9A57C"/>
              </a:buClr>
              <a:buSzPts val="2550"/>
              <a:buFont typeface="Arial"/>
              <a:buChar char="•"/>
            </a:pPr>
            <a:endParaRPr lang="en-US" sz="2400" dirty="0">
              <a:ea typeface="Helvetica Neue Light" panose="02000403000000020004" pitchFamily="2" charset="0"/>
              <a:sym typeface="Wingdings" pitchFamily="2" charset="2"/>
            </a:endParaRPr>
          </a:p>
          <a:p>
            <a:pPr marL="377825" lvl="0" indent="-243840">
              <a:lnSpc>
                <a:spcPct val="100000"/>
              </a:lnSpc>
              <a:spcBef>
                <a:spcPts val="0"/>
              </a:spcBef>
              <a:buClr>
                <a:srgbClr val="A9A57C"/>
              </a:buClr>
              <a:buSzPts val="2550"/>
              <a:buFont typeface="Arial"/>
              <a:buChar char="•"/>
            </a:pPr>
            <a:r>
              <a:rPr lang="en-US" sz="2400" dirty="0">
                <a:ea typeface="Helvetica Neue Light" panose="02000403000000020004" pitchFamily="2" charset="0"/>
                <a:sym typeface="Wingdings" pitchFamily="2" charset="2"/>
              </a:rPr>
              <a:t>Select the “Clusters” app to bring up an Alpine terminal</a:t>
            </a:r>
          </a:p>
          <a:p>
            <a:pPr marL="0" lvl="1" indent="0">
              <a:buClr>
                <a:srgbClr val="A9A57C"/>
              </a:buClr>
              <a:buSzPts val="2550"/>
              <a:buNone/>
            </a:pPr>
            <a:endParaRPr lang="en-US" dirty="0">
              <a:ea typeface="Helvetica Neue Light" panose="02000403000000020004" pitchFamily="2" charset="0"/>
              <a:hlinkClick r:id="rId3"/>
            </a:endParaRPr>
          </a:p>
          <a:p>
            <a:pPr marL="133985" lvl="1">
              <a:buClr>
                <a:srgbClr val="A9A57C"/>
              </a:buClr>
              <a:buSzPts val="2550"/>
            </a:pPr>
            <a:r>
              <a:rPr lang="en-US" dirty="0">
                <a:solidFill>
                  <a:srgbClr val="0070C0"/>
                </a:solidFill>
                <a:ea typeface="Helvetica Neue Light" panose="02000403000000020004" pitchFamily="2" charset="0"/>
              </a:rPr>
              <a:t>https://</a:t>
            </a:r>
            <a:r>
              <a:rPr lang="en-US" dirty="0" err="1">
                <a:solidFill>
                  <a:srgbClr val="0070C0"/>
                </a:solidFill>
                <a:ea typeface="Helvetica Neue Light" panose="02000403000000020004" pitchFamily="2" charset="0"/>
              </a:rPr>
              <a:t>curc.readthedocs.io</a:t>
            </a:r>
            <a:r>
              <a:rPr lang="en-US" dirty="0">
                <a:solidFill>
                  <a:srgbClr val="0070C0"/>
                </a:solidFill>
                <a:ea typeface="Helvetica Neue Light" panose="02000403000000020004" pitchFamily="2" charset="0"/>
              </a:rPr>
              <a:t>/</a:t>
            </a:r>
            <a:r>
              <a:rPr lang="en-US" dirty="0" err="1">
                <a:solidFill>
                  <a:srgbClr val="0070C0"/>
                </a:solidFill>
                <a:ea typeface="Helvetica Neue Light" panose="02000403000000020004" pitchFamily="2" charset="0"/>
              </a:rPr>
              <a:t>en</a:t>
            </a:r>
            <a:r>
              <a:rPr lang="en-US" dirty="0">
                <a:solidFill>
                  <a:srgbClr val="0070C0"/>
                </a:solidFill>
                <a:ea typeface="Helvetica Neue Light" panose="02000403000000020004" pitchFamily="2" charset="0"/>
              </a:rPr>
              <a:t>/latest/</a:t>
            </a:r>
            <a:r>
              <a:rPr lang="en-US" dirty="0" err="1">
                <a:solidFill>
                  <a:srgbClr val="0070C0"/>
                </a:solidFill>
                <a:ea typeface="Helvetica Neue Light" panose="02000403000000020004" pitchFamily="2" charset="0"/>
              </a:rPr>
              <a:t>open_ondemand</a:t>
            </a:r>
            <a:r>
              <a:rPr lang="en-US" dirty="0">
                <a:solidFill>
                  <a:srgbClr val="0070C0"/>
                </a:solidFill>
                <a:ea typeface="Helvetica Neue Light" panose="02000403000000020004" pitchFamily="2" charset="0"/>
              </a:rPr>
              <a:t>/</a:t>
            </a:r>
            <a:r>
              <a:rPr lang="en-US" dirty="0" err="1">
                <a:solidFill>
                  <a:srgbClr val="0070C0"/>
                </a:solidFill>
                <a:ea typeface="Helvetica Neue Light" panose="02000403000000020004" pitchFamily="2" charset="0"/>
              </a:rPr>
              <a:t>index.html</a:t>
            </a:r>
            <a:endParaRPr lang="en-US" dirty="0">
              <a:solidFill>
                <a:srgbClr val="0070C0"/>
              </a:solidFill>
              <a:ea typeface="Helvetica Neue Light" panose="02000403000000020004" pitchFamily="2" charset="0"/>
              <a:sym typeface="Arial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5992857-3DA0-E8E3-DFD3-E045D955F5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A560F-461C-6043-9BC4-489BA92F7161}" type="slidenum">
              <a:rPr lang="en-US" smtClean="0"/>
              <a:t>7</a:t>
            </a:fld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99E25198-1369-D4C5-51BB-81C57861825F}"/>
              </a:ext>
            </a:extLst>
          </p:cNvPr>
          <p:cNvGrpSpPr/>
          <p:nvPr/>
        </p:nvGrpSpPr>
        <p:grpSpPr>
          <a:xfrm>
            <a:off x="573024" y="1554479"/>
            <a:ext cx="4151376" cy="3657600"/>
            <a:chOff x="573024" y="1929383"/>
            <a:chExt cx="4151376" cy="3657600"/>
          </a:xfrm>
        </p:grpSpPr>
        <p:pic>
          <p:nvPicPr>
            <p:cNvPr id="7" name="Graphic 6" descr="Cmd Terminal with solid fill">
              <a:extLst>
                <a:ext uri="{FF2B5EF4-FFF2-40B4-BE49-F238E27FC236}">
                  <a16:creationId xmlns:a16="http://schemas.microsoft.com/office/drawing/2014/main" id="{72615F4C-761B-7DA5-B792-44E61068963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573024" y="1929383"/>
              <a:ext cx="4151376" cy="3657600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1FA68AD3-91A2-EB77-18A0-E2F2771A9AD8}"/>
                </a:ext>
              </a:extLst>
            </p:cNvPr>
            <p:cNvSpPr txBox="1"/>
            <p:nvPr/>
          </p:nvSpPr>
          <p:spPr>
            <a:xfrm>
              <a:off x="2185416" y="3250351"/>
              <a:ext cx="1766830" cy="10156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6000" b="1" dirty="0"/>
                <a:t>SSH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FD032D55-B880-8085-C60C-441CCBC12A44}"/>
              </a:ext>
            </a:extLst>
          </p:cNvPr>
          <p:cNvGrpSpPr/>
          <p:nvPr/>
        </p:nvGrpSpPr>
        <p:grpSpPr>
          <a:xfrm>
            <a:off x="5534135" y="1779011"/>
            <a:ext cx="6152927" cy="3208537"/>
            <a:chOff x="5534135" y="1929383"/>
            <a:chExt cx="6152927" cy="3208537"/>
          </a:xfrm>
        </p:grpSpPr>
        <p:pic>
          <p:nvPicPr>
            <p:cNvPr id="1026" name="Picture 2">
              <a:extLst>
                <a:ext uri="{FF2B5EF4-FFF2-40B4-BE49-F238E27FC236}">
                  <a16:creationId xmlns:a16="http://schemas.microsoft.com/office/drawing/2014/main" id="{315E240A-128C-0721-3473-E1CC67C50BD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860319" y="1929383"/>
              <a:ext cx="5500561" cy="320853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9" name="Rounded Rectangle 8">
              <a:extLst>
                <a:ext uri="{FF2B5EF4-FFF2-40B4-BE49-F238E27FC236}">
                  <a16:creationId xmlns:a16="http://schemas.microsoft.com/office/drawing/2014/main" id="{8C9EB0A2-80FF-ABBE-28D7-E35F40EB1D10}"/>
                </a:ext>
              </a:extLst>
            </p:cNvPr>
            <p:cNvSpPr/>
            <p:nvPr/>
          </p:nvSpPr>
          <p:spPr>
            <a:xfrm rot="5400000">
              <a:off x="7453689" y="457188"/>
              <a:ext cx="2313820" cy="6152927"/>
            </a:xfrm>
            <a:prstGeom prst="roundRect">
              <a:avLst>
                <a:gd name="adj" fmla="val 50000"/>
              </a:avLst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361D4D72-04D4-3D0A-C757-A28D399697A7}"/>
              </a:ext>
            </a:extLst>
          </p:cNvPr>
          <p:cNvSpPr txBox="1"/>
          <p:nvPr/>
        </p:nvSpPr>
        <p:spPr>
          <a:xfrm>
            <a:off x="3466983" y="5272399"/>
            <a:ext cx="688752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Available to CU Boulder, CSU, </a:t>
            </a:r>
          </a:p>
          <a:p>
            <a:r>
              <a:rPr lang="en-US" sz="3600" b="1" dirty="0"/>
              <a:t>CU Anschutz</a:t>
            </a:r>
          </a:p>
        </p:txBody>
      </p:sp>
      <p:sp>
        <p:nvSpPr>
          <p:cNvPr id="4" name="Bent Arrow 3">
            <a:extLst>
              <a:ext uri="{FF2B5EF4-FFF2-40B4-BE49-F238E27FC236}">
                <a16:creationId xmlns:a16="http://schemas.microsoft.com/office/drawing/2014/main" id="{8903F95E-55D5-EC56-DE14-E4C91F299303}"/>
              </a:ext>
            </a:extLst>
          </p:cNvPr>
          <p:cNvSpPr/>
          <p:nvPr/>
        </p:nvSpPr>
        <p:spPr>
          <a:xfrm rot="16200000">
            <a:off x="2259811" y="4644227"/>
            <a:ext cx="1015664" cy="1164453"/>
          </a:xfrm>
          <a:prstGeom prst="bentArrow">
            <a:avLst>
              <a:gd name="adj1" fmla="val 27759"/>
              <a:gd name="adj2" fmla="val 33968"/>
              <a:gd name="adj3" fmla="val 38796"/>
              <a:gd name="adj4" fmla="val 4375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543137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29A8C-62EC-E57C-B5AC-E43ACE804B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1325563"/>
          </a:xfrm>
        </p:spPr>
        <p:txBody>
          <a:bodyPr/>
          <a:lstStyle/>
          <a:p>
            <a:r>
              <a:rPr lang="en-US" dirty="0"/>
              <a:t>Accessing the Terminal Cont.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4B22216-06E5-B4E4-BE71-75150CB195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A560F-461C-6043-9BC4-489BA92F7161}" type="slidenum">
              <a:rPr lang="en-US" smtClean="0"/>
              <a:t>8</a:t>
            </a:fld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19F50948-1CDE-F15C-1B84-1268992B0EF9}"/>
              </a:ext>
            </a:extLst>
          </p:cNvPr>
          <p:cNvGrpSpPr/>
          <p:nvPr/>
        </p:nvGrpSpPr>
        <p:grpSpPr>
          <a:xfrm>
            <a:off x="838200" y="1535240"/>
            <a:ext cx="9812640" cy="4391560"/>
            <a:chOff x="838200" y="1535240"/>
            <a:chExt cx="9812640" cy="4391560"/>
          </a:xfrm>
        </p:grpSpPr>
        <p:pic>
          <p:nvPicPr>
            <p:cNvPr id="7" name="Picture 6" descr="A screenshot of a computer&#10;&#10;AI-generated content may be incorrect.">
              <a:extLst>
                <a:ext uri="{FF2B5EF4-FFF2-40B4-BE49-F238E27FC236}">
                  <a16:creationId xmlns:a16="http://schemas.microsoft.com/office/drawing/2014/main" id="{162B5603-6B0A-1049-94E5-A33C2715C78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38200" y="1535240"/>
              <a:ext cx="5345845" cy="439156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pic>
          <p:nvPicPr>
            <p:cNvPr id="8" name="Picture 7" descr="A screenshot of a computer&#10;&#10;AI-generated content may be incorrect.">
              <a:extLst>
                <a:ext uri="{FF2B5EF4-FFF2-40B4-BE49-F238E27FC236}">
                  <a16:creationId xmlns:a16="http://schemas.microsoft.com/office/drawing/2014/main" id="{53F0B396-882B-E124-6740-FAD0E23C92A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1200" r="51992" b="85195"/>
            <a:stretch>
              <a:fillRect/>
            </a:stretch>
          </p:blipFill>
          <p:spPr>
            <a:xfrm>
              <a:off x="6821424" y="1535240"/>
              <a:ext cx="3829416" cy="1737360"/>
            </a:xfrm>
            <a:prstGeom prst="roundRect">
              <a:avLst/>
            </a:prstGeom>
            <a:ln w="57150">
              <a:solidFill>
                <a:srgbClr val="FF0000"/>
              </a:solidFill>
            </a:ln>
          </p:spPr>
        </p:pic>
        <p:sp>
          <p:nvSpPr>
            <p:cNvPr id="9" name="Rounded Rectangle 8">
              <a:extLst>
                <a:ext uri="{FF2B5EF4-FFF2-40B4-BE49-F238E27FC236}">
                  <a16:creationId xmlns:a16="http://schemas.microsoft.com/office/drawing/2014/main" id="{8A25DA60-FD6F-A998-C066-4DB5485CCEC6}"/>
                </a:ext>
              </a:extLst>
            </p:cNvPr>
            <p:cNvSpPr/>
            <p:nvPr/>
          </p:nvSpPr>
          <p:spPr>
            <a:xfrm>
              <a:off x="1975104" y="1535240"/>
              <a:ext cx="1399032" cy="604456"/>
            </a:xfrm>
            <a:prstGeom prst="round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0068BE46-195F-7289-29A3-1E032F01279A}"/>
                </a:ext>
              </a:extLst>
            </p:cNvPr>
            <p:cNvCxnSpPr/>
            <p:nvPr/>
          </p:nvCxnSpPr>
          <p:spPr>
            <a:xfrm>
              <a:off x="3374136" y="1837944"/>
              <a:ext cx="3383280" cy="0"/>
            </a:xfrm>
            <a:prstGeom prst="straightConnector1">
              <a:avLst/>
            </a:prstGeom>
            <a:ln w="57150">
              <a:solidFill>
                <a:srgbClr val="FF0000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42FA6D46-1D09-239E-8CDF-72A21D37154E}"/>
              </a:ext>
            </a:extLst>
          </p:cNvPr>
          <p:cNvSpPr txBox="1"/>
          <p:nvPr/>
        </p:nvSpPr>
        <p:spPr>
          <a:xfrm>
            <a:off x="6689540" y="3937312"/>
            <a:ext cx="477563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If you would like to access a terminal via ssh, please see:</a:t>
            </a:r>
          </a:p>
          <a:p>
            <a:r>
              <a:rPr lang="en-US" dirty="0"/>
              <a:t> </a:t>
            </a:r>
            <a:r>
              <a:rPr lang="en-US" dirty="0" err="1">
                <a:solidFill>
                  <a:srgbClr val="0563C1"/>
                </a:solidFill>
                <a:cs typeface="Arial"/>
                <a:sym typeface="Arial"/>
              </a:rPr>
              <a:t>curc.readthedocs.io</a:t>
            </a:r>
            <a:r>
              <a:rPr lang="en-US" dirty="0">
                <a:solidFill>
                  <a:srgbClr val="0563C1"/>
                </a:solidFill>
                <a:cs typeface="Arial"/>
                <a:sym typeface="Arial"/>
              </a:rPr>
              <a:t>/</a:t>
            </a:r>
            <a:r>
              <a:rPr lang="en-US" dirty="0" err="1">
                <a:solidFill>
                  <a:srgbClr val="0563C1"/>
                </a:solidFill>
                <a:cs typeface="Arial"/>
                <a:sym typeface="Arial"/>
              </a:rPr>
              <a:t>en</a:t>
            </a:r>
            <a:r>
              <a:rPr lang="en-US" dirty="0">
                <a:solidFill>
                  <a:srgbClr val="0563C1"/>
                </a:solidFill>
                <a:cs typeface="Arial"/>
                <a:sym typeface="Arial"/>
              </a:rPr>
              <a:t>/latest/</a:t>
            </a:r>
            <a:r>
              <a:rPr lang="en-US" dirty="0" err="1">
                <a:solidFill>
                  <a:srgbClr val="0563C1"/>
                </a:solidFill>
                <a:cs typeface="Arial"/>
                <a:sym typeface="Arial"/>
              </a:rPr>
              <a:t>getting_started</a:t>
            </a:r>
            <a:r>
              <a:rPr lang="en-US" dirty="0">
                <a:solidFill>
                  <a:srgbClr val="0563C1"/>
                </a:solidFill>
                <a:cs typeface="Arial"/>
                <a:sym typeface="Arial"/>
              </a:rPr>
              <a:t>/</a:t>
            </a:r>
            <a:r>
              <a:rPr lang="en-US" dirty="0" err="1">
                <a:solidFill>
                  <a:srgbClr val="0563C1"/>
                </a:solidFill>
                <a:cs typeface="Arial"/>
                <a:sym typeface="Arial"/>
              </a:rPr>
              <a:t>logging-in.html#terminal-access-for-different-operating-systems</a:t>
            </a:r>
            <a:r>
              <a:rPr lang="en-US" dirty="0">
                <a:solidFill>
                  <a:srgbClr val="0563C1"/>
                </a:solidFill>
                <a:cs typeface="Arial"/>
                <a:sym typeface="Arial"/>
              </a:rPr>
              <a:t>  </a:t>
            </a:r>
          </a:p>
        </p:txBody>
      </p:sp>
    </p:spTree>
    <p:extLst>
      <p:ext uri="{BB962C8B-B14F-4D97-AF65-F5344CB8AC3E}">
        <p14:creationId xmlns:p14="http://schemas.microsoft.com/office/powerpoint/2010/main" val="387912113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817A85-75CE-B5C7-7739-FF43294CF2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55064" y="300619"/>
            <a:ext cx="9506712" cy="1325563"/>
          </a:xfrm>
        </p:spPr>
        <p:txBody>
          <a:bodyPr/>
          <a:lstStyle/>
          <a:p>
            <a:r>
              <a:rPr lang="en-US" dirty="0"/>
              <a:t>Linux Command Line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112D271-C3A8-074E-FFF1-4B8DF84C09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A560F-461C-6043-9BC4-489BA92F7161}" type="slidenum">
              <a:rPr lang="en-US" smtClean="0"/>
              <a:t>9</a:t>
            </a:fld>
            <a:endParaRPr lang="en-US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4ECE1CA5-697B-D029-7FE7-F2D009956B39}"/>
              </a:ext>
            </a:extLst>
          </p:cNvPr>
          <p:cNvGrpSpPr>
            <a:grpSpLocks noChangeAspect="1"/>
          </p:cNvGrpSpPr>
          <p:nvPr/>
        </p:nvGrpSpPr>
        <p:grpSpPr>
          <a:xfrm>
            <a:off x="289560" y="414761"/>
            <a:ext cx="1097280" cy="1097280"/>
            <a:chOff x="7287768" y="1408176"/>
            <a:chExt cx="2286000" cy="2286000"/>
          </a:xfrm>
        </p:grpSpPr>
        <p:pic>
          <p:nvPicPr>
            <p:cNvPr id="6" name="Google Shape;120;p16">
              <a:extLst>
                <a:ext uri="{FF2B5EF4-FFF2-40B4-BE49-F238E27FC236}">
                  <a16:creationId xmlns:a16="http://schemas.microsoft.com/office/drawing/2014/main" id="{31BBCAC4-1C2A-D7A2-C754-3DC68A86664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 preferRelativeResize="0">
              <a:picLocks noChangeAspect="1"/>
            </p:cNvPicPr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>
              <a:off x="7676983" y="1573086"/>
              <a:ext cx="1599009" cy="173736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FC43F646-79E8-DA81-69AF-199DEF43DB6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287768" y="1408176"/>
              <a:ext cx="2286000" cy="2286000"/>
            </a:xfrm>
            <a:prstGeom prst="ellipse">
              <a:avLst/>
            </a:prstGeom>
            <a:noFill/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4049F409-F674-7932-E507-A46AC4AA9AD4}"/>
              </a:ext>
            </a:extLst>
          </p:cNvPr>
          <p:cNvSpPr txBox="1"/>
          <p:nvPr/>
        </p:nvSpPr>
        <p:spPr>
          <a:xfrm>
            <a:off x="2234417" y="4307226"/>
            <a:ext cx="354456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File Operations</a:t>
            </a:r>
          </a:p>
        </p:txBody>
      </p:sp>
      <p:pic>
        <p:nvPicPr>
          <p:cNvPr id="13" name="Graphic 12" descr="Open folder with solid fill">
            <a:extLst>
              <a:ext uri="{FF2B5EF4-FFF2-40B4-BE49-F238E27FC236}">
                <a16:creationId xmlns:a16="http://schemas.microsoft.com/office/drawing/2014/main" id="{C793D1E0-C52D-E0A0-E590-D1F9CAB351A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356104" y="1664208"/>
            <a:ext cx="3108960" cy="3108960"/>
          </a:xfrm>
          <a:prstGeom prst="rect">
            <a:avLst/>
          </a:prstGeom>
        </p:spPr>
      </p:pic>
      <p:pic>
        <p:nvPicPr>
          <p:cNvPr id="19" name="Graphic 18" descr="Scroll with solid fill">
            <a:extLst>
              <a:ext uri="{FF2B5EF4-FFF2-40B4-BE49-F238E27FC236}">
                <a16:creationId xmlns:a16="http://schemas.microsoft.com/office/drawing/2014/main" id="{5E6A5D04-E2D9-9257-FDF4-5CFA7C9ECE4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211570" y="2029968"/>
            <a:ext cx="2377440" cy="2377440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5FAA5060-E8A0-590D-6B76-CE0AC455A475}"/>
              </a:ext>
            </a:extLst>
          </p:cNvPr>
          <p:cNvSpPr txBox="1"/>
          <p:nvPr/>
        </p:nvSpPr>
        <p:spPr>
          <a:xfrm>
            <a:off x="7403796" y="4307226"/>
            <a:ext cx="218521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Scripting</a:t>
            </a:r>
          </a:p>
        </p:txBody>
      </p:sp>
    </p:spTree>
    <p:extLst>
      <p:ext uri="{BB962C8B-B14F-4D97-AF65-F5344CB8AC3E}">
        <p14:creationId xmlns:p14="http://schemas.microsoft.com/office/powerpoint/2010/main" val="35822499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F1D3E1B-63DE-13CD-8AD0-94C6DC443D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A560F-461C-6043-9BC4-489BA92F7161}" type="slidenum">
              <a:rPr lang="en-US" smtClean="0"/>
              <a:t>10</a:t>
            </a:fld>
            <a:endParaRPr lang="en-US"/>
          </a:p>
        </p:txBody>
      </p:sp>
      <p:sp>
        <p:nvSpPr>
          <p:cNvPr id="6" name="Google Shape;389;p33">
            <a:extLst>
              <a:ext uri="{FF2B5EF4-FFF2-40B4-BE49-F238E27FC236}">
                <a16:creationId xmlns:a16="http://schemas.microsoft.com/office/drawing/2014/main" id="{29EC96DC-426B-7C01-1776-6B63530E424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950" y="640575"/>
            <a:ext cx="11471100" cy="6918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4600" rIns="0" bIns="0" anchor="ctr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350"/>
              <a:buFont typeface="Arial Black"/>
              <a:buNone/>
            </a:pPr>
            <a:r>
              <a:rPr lang="en-US" b="1" u="sng" dirty="0">
                <a:latin typeface="+mn-lt"/>
              </a:rPr>
              <a:t>L</a:t>
            </a:r>
            <a:r>
              <a:rPr lang="en-US" dirty="0">
                <a:latin typeface="+mn-lt"/>
              </a:rPr>
              <a:t>i</a:t>
            </a:r>
            <a:r>
              <a:rPr lang="en-US" b="1" u="sng" dirty="0">
                <a:latin typeface="+mn-lt"/>
              </a:rPr>
              <a:t>s</a:t>
            </a:r>
            <a:r>
              <a:rPr lang="en-US" dirty="0">
                <a:latin typeface="+mn-lt"/>
              </a:rPr>
              <a:t>t Files and Directories</a:t>
            </a:r>
            <a:endParaRPr dirty="0">
              <a:latin typeface="+mn-lt"/>
            </a:endParaRPr>
          </a:p>
        </p:txBody>
      </p:sp>
      <p:sp>
        <p:nvSpPr>
          <p:cNvPr id="7" name="Google Shape;391;p33">
            <a:extLst>
              <a:ext uri="{FF2B5EF4-FFF2-40B4-BE49-F238E27FC236}">
                <a16:creationId xmlns:a16="http://schemas.microsoft.com/office/drawing/2014/main" id="{B4016F04-24FF-059A-E0E9-34034B0B2F03}"/>
              </a:ext>
            </a:extLst>
          </p:cNvPr>
          <p:cNvSpPr txBox="1"/>
          <p:nvPr/>
        </p:nvSpPr>
        <p:spPr>
          <a:xfrm>
            <a:off x="448975" y="1911538"/>
            <a:ext cx="11294050" cy="38638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6500" rIns="0" bIns="0" anchor="t" anchorCtr="0">
            <a:spAutoFit/>
          </a:bodyPr>
          <a:lstStyle/>
          <a:p>
            <a:pPr marL="12700"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EB97C"/>
              </a:buClr>
            </a:pPr>
            <a:r>
              <a:rPr lang="en-US" sz="2800" b="1" dirty="0">
                <a:solidFill>
                  <a:srgbClr val="0070C0"/>
                </a:solidFill>
                <a:latin typeface="Consolas"/>
                <a:cs typeface="Consolas"/>
              </a:rPr>
              <a:t>l</a:t>
            </a:r>
            <a:r>
              <a:rPr lang="en-US" sz="2800" b="1" dirty="0">
                <a:solidFill>
                  <a:srgbClr val="0070C0"/>
                </a:solidFill>
                <a:latin typeface="Consolas"/>
                <a:cs typeface="Consolas"/>
                <a:sym typeface="Arial"/>
              </a:rPr>
              <a:t>s [option] [file/directory]</a:t>
            </a:r>
          </a:p>
          <a:p>
            <a:pPr marL="12700"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EB97C"/>
              </a:buClr>
            </a:pPr>
            <a:endParaRPr lang="en-US" sz="2800" b="1" dirty="0">
              <a:solidFill>
                <a:srgbClr val="0070C0"/>
              </a:solidFill>
              <a:latin typeface="Consolas"/>
              <a:cs typeface="Consolas"/>
            </a:endParaRPr>
          </a:p>
          <a:p>
            <a:pPr marL="12700" marR="0" lvl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CEB97C"/>
              </a:buClr>
            </a:pPr>
            <a:r>
              <a:rPr lang="en-US" sz="2800" b="1" dirty="0">
                <a:solidFill>
                  <a:srgbClr val="0070C0"/>
                </a:solidFill>
                <a:latin typeface="Consolas"/>
                <a:cs typeface="Consolas"/>
              </a:rPr>
              <a:t>  -l (long format)         -a (all files)</a:t>
            </a:r>
          </a:p>
          <a:p>
            <a:pPr marL="12700" marR="0" lvl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CEB97C"/>
              </a:buClr>
            </a:pPr>
            <a:r>
              <a:rPr lang="en-US" sz="2800" b="1" dirty="0">
                <a:solidFill>
                  <a:srgbClr val="0070C0"/>
                </a:solidFill>
                <a:latin typeface="Consolas"/>
                <a:cs typeface="Consolas"/>
              </a:rPr>
              <a:t>  -h (readable file size)  -r (reverse sort)</a:t>
            </a:r>
          </a:p>
          <a:p>
            <a:pPr marL="12700" marR="0" lvl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CEB97C"/>
              </a:buClr>
            </a:pPr>
            <a:r>
              <a:rPr lang="en-US" sz="2800" b="1" dirty="0">
                <a:solidFill>
                  <a:srgbClr val="0070C0"/>
                </a:solidFill>
                <a:latin typeface="Consolas"/>
                <a:cs typeface="Consolas"/>
              </a:rPr>
              <a:t>  -S (sort by file size)</a:t>
            </a:r>
          </a:p>
          <a:p>
            <a:pPr marL="12700">
              <a:lnSpc>
                <a:spcPct val="125000"/>
              </a:lnSpc>
              <a:buClr>
                <a:srgbClr val="CEB97C"/>
              </a:buClr>
            </a:pPr>
            <a:r>
              <a:rPr lang="en-US" sz="2800" b="1" dirty="0">
                <a:solidFill>
                  <a:srgbClr val="0070C0"/>
                </a:solidFill>
                <a:latin typeface="Consolas"/>
                <a:cs typeface="Consolas"/>
              </a:rPr>
              <a:t>  -t (sort by modification time)</a:t>
            </a:r>
          </a:p>
          <a:p>
            <a:pPr marL="12700"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EB97C"/>
              </a:buClr>
            </a:pPr>
            <a:endParaRPr lang="en-US" sz="5400" b="1" dirty="0">
              <a:solidFill>
                <a:schemeClr val="accent1">
                  <a:lumMod val="75000"/>
                </a:schemeClr>
              </a:solidFill>
              <a:latin typeface="Consolas" panose="020B0609020204030204" pitchFamily="49" charset="0"/>
              <a:ea typeface="Helvetica Neue Light" panose="02000403000000020004" pitchFamily="2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6264932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41C18EB-13F5-43F0-2F07-DFAD42939D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A560F-461C-6043-9BC4-489BA92F7161}" type="slidenum">
              <a:rPr lang="en-US" smtClean="0"/>
              <a:t>11</a:t>
            </a:fld>
            <a:endParaRPr lang="en-US"/>
          </a:p>
        </p:txBody>
      </p:sp>
      <p:sp>
        <p:nvSpPr>
          <p:cNvPr id="6" name="Google Shape;251;p28">
            <a:extLst>
              <a:ext uri="{FF2B5EF4-FFF2-40B4-BE49-F238E27FC236}">
                <a16:creationId xmlns:a16="http://schemas.microsoft.com/office/drawing/2014/main" id="{3E998812-C6CE-F047-D7FC-6B938EF683E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78686" y="356858"/>
            <a:ext cx="10182023" cy="6899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700" rIns="0" bIns="0" anchor="ctr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 Black"/>
              <a:buNone/>
            </a:pPr>
            <a:r>
              <a:rPr lang="en-US" dirty="0"/>
              <a:t>Standard CURC Directories</a:t>
            </a:r>
            <a:endParaRPr dirty="0"/>
          </a:p>
        </p:txBody>
      </p:sp>
      <p:sp>
        <p:nvSpPr>
          <p:cNvPr id="75" name="Text 14">
            <a:extLst>
              <a:ext uri="{FF2B5EF4-FFF2-40B4-BE49-F238E27FC236}">
                <a16:creationId xmlns:a16="http://schemas.microsoft.com/office/drawing/2014/main" id="{6CA5B1BD-41BA-BEDD-9A12-63DF1449EE7F}"/>
              </a:ext>
            </a:extLst>
          </p:cNvPr>
          <p:cNvSpPr/>
          <p:nvPr/>
        </p:nvSpPr>
        <p:spPr>
          <a:xfrm>
            <a:off x="260838" y="3393641"/>
            <a:ext cx="1453515" cy="35991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7500" lnSpcReduction="20000"/>
          </a:bodyPr>
          <a:lstStyle/>
          <a:p>
            <a:pPr marL="0" indent="0" algn="l">
              <a:buNone/>
            </a:pPr>
            <a:r>
              <a:rPr lang="en-US" sz="2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/home/&lt;user&gt;</a:t>
            </a:r>
            <a:endParaRPr lang="en-US" sz="2200" dirty="0"/>
          </a:p>
        </p:txBody>
      </p:sp>
      <p:grpSp>
        <p:nvGrpSpPr>
          <p:cNvPr id="91" name="Group 90">
            <a:extLst>
              <a:ext uri="{FF2B5EF4-FFF2-40B4-BE49-F238E27FC236}">
                <a16:creationId xmlns:a16="http://schemas.microsoft.com/office/drawing/2014/main" id="{4E845F0D-C0B1-2D7D-D68E-4F917EC5ADEE}"/>
              </a:ext>
            </a:extLst>
          </p:cNvPr>
          <p:cNvGrpSpPr/>
          <p:nvPr/>
        </p:nvGrpSpPr>
        <p:grpSpPr>
          <a:xfrm>
            <a:off x="593070" y="2127006"/>
            <a:ext cx="11358181" cy="2613503"/>
            <a:chOff x="593070" y="2127006"/>
            <a:chExt cx="11358181" cy="2613503"/>
          </a:xfrm>
        </p:grpSpPr>
        <p:sp>
          <p:nvSpPr>
            <p:cNvPr id="62" name="Shape 1">
              <a:extLst>
                <a:ext uri="{FF2B5EF4-FFF2-40B4-BE49-F238E27FC236}">
                  <a16:creationId xmlns:a16="http://schemas.microsoft.com/office/drawing/2014/main" id="{F84A57B2-7547-22F9-E48E-17760A383F62}"/>
                </a:ext>
              </a:extLst>
            </p:cNvPr>
            <p:cNvSpPr/>
            <p:nvPr/>
          </p:nvSpPr>
          <p:spPr>
            <a:xfrm>
              <a:off x="932223" y="2127006"/>
              <a:ext cx="8001254" cy="0"/>
            </a:xfrm>
            <a:prstGeom prst="line">
              <a:avLst/>
            </a:prstGeom>
            <a:noFill/>
            <a:ln w="22860">
              <a:solidFill>
                <a:srgbClr val="111111"/>
              </a:solidFill>
              <a:prstDash val="solid"/>
              <a:headEnd type="none"/>
              <a:tailEnd type="none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" name="Shape 2">
              <a:extLst>
                <a:ext uri="{FF2B5EF4-FFF2-40B4-BE49-F238E27FC236}">
                  <a16:creationId xmlns:a16="http://schemas.microsoft.com/office/drawing/2014/main" id="{6A1C0401-49EF-CB15-0EC5-BD87A7DD7ED0}"/>
                </a:ext>
              </a:extLst>
            </p:cNvPr>
            <p:cNvSpPr/>
            <p:nvPr/>
          </p:nvSpPr>
          <p:spPr>
            <a:xfrm>
              <a:off x="932223" y="2127006"/>
              <a:ext cx="0" cy="498348"/>
            </a:xfrm>
            <a:prstGeom prst="line">
              <a:avLst/>
            </a:prstGeom>
            <a:noFill/>
            <a:ln w="22860">
              <a:solidFill>
                <a:srgbClr val="111111"/>
              </a:solidFill>
              <a:prstDash val="solid"/>
              <a:headEnd type="none"/>
              <a:tailEnd type="none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4" name="Shape 3">
              <a:extLst>
                <a:ext uri="{FF2B5EF4-FFF2-40B4-BE49-F238E27FC236}">
                  <a16:creationId xmlns:a16="http://schemas.microsoft.com/office/drawing/2014/main" id="{BC714367-BA2D-FD4D-65F5-33D75689A0A9}"/>
                </a:ext>
              </a:extLst>
            </p:cNvPr>
            <p:cNvSpPr/>
            <p:nvPr/>
          </p:nvSpPr>
          <p:spPr>
            <a:xfrm>
              <a:off x="2690284" y="2127006"/>
              <a:ext cx="0" cy="498348"/>
            </a:xfrm>
            <a:prstGeom prst="line">
              <a:avLst/>
            </a:prstGeom>
            <a:noFill/>
            <a:ln w="22860">
              <a:solidFill>
                <a:srgbClr val="111111"/>
              </a:solidFill>
              <a:prstDash val="solid"/>
              <a:headEnd type="none"/>
              <a:tailEnd type="none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5" name="Shape 4">
              <a:extLst>
                <a:ext uri="{FF2B5EF4-FFF2-40B4-BE49-F238E27FC236}">
                  <a16:creationId xmlns:a16="http://schemas.microsoft.com/office/drawing/2014/main" id="{C47BC24F-5E1F-7AB3-A1A8-F5AF3FEEE6B0}"/>
                </a:ext>
              </a:extLst>
            </p:cNvPr>
            <p:cNvSpPr/>
            <p:nvPr/>
          </p:nvSpPr>
          <p:spPr>
            <a:xfrm>
              <a:off x="4441424" y="2127006"/>
              <a:ext cx="0" cy="498348"/>
            </a:xfrm>
            <a:prstGeom prst="line">
              <a:avLst/>
            </a:prstGeom>
            <a:noFill/>
            <a:ln w="22860">
              <a:solidFill>
                <a:srgbClr val="111111"/>
              </a:solidFill>
              <a:prstDash val="solid"/>
              <a:headEnd type="none"/>
              <a:tailEnd type="none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6" name="Shape 5">
              <a:extLst>
                <a:ext uri="{FF2B5EF4-FFF2-40B4-BE49-F238E27FC236}">
                  <a16:creationId xmlns:a16="http://schemas.microsoft.com/office/drawing/2014/main" id="{C408814A-E587-B2DD-1861-316A854AE3A0}"/>
                </a:ext>
              </a:extLst>
            </p:cNvPr>
            <p:cNvSpPr/>
            <p:nvPr/>
          </p:nvSpPr>
          <p:spPr>
            <a:xfrm>
              <a:off x="6199485" y="2127006"/>
              <a:ext cx="0" cy="242253"/>
            </a:xfrm>
            <a:prstGeom prst="line">
              <a:avLst/>
            </a:prstGeom>
            <a:noFill/>
            <a:ln w="22860">
              <a:solidFill>
                <a:srgbClr val="111111"/>
              </a:solidFill>
              <a:prstDash val="solid"/>
              <a:headEnd type="none"/>
              <a:tailEnd type="none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7" name="Shape 6">
              <a:extLst>
                <a:ext uri="{FF2B5EF4-FFF2-40B4-BE49-F238E27FC236}">
                  <a16:creationId xmlns:a16="http://schemas.microsoft.com/office/drawing/2014/main" id="{766C30A6-F4FE-EEBD-C4F5-4341438672FF}"/>
                </a:ext>
              </a:extLst>
            </p:cNvPr>
            <p:cNvSpPr/>
            <p:nvPr/>
          </p:nvSpPr>
          <p:spPr>
            <a:xfrm>
              <a:off x="8926556" y="2127006"/>
              <a:ext cx="0" cy="498348"/>
            </a:xfrm>
            <a:prstGeom prst="line">
              <a:avLst/>
            </a:prstGeom>
            <a:noFill/>
            <a:ln w="22860">
              <a:solidFill>
                <a:srgbClr val="111111"/>
              </a:solidFill>
              <a:prstDash val="solid"/>
              <a:headEnd type="none"/>
              <a:tailEnd type="none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8" name="Text 7">
              <a:extLst>
                <a:ext uri="{FF2B5EF4-FFF2-40B4-BE49-F238E27FC236}">
                  <a16:creationId xmlns:a16="http://schemas.microsoft.com/office/drawing/2014/main" id="{FC334432-7213-1D23-C5C2-D938C047CCBE}"/>
                </a:ext>
              </a:extLst>
            </p:cNvPr>
            <p:cNvSpPr/>
            <p:nvPr/>
          </p:nvSpPr>
          <p:spPr>
            <a:xfrm>
              <a:off x="593070" y="2543055"/>
              <a:ext cx="858266" cy="38068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 fontScale="92500"/>
            </a:bodyPr>
            <a:lstStyle/>
            <a:p>
              <a:pPr marL="0" indent="0" algn="l">
                <a:buNone/>
              </a:pPr>
              <a:r>
                <a:rPr lang="en-US" sz="2500" dirty="0">
                  <a:solidFill>
                    <a:srgbClr val="111111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/home</a:t>
              </a:r>
              <a:endParaRPr lang="en-US" sz="2500" dirty="0"/>
            </a:p>
          </p:txBody>
        </p:sp>
        <p:sp>
          <p:nvSpPr>
            <p:cNvPr id="69" name="Text 8">
              <a:extLst>
                <a:ext uri="{FF2B5EF4-FFF2-40B4-BE49-F238E27FC236}">
                  <a16:creationId xmlns:a16="http://schemas.microsoft.com/office/drawing/2014/main" id="{5A62249A-CEC1-3E18-62C6-9D03940C955E}"/>
                </a:ext>
              </a:extLst>
            </p:cNvPr>
            <p:cNvSpPr/>
            <p:nvPr/>
          </p:nvSpPr>
          <p:spPr>
            <a:xfrm>
              <a:off x="2264612" y="2543055"/>
              <a:ext cx="1038225" cy="38068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 fontScale="85000" lnSpcReduction="10000"/>
            </a:bodyPr>
            <a:lstStyle/>
            <a:p>
              <a:pPr marL="0" indent="0" algn="l">
                <a:buNone/>
              </a:pPr>
              <a:r>
                <a:rPr lang="en-US" sz="2500" dirty="0">
                  <a:solidFill>
                    <a:srgbClr val="111111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/projects</a:t>
              </a:r>
              <a:endParaRPr lang="en-US" sz="2500" dirty="0"/>
            </a:p>
          </p:txBody>
        </p:sp>
        <p:sp>
          <p:nvSpPr>
            <p:cNvPr id="70" name="Text 9">
              <a:extLst>
                <a:ext uri="{FF2B5EF4-FFF2-40B4-BE49-F238E27FC236}">
                  <a16:creationId xmlns:a16="http://schemas.microsoft.com/office/drawing/2014/main" id="{945E2161-6879-AF54-723F-3F84468AFCEC}"/>
                </a:ext>
              </a:extLst>
            </p:cNvPr>
            <p:cNvSpPr/>
            <p:nvPr/>
          </p:nvSpPr>
          <p:spPr>
            <a:xfrm>
              <a:off x="4057280" y="2566521"/>
              <a:ext cx="982853" cy="38068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 fontScale="85000" lnSpcReduction="10000"/>
            </a:bodyPr>
            <a:lstStyle/>
            <a:p>
              <a:pPr marL="0" indent="0" algn="l">
                <a:buNone/>
              </a:pPr>
              <a:r>
                <a:rPr lang="en-US" sz="2500" dirty="0">
                  <a:solidFill>
                    <a:srgbClr val="111111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/scratch</a:t>
              </a:r>
              <a:endParaRPr lang="en-US" sz="2500" dirty="0"/>
            </a:p>
          </p:txBody>
        </p:sp>
        <p:sp>
          <p:nvSpPr>
            <p:cNvPr id="71" name="Text 10">
              <a:extLst>
                <a:ext uri="{FF2B5EF4-FFF2-40B4-BE49-F238E27FC236}">
                  <a16:creationId xmlns:a16="http://schemas.microsoft.com/office/drawing/2014/main" id="{BDA28349-CCB1-D51F-DA3B-CEBF8DD2620F}"/>
                </a:ext>
              </a:extLst>
            </p:cNvPr>
            <p:cNvSpPr/>
            <p:nvPr/>
          </p:nvSpPr>
          <p:spPr>
            <a:xfrm>
              <a:off x="5881096" y="2362337"/>
              <a:ext cx="830580" cy="29070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 fontScale="92500" lnSpcReduction="20000"/>
            </a:bodyPr>
            <a:lstStyle/>
            <a:p>
              <a:pPr marL="0" indent="0" algn="l">
                <a:buNone/>
              </a:pPr>
              <a:r>
                <a:rPr lang="en-US" sz="2500" dirty="0">
                  <a:solidFill>
                    <a:srgbClr val="111111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/curc</a:t>
              </a:r>
              <a:endParaRPr lang="en-US" sz="2500" dirty="0"/>
            </a:p>
          </p:txBody>
        </p:sp>
        <p:sp>
          <p:nvSpPr>
            <p:cNvPr id="72" name="Text 11">
              <a:extLst>
                <a:ext uri="{FF2B5EF4-FFF2-40B4-BE49-F238E27FC236}">
                  <a16:creationId xmlns:a16="http://schemas.microsoft.com/office/drawing/2014/main" id="{6477E823-B668-B538-BEE2-D139BB507F4D}"/>
                </a:ext>
              </a:extLst>
            </p:cNvPr>
            <p:cNvSpPr/>
            <p:nvPr/>
          </p:nvSpPr>
          <p:spPr>
            <a:xfrm>
              <a:off x="5888017" y="2715334"/>
              <a:ext cx="1072833" cy="15227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 fontScale="92500" lnSpcReduction="10000"/>
            </a:bodyPr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111111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(software stack)</a:t>
              </a:r>
              <a:endParaRPr lang="en-US" sz="1200" dirty="0"/>
            </a:p>
          </p:txBody>
        </p:sp>
        <p:sp>
          <p:nvSpPr>
            <p:cNvPr id="73" name="Text 12">
              <a:extLst>
                <a:ext uri="{FF2B5EF4-FFF2-40B4-BE49-F238E27FC236}">
                  <a16:creationId xmlns:a16="http://schemas.microsoft.com/office/drawing/2014/main" id="{C9B69215-6FEB-CB6D-1EF9-2FE57F15619D}"/>
                </a:ext>
              </a:extLst>
            </p:cNvPr>
            <p:cNvSpPr/>
            <p:nvPr/>
          </p:nvSpPr>
          <p:spPr>
            <a:xfrm>
              <a:off x="8746597" y="2604590"/>
              <a:ext cx="484505" cy="38068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 lnSpcReduction="10000"/>
            </a:bodyPr>
            <a:lstStyle/>
            <a:p>
              <a:pPr marL="0" indent="0" algn="l">
                <a:buNone/>
              </a:pPr>
              <a:r>
                <a:rPr lang="en-US" sz="2500" dirty="0">
                  <a:solidFill>
                    <a:srgbClr val="111111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/pl</a:t>
              </a:r>
              <a:endParaRPr lang="en-US" sz="2500" dirty="0"/>
            </a:p>
          </p:txBody>
        </p:sp>
        <p:sp>
          <p:nvSpPr>
            <p:cNvPr id="74" name="Shape 13">
              <a:extLst>
                <a:ext uri="{FF2B5EF4-FFF2-40B4-BE49-F238E27FC236}">
                  <a16:creationId xmlns:a16="http://schemas.microsoft.com/office/drawing/2014/main" id="{35872FC4-F16A-D4BE-804C-17173BD6BDD6}"/>
                </a:ext>
              </a:extLst>
            </p:cNvPr>
            <p:cNvSpPr/>
            <p:nvPr/>
          </p:nvSpPr>
          <p:spPr>
            <a:xfrm>
              <a:off x="939145" y="2909136"/>
              <a:ext cx="0" cy="456819"/>
            </a:xfrm>
            <a:prstGeom prst="line">
              <a:avLst/>
            </a:prstGeom>
            <a:noFill/>
            <a:ln w="22860">
              <a:solidFill>
                <a:srgbClr val="111111"/>
              </a:solidFill>
              <a:prstDash val="solid"/>
              <a:headEnd type="none"/>
              <a:tailEnd type="none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6" name="Shape 15">
              <a:extLst>
                <a:ext uri="{FF2B5EF4-FFF2-40B4-BE49-F238E27FC236}">
                  <a16:creationId xmlns:a16="http://schemas.microsoft.com/office/drawing/2014/main" id="{07FA9F19-90A9-9244-0EDF-DD1D5C8A4F68}"/>
                </a:ext>
              </a:extLst>
            </p:cNvPr>
            <p:cNvSpPr/>
            <p:nvPr/>
          </p:nvSpPr>
          <p:spPr>
            <a:xfrm>
              <a:off x="2697206" y="2909136"/>
              <a:ext cx="0" cy="456819"/>
            </a:xfrm>
            <a:prstGeom prst="line">
              <a:avLst/>
            </a:prstGeom>
            <a:noFill/>
            <a:ln w="22860">
              <a:solidFill>
                <a:srgbClr val="111111"/>
              </a:solidFill>
              <a:prstDash val="solid"/>
              <a:headEnd type="none"/>
              <a:tailEnd type="none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7" name="Text 16">
              <a:extLst>
                <a:ext uri="{FF2B5EF4-FFF2-40B4-BE49-F238E27FC236}">
                  <a16:creationId xmlns:a16="http://schemas.microsoft.com/office/drawing/2014/main" id="{C6EA4DD5-CABA-36F2-9DE1-E17FFC3F18BC}"/>
                </a:ext>
              </a:extLst>
            </p:cNvPr>
            <p:cNvSpPr/>
            <p:nvPr/>
          </p:nvSpPr>
          <p:spPr>
            <a:xfrm>
              <a:off x="1915076" y="3393641"/>
              <a:ext cx="1591945" cy="35991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 fontScale="77500" lnSpcReduction="20000"/>
            </a:bodyPr>
            <a:lstStyle/>
            <a:p>
              <a:pPr marL="0" indent="0" algn="l">
                <a:buNone/>
              </a:pPr>
              <a:r>
                <a:rPr lang="en-US" sz="2200" dirty="0">
                  <a:solidFill>
                    <a:srgbClr val="111111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/projects/&lt;user&gt;</a:t>
              </a:r>
              <a:endParaRPr lang="en-US" sz="2200" dirty="0"/>
            </a:p>
          </p:txBody>
        </p:sp>
        <p:sp>
          <p:nvSpPr>
            <p:cNvPr id="78" name="Shape 17">
              <a:extLst>
                <a:ext uri="{FF2B5EF4-FFF2-40B4-BE49-F238E27FC236}">
                  <a16:creationId xmlns:a16="http://schemas.microsoft.com/office/drawing/2014/main" id="{D82A27B9-DA7F-01FB-6553-5BA77F2753DD}"/>
                </a:ext>
              </a:extLst>
            </p:cNvPr>
            <p:cNvSpPr/>
            <p:nvPr/>
          </p:nvSpPr>
          <p:spPr>
            <a:xfrm>
              <a:off x="4462188" y="2909136"/>
              <a:ext cx="0" cy="456819"/>
            </a:xfrm>
            <a:prstGeom prst="line">
              <a:avLst/>
            </a:prstGeom>
            <a:noFill/>
            <a:ln w="22860">
              <a:solidFill>
                <a:srgbClr val="111111"/>
              </a:solidFill>
              <a:prstDash val="solid"/>
              <a:headEnd type="none"/>
              <a:tailEnd type="none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9" name="Text 18">
              <a:extLst>
                <a:ext uri="{FF2B5EF4-FFF2-40B4-BE49-F238E27FC236}">
                  <a16:creationId xmlns:a16="http://schemas.microsoft.com/office/drawing/2014/main" id="{2488637E-5685-591F-F2A9-B80F58C11AEA}"/>
                </a:ext>
              </a:extLst>
            </p:cNvPr>
            <p:cNvSpPr/>
            <p:nvPr/>
          </p:nvSpPr>
          <p:spPr>
            <a:xfrm>
              <a:off x="3744492" y="3365955"/>
              <a:ext cx="1522730" cy="35991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 fontScale="77500" lnSpcReduction="20000"/>
            </a:bodyPr>
            <a:lstStyle/>
            <a:p>
              <a:pPr marL="0" indent="0" algn="l">
                <a:buNone/>
              </a:pPr>
              <a:r>
                <a:rPr lang="en-US" sz="2200" dirty="0">
                  <a:solidFill>
                    <a:srgbClr val="111111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/scratch/alpine</a:t>
              </a:r>
              <a:endParaRPr lang="en-US" sz="2200" dirty="0"/>
            </a:p>
          </p:txBody>
        </p:sp>
        <p:sp>
          <p:nvSpPr>
            <p:cNvPr id="80" name="Shape 19">
              <a:extLst>
                <a:ext uri="{FF2B5EF4-FFF2-40B4-BE49-F238E27FC236}">
                  <a16:creationId xmlns:a16="http://schemas.microsoft.com/office/drawing/2014/main" id="{DB02772A-365A-61C1-2133-BE0B97A0CB66}"/>
                </a:ext>
              </a:extLst>
            </p:cNvPr>
            <p:cNvSpPr/>
            <p:nvPr/>
          </p:nvSpPr>
          <p:spPr>
            <a:xfrm>
              <a:off x="4462188" y="3725873"/>
              <a:ext cx="0" cy="588328"/>
            </a:xfrm>
            <a:prstGeom prst="line">
              <a:avLst/>
            </a:prstGeom>
            <a:noFill/>
            <a:ln w="22860">
              <a:solidFill>
                <a:srgbClr val="111111"/>
              </a:solidFill>
              <a:prstDash val="solid"/>
              <a:headEnd type="none"/>
              <a:tailEnd type="none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1" name="Text 20">
              <a:extLst>
                <a:ext uri="{FF2B5EF4-FFF2-40B4-BE49-F238E27FC236}">
                  <a16:creationId xmlns:a16="http://schemas.microsoft.com/office/drawing/2014/main" id="{7193255B-88AB-479F-F665-46EEC20EBB2E}"/>
                </a:ext>
              </a:extLst>
            </p:cNvPr>
            <p:cNvSpPr/>
            <p:nvPr/>
          </p:nvSpPr>
          <p:spPr>
            <a:xfrm>
              <a:off x="3579696" y="4339062"/>
              <a:ext cx="1938020" cy="40144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 fontScale="70000" lnSpcReduction="20000"/>
            </a:bodyPr>
            <a:lstStyle/>
            <a:p>
              <a:pPr marL="0" indent="0" algn="l">
                <a:buNone/>
              </a:pPr>
              <a:r>
                <a:rPr lang="en-US" sz="2200" dirty="0">
                  <a:solidFill>
                    <a:srgbClr val="111111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/scratch/alpine/&lt;user&gt;</a:t>
              </a:r>
              <a:endParaRPr lang="en-US" sz="2200" dirty="0"/>
            </a:p>
          </p:txBody>
        </p:sp>
        <p:sp>
          <p:nvSpPr>
            <p:cNvPr id="82" name="Shape 21">
              <a:extLst>
                <a:ext uri="{FF2B5EF4-FFF2-40B4-BE49-F238E27FC236}">
                  <a16:creationId xmlns:a16="http://schemas.microsoft.com/office/drawing/2014/main" id="{98AAE701-30B7-0DCF-AB1A-382DB76375EA}"/>
                </a:ext>
              </a:extLst>
            </p:cNvPr>
            <p:cNvSpPr/>
            <p:nvPr/>
          </p:nvSpPr>
          <p:spPr>
            <a:xfrm>
              <a:off x="8919634" y="2992194"/>
              <a:ext cx="2207958" cy="0"/>
            </a:xfrm>
            <a:prstGeom prst="line">
              <a:avLst/>
            </a:prstGeom>
            <a:noFill/>
            <a:ln w="22860">
              <a:solidFill>
                <a:srgbClr val="111111"/>
              </a:solidFill>
              <a:prstDash val="solid"/>
              <a:headEnd type="none"/>
              <a:tailEnd type="none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3" name="Shape 22">
              <a:extLst>
                <a:ext uri="{FF2B5EF4-FFF2-40B4-BE49-F238E27FC236}">
                  <a16:creationId xmlns:a16="http://schemas.microsoft.com/office/drawing/2014/main" id="{A754E921-4590-914B-EA8F-94D42ED779E8}"/>
                </a:ext>
              </a:extLst>
            </p:cNvPr>
            <p:cNvSpPr/>
            <p:nvPr/>
          </p:nvSpPr>
          <p:spPr>
            <a:xfrm>
              <a:off x="8919634" y="2992194"/>
              <a:ext cx="0" cy="352997"/>
            </a:xfrm>
            <a:prstGeom prst="line">
              <a:avLst/>
            </a:prstGeom>
            <a:noFill/>
            <a:ln w="22860">
              <a:solidFill>
                <a:srgbClr val="111111"/>
              </a:solidFill>
              <a:prstDash val="solid"/>
              <a:headEnd type="none"/>
              <a:tailEnd type="none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4" name="Shape 23">
              <a:extLst>
                <a:ext uri="{FF2B5EF4-FFF2-40B4-BE49-F238E27FC236}">
                  <a16:creationId xmlns:a16="http://schemas.microsoft.com/office/drawing/2014/main" id="{D56F742A-E615-83B9-605B-5AFB3D8BBDE5}"/>
                </a:ext>
              </a:extLst>
            </p:cNvPr>
            <p:cNvSpPr/>
            <p:nvPr/>
          </p:nvSpPr>
          <p:spPr>
            <a:xfrm>
              <a:off x="11127592" y="2992194"/>
              <a:ext cx="0" cy="352997"/>
            </a:xfrm>
            <a:prstGeom prst="line">
              <a:avLst/>
            </a:prstGeom>
            <a:noFill/>
            <a:ln w="22860">
              <a:solidFill>
                <a:srgbClr val="111111"/>
              </a:solidFill>
              <a:prstDash val="solid"/>
              <a:headEnd type="none"/>
              <a:tailEnd type="none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5" name="Text 24">
              <a:extLst>
                <a:ext uri="{FF2B5EF4-FFF2-40B4-BE49-F238E27FC236}">
                  <a16:creationId xmlns:a16="http://schemas.microsoft.com/office/drawing/2014/main" id="{D66BF242-0215-B388-14F1-D8736BDC4C42}"/>
                </a:ext>
              </a:extLst>
            </p:cNvPr>
            <p:cNvSpPr/>
            <p:nvPr/>
          </p:nvSpPr>
          <p:spPr>
            <a:xfrm>
              <a:off x="8490501" y="3386719"/>
              <a:ext cx="1072833" cy="35991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 fontScale="92500"/>
            </a:bodyPr>
            <a:lstStyle/>
            <a:p>
              <a:pPr marL="0" indent="0" algn="l">
                <a:buNone/>
              </a:pPr>
              <a:r>
                <a:rPr lang="en-US" sz="2200" dirty="0">
                  <a:solidFill>
                    <a:srgbClr val="111111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/pl/active</a:t>
              </a:r>
              <a:endParaRPr lang="en-US" sz="2200" dirty="0"/>
            </a:p>
          </p:txBody>
        </p:sp>
        <p:sp>
          <p:nvSpPr>
            <p:cNvPr id="86" name="Text 25">
              <a:extLst>
                <a:ext uri="{FF2B5EF4-FFF2-40B4-BE49-F238E27FC236}">
                  <a16:creationId xmlns:a16="http://schemas.microsoft.com/office/drawing/2014/main" id="{2B70B4BD-74B1-294F-8D31-19443268CF96}"/>
                </a:ext>
              </a:extLst>
            </p:cNvPr>
            <p:cNvSpPr/>
            <p:nvPr/>
          </p:nvSpPr>
          <p:spPr>
            <a:xfrm>
              <a:off x="10650009" y="3386719"/>
              <a:ext cx="1142048" cy="35991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 fontScale="85000" lnSpcReduction="10000"/>
            </a:bodyPr>
            <a:lstStyle/>
            <a:p>
              <a:pPr marL="0" indent="0" algn="l">
                <a:buNone/>
              </a:pPr>
              <a:r>
                <a:rPr lang="en-US" sz="2200" dirty="0">
                  <a:solidFill>
                    <a:srgbClr val="111111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/pl/archive</a:t>
              </a:r>
              <a:endParaRPr lang="en-US" sz="2200" dirty="0"/>
            </a:p>
          </p:txBody>
        </p:sp>
        <p:sp>
          <p:nvSpPr>
            <p:cNvPr id="87" name="Shape 26">
              <a:extLst>
                <a:ext uri="{FF2B5EF4-FFF2-40B4-BE49-F238E27FC236}">
                  <a16:creationId xmlns:a16="http://schemas.microsoft.com/office/drawing/2014/main" id="{C73D1A8E-A458-7137-0B6C-6AA0EBD8942C}"/>
                </a:ext>
              </a:extLst>
            </p:cNvPr>
            <p:cNvSpPr/>
            <p:nvPr/>
          </p:nvSpPr>
          <p:spPr>
            <a:xfrm>
              <a:off x="8926556" y="3705108"/>
              <a:ext cx="0" cy="560642"/>
            </a:xfrm>
            <a:prstGeom prst="line">
              <a:avLst/>
            </a:prstGeom>
            <a:noFill/>
            <a:ln w="22860">
              <a:solidFill>
                <a:srgbClr val="111111"/>
              </a:solidFill>
              <a:prstDash val="solid"/>
              <a:headEnd type="none"/>
              <a:tailEnd type="none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8" name="Shape 27">
              <a:extLst>
                <a:ext uri="{FF2B5EF4-FFF2-40B4-BE49-F238E27FC236}">
                  <a16:creationId xmlns:a16="http://schemas.microsoft.com/office/drawing/2014/main" id="{F318DEA4-71FF-CF1C-E2BE-BB2F78E352AD}"/>
                </a:ext>
              </a:extLst>
            </p:cNvPr>
            <p:cNvSpPr/>
            <p:nvPr/>
          </p:nvSpPr>
          <p:spPr>
            <a:xfrm>
              <a:off x="11127592" y="3705108"/>
              <a:ext cx="0" cy="560642"/>
            </a:xfrm>
            <a:prstGeom prst="line">
              <a:avLst/>
            </a:prstGeom>
            <a:noFill/>
            <a:ln w="22860">
              <a:solidFill>
                <a:srgbClr val="111111"/>
              </a:solidFill>
              <a:prstDash val="solid"/>
              <a:headEnd type="none"/>
              <a:tailEnd type="none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9" name="Text 28">
              <a:extLst>
                <a:ext uri="{FF2B5EF4-FFF2-40B4-BE49-F238E27FC236}">
                  <a16:creationId xmlns:a16="http://schemas.microsoft.com/office/drawing/2014/main" id="{4FDE1D9B-6996-9AC2-4E12-FFFEC540BA03}"/>
                </a:ext>
              </a:extLst>
            </p:cNvPr>
            <p:cNvSpPr/>
            <p:nvPr/>
          </p:nvSpPr>
          <p:spPr>
            <a:xfrm>
              <a:off x="8137504" y="4265750"/>
              <a:ext cx="1730375" cy="38068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 fontScale="77500" lnSpcReduction="20000"/>
            </a:bodyPr>
            <a:lstStyle/>
            <a:p>
              <a:pPr marL="0" indent="0" algn="l">
                <a:buNone/>
              </a:pPr>
              <a:r>
                <a:rPr lang="en-US" sz="2200" dirty="0">
                  <a:solidFill>
                    <a:srgbClr val="111111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/pl/active/&lt;group&gt;</a:t>
              </a:r>
              <a:endParaRPr lang="en-US" sz="2200" dirty="0"/>
            </a:p>
          </p:txBody>
        </p:sp>
        <p:sp>
          <p:nvSpPr>
            <p:cNvPr id="90" name="Text 29">
              <a:extLst>
                <a:ext uri="{FF2B5EF4-FFF2-40B4-BE49-F238E27FC236}">
                  <a16:creationId xmlns:a16="http://schemas.microsoft.com/office/drawing/2014/main" id="{06122E52-9D21-086B-B54E-1FC166F113BE}"/>
                </a:ext>
              </a:extLst>
            </p:cNvPr>
            <p:cNvSpPr/>
            <p:nvPr/>
          </p:nvSpPr>
          <p:spPr>
            <a:xfrm>
              <a:off x="10220876" y="4265750"/>
              <a:ext cx="1730375" cy="38068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 fontScale="70000" lnSpcReduction="20000"/>
            </a:bodyPr>
            <a:lstStyle/>
            <a:p>
              <a:pPr marL="0" indent="0" algn="l">
                <a:buNone/>
              </a:pPr>
              <a:r>
                <a:rPr lang="en-US" sz="2200" dirty="0">
                  <a:solidFill>
                    <a:srgbClr val="111111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/pl/archive/&lt;group&gt;</a:t>
              </a:r>
              <a:endParaRPr lang="en-US" sz="2200" dirty="0"/>
            </a:p>
          </p:txBody>
        </p:sp>
      </p:grpSp>
    </p:spTree>
    <p:extLst>
      <p:ext uri="{BB962C8B-B14F-4D97-AF65-F5344CB8AC3E}">
        <p14:creationId xmlns:p14="http://schemas.microsoft.com/office/powerpoint/2010/main" val="14541538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A5B5DA-BC6A-7BA7-29D4-08F9204BB0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DB9173-4CCA-F71B-04B5-91BA41E035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1325563"/>
          </a:xfrm>
        </p:spPr>
        <p:txBody>
          <a:bodyPr/>
          <a:lstStyle/>
          <a:p>
            <a:r>
              <a:rPr lang="en-US" dirty="0"/>
              <a:t>File Operations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570C9A1-5845-D561-B1F3-AE1A4949DF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A560F-461C-6043-9BC4-489BA92F7161}" type="slidenum">
              <a:rPr lang="en-US" smtClean="0"/>
              <a:t>12</a:t>
            </a:fld>
            <a:endParaRPr lang="en-US"/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3A868109-8DDA-00F1-76C1-1411E8180F00}"/>
              </a:ext>
            </a:extLst>
          </p:cNvPr>
          <p:cNvGrpSpPr/>
          <p:nvPr/>
        </p:nvGrpSpPr>
        <p:grpSpPr>
          <a:xfrm>
            <a:off x="1470660" y="1462088"/>
            <a:ext cx="9250680" cy="4543807"/>
            <a:chOff x="2254948" y="1462088"/>
            <a:chExt cx="9250680" cy="4543807"/>
          </a:xfrm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233D9678-2E76-3E55-D6E2-36200B4A28C3}"/>
                </a:ext>
              </a:extLst>
            </p:cNvPr>
            <p:cNvGrpSpPr/>
            <p:nvPr/>
          </p:nvGrpSpPr>
          <p:grpSpPr>
            <a:xfrm>
              <a:off x="2254948" y="1462088"/>
              <a:ext cx="3474720" cy="2089594"/>
              <a:chOff x="2254948" y="1844230"/>
              <a:chExt cx="3474720" cy="2089594"/>
            </a:xfrm>
          </p:grpSpPr>
          <p:pic>
            <p:nvPicPr>
              <p:cNvPr id="8" name="Graphic 7" descr="Open folder outline">
                <a:extLst>
                  <a:ext uri="{FF2B5EF4-FFF2-40B4-BE49-F238E27FC236}">
                    <a16:creationId xmlns:a16="http://schemas.microsoft.com/office/drawing/2014/main" id="{93FC7E3C-272D-62E3-604B-82C88C2014D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p:blipFill>
            <p:spPr>
              <a:xfrm>
                <a:off x="3875532" y="2971800"/>
                <a:ext cx="0" cy="0"/>
              </a:xfrm>
              <a:prstGeom prst="rect">
                <a:avLst/>
              </a:prstGeom>
            </p:spPr>
          </p:pic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1E1EC58D-E66E-F5E9-8E69-92CDF35683AC}"/>
                  </a:ext>
                </a:extLst>
              </p:cNvPr>
              <p:cNvSpPr/>
              <p:nvPr/>
            </p:nvSpPr>
            <p:spPr>
              <a:xfrm>
                <a:off x="2254948" y="1844230"/>
                <a:ext cx="3474720" cy="2089594"/>
              </a:xfrm>
              <a:prstGeom prst="round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7E18E69-4A6A-5B22-87B5-0CFACD4691B1}"/>
                  </a:ext>
                </a:extLst>
              </p:cNvPr>
              <p:cNvSpPr txBox="1"/>
              <p:nvPr/>
            </p:nvSpPr>
            <p:spPr>
              <a:xfrm>
                <a:off x="2317811" y="3181668"/>
                <a:ext cx="3348994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3200" b="1" dirty="0">
                    <a:solidFill>
                      <a:srgbClr val="0070C0"/>
                    </a:solidFill>
                    <a:latin typeface="Consolas"/>
                    <a:cs typeface="Consolas"/>
                  </a:rPr>
                  <a:t>cd [-o] &lt;path&gt;</a:t>
                </a:r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DED40F7-7D64-888C-08A5-19FC803F5427}"/>
                  </a:ext>
                </a:extLst>
              </p:cNvPr>
              <p:cNvSpPr txBox="1"/>
              <p:nvPr/>
            </p:nvSpPr>
            <p:spPr>
              <a:xfrm>
                <a:off x="2999889" y="2014340"/>
                <a:ext cx="1984839" cy="107721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3200" b="1" dirty="0"/>
                  <a:t>Change </a:t>
                </a:r>
              </a:p>
              <a:p>
                <a:pPr algn="ctr"/>
                <a:r>
                  <a:rPr lang="en-US" sz="3200" b="1" dirty="0"/>
                  <a:t>Directory</a:t>
                </a:r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7E25A928-ACE1-7794-2A29-E38B9B600A94}"/>
                </a:ext>
              </a:extLst>
            </p:cNvPr>
            <p:cNvGrpSpPr/>
            <p:nvPr/>
          </p:nvGrpSpPr>
          <p:grpSpPr>
            <a:xfrm>
              <a:off x="6019228" y="1462088"/>
              <a:ext cx="5486400" cy="2089594"/>
              <a:chOff x="2014999" y="1844230"/>
              <a:chExt cx="4114800" cy="2089594"/>
            </a:xfrm>
          </p:grpSpPr>
          <p:pic>
            <p:nvPicPr>
              <p:cNvPr id="14" name="Graphic 13" descr="Open folder outline">
                <a:extLst>
                  <a:ext uri="{FF2B5EF4-FFF2-40B4-BE49-F238E27FC236}">
                    <a16:creationId xmlns:a16="http://schemas.microsoft.com/office/drawing/2014/main" id="{06A1603C-FD67-7A77-1556-CA3E65C8B06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p:blipFill>
            <p:spPr>
              <a:xfrm>
                <a:off x="3875532" y="2971800"/>
                <a:ext cx="0" cy="0"/>
              </a:xfrm>
              <a:prstGeom prst="rect">
                <a:avLst/>
              </a:prstGeom>
            </p:spPr>
          </p:pic>
          <p:sp>
            <p:nvSpPr>
              <p:cNvPr id="15" name="Rounded Rectangle 14">
                <a:extLst>
                  <a:ext uri="{FF2B5EF4-FFF2-40B4-BE49-F238E27FC236}">
                    <a16:creationId xmlns:a16="http://schemas.microsoft.com/office/drawing/2014/main" id="{005D8A23-1E7B-56B7-FA44-70B4B3819EE7}"/>
                  </a:ext>
                </a:extLst>
              </p:cNvPr>
              <p:cNvSpPr/>
              <p:nvPr/>
            </p:nvSpPr>
            <p:spPr>
              <a:xfrm>
                <a:off x="2014999" y="1844230"/>
                <a:ext cx="4114800" cy="2089594"/>
              </a:xfrm>
              <a:prstGeom prst="round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7C3DDA6F-EE57-F771-6066-10223EE52066}"/>
                  </a:ext>
                </a:extLst>
              </p:cNvPr>
              <p:cNvSpPr txBox="1"/>
              <p:nvPr/>
            </p:nvSpPr>
            <p:spPr>
              <a:xfrm>
                <a:off x="2562251" y="3181668"/>
                <a:ext cx="3020298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3200" b="1" dirty="0" err="1">
                    <a:solidFill>
                      <a:srgbClr val="0070C0"/>
                    </a:solidFill>
                    <a:latin typeface="Consolas"/>
                    <a:cs typeface="Consolas"/>
                  </a:rPr>
                  <a:t>mkdir</a:t>
                </a:r>
                <a:r>
                  <a:rPr lang="en-US" sz="3200" b="1" dirty="0">
                    <a:solidFill>
                      <a:srgbClr val="0070C0"/>
                    </a:solidFill>
                    <a:latin typeface="Consolas"/>
                    <a:cs typeface="Consolas"/>
                  </a:rPr>
                  <a:t> [-o] &lt;path&gt;</a:t>
                </a: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F6B899B-ACD2-C6A0-0046-2FAD5F77A9FB}"/>
                  </a:ext>
                </a:extLst>
              </p:cNvPr>
              <p:cNvSpPr txBox="1"/>
              <p:nvPr/>
            </p:nvSpPr>
            <p:spPr>
              <a:xfrm>
                <a:off x="3079980" y="2014340"/>
                <a:ext cx="1984839" cy="107721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3200" b="1" dirty="0"/>
                  <a:t>Make </a:t>
                </a:r>
              </a:p>
              <a:p>
                <a:pPr algn="ctr"/>
                <a:r>
                  <a:rPr lang="en-US" sz="3200" b="1" dirty="0"/>
                  <a:t>Directory</a:t>
                </a:r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74900AFF-1E42-7815-4763-1050602C2771}"/>
                </a:ext>
              </a:extLst>
            </p:cNvPr>
            <p:cNvGrpSpPr/>
            <p:nvPr/>
          </p:nvGrpSpPr>
          <p:grpSpPr>
            <a:xfrm>
              <a:off x="2254948" y="3916301"/>
              <a:ext cx="5486400" cy="2089594"/>
              <a:chOff x="2238984" y="1844230"/>
              <a:chExt cx="3478273" cy="2089594"/>
            </a:xfrm>
          </p:grpSpPr>
          <p:pic>
            <p:nvPicPr>
              <p:cNvPr id="19" name="Graphic 18" descr="Open folder outline">
                <a:extLst>
                  <a:ext uri="{FF2B5EF4-FFF2-40B4-BE49-F238E27FC236}">
                    <a16:creationId xmlns:a16="http://schemas.microsoft.com/office/drawing/2014/main" id="{7619D01D-3E4F-7B09-D3B4-C6A2762F061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p:blipFill>
            <p:spPr>
              <a:xfrm>
                <a:off x="3875532" y="2971800"/>
                <a:ext cx="0" cy="0"/>
              </a:xfrm>
              <a:prstGeom prst="rect">
                <a:avLst/>
              </a:prstGeom>
            </p:spPr>
          </p:pic>
          <p:sp>
            <p:nvSpPr>
              <p:cNvPr id="20" name="Rounded Rectangle 19">
                <a:extLst>
                  <a:ext uri="{FF2B5EF4-FFF2-40B4-BE49-F238E27FC236}">
                    <a16:creationId xmlns:a16="http://schemas.microsoft.com/office/drawing/2014/main" id="{5C4562FB-7C03-8BD1-998A-7F011482916C}"/>
                  </a:ext>
                </a:extLst>
              </p:cNvPr>
              <p:cNvSpPr/>
              <p:nvPr/>
            </p:nvSpPr>
            <p:spPr>
              <a:xfrm>
                <a:off x="2238984" y="1844230"/>
                <a:ext cx="3478273" cy="2089594"/>
              </a:xfrm>
              <a:prstGeom prst="round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44BC9B5B-3CF7-804E-D51B-00BDDC734B9A}"/>
                  </a:ext>
                </a:extLst>
              </p:cNvPr>
              <p:cNvSpPr txBox="1"/>
              <p:nvPr/>
            </p:nvSpPr>
            <p:spPr>
              <a:xfrm>
                <a:off x="2271697" y="3181668"/>
                <a:ext cx="3412849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3200" b="1" dirty="0">
                    <a:solidFill>
                      <a:srgbClr val="0070C0"/>
                    </a:solidFill>
                    <a:latin typeface="Consolas"/>
                    <a:cs typeface="Consolas"/>
                  </a:rPr>
                  <a:t>cp [-o] &lt;source&gt; &lt;</a:t>
                </a:r>
                <a:r>
                  <a:rPr lang="en-US" sz="3200" b="1" dirty="0" err="1">
                    <a:solidFill>
                      <a:srgbClr val="0070C0"/>
                    </a:solidFill>
                    <a:latin typeface="Consolas"/>
                    <a:cs typeface="Consolas"/>
                  </a:rPr>
                  <a:t>dest</a:t>
                </a:r>
                <a:r>
                  <a:rPr lang="en-US" sz="3200" b="1" dirty="0">
                    <a:solidFill>
                      <a:srgbClr val="0070C0"/>
                    </a:solidFill>
                    <a:latin typeface="Consolas"/>
                    <a:cs typeface="Consolas"/>
                  </a:rPr>
                  <a:t>&gt;</a:t>
                </a:r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05A21E4C-9245-1DA6-0994-1FA1B615320B}"/>
                  </a:ext>
                </a:extLst>
              </p:cNvPr>
              <p:cNvSpPr txBox="1"/>
              <p:nvPr/>
            </p:nvSpPr>
            <p:spPr>
              <a:xfrm>
                <a:off x="2742739" y="2014340"/>
                <a:ext cx="2470764" cy="107721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3200" b="1" dirty="0"/>
                  <a:t>Copy / Move </a:t>
                </a:r>
              </a:p>
              <a:p>
                <a:pPr algn="ctr"/>
                <a:r>
                  <a:rPr lang="en-US" sz="3200" b="1" dirty="0"/>
                  <a:t>Files &amp; Directories </a:t>
                </a:r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AF762859-AFFB-01F6-9BC0-972AD90C53EF}"/>
                </a:ext>
              </a:extLst>
            </p:cNvPr>
            <p:cNvGrpSpPr/>
            <p:nvPr/>
          </p:nvGrpSpPr>
          <p:grpSpPr>
            <a:xfrm>
              <a:off x="8030908" y="3916301"/>
              <a:ext cx="3474720" cy="2089594"/>
              <a:chOff x="2254948" y="1844230"/>
              <a:chExt cx="3474720" cy="2089594"/>
            </a:xfrm>
          </p:grpSpPr>
          <p:pic>
            <p:nvPicPr>
              <p:cNvPr id="24" name="Graphic 23" descr="Open folder outline">
                <a:extLst>
                  <a:ext uri="{FF2B5EF4-FFF2-40B4-BE49-F238E27FC236}">
                    <a16:creationId xmlns:a16="http://schemas.microsoft.com/office/drawing/2014/main" id="{1C0AF813-67D3-F2EB-05E1-D283404B8DD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p:blipFill>
            <p:spPr>
              <a:xfrm>
                <a:off x="3875532" y="2971800"/>
                <a:ext cx="0" cy="0"/>
              </a:xfrm>
              <a:prstGeom prst="rect">
                <a:avLst/>
              </a:prstGeom>
            </p:spPr>
          </p:pic>
          <p:sp>
            <p:nvSpPr>
              <p:cNvPr id="25" name="Rounded Rectangle 24">
                <a:extLst>
                  <a:ext uri="{FF2B5EF4-FFF2-40B4-BE49-F238E27FC236}">
                    <a16:creationId xmlns:a16="http://schemas.microsoft.com/office/drawing/2014/main" id="{C9851041-E733-31A0-23AA-9FEE8EB9118C}"/>
                  </a:ext>
                </a:extLst>
              </p:cNvPr>
              <p:cNvSpPr/>
              <p:nvPr/>
            </p:nvSpPr>
            <p:spPr>
              <a:xfrm>
                <a:off x="2254948" y="1844230"/>
                <a:ext cx="3474720" cy="2089594"/>
              </a:xfrm>
              <a:prstGeom prst="round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13D33C83-4A9B-CA16-5E91-678EF8E7F46C}"/>
                  </a:ext>
                </a:extLst>
              </p:cNvPr>
              <p:cNvSpPr txBox="1"/>
              <p:nvPr/>
            </p:nvSpPr>
            <p:spPr>
              <a:xfrm>
                <a:off x="2317811" y="3181668"/>
                <a:ext cx="3348994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3200" b="1" dirty="0">
                    <a:solidFill>
                      <a:srgbClr val="0070C0"/>
                    </a:solidFill>
                    <a:latin typeface="Consolas"/>
                    <a:cs typeface="Consolas"/>
                  </a:rPr>
                  <a:t>rm [-o] &lt;path&gt;</a:t>
                </a:r>
              </a:p>
            </p:txBody>
          </p: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45C318CE-5B6E-B6F2-6BB6-733FA143943F}"/>
                  </a:ext>
                </a:extLst>
              </p:cNvPr>
              <p:cNvSpPr txBox="1"/>
              <p:nvPr/>
            </p:nvSpPr>
            <p:spPr>
              <a:xfrm>
                <a:off x="3228317" y="2014340"/>
                <a:ext cx="1527982" cy="107721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3200" b="1" dirty="0"/>
                  <a:t>Delete </a:t>
                </a:r>
              </a:p>
              <a:p>
                <a:pPr algn="ctr"/>
                <a:r>
                  <a:rPr lang="en-US" sz="3200" b="1" dirty="0"/>
                  <a:t>Files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76425903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92A80F-467A-598A-27CA-29D7AB90F4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3061" y="83771"/>
            <a:ext cx="11265877" cy="1325563"/>
          </a:xfrm>
        </p:spPr>
        <p:txBody>
          <a:bodyPr/>
          <a:lstStyle/>
          <a:p>
            <a:r>
              <a:rPr lang="en-US" dirty="0"/>
              <a:t>Create and edit a file – Terminal Text Editors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75D91E8-1460-FB3B-3CB2-3E96670D60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A560F-461C-6043-9BC4-489BA92F7161}" type="slidenum">
              <a:rPr lang="en-US" smtClean="0"/>
              <a:t>13</a:t>
            </a:fld>
            <a:endParaRPr lang="en-US"/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E70EF3A4-5D20-8FC8-D18B-D1E2A7B2DB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1003" y="1919771"/>
            <a:ext cx="2588146" cy="25935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2" name="Picture 4" descr="undefined">
            <a:extLst>
              <a:ext uri="{FF2B5EF4-FFF2-40B4-BE49-F238E27FC236}">
                <a16:creationId xmlns:a16="http://schemas.microsoft.com/office/drawing/2014/main" id="{7ED316EC-14FF-145E-0407-F8D5D73702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09554" y="1892931"/>
            <a:ext cx="2504284" cy="25042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F1B0254-9AB2-7400-7547-32E8717BC092}"/>
              </a:ext>
            </a:extLst>
          </p:cNvPr>
          <p:cNvSpPr txBox="1"/>
          <p:nvPr/>
        </p:nvSpPr>
        <p:spPr>
          <a:xfrm>
            <a:off x="5192896" y="4667972"/>
            <a:ext cx="153760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dirty="0">
                <a:latin typeface="Consolas" panose="020B0609020204030204" pitchFamily="49" charset="0"/>
                <a:cs typeface="Consolas" panose="020B0609020204030204" pitchFamily="49" charset="0"/>
              </a:rPr>
              <a:t>Nano</a:t>
            </a:r>
            <a:endParaRPr lang="en-US" b="1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02634B4-AF40-DF74-B510-3B418611DD74}"/>
              </a:ext>
            </a:extLst>
          </p:cNvPr>
          <p:cNvSpPr txBox="1"/>
          <p:nvPr/>
        </p:nvSpPr>
        <p:spPr>
          <a:xfrm>
            <a:off x="1605392" y="4706490"/>
            <a:ext cx="11993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dirty="0">
                <a:latin typeface="Consolas" panose="020B0609020204030204" pitchFamily="49" charset="0"/>
                <a:cs typeface="Consolas" panose="020B0609020204030204" pitchFamily="49" charset="0"/>
              </a:rPr>
              <a:t>Vim</a:t>
            </a:r>
            <a:endParaRPr lang="en-US" b="1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39DE716-6152-038B-9818-B2CAD2E0DC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24243" y="1776826"/>
            <a:ext cx="2793505" cy="273649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935EB34-99AB-6FA2-4581-3E5B01CD1D91}"/>
              </a:ext>
            </a:extLst>
          </p:cNvPr>
          <p:cNvSpPr txBox="1"/>
          <p:nvPr/>
        </p:nvSpPr>
        <p:spPr>
          <a:xfrm>
            <a:off x="8883077" y="4667972"/>
            <a:ext cx="187583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dirty="0">
                <a:latin typeface="Consolas" panose="020B0609020204030204" pitchFamily="49" charset="0"/>
                <a:cs typeface="Consolas" panose="020B0609020204030204" pitchFamily="49" charset="0"/>
              </a:rPr>
              <a:t>Emacs</a:t>
            </a:r>
            <a:endParaRPr lang="en-US" b="1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4620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E738BD-DBBE-2994-7077-B94D7FE356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6187"/>
            <a:ext cx="10515600" cy="1325563"/>
          </a:xfrm>
        </p:spPr>
        <p:txBody>
          <a:bodyPr/>
          <a:lstStyle/>
          <a:p>
            <a:r>
              <a:rPr lang="en-US" dirty="0"/>
              <a:t>Creating a Bash Script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F2F1B2F-F244-BE48-7497-088CA2C348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A560F-461C-6043-9BC4-489BA92F7161}" type="slidenum">
              <a:rPr lang="en-US" smtClean="0"/>
              <a:t>14</a:t>
            </a:fld>
            <a:endParaRPr lang="en-US"/>
          </a:p>
        </p:txBody>
      </p:sp>
      <p:pic>
        <p:nvPicPr>
          <p:cNvPr id="7" name="Graphic 6" descr="Programmer male with solid fill">
            <a:extLst>
              <a:ext uri="{FF2B5EF4-FFF2-40B4-BE49-F238E27FC236}">
                <a16:creationId xmlns:a16="http://schemas.microsoft.com/office/drawing/2014/main" id="{F651B605-88E9-D063-5E96-8891257EEC8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810000" y="1615675"/>
            <a:ext cx="4116910" cy="41169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325846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216;p31">
            <a:extLst>
              <a:ext uri="{FF2B5EF4-FFF2-40B4-BE49-F238E27FC236}">
                <a16:creationId xmlns:a16="http://schemas.microsoft.com/office/drawing/2014/main" id="{7BB7D35D-D791-33B1-E779-2E55122C2C9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51901" y="188360"/>
            <a:ext cx="9962909" cy="7149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7450" rIns="0" bIns="0" anchor="ctr" anchorCtr="0">
            <a:spAutoFit/>
          </a:bodyPr>
          <a:lstStyle/>
          <a:p>
            <a:pPr marL="29975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 Black"/>
              <a:buNone/>
            </a:pPr>
            <a:r>
              <a:rPr lang="en-US" dirty="0"/>
              <a:t>Shell script basics</a:t>
            </a:r>
            <a:endParaRPr dirty="0"/>
          </a:p>
        </p:txBody>
      </p:sp>
      <p:sp>
        <p:nvSpPr>
          <p:cNvPr id="223" name="Google Shape;223;p32"/>
          <p:cNvSpPr txBox="1"/>
          <p:nvPr/>
        </p:nvSpPr>
        <p:spPr>
          <a:xfrm>
            <a:off x="672775" y="1190417"/>
            <a:ext cx="10302600" cy="2093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04900" rIns="0" bIns="0" anchor="t" anchorCtr="0">
            <a:spAutoFit/>
          </a:bodyPr>
          <a:lstStyle/>
          <a:p>
            <a:pPr marL="677130" marR="0" lvl="0" indent="-3429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dk1"/>
                </a:solidFill>
                <a:latin typeface="+mn-lt"/>
                <a:ea typeface="Helvetica Neue Light" panose="02000403000000020004" pitchFamily="2" charset="0"/>
              </a:rPr>
              <a:t>In shell scripts, the first line must specify the shell e.g. </a:t>
            </a:r>
            <a:r>
              <a:rPr lang="en-US" sz="2400" b="1" dirty="0">
                <a:solidFill>
                  <a:srgbClr val="0070C0"/>
                </a:solidFill>
                <a:latin typeface="Consolas"/>
                <a:cs typeface="Consolas"/>
              </a:rPr>
              <a:t>#!/bin/bash</a:t>
            </a:r>
            <a:endParaRPr sz="2400" b="1" dirty="0">
              <a:solidFill>
                <a:srgbClr val="0070C0"/>
              </a:solidFill>
              <a:latin typeface="Consolas"/>
              <a:cs typeface="Consolas"/>
            </a:endParaRPr>
          </a:p>
          <a:p>
            <a:pPr marL="683448" marR="28477" lvl="0" indent="-349218" algn="l" rtl="0">
              <a:lnSpc>
                <a:spcPct val="125000"/>
              </a:lnSpc>
              <a:spcBef>
                <a:spcPts val="507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dk1"/>
                </a:solidFill>
                <a:latin typeface="+mn-lt"/>
                <a:ea typeface="Helvetica Neue Light" panose="02000403000000020004" pitchFamily="2" charset="0"/>
              </a:rPr>
              <a:t>The program loader recognizes the </a:t>
            </a:r>
            <a:r>
              <a:rPr lang="en-US" sz="2400" b="1" dirty="0">
                <a:solidFill>
                  <a:srgbClr val="0070C0"/>
                </a:solidFill>
                <a:latin typeface="Consolas"/>
                <a:cs typeface="Consolas"/>
              </a:rPr>
              <a:t>#!</a:t>
            </a:r>
            <a:r>
              <a:rPr lang="en-US" sz="2400" dirty="0">
                <a:solidFill>
                  <a:schemeClr val="dk1"/>
                </a:solidFill>
                <a:latin typeface="+mn-lt"/>
                <a:ea typeface="Helvetica Neue Light" panose="02000403000000020004" pitchFamily="2" charset="0"/>
              </a:rPr>
              <a:t> and will interpret the rest of the line (</a:t>
            </a:r>
            <a:r>
              <a:rPr lang="en-US" sz="2400" b="1" dirty="0">
                <a:solidFill>
                  <a:srgbClr val="0070C0"/>
                </a:solidFill>
                <a:latin typeface="Consolas"/>
                <a:cs typeface="Consolas"/>
              </a:rPr>
              <a:t>/bin/bash</a:t>
            </a:r>
            <a:r>
              <a:rPr lang="en-US" sz="2400" dirty="0">
                <a:solidFill>
                  <a:schemeClr val="dk1"/>
                </a:solidFill>
                <a:latin typeface="+mn-lt"/>
                <a:ea typeface="Helvetica Neue Light" panose="02000403000000020004" pitchFamily="2" charset="0"/>
              </a:rPr>
              <a:t>) as the interpreter program.</a:t>
            </a:r>
            <a:endParaRPr sz="2400" dirty="0">
              <a:solidFill>
                <a:schemeClr val="dk1"/>
              </a:solidFill>
              <a:latin typeface="+mn-lt"/>
              <a:ea typeface="Helvetica Neue Light" panose="02000403000000020004" pitchFamily="2" charset="0"/>
            </a:endParaRPr>
          </a:p>
          <a:p>
            <a:pPr marL="677130" marR="0" lvl="0" indent="-342900" algn="l" rtl="0">
              <a:lnSpc>
                <a:spcPct val="125000"/>
              </a:lnSpc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dk1"/>
                </a:solidFill>
                <a:latin typeface="+mn-lt"/>
                <a:ea typeface="Helvetica Neue Light" panose="02000403000000020004" pitchFamily="2" charset="0"/>
              </a:rPr>
              <a:t>If a line starts with </a:t>
            </a:r>
            <a:r>
              <a:rPr lang="en-US" sz="2400" b="1" dirty="0">
                <a:solidFill>
                  <a:srgbClr val="0070C0"/>
                </a:solidFill>
                <a:latin typeface="Consolas"/>
                <a:cs typeface="Consolas"/>
              </a:rPr>
              <a:t>#</a:t>
            </a:r>
            <a:r>
              <a:rPr lang="en-US" sz="2400" dirty="0">
                <a:solidFill>
                  <a:schemeClr val="dk1"/>
                </a:solidFill>
                <a:latin typeface="+mn-lt"/>
                <a:ea typeface="Helvetica Neue Light" panose="02000403000000020004" pitchFamily="2" charset="0"/>
              </a:rPr>
              <a:t>, it is a comment and is not run.</a:t>
            </a:r>
            <a:endParaRPr sz="2400" dirty="0">
              <a:solidFill>
                <a:schemeClr val="dk1"/>
              </a:solidFill>
              <a:latin typeface="+mn-lt"/>
              <a:ea typeface="Helvetica Neue Light" panose="02000403000000020004" pitchFamily="2" charset="0"/>
            </a:endParaRPr>
          </a:p>
        </p:txBody>
      </p:sp>
      <p:sp>
        <p:nvSpPr>
          <p:cNvPr id="222" name="Google Shape;222;p3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72775" y="3510125"/>
            <a:ext cx="6070925" cy="2415600"/>
          </a:xfrm>
          <a:prstGeom prst="roundRect">
            <a:avLst>
              <a:gd name="adj" fmla="val 16667"/>
            </a:avLst>
          </a:prstGeom>
          <a:solidFill>
            <a:srgbClr val="CFE2F3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4" name="Google Shape;224;p32"/>
          <p:cNvSpPr txBox="1"/>
          <p:nvPr/>
        </p:nvSpPr>
        <p:spPr>
          <a:xfrm>
            <a:off x="944700" y="3497425"/>
            <a:ext cx="5694600" cy="27177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1475" rIns="0" bIns="0" anchor="t" anchorCtr="0">
            <a:spAutoFit/>
          </a:bodyPr>
          <a:lstStyle/>
          <a:p>
            <a:pPr marL="29975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600" i="1" dirty="0">
                <a:solidFill>
                  <a:srgbClr val="3F7F7F"/>
                </a:solidFill>
                <a:latin typeface="Courier New"/>
                <a:ea typeface="Courier New"/>
                <a:cs typeface="Courier New"/>
                <a:sym typeface="Courier New"/>
              </a:rPr>
              <a:t>#!/bin/bash</a:t>
            </a:r>
            <a:br>
              <a:rPr lang="en-US" sz="2600" i="1" dirty="0">
                <a:solidFill>
                  <a:srgbClr val="3F7F7F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US" sz="2600" i="1" dirty="0">
                <a:solidFill>
                  <a:srgbClr val="3F7F7F"/>
                </a:solidFill>
                <a:latin typeface="Courier New"/>
                <a:ea typeface="Courier New"/>
                <a:cs typeface="Courier New"/>
                <a:sym typeface="Courier New"/>
              </a:rPr>
              <a:t>#look at the files in /</a:t>
            </a:r>
            <a:r>
              <a:rPr lang="en-US" sz="2600" i="1" dirty="0" err="1">
                <a:solidFill>
                  <a:srgbClr val="3F7F7F"/>
                </a:solidFill>
                <a:latin typeface="Courier New"/>
                <a:ea typeface="Courier New"/>
                <a:cs typeface="Courier New"/>
                <a:sym typeface="Courier New"/>
              </a:rPr>
              <a:t>tmp</a:t>
            </a:r>
            <a:endParaRPr sz="27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29975" marR="1212522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600" dirty="0">
                <a:solidFill>
                  <a:schemeClr val="tx1"/>
                </a:solidFill>
                <a:latin typeface="Courier New"/>
                <a:ea typeface="Courier New"/>
                <a:cs typeface="Courier New"/>
                <a:sym typeface="Courier New"/>
              </a:rPr>
              <a:t>cd</a:t>
            </a:r>
            <a:r>
              <a:rPr lang="en-US" sz="2600" dirty="0">
                <a:solidFill>
                  <a:srgbClr val="007F00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-US" sz="26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/</a:t>
            </a:r>
            <a:r>
              <a:rPr lang="en-US" sz="26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tmp</a:t>
            </a:r>
            <a:r>
              <a:rPr lang="en-US" sz="26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</a:t>
            </a:r>
            <a:endParaRPr sz="26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29975" marR="1212522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6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ls </a:t>
            </a:r>
            <a:endParaRPr dirty="0"/>
          </a:p>
          <a:p>
            <a:pPr marL="29975" marR="1212522" lvl="0" indent="0" algn="l" rtl="0">
              <a:lnSpc>
                <a:spcPct val="102699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25" name="Google Shape;225;p32"/>
          <p:cNvSpPr txBox="1"/>
          <p:nvPr/>
        </p:nvSpPr>
        <p:spPr>
          <a:xfrm>
            <a:off x="6996234" y="3454776"/>
            <a:ext cx="3228731" cy="27992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0450" rIns="0" bIns="0" anchor="t" anchorCtr="0">
            <a:spAutoFit/>
          </a:bodyPr>
          <a:lstStyle/>
          <a:p>
            <a:pPr marL="29975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00" dirty="0">
                <a:solidFill>
                  <a:srgbClr val="FF0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Shell to run</a:t>
            </a:r>
            <a:endParaRPr sz="2500" dirty="0">
              <a:solidFill>
                <a:srgbClr val="FF0000"/>
              </a:solidFill>
              <a:latin typeface="Helvetica Neue Light" panose="02000403000000020004" pitchFamily="2" charset="0"/>
              <a:ea typeface="Helvetica Neue Light" panose="02000403000000020004" pitchFamily="2" charset="0"/>
            </a:endParaRPr>
          </a:p>
          <a:p>
            <a:pPr marL="29975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2500" dirty="0">
                <a:solidFill>
                  <a:srgbClr val="FF0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Comment</a:t>
            </a:r>
            <a:endParaRPr sz="2500" dirty="0">
              <a:solidFill>
                <a:srgbClr val="FF0000"/>
              </a:solidFill>
              <a:latin typeface="Helvetica Neue Light" panose="02000403000000020004" pitchFamily="2" charset="0"/>
              <a:ea typeface="Helvetica Neue Light" panose="02000403000000020004" pitchFamily="2" charset="0"/>
            </a:endParaRPr>
          </a:p>
          <a:p>
            <a:pPr marL="29975" marR="1199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00" dirty="0">
                <a:solidFill>
                  <a:srgbClr val="FF0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Change directories</a:t>
            </a:r>
            <a:endParaRPr sz="2500" dirty="0">
              <a:solidFill>
                <a:srgbClr val="FF0000"/>
              </a:solidFill>
              <a:latin typeface="Helvetica Neue Light" panose="02000403000000020004" pitchFamily="2" charset="0"/>
              <a:ea typeface="Helvetica Neue Light" panose="02000403000000020004" pitchFamily="2" charset="0"/>
            </a:endParaRPr>
          </a:p>
          <a:p>
            <a:pPr marL="29975" marR="1199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00" dirty="0">
                <a:solidFill>
                  <a:srgbClr val="FF0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List everything in /</a:t>
            </a:r>
            <a:r>
              <a:rPr lang="en-US" sz="2500" dirty="0" err="1">
                <a:solidFill>
                  <a:srgbClr val="FF0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tmp</a:t>
            </a:r>
            <a:r>
              <a:rPr lang="en-US" sz="2500" dirty="0">
                <a:solidFill>
                  <a:srgbClr val="FF0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  <a:endParaRPr sz="1300" dirty="0">
              <a:solidFill>
                <a:srgbClr val="FF0000"/>
              </a:solidFill>
              <a:latin typeface="Helvetica Neue Light" panose="02000403000000020004" pitchFamily="2" charset="0"/>
              <a:ea typeface="Helvetica Neue Light" panose="02000403000000020004" pitchFamily="2" charset="0"/>
            </a:endParaRPr>
          </a:p>
          <a:p>
            <a:pPr marL="29975" marR="11990" lvl="0" indent="0" algn="l" rtl="0">
              <a:lnSpc>
                <a:spcPct val="106900"/>
              </a:lnSpc>
              <a:spcBef>
                <a:spcPts val="319"/>
              </a:spcBef>
              <a:spcAft>
                <a:spcPts val="0"/>
              </a:spcAft>
              <a:buNone/>
            </a:pPr>
            <a:endParaRPr sz="2500" dirty="0">
              <a:solidFill>
                <a:schemeClr val="dk2"/>
              </a:solidFill>
            </a:endParaRPr>
          </a:p>
        </p:txBody>
      </p:sp>
      <p:sp>
        <p:nvSpPr>
          <p:cNvPr id="7" name="Slide Number Placeholder 4">
            <a:extLst>
              <a:ext uri="{FF2B5EF4-FFF2-40B4-BE49-F238E27FC236}">
                <a16:creationId xmlns:a16="http://schemas.microsoft.com/office/drawing/2014/main" id="{B732C146-9EAD-2FB1-DBB8-E744A2E514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ABDA560F-461C-6043-9BC4-489BA92F7161}" type="slidenum">
              <a:rPr lang="en-US" smtClean="0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6BAF56-F053-8140-3372-ECB3124396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2BF2681-0074-923B-B3BD-4A160FBAF8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A560F-461C-6043-9BC4-489BA92F7161}" type="slidenum">
              <a:rPr lang="en-US" smtClean="0"/>
              <a:t>16</a:t>
            </a:fld>
            <a:endParaRPr lang="en-US"/>
          </a:p>
        </p:txBody>
      </p:sp>
      <p:sp>
        <p:nvSpPr>
          <p:cNvPr id="21" name="Google Shape;225;p30">
            <a:extLst>
              <a:ext uri="{FF2B5EF4-FFF2-40B4-BE49-F238E27FC236}">
                <a16:creationId xmlns:a16="http://schemas.microsoft.com/office/drawing/2014/main" id="{0BB9CD20-92CD-3ECF-7E94-0529795236F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24711" y="18996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Helvetica Neue Light"/>
              <a:buNone/>
            </a:pPr>
            <a:r>
              <a:rPr lang="en-US" dirty="0">
                <a:sym typeface="Helvetica Neue Light"/>
              </a:rPr>
              <a:t>Selecting Resources</a:t>
            </a:r>
            <a:endParaRPr dirty="0"/>
          </a:p>
        </p:txBody>
      </p:sp>
      <p:sp>
        <p:nvSpPr>
          <p:cNvPr id="7" name="Down Arrow 6">
            <a:extLst>
              <a:ext uri="{FF2B5EF4-FFF2-40B4-BE49-F238E27FC236}">
                <a16:creationId xmlns:a16="http://schemas.microsoft.com/office/drawing/2014/main" id="{8608F1A0-B9A3-6A6F-DC5C-ED59C872F653}"/>
              </a:ext>
            </a:extLst>
          </p:cNvPr>
          <p:cNvSpPr/>
          <p:nvPr/>
        </p:nvSpPr>
        <p:spPr>
          <a:xfrm rot="10800000">
            <a:off x="5536006" y="5245515"/>
            <a:ext cx="1133856" cy="97840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D6C244DB-99FC-94A6-83D5-A16D6F77A1DB}"/>
              </a:ext>
            </a:extLst>
          </p:cNvPr>
          <p:cNvGrpSpPr/>
          <p:nvPr/>
        </p:nvGrpSpPr>
        <p:grpSpPr>
          <a:xfrm>
            <a:off x="1069178" y="1759077"/>
            <a:ext cx="3636619" cy="3339847"/>
            <a:chOff x="1069178" y="1759077"/>
            <a:chExt cx="3636619" cy="3339847"/>
          </a:xfrm>
        </p:grpSpPr>
        <p:pic>
          <p:nvPicPr>
            <p:cNvPr id="4" name="Google Shape;210;p30">
              <a:extLst>
                <a:ext uri="{FF2B5EF4-FFF2-40B4-BE49-F238E27FC236}">
                  <a16:creationId xmlns:a16="http://schemas.microsoft.com/office/drawing/2014/main" id="{220775E6-6C27-3769-8D78-E78019811C21}"/>
                </a:ext>
              </a:extLst>
            </p:cNvPr>
            <p:cNvPicPr preferRelativeResize="0">
              <a:picLocks noChangeAspect="1"/>
            </p:cNvPicPr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1069178" y="2240351"/>
              <a:ext cx="2377292" cy="2377297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8" name="Right Arrow Callout 7">
              <a:extLst>
                <a:ext uri="{FF2B5EF4-FFF2-40B4-BE49-F238E27FC236}">
                  <a16:creationId xmlns:a16="http://schemas.microsoft.com/office/drawing/2014/main" id="{573DEB1B-FED6-BDB1-D8EF-9E3C1D2D757C}"/>
                </a:ext>
              </a:extLst>
            </p:cNvPr>
            <p:cNvSpPr/>
            <p:nvPr/>
          </p:nvSpPr>
          <p:spPr>
            <a:xfrm>
              <a:off x="1094954" y="1759077"/>
              <a:ext cx="3610843" cy="3339847"/>
            </a:xfrm>
            <a:prstGeom prst="rightArrowCallou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9B4A1583-5C7D-56AF-E836-C1344C33C95E}"/>
                </a:ext>
              </a:extLst>
            </p:cNvPr>
            <p:cNvGrpSpPr/>
            <p:nvPr/>
          </p:nvGrpSpPr>
          <p:grpSpPr>
            <a:xfrm>
              <a:off x="1082066" y="1873651"/>
              <a:ext cx="2351516" cy="707886"/>
              <a:chOff x="540307" y="1873650"/>
              <a:chExt cx="2351516" cy="707886"/>
            </a:xfrm>
          </p:grpSpPr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188F24A-12B6-A6B0-6D31-DF31E29B1081}"/>
                  </a:ext>
                </a:extLst>
              </p:cNvPr>
              <p:cNvSpPr txBox="1"/>
              <p:nvPr/>
            </p:nvSpPr>
            <p:spPr>
              <a:xfrm>
                <a:off x="540307" y="1873650"/>
                <a:ext cx="2351516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4000" b="1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1</a:t>
                </a:r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2A146D39-1C95-4EEC-20C4-8CDC0FB0B7A1}"/>
                  </a:ext>
                </a:extLst>
              </p:cNvPr>
              <p:cNvSpPr/>
              <p:nvPr/>
            </p:nvSpPr>
            <p:spPr>
              <a:xfrm>
                <a:off x="1396025" y="1901951"/>
                <a:ext cx="640080" cy="640080"/>
              </a:xfrm>
              <a:prstGeom prst="ellips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2261BAD5-EA30-7474-588F-A9D2C6D00748}"/>
                </a:ext>
              </a:extLst>
            </p:cNvPr>
            <p:cNvSpPr txBox="1"/>
            <p:nvPr/>
          </p:nvSpPr>
          <p:spPr>
            <a:xfrm>
              <a:off x="1094954" y="4432982"/>
              <a:ext cx="233862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/>
                <a:t>Login Node</a:t>
              </a: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2CB210F8-01B3-10BE-EA99-162E2249A0BC}"/>
              </a:ext>
            </a:extLst>
          </p:cNvPr>
          <p:cNvGrpSpPr/>
          <p:nvPr/>
        </p:nvGrpSpPr>
        <p:grpSpPr>
          <a:xfrm>
            <a:off x="4913198" y="1759077"/>
            <a:ext cx="3631266" cy="3339847"/>
            <a:chOff x="4913198" y="1759077"/>
            <a:chExt cx="3631266" cy="3339847"/>
          </a:xfrm>
        </p:grpSpPr>
        <p:sp>
          <p:nvSpPr>
            <p:cNvPr id="14" name="Right Arrow Callout 13">
              <a:extLst>
                <a:ext uri="{FF2B5EF4-FFF2-40B4-BE49-F238E27FC236}">
                  <a16:creationId xmlns:a16="http://schemas.microsoft.com/office/drawing/2014/main" id="{9EC4DCA0-7E7E-F3BB-8BE8-E0968AEFD6B4}"/>
                </a:ext>
              </a:extLst>
            </p:cNvPr>
            <p:cNvSpPr/>
            <p:nvPr/>
          </p:nvSpPr>
          <p:spPr>
            <a:xfrm>
              <a:off x="4933621" y="1759077"/>
              <a:ext cx="3610843" cy="3339847"/>
            </a:xfrm>
            <a:prstGeom prst="rightArrowCallou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8B742497-4AD1-8E90-4B12-509A38292BE0}"/>
                </a:ext>
              </a:extLst>
            </p:cNvPr>
            <p:cNvGrpSpPr/>
            <p:nvPr/>
          </p:nvGrpSpPr>
          <p:grpSpPr>
            <a:xfrm>
              <a:off x="4920733" y="1873651"/>
              <a:ext cx="2351516" cy="707886"/>
              <a:chOff x="540307" y="1873650"/>
              <a:chExt cx="2351516" cy="707886"/>
            </a:xfrm>
          </p:grpSpPr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890E3008-29B0-8237-BE36-B9B634EADBCF}"/>
                  </a:ext>
                </a:extLst>
              </p:cNvPr>
              <p:cNvSpPr txBox="1"/>
              <p:nvPr/>
            </p:nvSpPr>
            <p:spPr>
              <a:xfrm>
                <a:off x="540307" y="1873650"/>
                <a:ext cx="2351516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4000" b="1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2</a:t>
                </a:r>
              </a:p>
            </p:txBody>
          </p:sp>
          <p:sp>
            <p:nvSpPr>
              <p:cNvPr id="41" name="Oval 40">
                <a:extLst>
                  <a:ext uri="{FF2B5EF4-FFF2-40B4-BE49-F238E27FC236}">
                    <a16:creationId xmlns:a16="http://schemas.microsoft.com/office/drawing/2014/main" id="{AC813C34-B45F-2EC9-6E07-DD82B6D014BF}"/>
                  </a:ext>
                </a:extLst>
              </p:cNvPr>
              <p:cNvSpPr/>
              <p:nvPr/>
            </p:nvSpPr>
            <p:spPr>
              <a:xfrm>
                <a:off x="1396025" y="1901951"/>
                <a:ext cx="640080" cy="640080"/>
              </a:xfrm>
              <a:prstGeom prst="ellips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ED923E9E-35C5-191F-E1C1-DAFE43E92B54}"/>
                </a:ext>
              </a:extLst>
            </p:cNvPr>
            <p:cNvSpPr txBox="1"/>
            <p:nvPr/>
          </p:nvSpPr>
          <p:spPr>
            <a:xfrm>
              <a:off x="4913198" y="4436192"/>
              <a:ext cx="233862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/>
                <a:t>Resources</a:t>
              </a:r>
            </a:p>
          </p:txBody>
        </p: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8D643E18-E94E-5FC8-1086-B1FDCAF740A4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5273040" y="2755023"/>
              <a:ext cx="1645920" cy="1546836"/>
              <a:chOff x="8412658" y="2617108"/>
              <a:chExt cx="1929294" cy="1813150"/>
            </a:xfrm>
          </p:grpSpPr>
          <p:grpSp>
            <p:nvGrpSpPr>
              <p:cNvPr id="18" name="Group 17">
                <a:extLst>
                  <a:ext uri="{FF2B5EF4-FFF2-40B4-BE49-F238E27FC236}">
                    <a16:creationId xmlns:a16="http://schemas.microsoft.com/office/drawing/2014/main" id="{4F6DAAEE-FF50-FE76-10A5-ECE4655072C0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8412658" y="2617108"/>
                <a:ext cx="1078992" cy="1082299"/>
                <a:chOff x="4726983" y="2457616"/>
                <a:chExt cx="2062421" cy="1993113"/>
              </a:xfrm>
            </p:grpSpPr>
            <p:sp>
              <p:nvSpPr>
                <p:cNvPr id="26" name="Rounded Rectangle 25" descr="An icon representing a computer chip">
                  <a:extLst>
                    <a:ext uri="{FF2B5EF4-FFF2-40B4-BE49-F238E27FC236}">
                      <a16:creationId xmlns:a16="http://schemas.microsoft.com/office/drawing/2014/main" id="{0122618A-79AC-0727-58FA-89B67EA54E4F}"/>
                    </a:ext>
                  </a:extLst>
                </p:cNvPr>
                <p:cNvSpPr/>
                <p:nvPr/>
              </p:nvSpPr>
              <p:spPr>
                <a:xfrm>
                  <a:off x="4726983" y="2457616"/>
                  <a:ext cx="2062421" cy="1993113"/>
                </a:xfrm>
                <a:prstGeom prst="roundRect">
                  <a:avLst/>
                </a:prstGeom>
                <a:solidFill>
                  <a:schemeClr val="bg1"/>
                </a:solidFill>
                <a:ln w="571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pic>
              <p:nvPicPr>
                <p:cNvPr id="27" name="Graphic 26">
                  <a:extLst>
                    <a:ext uri="{FF2B5EF4-FFF2-40B4-BE49-F238E27FC236}">
                      <a16:creationId xmlns:a16="http://schemas.microsoft.com/office/drawing/2014/main" id="{D298EA29-E9AD-E303-6D76-AF297FA5CCA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4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975767" y="2671746"/>
                  <a:ext cx="1564852" cy="1564852"/>
                </a:xfrm>
                <a:prstGeom prst="rect">
                  <a:avLst/>
                </a:prstGeom>
              </p:spPr>
            </p:pic>
          </p:grpSp>
          <p:grpSp>
            <p:nvGrpSpPr>
              <p:cNvPr id="19" name="Group 18">
                <a:extLst>
                  <a:ext uri="{FF2B5EF4-FFF2-40B4-BE49-F238E27FC236}">
                    <a16:creationId xmlns:a16="http://schemas.microsoft.com/office/drawing/2014/main" id="{CEA79F8D-90F4-1EC3-4851-A37266F85EA4}"/>
                  </a:ext>
                </a:extLst>
              </p:cNvPr>
              <p:cNvGrpSpPr/>
              <p:nvPr/>
            </p:nvGrpSpPr>
            <p:grpSpPr>
              <a:xfrm>
                <a:off x="9262960" y="3347959"/>
                <a:ext cx="1078992" cy="1082299"/>
                <a:chOff x="9174826" y="3192427"/>
                <a:chExt cx="1078992" cy="1082299"/>
              </a:xfrm>
            </p:grpSpPr>
            <p:sp>
              <p:nvSpPr>
                <p:cNvPr id="20" name="Rounded Rectangle 19" descr="An icon of a stopwatch">
                  <a:extLst>
                    <a:ext uri="{FF2B5EF4-FFF2-40B4-BE49-F238E27FC236}">
                      <a16:creationId xmlns:a16="http://schemas.microsoft.com/office/drawing/2014/main" id="{35EF6FB0-879E-8DDD-2B0B-B7BA82ED729C}"/>
                    </a:ext>
                  </a:extLst>
                </p:cNvPr>
                <p:cNvSpPr/>
                <p:nvPr/>
              </p:nvSpPr>
              <p:spPr>
                <a:xfrm>
                  <a:off x="9174826" y="3192427"/>
                  <a:ext cx="1078992" cy="1082299"/>
                </a:xfrm>
                <a:prstGeom prst="roundRect">
                  <a:avLst/>
                </a:prstGeom>
                <a:solidFill>
                  <a:schemeClr val="bg1"/>
                </a:solidFill>
                <a:ln w="571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pic>
              <p:nvPicPr>
                <p:cNvPr id="25" name="Graphic 24" descr="Stopwatch with solid fill">
                  <a:extLst>
                    <a:ext uri="{FF2B5EF4-FFF2-40B4-BE49-F238E27FC236}">
                      <a16:creationId xmlns:a16="http://schemas.microsoft.com/office/drawing/2014/main" id="{992BE49E-87BF-91F9-8DE2-9E0177838FA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302842" y="3322096"/>
                  <a:ext cx="822960" cy="822960"/>
                </a:xfrm>
                <a:prstGeom prst="rect">
                  <a:avLst/>
                </a:prstGeom>
              </p:spPr>
            </p:pic>
          </p:grpSp>
        </p:grp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B19B1EED-EF95-298C-77CC-7730AEBABB9C}"/>
              </a:ext>
            </a:extLst>
          </p:cNvPr>
          <p:cNvGrpSpPr/>
          <p:nvPr/>
        </p:nvGrpSpPr>
        <p:grpSpPr>
          <a:xfrm>
            <a:off x="8747203" y="1764792"/>
            <a:ext cx="2358559" cy="3334132"/>
            <a:chOff x="8747203" y="1764792"/>
            <a:chExt cx="2358559" cy="3334132"/>
          </a:xfrm>
        </p:grpSpPr>
        <p:pic>
          <p:nvPicPr>
            <p:cNvPr id="44" name="Picture 2" descr="The logo of the Slurm workload manager">
              <a:extLst>
                <a:ext uri="{FF2B5EF4-FFF2-40B4-BE49-F238E27FC236}">
                  <a16:creationId xmlns:a16="http://schemas.microsoft.com/office/drawing/2014/main" id="{EB120A5C-EC01-7F90-1801-E217FCD813E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12089"/>
            <a:stretch/>
          </p:blipFill>
          <p:spPr bwMode="auto">
            <a:xfrm>
              <a:off x="9087422" y="2803512"/>
              <a:ext cx="1698054" cy="136656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BAD30ABE-341C-9838-7162-DDC3396B04AC}"/>
                </a:ext>
              </a:extLst>
            </p:cNvPr>
            <p:cNvSpPr txBox="1"/>
            <p:nvPr/>
          </p:nvSpPr>
          <p:spPr>
            <a:xfrm>
              <a:off x="8758419" y="4432982"/>
              <a:ext cx="233862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/>
                <a:t>Job Request</a:t>
              </a:r>
            </a:p>
          </p:txBody>
        </p:sp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1574274E-F8B8-C57A-AC09-90A2E1C4A2B0}"/>
                </a:ext>
              </a:extLst>
            </p:cNvPr>
            <p:cNvSpPr/>
            <p:nvPr/>
          </p:nvSpPr>
          <p:spPr>
            <a:xfrm>
              <a:off x="8767136" y="1764792"/>
              <a:ext cx="2338626" cy="3334132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46843779-CFFC-FD64-B841-D348C4975140}"/>
                </a:ext>
              </a:extLst>
            </p:cNvPr>
            <p:cNvGrpSpPr/>
            <p:nvPr/>
          </p:nvGrpSpPr>
          <p:grpSpPr>
            <a:xfrm>
              <a:off x="8747203" y="1891582"/>
              <a:ext cx="2351516" cy="707886"/>
              <a:chOff x="540307" y="1873650"/>
              <a:chExt cx="2351516" cy="707886"/>
            </a:xfrm>
          </p:grpSpPr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E6F96D75-0876-F30B-322D-DCFE03D2A7F7}"/>
                  </a:ext>
                </a:extLst>
              </p:cNvPr>
              <p:cNvSpPr txBox="1"/>
              <p:nvPr/>
            </p:nvSpPr>
            <p:spPr>
              <a:xfrm>
                <a:off x="540307" y="1873650"/>
                <a:ext cx="2351516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4000" b="1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3</a:t>
                </a:r>
              </a:p>
            </p:txBody>
          </p:sp>
          <p:sp>
            <p:nvSpPr>
              <p:cNvPr id="56" name="Oval 55">
                <a:extLst>
                  <a:ext uri="{FF2B5EF4-FFF2-40B4-BE49-F238E27FC236}">
                    <a16:creationId xmlns:a16="http://schemas.microsoft.com/office/drawing/2014/main" id="{8AD0C639-8A2C-BF86-A91C-2BE93BC7AD5F}"/>
                  </a:ext>
                </a:extLst>
              </p:cNvPr>
              <p:cNvSpPr/>
              <p:nvPr/>
            </p:nvSpPr>
            <p:spPr>
              <a:xfrm>
                <a:off x="1396025" y="1901951"/>
                <a:ext cx="640080" cy="640080"/>
              </a:xfrm>
              <a:prstGeom prst="ellips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96603523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A56D56-E9CD-895A-05DC-627099CBB9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C924CA-76FB-0A00-2616-338923B927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Common Resource Requests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137CEDD-410C-FE3C-8DFF-847969FEF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A560F-461C-6043-9BC4-489BA92F7161}" type="slidenum">
              <a:rPr lang="en-US" smtClean="0"/>
              <a:t>17</a:t>
            </a:fld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8489ABE8-DED3-5EDA-A99D-D33F7839AA09}"/>
              </a:ext>
            </a:extLst>
          </p:cNvPr>
          <p:cNvGrpSpPr/>
          <p:nvPr/>
        </p:nvGrpSpPr>
        <p:grpSpPr>
          <a:xfrm>
            <a:off x="6339683" y="1985805"/>
            <a:ext cx="2468880" cy="2949023"/>
            <a:chOff x="3471280" y="1960061"/>
            <a:chExt cx="2468880" cy="2949023"/>
          </a:xfrm>
        </p:grpSpPr>
        <p:sp>
          <p:nvSpPr>
            <p:cNvPr id="8" name="Rounded Rectangle 7">
              <a:extLst>
                <a:ext uri="{FF2B5EF4-FFF2-40B4-BE49-F238E27FC236}">
                  <a16:creationId xmlns:a16="http://schemas.microsoft.com/office/drawing/2014/main" id="{A19298AC-3C10-E8D7-5FCC-82E88F54205D}"/>
                </a:ext>
              </a:extLst>
            </p:cNvPr>
            <p:cNvSpPr/>
            <p:nvPr/>
          </p:nvSpPr>
          <p:spPr>
            <a:xfrm>
              <a:off x="3471280" y="1960061"/>
              <a:ext cx="2468880" cy="2949023"/>
            </a:xfrm>
            <a:prstGeom prst="roundRect">
              <a:avLst/>
            </a:prstGeom>
            <a:solidFill>
              <a:schemeClr val="bg1"/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0" name="Graphic 9" descr="An icon representing a computer chip">
              <a:extLst>
                <a:ext uri="{FF2B5EF4-FFF2-40B4-BE49-F238E27FC236}">
                  <a16:creationId xmlns:a16="http://schemas.microsoft.com/office/drawing/2014/main" id="{2C96318A-1E33-64EC-EF5D-42AD6650226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974200" y="2110541"/>
              <a:ext cx="1463040" cy="1463040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DE85307A-16A3-FDDA-CCD5-CC778A6F25FC}"/>
                </a:ext>
              </a:extLst>
            </p:cNvPr>
            <p:cNvSpPr txBox="1"/>
            <p:nvPr/>
          </p:nvSpPr>
          <p:spPr>
            <a:xfrm>
              <a:off x="3471280" y="3642524"/>
              <a:ext cx="2468879" cy="954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/>
                <a:t>Cores, GPUs,</a:t>
              </a:r>
            </a:p>
            <a:p>
              <a:pPr algn="ctr"/>
              <a:r>
                <a:rPr lang="en-US" sz="2800" b="1" dirty="0"/>
                <a:t>and Nodes</a:t>
              </a:r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C6F05D52-5A96-F0C5-887C-F75B7E612303}"/>
              </a:ext>
            </a:extLst>
          </p:cNvPr>
          <p:cNvGrpSpPr/>
          <p:nvPr/>
        </p:nvGrpSpPr>
        <p:grpSpPr>
          <a:xfrm>
            <a:off x="591024" y="1960061"/>
            <a:ext cx="2468880" cy="2949023"/>
            <a:chOff x="591024" y="1960061"/>
            <a:chExt cx="2468880" cy="2949023"/>
          </a:xfrm>
        </p:grpSpPr>
        <p:sp>
          <p:nvSpPr>
            <p:cNvPr id="6" name="Rounded Rectangle 5" descr="An icon representing computer servers">
              <a:extLst>
                <a:ext uri="{FF2B5EF4-FFF2-40B4-BE49-F238E27FC236}">
                  <a16:creationId xmlns:a16="http://schemas.microsoft.com/office/drawing/2014/main" id="{4502DE34-8143-2807-6667-9AEE077E56E8}"/>
                </a:ext>
              </a:extLst>
            </p:cNvPr>
            <p:cNvSpPr/>
            <p:nvPr/>
          </p:nvSpPr>
          <p:spPr>
            <a:xfrm>
              <a:off x="591024" y="1960061"/>
              <a:ext cx="2468880" cy="2949023"/>
            </a:xfrm>
            <a:prstGeom prst="roundRect">
              <a:avLst/>
            </a:prstGeom>
            <a:solidFill>
              <a:schemeClr val="bg1"/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88C7A1AC-92E1-72AB-3B92-482B39BB1F8A}"/>
                </a:ext>
              </a:extLst>
            </p:cNvPr>
            <p:cNvSpPr txBox="1"/>
            <p:nvPr/>
          </p:nvSpPr>
          <p:spPr>
            <a:xfrm>
              <a:off x="868240" y="3598703"/>
              <a:ext cx="1914448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/>
                <a:t>Partition</a:t>
              </a:r>
            </a:p>
          </p:txBody>
        </p: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DA0A0A28-9E7B-3F5E-A656-79D568ECCC25}"/>
                </a:ext>
              </a:extLst>
            </p:cNvPr>
            <p:cNvGrpSpPr/>
            <p:nvPr/>
          </p:nvGrpSpPr>
          <p:grpSpPr>
            <a:xfrm>
              <a:off x="828128" y="2316334"/>
              <a:ext cx="1994672" cy="1046573"/>
              <a:chOff x="838200" y="2198126"/>
              <a:chExt cx="1994672" cy="1046573"/>
            </a:xfrm>
          </p:grpSpPr>
          <p:sp>
            <p:nvSpPr>
              <p:cNvPr id="16" name="Freeform 15">
                <a:extLst>
                  <a:ext uri="{FF2B5EF4-FFF2-40B4-BE49-F238E27FC236}">
                    <a16:creationId xmlns:a16="http://schemas.microsoft.com/office/drawing/2014/main" id="{F3D66CCE-E844-D09F-5D73-C3869EF02239}"/>
                  </a:ext>
                </a:extLst>
              </p:cNvPr>
              <p:cNvSpPr/>
              <p:nvPr/>
            </p:nvSpPr>
            <p:spPr>
              <a:xfrm>
                <a:off x="838200" y="2198128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7" name="Freeform 16">
                <a:extLst>
                  <a:ext uri="{FF2B5EF4-FFF2-40B4-BE49-F238E27FC236}">
                    <a16:creationId xmlns:a16="http://schemas.microsoft.com/office/drawing/2014/main" id="{C3363C6F-E5A9-8E18-E581-4FC10ACE4658}"/>
                  </a:ext>
                </a:extLst>
              </p:cNvPr>
              <p:cNvSpPr/>
              <p:nvPr/>
            </p:nvSpPr>
            <p:spPr>
              <a:xfrm>
                <a:off x="1575266" y="2198127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8" name="Freeform 17">
                <a:extLst>
                  <a:ext uri="{FF2B5EF4-FFF2-40B4-BE49-F238E27FC236}">
                    <a16:creationId xmlns:a16="http://schemas.microsoft.com/office/drawing/2014/main" id="{BA9F34C0-0568-CAA5-0575-85C93F66B669}"/>
                  </a:ext>
                </a:extLst>
              </p:cNvPr>
              <p:cNvSpPr/>
              <p:nvPr/>
            </p:nvSpPr>
            <p:spPr>
              <a:xfrm>
                <a:off x="2312332" y="2198126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50539A2C-B86F-C62E-D368-EBCB0B9A5962}"/>
                  </a:ext>
                </a:extLst>
              </p:cNvPr>
              <p:cNvSpPr/>
              <p:nvPr/>
            </p:nvSpPr>
            <p:spPr>
              <a:xfrm>
                <a:off x="1121609" y="2746249"/>
                <a:ext cx="1463888" cy="154205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CBD37F0E-BA1F-18A7-CFC5-F988BBBA9FFC}"/>
              </a:ext>
            </a:extLst>
          </p:cNvPr>
          <p:cNvGrpSpPr/>
          <p:nvPr/>
        </p:nvGrpSpPr>
        <p:grpSpPr>
          <a:xfrm>
            <a:off x="9311483" y="1972317"/>
            <a:ext cx="2468880" cy="2960167"/>
            <a:chOff x="6351536" y="1948917"/>
            <a:chExt cx="2468880" cy="2960167"/>
          </a:xfrm>
        </p:grpSpPr>
        <p:sp>
          <p:nvSpPr>
            <p:cNvPr id="9" name="Rounded Rectangle 8">
              <a:extLst>
                <a:ext uri="{FF2B5EF4-FFF2-40B4-BE49-F238E27FC236}">
                  <a16:creationId xmlns:a16="http://schemas.microsoft.com/office/drawing/2014/main" id="{A84EA2F3-8F34-6D92-21AB-E3F22027A1EB}"/>
                </a:ext>
              </a:extLst>
            </p:cNvPr>
            <p:cNvSpPr/>
            <p:nvPr/>
          </p:nvSpPr>
          <p:spPr>
            <a:xfrm>
              <a:off x="6351536" y="1948917"/>
              <a:ext cx="2468880" cy="2960167"/>
            </a:xfrm>
            <a:prstGeom prst="roundRect">
              <a:avLst/>
            </a:prstGeom>
            <a:solidFill>
              <a:schemeClr val="bg1"/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13B31BE7-3F1F-2CC6-AEF0-B6C250D5F50A}"/>
                </a:ext>
              </a:extLst>
            </p:cNvPr>
            <p:cNvSpPr txBox="1"/>
            <p:nvPr/>
          </p:nvSpPr>
          <p:spPr>
            <a:xfrm>
              <a:off x="6628752" y="3598702"/>
              <a:ext cx="1914448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/>
                <a:t>Wall Time</a:t>
              </a:r>
            </a:p>
          </p:txBody>
        </p:sp>
        <p:pic>
          <p:nvPicPr>
            <p:cNvPr id="23" name="Graphic 22" descr="An icon representing a stopwatch">
              <a:extLst>
                <a:ext uri="{FF2B5EF4-FFF2-40B4-BE49-F238E27FC236}">
                  <a16:creationId xmlns:a16="http://schemas.microsoft.com/office/drawing/2014/main" id="{F63B2A87-3EC2-C978-9BEE-84289FA4EFB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854456" y="2108099"/>
              <a:ext cx="1463040" cy="1463040"/>
            </a:xfrm>
            <a:prstGeom prst="rect">
              <a:avLst/>
            </a:prstGeom>
          </p:spPr>
        </p:pic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DDBBB75D-DA3B-0F46-D0DE-5C1AA47F8E05}"/>
              </a:ext>
            </a:extLst>
          </p:cNvPr>
          <p:cNvGrpSpPr/>
          <p:nvPr/>
        </p:nvGrpSpPr>
        <p:grpSpPr>
          <a:xfrm>
            <a:off x="3471280" y="1974661"/>
            <a:ext cx="2468880" cy="2960167"/>
            <a:chOff x="9231793" y="1948917"/>
            <a:chExt cx="2468880" cy="2960167"/>
          </a:xfrm>
        </p:grpSpPr>
        <p:sp>
          <p:nvSpPr>
            <p:cNvPr id="7" name="Rounded Rectangle 6">
              <a:extLst>
                <a:ext uri="{FF2B5EF4-FFF2-40B4-BE49-F238E27FC236}">
                  <a16:creationId xmlns:a16="http://schemas.microsoft.com/office/drawing/2014/main" id="{0ADCCDA8-0A94-F8F6-F3FC-A631B161CA2C}"/>
                </a:ext>
              </a:extLst>
            </p:cNvPr>
            <p:cNvSpPr/>
            <p:nvPr/>
          </p:nvSpPr>
          <p:spPr>
            <a:xfrm>
              <a:off x="9231793" y="1948917"/>
              <a:ext cx="2468880" cy="2960167"/>
            </a:xfrm>
            <a:prstGeom prst="roundRect">
              <a:avLst/>
            </a:prstGeom>
            <a:solidFill>
              <a:schemeClr val="bg1"/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7B77B193-DF7D-30A3-4D34-7863BCD83F48}"/>
                </a:ext>
              </a:extLst>
            </p:cNvPr>
            <p:cNvSpPr txBox="1"/>
            <p:nvPr/>
          </p:nvSpPr>
          <p:spPr>
            <a:xfrm>
              <a:off x="9509009" y="3606035"/>
              <a:ext cx="1914448" cy="954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/>
                <a:t>Quality of Service</a:t>
              </a:r>
            </a:p>
          </p:txBody>
        </p:sp>
        <p:grpSp>
          <p:nvGrpSpPr>
            <p:cNvPr id="27" name="Group 26" descr="An icon of two horizontal arrows pointing inward towards the same vertical line">
              <a:extLst>
                <a:ext uri="{FF2B5EF4-FFF2-40B4-BE49-F238E27FC236}">
                  <a16:creationId xmlns:a16="http://schemas.microsoft.com/office/drawing/2014/main" id="{52A1F7A9-D0C2-258F-4B03-C59FDC23181D}"/>
                </a:ext>
              </a:extLst>
            </p:cNvPr>
            <p:cNvGrpSpPr/>
            <p:nvPr/>
          </p:nvGrpSpPr>
          <p:grpSpPr>
            <a:xfrm>
              <a:off x="9631316" y="2329377"/>
              <a:ext cx="1669833" cy="1188720"/>
              <a:chOff x="9673851" y="2181479"/>
              <a:chExt cx="1669833" cy="1188720"/>
            </a:xfrm>
          </p:grpSpPr>
          <p:sp>
            <p:nvSpPr>
              <p:cNvPr id="24" name="Left Arrow 23">
                <a:extLst>
                  <a:ext uri="{FF2B5EF4-FFF2-40B4-BE49-F238E27FC236}">
                    <a16:creationId xmlns:a16="http://schemas.microsoft.com/office/drawing/2014/main" id="{FBC70599-7D57-88E4-CB56-C07C15716015}"/>
                  </a:ext>
                </a:extLst>
              </p:cNvPr>
              <p:cNvSpPr/>
              <p:nvPr/>
            </p:nvSpPr>
            <p:spPr>
              <a:xfrm>
                <a:off x="10687262" y="2272919"/>
                <a:ext cx="656422" cy="1005840"/>
              </a:xfrm>
              <a:prstGeom prst="leftArrow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Left Arrow 24">
                <a:extLst>
                  <a:ext uri="{FF2B5EF4-FFF2-40B4-BE49-F238E27FC236}">
                    <a16:creationId xmlns:a16="http://schemas.microsoft.com/office/drawing/2014/main" id="{66EF8CCF-69AF-BE63-A2E6-3D2F62B1461E}"/>
                  </a:ext>
                </a:extLst>
              </p:cNvPr>
              <p:cNvSpPr/>
              <p:nvPr/>
            </p:nvSpPr>
            <p:spPr>
              <a:xfrm flipH="1">
                <a:off x="9673851" y="2272919"/>
                <a:ext cx="656422" cy="1005840"/>
              </a:xfrm>
              <a:prstGeom prst="leftArrow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Rounded Rectangle 25">
                <a:extLst>
                  <a:ext uri="{FF2B5EF4-FFF2-40B4-BE49-F238E27FC236}">
                    <a16:creationId xmlns:a16="http://schemas.microsoft.com/office/drawing/2014/main" id="{DB789D6E-E1AB-4E95-2605-B345A32A13C1}"/>
                  </a:ext>
                </a:extLst>
              </p:cNvPr>
              <p:cNvSpPr/>
              <p:nvPr/>
            </p:nvSpPr>
            <p:spPr>
              <a:xfrm>
                <a:off x="10424366" y="2181479"/>
                <a:ext cx="168802" cy="1188720"/>
              </a:xfrm>
              <a:prstGeom prst="roundRect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86243130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4">
          <a:extLst>
            <a:ext uri="{FF2B5EF4-FFF2-40B4-BE49-F238E27FC236}">
              <a16:creationId xmlns:a16="http://schemas.microsoft.com/office/drawing/2014/main" id="{5B02276A-EFC9-E7C2-56F0-15CCD49C1F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p32">
            <a:extLst>
              <a:ext uri="{FF2B5EF4-FFF2-40B4-BE49-F238E27FC236}">
                <a16:creationId xmlns:a16="http://schemas.microsoft.com/office/drawing/2014/main" id="{7D534403-D252-E56D-64B7-44E21E45E86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136550"/>
            <a:ext cx="10515600" cy="13257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Alpine Partitions</a:t>
            </a:r>
            <a:endParaRPr dirty="0"/>
          </a:p>
        </p:txBody>
      </p:sp>
      <p:pic>
        <p:nvPicPr>
          <p:cNvPr id="2" name="Picture 4" descr="Supermicro Data Center Server, Blade, Data Storage, AI System">
            <a:extLst>
              <a:ext uri="{FF2B5EF4-FFF2-40B4-BE49-F238E27FC236}">
                <a16:creationId xmlns:a16="http://schemas.microsoft.com/office/drawing/2014/main" id="{AE45C49E-CFDF-4306-581F-E7ACE68299E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968" r="1"/>
          <a:stretch/>
        </p:blipFill>
        <p:spPr bwMode="auto">
          <a:xfrm>
            <a:off x="6870102" y="1658302"/>
            <a:ext cx="4691854" cy="40469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6" name="Group 5" descr="Image representing the idea that Alpine partitions are largely composed of compute nodes">
            <a:extLst>
              <a:ext uri="{FF2B5EF4-FFF2-40B4-BE49-F238E27FC236}">
                <a16:creationId xmlns:a16="http://schemas.microsoft.com/office/drawing/2014/main" id="{DD647B26-5158-ED42-CDA4-27A3D335058F}"/>
              </a:ext>
            </a:extLst>
          </p:cNvPr>
          <p:cNvGrpSpPr/>
          <p:nvPr/>
        </p:nvGrpSpPr>
        <p:grpSpPr>
          <a:xfrm>
            <a:off x="7889814" y="2417736"/>
            <a:ext cx="2124371" cy="2346859"/>
            <a:chOff x="4726983" y="2457616"/>
            <a:chExt cx="2124371" cy="2346859"/>
          </a:xfrm>
        </p:grpSpPr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C5A1E32A-FBBF-CBF4-94B4-DF3636D17AFA}"/>
                </a:ext>
              </a:extLst>
            </p:cNvPr>
            <p:cNvSpPr/>
            <p:nvPr/>
          </p:nvSpPr>
          <p:spPr>
            <a:xfrm>
              <a:off x="4726983" y="2457616"/>
              <a:ext cx="2124371" cy="2346859"/>
            </a:xfrm>
            <a:prstGeom prst="roundRect">
              <a:avLst/>
            </a:prstGeom>
            <a:solidFill>
              <a:schemeClr val="bg1"/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3" name="Graphic 2">
              <a:extLst>
                <a:ext uri="{FF2B5EF4-FFF2-40B4-BE49-F238E27FC236}">
                  <a16:creationId xmlns:a16="http://schemas.microsoft.com/office/drawing/2014/main" id="{8972347B-25BA-10DB-0E6E-398291FF4D9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5006742" y="2646573"/>
              <a:ext cx="1564852" cy="1564852"/>
            </a:xfrm>
            <a:prstGeom prst="rect">
              <a:avLst/>
            </a:prstGeom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FA3E7AB5-FB90-9A16-0C8D-3BCFE2EBFFA7}"/>
                </a:ext>
              </a:extLst>
            </p:cNvPr>
            <p:cNvSpPr txBox="1"/>
            <p:nvPr/>
          </p:nvSpPr>
          <p:spPr>
            <a:xfrm>
              <a:off x="5006742" y="4211425"/>
              <a:ext cx="156485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800" b="1">
                  <a:latin typeface="Consolas" panose="020B0609020204030204" pitchFamily="49" charset="0"/>
                  <a:cs typeface="Consolas" panose="020B0609020204030204" pitchFamily="49" charset="0"/>
                </a:rPr>
                <a:t>COMPUTE</a:t>
              </a:r>
            </a:p>
          </p:txBody>
        </p:sp>
      </p:grpSp>
      <p:sp>
        <p:nvSpPr>
          <p:cNvPr id="337" name="Google Shape;337;p32">
            <a:extLst>
              <a:ext uri="{FF2B5EF4-FFF2-40B4-BE49-F238E27FC236}">
                <a16:creationId xmlns:a16="http://schemas.microsoft.com/office/drawing/2014/main" id="{9C3F2E95-0E07-2372-59C3-B43352347A6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6828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18</a:t>
            </a:fld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40960BD-3184-C968-F3A0-05BF3BE46FC3}"/>
              </a:ext>
            </a:extLst>
          </p:cNvPr>
          <p:cNvSpPr txBox="1"/>
          <p:nvPr/>
        </p:nvSpPr>
        <p:spPr>
          <a:xfrm>
            <a:off x="418170" y="2113086"/>
            <a:ext cx="5767756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Partitions are a collection of compute nodes with common characteristics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Compute nodes can be thought of as a desktop without a monitor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For in-depth information on partitions see: </a:t>
            </a:r>
            <a:r>
              <a:rPr lang="en-US" sz="2400" dirty="0" err="1">
                <a:solidFill>
                  <a:srgbClr val="0563C1"/>
                </a:solidFill>
                <a:cs typeface="Arial"/>
              </a:rPr>
              <a:t>curc.readthedocs.io</a:t>
            </a:r>
            <a:r>
              <a:rPr lang="en-US" sz="2400" dirty="0">
                <a:solidFill>
                  <a:srgbClr val="0563C1"/>
                </a:solidFill>
                <a:cs typeface="Arial"/>
              </a:rPr>
              <a:t>/</a:t>
            </a:r>
            <a:r>
              <a:rPr lang="en-US" sz="2400" dirty="0" err="1">
                <a:solidFill>
                  <a:srgbClr val="0563C1"/>
                </a:solidFill>
                <a:cs typeface="Arial"/>
              </a:rPr>
              <a:t>en</a:t>
            </a:r>
            <a:r>
              <a:rPr lang="en-US" sz="2400" dirty="0">
                <a:solidFill>
                  <a:srgbClr val="0563C1"/>
                </a:solidFill>
                <a:cs typeface="Arial"/>
              </a:rPr>
              <a:t>/latest/clusters/alpine/</a:t>
            </a:r>
            <a:r>
              <a:rPr lang="en-US" sz="2400" dirty="0" err="1">
                <a:solidFill>
                  <a:srgbClr val="0563C1"/>
                </a:solidFill>
                <a:cs typeface="Arial"/>
              </a:rPr>
              <a:t>alpine-hardware.html#partitions</a:t>
            </a:r>
            <a:endParaRPr lang="en-US" sz="2400" dirty="0">
              <a:solidFill>
                <a:srgbClr val="0563C1"/>
              </a:solidFill>
              <a:cs typeface="Arial"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5145811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4">
          <a:extLst>
            <a:ext uri="{FF2B5EF4-FFF2-40B4-BE49-F238E27FC236}">
              <a16:creationId xmlns:a16="http://schemas.microsoft.com/office/drawing/2014/main" id="{81F2AE31-C903-A075-45AE-C9FAEB5B78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p32">
            <a:extLst>
              <a:ext uri="{FF2B5EF4-FFF2-40B4-BE49-F238E27FC236}">
                <a16:creationId xmlns:a16="http://schemas.microsoft.com/office/drawing/2014/main" id="{4B98FC8C-FF06-0B8F-D96A-382401CBC88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136550"/>
            <a:ext cx="10515600" cy="13257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Alpine Partitions - </a:t>
            </a:r>
            <a:r>
              <a:rPr lang="en-US" dirty="0" err="1"/>
              <a:t>acpu</a:t>
            </a:r>
            <a:endParaRPr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18754FF-9970-1B20-3829-DC5CA731B804}"/>
              </a:ext>
            </a:extLst>
          </p:cNvPr>
          <p:cNvSpPr txBox="1"/>
          <p:nvPr/>
        </p:nvSpPr>
        <p:spPr>
          <a:xfrm>
            <a:off x="457200" y="2092446"/>
            <a:ext cx="2590800" cy="9694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US" sz="2800" b="1" dirty="0" err="1"/>
              <a:t>acpu</a:t>
            </a:r>
            <a:endParaRPr lang="en-US" sz="2800" b="1" dirty="0"/>
          </a:p>
          <a:p>
            <a:pPr algn="ctr"/>
            <a:r>
              <a:rPr lang="en-US" sz="2400" dirty="0"/>
              <a:t>General CPU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98588F9C-8692-06CC-DB20-8C92955419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57200" y="1845674"/>
            <a:ext cx="2590800" cy="1463040"/>
          </a:xfrm>
          <a:prstGeom prst="roundRect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4" descr="Supermicro Data Center Server, Blade, Data Storage, AI System">
            <a:extLst>
              <a:ext uri="{FF2B5EF4-FFF2-40B4-BE49-F238E27FC236}">
                <a16:creationId xmlns:a16="http://schemas.microsoft.com/office/drawing/2014/main" id="{D76C4C27-CF16-32EF-2B02-DC875A46C7C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968" r="1"/>
          <a:stretch/>
        </p:blipFill>
        <p:spPr bwMode="auto">
          <a:xfrm>
            <a:off x="3750073" y="1405543"/>
            <a:ext cx="4691854" cy="40469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2" name="Picture 4" descr="Supermicro Data Center Server, Blade, Data Storage, AI System">
            <a:extLst>
              <a:ext uri="{FF2B5EF4-FFF2-40B4-BE49-F238E27FC236}">
                <a16:creationId xmlns:a16="http://schemas.microsoft.com/office/drawing/2014/main" id="{534216B3-960E-27F8-DB59-CBB6C56DE92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968" r="55669"/>
          <a:stretch/>
        </p:blipFill>
        <p:spPr bwMode="auto">
          <a:xfrm>
            <a:off x="3750073" y="1405542"/>
            <a:ext cx="612771" cy="40469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37" name="Google Shape;337;p32">
            <a:extLst>
              <a:ext uri="{FF2B5EF4-FFF2-40B4-BE49-F238E27FC236}">
                <a16:creationId xmlns:a16="http://schemas.microsoft.com/office/drawing/2014/main" id="{2BC4644A-1F59-1D3E-58BF-5166C03C3F1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6828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19</a:t>
            </a:fld>
            <a:endParaRPr/>
          </a:p>
        </p:txBody>
      </p:sp>
      <p:grpSp>
        <p:nvGrpSpPr>
          <p:cNvPr id="3" name="Group 2" descr="Image showing the progress through the 4 goals, currently selected is the Nodes and partitions goal">
            <a:extLst>
              <a:ext uri="{FF2B5EF4-FFF2-40B4-BE49-F238E27FC236}">
                <a16:creationId xmlns:a16="http://schemas.microsoft.com/office/drawing/2014/main" id="{FB70FDF7-F0CF-630D-6265-5660232568EA}"/>
              </a:ext>
            </a:extLst>
          </p:cNvPr>
          <p:cNvGrpSpPr/>
          <p:nvPr/>
        </p:nvGrpSpPr>
        <p:grpSpPr>
          <a:xfrm>
            <a:off x="3500628" y="5983890"/>
            <a:ext cx="4941299" cy="744920"/>
            <a:chOff x="4158096" y="6113080"/>
            <a:chExt cx="3806091" cy="744920"/>
          </a:xfrm>
        </p:grpSpPr>
        <p:pic>
          <p:nvPicPr>
            <p:cNvPr id="4" name="Graphic 3" descr="Programmer female with solid fill">
              <a:extLst>
                <a:ext uri="{FF2B5EF4-FFF2-40B4-BE49-F238E27FC236}">
                  <a16:creationId xmlns:a16="http://schemas.microsoft.com/office/drawing/2014/main" id="{9624BE26-912F-9545-55A2-F661083011C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7228549" y="6113080"/>
              <a:ext cx="457200" cy="457200"/>
            </a:xfrm>
            <a:prstGeom prst="rect">
              <a:avLst/>
            </a:prstGeom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C4930F88-A2AF-FEFF-D4FF-41FDC45D86CE}"/>
                </a:ext>
              </a:extLst>
            </p:cNvPr>
            <p:cNvSpPr txBox="1"/>
            <p:nvPr/>
          </p:nvSpPr>
          <p:spPr>
            <a:xfrm>
              <a:off x="6955437" y="6547104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Login</a:t>
              </a:r>
            </a:p>
          </p:txBody>
        </p:sp>
        <p:pic>
          <p:nvPicPr>
            <p:cNvPr id="6" name="Graphic 5" descr="Processor with solid fill">
              <a:extLst>
                <a:ext uri="{FF2B5EF4-FFF2-40B4-BE49-F238E27FC236}">
                  <a16:creationId xmlns:a16="http://schemas.microsoft.com/office/drawing/2014/main" id="{EDD4F489-D930-ECC2-B5B1-87A0EAF3232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442621" y="6141859"/>
              <a:ext cx="457200" cy="457200"/>
            </a:xfrm>
            <a:prstGeom prst="rect">
              <a:avLst/>
            </a:prstGeom>
          </p:spPr>
        </p:pic>
        <p:pic>
          <p:nvPicPr>
            <p:cNvPr id="7" name="Graphic 6" descr="Database with solid fill">
              <a:extLst>
                <a:ext uri="{FF2B5EF4-FFF2-40B4-BE49-F238E27FC236}">
                  <a16:creationId xmlns:a16="http://schemas.microsoft.com/office/drawing/2014/main" id="{595CBF2A-53BC-05DB-3BCA-B2E4B1CDD04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6336917" y="6152133"/>
              <a:ext cx="457200" cy="457200"/>
            </a:xfrm>
            <a:prstGeom prst="rect">
              <a:avLst/>
            </a:prstGeom>
          </p:spPr>
        </p:pic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2A344C7A-DF58-DCFE-D6A0-7F545143A533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4279062" y="6166555"/>
              <a:ext cx="766817" cy="402336"/>
              <a:chOff x="838200" y="2198126"/>
              <a:chExt cx="1994672" cy="1046573"/>
            </a:xfrm>
          </p:grpSpPr>
          <p:sp>
            <p:nvSpPr>
              <p:cNvPr id="12" name="Freeform 11">
                <a:extLst>
                  <a:ext uri="{FF2B5EF4-FFF2-40B4-BE49-F238E27FC236}">
                    <a16:creationId xmlns:a16="http://schemas.microsoft.com/office/drawing/2014/main" id="{C7AE85F7-C03D-E224-56B3-8036A81B5223}"/>
                  </a:ext>
                </a:extLst>
              </p:cNvPr>
              <p:cNvSpPr/>
              <p:nvPr/>
            </p:nvSpPr>
            <p:spPr>
              <a:xfrm>
                <a:off x="838200" y="2198128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5" name="Freeform 14">
                <a:extLst>
                  <a:ext uri="{FF2B5EF4-FFF2-40B4-BE49-F238E27FC236}">
                    <a16:creationId xmlns:a16="http://schemas.microsoft.com/office/drawing/2014/main" id="{F840B3B4-2862-074C-ACEA-ADC8B68BC174}"/>
                  </a:ext>
                </a:extLst>
              </p:cNvPr>
              <p:cNvSpPr/>
              <p:nvPr/>
            </p:nvSpPr>
            <p:spPr>
              <a:xfrm>
                <a:off x="1575266" y="2198127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6" name="Freeform 15">
                <a:extLst>
                  <a:ext uri="{FF2B5EF4-FFF2-40B4-BE49-F238E27FC236}">
                    <a16:creationId xmlns:a16="http://schemas.microsoft.com/office/drawing/2014/main" id="{C84EA8CD-7CD3-495F-D870-1004966CCD04}"/>
                  </a:ext>
                </a:extLst>
              </p:cNvPr>
              <p:cNvSpPr/>
              <p:nvPr/>
            </p:nvSpPr>
            <p:spPr>
              <a:xfrm>
                <a:off x="2312332" y="2198126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53EF021C-A6E2-C7D1-D96A-6F2B6B56C7ED}"/>
                  </a:ext>
                </a:extLst>
              </p:cNvPr>
              <p:cNvSpPr/>
              <p:nvPr/>
            </p:nvSpPr>
            <p:spPr>
              <a:xfrm>
                <a:off x="1121609" y="2746249"/>
                <a:ext cx="1463888" cy="154205"/>
              </a:xfrm>
              <a:prstGeom prst="rect">
                <a:avLst/>
              </a:prstGeom>
              <a:noFill/>
              <a:ln w="38100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18581522-5029-949C-F454-7DD535DC1A64}"/>
                </a:ext>
              </a:extLst>
            </p:cNvPr>
            <p:cNvSpPr txBox="1"/>
            <p:nvPr/>
          </p:nvSpPr>
          <p:spPr>
            <a:xfrm>
              <a:off x="4158096" y="6547104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Overview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5B9DE0AF-6849-0542-A07A-64BE86A97B15}"/>
                </a:ext>
              </a:extLst>
            </p:cNvPr>
            <p:cNvSpPr txBox="1"/>
            <p:nvPr/>
          </p:nvSpPr>
          <p:spPr>
            <a:xfrm>
              <a:off x="5166846" y="6544273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tx1"/>
                  </a:solidFill>
                </a:rPr>
                <a:t>Nodes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32D133B7-7167-873D-6620-32C216B177D0}"/>
                </a:ext>
              </a:extLst>
            </p:cNvPr>
            <p:cNvSpPr txBox="1"/>
            <p:nvPr/>
          </p:nvSpPr>
          <p:spPr>
            <a:xfrm>
              <a:off x="6061142" y="6550223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Data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30723897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4">
          <a:extLst>
            <a:ext uri="{FF2B5EF4-FFF2-40B4-BE49-F238E27FC236}">
              <a16:creationId xmlns:a16="http://schemas.microsoft.com/office/drawing/2014/main" id="{A50FCCDE-C33A-5A78-D620-566B793C40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p32">
            <a:extLst>
              <a:ext uri="{FF2B5EF4-FFF2-40B4-BE49-F238E27FC236}">
                <a16:creationId xmlns:a16="http://schemas.microsoft.com/office/drawing/2014/main" id="{6BC7BDC2-8F23-2E3F-A086-6D562460F28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136550"/>
            <a:ext cx="10515600" cy="13257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Alpine Partitions - </a:t>
            </a:r>
            <a:r>
              <a:rPr lang="en-US" dirty="0" err="1"/>
              <a:t>amem</a:t>
            </a:r>
            <a:endParaRPr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75B12A5-AE6B-359E-D1DB-AD85914D07AF}"/>
              </a:ext>
            </a:extLst>
          </p:cNvPr>
          <p:cNvSpPr txBox="1"/>
          <p:nvPr/>
        </p:nvSpPr>
        <p:spPr>
          <a:xfrm>
            <a:off x="457200" y="2092446"/>
            <a:ext cx="2590800" cy="9694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US" sz="2800" b="1" dirty="0" err="1"/>
              <a:t>acpu</a:t>
            </a:r>
            <a:endParaRPr lang="en-US" sz="2800" b="1" dirty="0"/>
          </a:p>
          <a:p>
            <a:pPr algn="ctr"/>
            <a:r>
              <a:rPr lang="en-US" sz="2400" dirty="0"/>
              <a:t>General CPU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112EE2A-F148-A6F1-A41B-ED2B6A15E60D}"/>
              </a:ext>
            </a:extLst>
          </p:cNvPr>
          <p:cNvSpPr txBox="1"/>
          <p:nvPr/>
        </p:nvSpPr>
        <p:spPr>
          <a:xfrm>
            <a:off x="457200" y="3692138"/>
            <a:ext cx="2590800" cy="13388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US" sz="2800" b="1" dirty="0" err="1"/>
              <a:t>amem</a:t>
            </a:r>
            <a:endParaRPr lang="en-US" sz="2800" b="1" dirty="0"/>
          </a:p>
          <a:p>
            <a:pPr algn="ctr"/>
            <a:r>
              <a:rPr lang="en-US" sz="2400" dirty="0"/>
              <a:t>High Memory CPU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94D11255-D11F-B19F-2577-DDA92EB5F4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57200" y="1845674"/>
            <a:ext cx="2590800" cy="1463040"/>
          </a:xfrm>
          <a:prstGeom prst="roundRect">
            <a:avLst/>
          </a:prstGeom>
          <a:noFill/>
          <a:ln w="57150">
            <a:solidFill>
              <a:schemeClr val="accent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4" descr="Supermicro Data Center Server, Blade, Data Storage, AI System">
            <a:extLst>
              <a:ext uri="{FF2B5EF4-FFF2-40B4-BE49-F238E27FC236}">
                <a16:creationId xmlns:a16="http://schemas.microsoft.com/office/drawing/2014/main" id="{183031EF-805D-5644-5589-4AC8E2F29DB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968" r="1"/>
          <a:stretch/>
        </p:blipFill>
        <p:spPr bwMode="auto">
          <a:xfrm>
            <a:off x="3750073" y="1405543"/>
            <a:ext cx="4691854" cy="40469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 descr="Supermicro Data Center Server, Blade, Data Storage, AI System">
            <a:extLst>
              <a:ext uri="{FF2B5EF4-FFF2-40B4-BE49-F238E27FC236}">
                <a16:creationId xmlns:a16="http://schemas.microsoft.com/office/drawing/2014/main" id="{2AC8105C-28B0-043F-7305-E318EA85015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020" r="46078"/>
          <a:stretch/>
        </p:blipFill>
        <p:spPr bwMode="auto">
          <a:xfrm>
            <a:off x="4362844" y="1405541"/>
            <a:ext cx="725556" cy="40469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42F3AB29-CED6-F8D1-8E74-4FF6094098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57200" y="3605991"/>
            <a:ext cx="2590800" cy="1463040"/>
          </a:xfrm>
          <a:prstGeom prst="roundRect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7" name="Google Shape;337;p32">
            <a:extLst>
              <a:ext uri="{FF2B5EF4-FFF2-40B4-BE49-F238E27FC236}">
                <a16:creationId xmlns:a16="http://schemas.microsoft.com/office/drawing/2014/main" id="{2AA80F52-4811-9F38-571E-FB21B2CF1C4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6828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20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0408746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4">
          <a:extLst>
            <a:ext uri="{FF2B5EF4-FFF2-40B4-BE49-F238E27FC236}">
              <a16:creationId xmlns:a16="http://schemas.microsoft.com/office/drawing/2014/main" id="{DEDF127B-CF79-2CE4-041D-EB50B103D8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p32">
            <a:extLst>
              <a:ext uri="{FF2B5EF4-FFF2-40B4-BE49-F238E27FC236}">
                <a16:creationId xmlns:a16="http://schemas.microsoft.com/office/drawing/2014/main" id="{A2C910E0-1C77-E540-47C6-C28109A768D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35280" y="-72216"/>
            <a:ext cx="10515600" cy="13257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Alpine Partitions – NVIDIA GPUs</a:t>
            </a:r>
            <a:endParaRPr dirty="0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6E85C647-92DD-4626-7035-1B19163D11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036424" y="1137958"/>
            <a:ext cx="2590800" cy="2849639"/>
          </a:xfrm>
          <a:prstGeom prst="roundRect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CF03BA3-F1DC-A196-7B02-13163CF5624E}"/>
              </a:ext>
            </a:extLst>
          </p:cNvPr>
          <p:cNvSpPr txBox="1"/>
          <p:nvPr/>
        </p:nvSpPr>
        <p:spPr>
          <a:xfrm>
            <a:off x="457200" y="2092446"/>
            <a:ext cx="2590800" cy="9694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US" sz="2800" b="1" dirty="0" err="1"/>
              <a:t>acpu</a:t>
            </a:r>
            <a:endParaRPr lang="en-US" sz="2800" b="1" dirty="0"/>
          </a:p>
          <a:p>
            <a:pPr algn="ctr"/>
            <a:r>
              <a:rPr lang="en-US" sz="2400" dirty="0"/>
              <a:t>General CPU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AA7216-D6BA-9BD2-32C3-7B5DC8A50E05}"/>
              </a:ext>
            </a:extLst>
          </p:cNvPr>
          <p:cNvSpPr txBox="1"/>
          <p:nvPr/>
        </p:nvSpPr>
        <p:spPr>
          <a:xfrm>
            <a:off x="9036424" y="1137958"/>
            <a:ext cx="2590800" cy="26930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US" sz="2800" b="1" dirty="0"/>
              <a:t>aa100</a:t>
            </a:r>
          </a:p>
          <a:p>
            <a:pPr algn="ctr">
              <a:spcAft>
                <a:spcPts val="600"/>
              </a:spcAft>
            </a:pPr>
            <a:r>
              <a:rPr lang="en-US" sz="2800" b="1" dirty="0"/>
              <a:t>al40</a:t>
            </a:r>
          </a:p>
          <a:p>
            <a:pPr algn="ctr">
              <a:spcAft>
                <a:spcPts val="600"/>
              </a:spcAft>
            </a:pPr>
            <a:r>
              <a:rPr lang="en-US" sz="2800" b="1" dirty="0"/>
              <a:t>ah200</a:t>
            </a:r>
          </a:p>
          <a:p>
            <a:pPr algn="ctr">
              <a:spcAft>
                <a:spcPts val="600"/>
              </a:spcAft>
            </a:pPr>
            <a:r>
              <a:rPr lang="en-US" sz="2800" b="1" dirty="0"/>
              <a:t>artxpro6000</a:t>
            </a:r>
          </a:p>
          <a:p>
            <a:pPr algn="ctr">
              <a:spcAft>
                <a:spcPts val="600"/>
              </a:spcAft>
            </a:pPr>
            <a:endParaRPr lang="en-US" sz="800" b="1" dirty="0"/>
          </a:p>
          <a:p>
            <a:pPr algn="ctr"/>
            <a:r>
              <a:rPr lang="en-US" sz="2400" dirty="0"/>
              <a:t>Nvidia GPUs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CEEFB6CF-8B26-3C6C-BF5E-2EAEDC815D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57200" y="1845674"/>
            <a:ext cx="2590800" cy="1463040"/>
          </a:xfrm>
          <a:prstGeom prst="roundRect">
            <a:avLst/>
          </a:prstGeom>
          <a:noFill/>
          <a:ln w="57150">
            <a:solidFill>
              <a:schemeClr val="accent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4">
            <a:extLst>
              <a:ext uri="{FF2B5EF4-FFF2-40B4-BE49-F238E27FC236}">
                <a16:creationId xmlns:a16="http://schemas.microsoft.com/office/drawing/2014/main" id="{2C29DF53-653E-1BAC-A40A-E5FB3DF100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968" r="1"/>
          <a:stretch/>
        </p:blipFill>
        <p:spPr bwMode="auto">
          <a:xfrm>
            <a:off x="3750073" y="1405543"/>
            <a:ext cx="4691854" cy="40469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4">
            <a:extLst>
              <a:ext uri="{FF2B5EF4-FFF2-40B4-BE49-F238E27FC236}">
                <a16:creationId xmlns:a16="http://schemas.microsoft.com/office/drawing/2014/main" id="{1FBE6356-92C3-F795-FEFA-FD85AA9BDB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4047" r="24103"/>
          <a:stretch/>
        </p:blipFill>
        <p:spPr bwMode="auto">
          <a:xfrm>
            <a:off x="5815179" y="1405542"/>
            <a:ext cx="868310" cy="40469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37" name="Google Shape;337;p32">
            <a:extLst>
              <a:ext uri="{FF2B5EF4-FFF2-40B4-BE49-F238E27FC236}">
                <a16:creationId xmlns:a16="http://schemas.microsoft.com/office/drawing/2014/main" id="{3AB5A099-FD35-ECC0-75B4-0C79F54F982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6828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21</a:t>
            </a:fld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7D2688E-8D37-CF30-0CEA-ABA4D5FE26BF}"/>
              </a:ext>
            </a:extLst>
          </p:cNvPr>
          <p:cNvSpPr txBox="1"/>
          <p:nvPr/>
        </p:nvSpPr>
        <p:spPr>
          <a:xfrm>
            <a:off x="457200" y="3692138"/>
            <a:ext cx="2590800" cy="13388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US" sz="2800" b="1" dirty="0" err="1"/>
              <a:t>amem</a:t>
            </a:r>
            <a:endParaRPr lang="en-US" sz="2800" b="1" dirty="0"/>
          </a:p>
          <a:p>
            <a:pPr algn="ctr"/>
            <a:r>
              <a:rPr lang="en-US" sz="2400" dirty="0"/>
              <a:t>High Memory CPU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171053FE-8757-D3C8-0C37-AC96CACD2D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57200" y="3605991"/>
            <a:ext cx="2590800" cy="1463040"/>
          </a:xfrm>
          <a:prstGeom prst="roundRect">
            <a:avLst/>
          </a:prstGeom>
          <a:noFill/>
          <a:ln w="57150">
            <a:solidFill>
              <a:schemeClr val="accent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882718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4">
          <a:extLst>
            <a:ext uri="{FF2B5EF4-FFF2-40B4-BE49-F238E27FC236}">
              <a16:creationId xmlns:a16="http://schemas.microsoft.com/office/drawing/2014/main" id="{69A8D0B7-E62C-9A89-6ED2-CF369D8E4E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p32">
            <a:extLst>
              <a:ext uri="{FF2B5EF4-FFF2-40B4-BE49-F238E27FC236}">
                <a16:creationId xmlns:a16="http://schemas.microsoft.com/office/drawing/2014/main" id="{781FE0DD-2F2F-B38E-5996-41801CDCD73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200" y="-121365"/>
            <a:ext cx="10515600" cy="13257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Alpine Partitions – AMD GPUs</a:t>
            </a:r>
            <a:endParaRPr dirty="0"/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BF99D89E-03FF-3F17-B5E0-EF5494B79C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036424" y="1137958"/>
            <a:ext cx="2590800" cy="2849639"/>
          </a:xfrm>
          <a:prstGeom prst="roundRect">
            <a:avLst/>
          </a:prstGeom>
          <a:noFill/>
          <a:ln w="57150">
            <a:solidFill>
              <a:schemeClr val="accent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2A03D932-8DC9-50A2-F9AC-801EFA96CC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036424" y="4257002"/>
            <a:ext cx="2590800" cy="1463040"/>
          </a:xfrm>
          <a:prstGeom prst="roundRect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A159802-B800-F03E-CB1E-52C845AB7B46}"/>
              </a:ext>
            </a:extLst>
          </p:cNvPr>
          <p:cNvSpPr txBox="1"/>
          <p:nvPr/>
        </p:nvSpPr>
        <p:spPr>
          <a:xfrm>
            <a:off x="457200" y="2092446"/>
            <a:ext cx="2590800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US" sz="2800" b="1" dirty="0" err="1"/>
              <a:t>acpu</a:t>
            </a:r>
            <a:endParaRPr lang="en-US" sz="2800" b="1" dirty="0"/>
          </a:p>
          <a:p>
            <a:pPr algn="ctr">
              <a:spcAft>
                <a:spcPts val="600"/>
              </a:spcAft>
            </a:pPr>
            <a:endParaRPr lang="en-US" sz="800" b="1" dirty="0"/>
          </a:p>
          <a:p>
            <a:pPr algn="ctr"/>
            <a:r>
              <a:rPr lang="en-US" sz="2400" dirty="0"/>
              <a:t>General CPU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AF8C06C-F808-2A89-69FF-0B0CECD94420}"/>
              </a:ext>
            </a:extLst>
          </p:cNvPr>
          <p:cNvSpPr txBox="1"/>
          <p:nvPr/>
        </p:nvSpPr>
        <p:spPr>
          <a:xfrm>
            <a:off x="9036424" y="1137958"/>
            <a:ext cx="2590800" cy="26930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US" sz="2800" b="1" dirty="0"/>
              <a:t>aa100</a:t>
            </a:r>
          </a:p>
          <a:p>
            <a:pPr algn="ctr">
              <a:spcAft>
                <a:spcPts val="600"/>
              </a:spcAft>
            </a:pPr>
            <a:r>
              <a:rPr lang="en-US" sz="2800" b="1" dirty="0"/>
              <a:t>al40</a:t>
            </a:r>
          </a:p>
          <a:p>
            <a:pPr algn="ctr">
              <a:spcAft>
                <a:spcPts val="600"/>
              </a:spcAft>
            </a:pPr>
            <a:r>
              <a:rPr lang="en-US" sz="2800" b="1" dirty="0"/>
              <a:t>ah200</a:t>
            </a:r>
          </a:p>
          <a:p>
            <a:pPr algn="ctr">
              <a:spcAft>
                <a:spcPts val="600"/>
              </a:spcAft>
            </a:pPr>
            <a:r>
              <a:rPr lang="en-US" sz="2800" b="1" dirty="0"/>
              <a:t>artxpro6000</a:t>
            </a:r>
          </a:p>
          <a:p>
            <a:pPr algn="ctr">
              <a:spcAft>
                <a:spcPts val="600"/>
              </a:spcAft>
            </a:pPr>
            <a:endParaRPr lang="en-US" sz="800" b="1" dirty="0"/>
          </a:p>
          <a:p>
            <a:pPr algn="ctr"/>
            <a:r>
              <a:rPr lang="en-US" sz="2400" dirty="0"/>
              <a:t>Nvidia GPUs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A2E2EE0-5C2F-FCC9-6F4E-DEBD550F2BFF}"/>
              </a:ext>
            </a:extLst>
          </p:cNvPr>
          <p:cNvSpPr txBox="1"/>
          <p:nvPr/>
        </p:nvSpPr>
        <p:spPr>
          <a:xfrm>
            <a:off x="9036424" y="4503774"/>
            <a:ext cx="2590800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US" sz="2800" b="1" dirty="0"/>
              <a:t>ami100</a:t>
            </a:r>
          </a:p>
          <a:p>
            <a:pPr algn="ctr">
              <a:spcAft>
                <a:spcPts val="600"/>
              </a:spcAft>
            </a:pPr>
            <a:endParaRPr lang="en-US" sz="800" b="1" dirty="0"/>
          </a:p>
          <a:p>
            <a:pPr algn="ctr"/>
            <a:r>
              <a:rPr lang="en-US" sz="2400" dirty="0"/>
              <a:t>AMD GPUs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F4AF8A3E-2720-16D0-C499-2353D3163F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57200" y="1845674"/>
            <a:ext cx="2590800" cy="1463040"/>
          </a:xfrm>
          <a:prstGeom prst="roundRect">
            <a:avLst/>
          </a:prstGeom>
          <a:noFill/>
          <a:ln w="57150">
            <a:solidFill>
              <a:schemeClr val="accent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4">
            <a:extLst>
              <a:ext uri="{FF2B5EF4-FFF2-40B4-BE49-F238E27FC236}">
                <a16:creationId xmlns:a16="http://schemas.microsoft.com/office/drawing/2014/main" id="{E16FB7C0-0E1D-A232-FF0F-589BB28EC0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968" r="1"/>
          <a:stretch/>
        </p:blipFill>
        <p:spPr bwMode="auto">
          <a:xfrm>
            <a:off x="3715215" y="1405543"/>
            <a:ext cx="4691854" cy="40469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37" name="Google Shape;337;p32">
            <a:extLst>
              <a:ext uri="{FF2B5EF4-FFF2-40B4-BE49-F238E27FC236}">
                <a16:creationId xmlns:a16="http://schemas.microsoft.com/office/drawing/2014/main" id="{B1E5D66B-D824-5714-CCCF-038F4345FA4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6828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22</a:t>
            </a:fld>
            <a:endParaRPr/>
          </a:p>
        </p:txBody>
      </p:sp>
      <p:pic>
        <p:nvPicPr>
          <p:cNvPr id="3" name="Picture 4">
            <a:extLst>
              <a:ext uri="{FF2B5EF4-FFF2-40B4-BE49-F238E27FC236}">
                <a16:creationId xmlns:a16="http://schemas.microsoft.com/office/drawing/2014/main" id="{EB08938C-C5B3-8D2A-89C4-52115E7E99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5862" r="2"/>
          <a:stretch/>
        </p:blipFill>
        <p:spPr bwMode="auto">
          <a:xfrm>
            <a:off x="6638445" y="1405543"/>
            <a:ext cx="1768624" cy="40469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B2FC800-929A-9CC5-C62A-B71794F7B253}"/>
              </a:ext>
            </a:extLst>
          </p:cNvPr>
          <p:cNvSpPr txBox="1"/>
          <p:nvPr/>
        </p:nvSpPr>
        <p:spPr>
          <a:xfrm>
            <a:off x="457200" y="3692138"/>
            <a:ext cx="2590800" cy="13388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US" sz="2800" b="1" dirty="0" err="1"/>
              <a:t>amem</a:t>
            </a:r>
            <a:endParaRPr lang="en-US" sz="2800" b="1" dirty="0"/>
          </a:p>
          <a:p>
            <a:pPr algn="ctr"/>
            <a:r>
              <a:rPr lang="en-US" sz="2400" dirty="0"/>
              <a:t>High Memory CPU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EFE4D590-5236-5369-0694-9D7225B561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57200" y="3605991"/>
            <a:ext cx="2590800" cy="1463040"/>
          </a:xfrm>
          <a:prstGeom prst="roundRect">
            <a:avLst/>
          </a:prstGeom>
          <a:noFill/>
          <a:ln w="57150">
            <a:solidFill>
              <a:schemeClr val="accent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722601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EBBDCE-2DDB-FCB0-B97F-3E51A17E94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71BD7D-8C6B-C869-725A-56A552C7D9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en-US" dirty="0">
                <a:sym typeface="Helvetica Neue Light"/>
              </a:rPr>
              <a:t>Alpine Testing Resources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B4D015-7FE1-32C8-51E1-16EF984649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1091" y="1475759"/>
            <a:ext cx="10709817" cy="4352612"/>
          </a:xfrm>
        </p:spPr>
        <p:txBody>
          <a:bodyPr>
            <a:normAutofit lnSpcReduction="10000"/>
          </a:bodyPr>
          <a:lstStyle/>
          <a:p>
            <a:r>
              <a:rPr lang="en-US" sz="2400" dirty="0"/>
              <a:t>For several of the different types of hardware, we provide testing resources. These resources enable quicker access. </a:t>
            </a:r>
          </a:p>
          <a:p>
            <a:pPr lvl="1"/>
            <a:r>
              <a:rPr lang="en-US" sz="2200" dirty="0"/>
              <a:t>There are restrictions on the amount of resources you can request</a:t>
            </a:r>
          </a:p>
          <a:p>
            <a:r>
              <a:rPr lang="en-US" sz="2400" dirty="0"/>
              <a:t>Access to testing resources is enabled through a combination of partition and QoS selection</a:t>
            </a:r>
          </a:p>
          <a:p>
            <a:r>
              <a:rPr lang="en-US" sz="2400" dirty="0"/>
              <a:t>Available testing resources:</a:t>
            </a:r>
          </a:p>
          <a:p>
            <a:pPr lvl="1"/>
            <a:r>
              <a:rPr lang="en-US" sz="2200" dirty="0"/>
              <a:t>Standard CPUs</a:t>
            </a:r>
          </a:p>
          <a:p>
            <a:pPr lvl="1"/>
            <a:r>
              <a:rPr lang="en-US" sz="2200" dirty="0"/>
              <a:t>Compute nodes for verifying parallel applications</a:t>
            </a:r>
          </a:p>
          <a:p>
            <a:pPr lvl="1"/>
            <a:r>
              <a:rPr lang="en-US" sz="2200" dirty="0"/>
              <a:t>NVIDIA A100 and AMD MI100 GPUs</a:t>
            </a:r>
          </a:p>
          <a:p>
            <a:pPr lvl="1"/>
            <a:endParaRPr lang="en-US" sz="2200" dirty="0"/>
          </a:p>
          <a:p>
            <a:pPr marL="0" indent="0">
              <a:buNone/>
            </a:pPr>
            <a:r>
              <a:rPr lang="en-US" sz="2400" dirty="0"/>
              <a:t>For more information see: </a:t>
            </a:r>
            <a:r>
              <a:rPr lang="en-US" sz="2400" dirty="0" err="1">
                <a:solidFill>
                  <a:srgbClr val="0563C1"/>
                </a:solidFill>
                <a:cs typeface="Arial"/>
              </a:rPr>
              <a:t>curc.readthedocs.io</a:t>
            </a:r>
            <a:r>
              <a:rPr lang="en-US" sz="2400" dirty="0">
                <a:solidFill>
                  <a:srgbClr val="0563C1"/>
                </a:solidFill>
                <a:cs typeface="Arial"/>
              </a:rPr>
              <a:t>/</a:t>
            </a:r>
            <a:r>
              <a:rPr lang="en-US" sz="2400" dirty="0" err="1">
                <a:solidFill>
                  <a:srgbClr val="0563C1"/>
                </a:solidFill>
                <a:cs typeface="Arial"/>
              </a:rPr>
              <a:t>en</a:t>
            </a:r>
            <a:r>
              <a:rPr lang="en-US" sz="2400" dirty="0">
                <a:solidFill>
                  <a:srgbClr val="0563C1"/>
                </a:solidFill>
                <a:cs typeface="Arial"/>
              </a:rPr>
              <a:t>/latest/clusters/alpine/</a:t>
            </a:r>
            <a:r>
              <a:rPr lang="en-US" sz="2400" dirty="0" err="1">
                <a:solidFill>
                  <a:srgbClr val="0563C1"/>
                </a:solidFill>
                <a:cs typeface="Arial"/>
              </a:rPr>
              <a:t>alpine-hardware.html#special-purpose-resources</a:t>
            </a:r>
            <a:endParaRPr lang="en-US" sz="2400" dirty="0">
              <a:solidFill>
                <a:srgbClr val="0563C1"/>
              </a:solidFill>
              <a:cs typeface="Arial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7542292-AE93-4C7C-B4A7-CB94AB224F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ABDA560F-461C-6043-9BC4-489BA92F7161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78498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90595E-DAE0-1FDA-14E2-05C6077BF5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7812F8-AA17-772E-6677-CA2417C80F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1876"/>
            <a:ext cx="10515600" cy="1325563"/>
          </a:xfrm>
        </p:spPr>
        <p:txBody>
          <a:bodyPr/>
          <a:lstStyle/>
          <a:p>
            <a:r>
              <a:rPr lang="en-US" dirty="0">
                <a:sym typeface="Helvetica Neue Light"/>
              </a:rPr>
              <a:t>Quality of Service (QoS)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F5FA2D-5A9C-64E5-1818-8362005815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0800"/>
            <a:ext cx="10515600" cy="2108200"/>
          </a:xfrm>
        </p:spPr>
        <p:txBody>
          <a:bodyPr/>
          <a:lstStyle/>
          <a:p>
            <a:r>
              <a:rPr lang="en-US" dirty="0">
                <a:solidFill>
                  <a:srgbClr val="2F2B20"/>
                </a:solidFill>
                <a:latin typeface="Arial"/>
                <a:ea typeface="Arial"/>
                <a:cs typeface="Arial"/>
                <a:sym typeface="Arial"/>
              </a:rPr>
              <a:t>Quality of Service specifies additional constraints for a given partition.</a:t>
            </a:r>
          </a:p>
          <a:p>
            <a:r>
              <a:rPr lang="en-US" dirty="0">
                <a:solidFill>
                  <a:srgbClr val="2F2B20"/>
                </a:solidFill>
                <a:latin typeface="Arial"/>
                <a:cs typeface="Arial"/>
                <a:sym typeface="Arial"/>
              </a:rPr>
              <a:t>On Alpine, QoS can be used to run long jobs, specify testing partitions, and select high-memory nodes</a:t>
            </a:r>
          </a:p>
        </p:txBody>
      </p:sp>
      <p:graphicFrame>
        <p:nvGraphicFramePr>
          <p:cNvPr id="6" name="Google Shape;457;p47">
            <a:extLst>
              <a:ext uri="{FF2B5EF4-FFF2-40B4-BE49-F238E27FC236}">
                <a16:creationId xmlns:a16="http://schemas.microsoft.com/office/drawing/2014/main" id="{9D9176A1-4877-B532-5467-0A3B59E8D4E6}"/>
              </a:ext>
            </a:extLst>
          </p:cNvPr>
          <p:cNvGraphicFramePr/>
          <p:nvPr/>
        </p:nvGraphicFramePr>
        <p:xfrm>
          <a:off x="838200" y="3137262"/>
          <a:ext cx="10204937" cy="298608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132311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186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0027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5905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038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57112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QoS</a:t>
                      </a:r>
                      <a:endParaRPr sz="1800" b="1" u="none" strike="noStrike" cap="none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Description</a:t>
                      </a:r>
                      <a:endParaRPr sz="1800" b="1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Max wall time</a:t>
                      </a:r>
                      <a:endParaRPr sz="1800" b="1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Max jobs/user</a:t>
                      </a:r>
                      <a:endParaRPr sz="1800" b="1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Max nodes/user</a:t>
                      </a:r>
                      <a:endParaRPr sz="1800" b="1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7112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normal</a:t>
                      </a:r>
                      <a:endParaRPr sz="18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Default QoS</a:t>
                      </a:r>
                      <a:endParaRPr sz="18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24 H</a:t>
                      </a:r>
                      <a:endParaRPr sz="1800" u="none" strike="noStrike" cap="none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1000</a:t>
                      </a:r>
                      <a:endParaRPr sz="1800" u="none" strike="noStrike" cap="none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128</a:t>
                      </a:r>
                      <a:endParaRPr sz="1800" u="none" strike="noStrike" cap="none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8839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</a:t>
                      </a:r>
                      <a:endParaRPr sz="1800" u="none" strike="noStrike" cap="none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For jobs needing longer wall times</a:t>
                      </a:r>
                      <a:endParaRPr sz="1800" u="none" strike="noStrike" cap="none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 D</a:t>
                      </a:r>
                      <a:endParaRPr sz="1800" u="none" strike="noStrike" cap="none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200</a:t>
                      </a:r>
                      <a:endParaRPr sz="1800" u="none" strike="noStrike" cap="none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20 </a:t>
                      </a:r>
                      <a:endParaRPr sz="1800" u="none" strike="noStrike" cap="none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7112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mem</a:t>
                      </a:r>
                      <a:endParaRPr sz="1800" u="none" strike="noStrike" cap="none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High-memory jobs</a:t>
                      </a:r>
                      <a:endParaRPr sz="1800" u="none" strike="noStrike" cap="none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43100" marR="43100" marT="43100" marB="43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7 D</a:t>
                      </a:r>
                      <a:endParaRPr sz="1800" u="none" strike="noStrike" cap="none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43100" marR="43100" marT="43100" marB="43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n/a</a:t>
                      </a:r>
                      <a:endParaRPr sz="1800" u="none" strike="noStrike" cap="none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43100" marR="43100" marT="43100" marB="43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12</a:t>
                      </a:r>
                      <a:endParaRPr sz="1800" u="none" strike="noStrike" cap="none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43100" marR="43100" marT="43100" marB="43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2279699"/>
                  </a:ext>
                </a:extLst>
              </a:tr>
              <a:tr h="563026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testing</a:t>
                      </a:r>
                      <a:endParaRPr sz="1800" u="none" strike="noStrike" cap="none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For jobs submitted to testing partitions</a:t>
                      </a:r>
                      <a:endParaRPr sz="1800" u="none" strike="noStrike" cap="none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43100" marR="43100" marT="43100" marB="43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 H</a:t>
                      </a:r>
                      <a:endParaRPr sz="1800" u="none" strike="noStrike" cap="none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43100" marR="43100" marT="43100" marB="43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800" u="none" strike="noStrike" cap="none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43100" marR="43100" marT="43100" marB="43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n/a</a:t>
                      </a:r>
                      <a:endParaRPr sz="1800" u="none" strike="noStrike" cap="none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43100" marR="43100" marT="43100" marB="43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58480231"/>
                  </a:ext>
                </a:extLst>
              </a:tr>
              <a:tr h="563026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compile</a:t>
                      </a:r>
                      <a:endParaRPr sz="1800" u="none" strike="noStrike" cap="none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For jobs submitted to compile partition</a:t>
                      </a:r>
                      <a:endParaRPr sz="1800" u="none" strike="noStrike" cap="none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43100" marR="43100" marT="43100" marB="43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12 H</a:t>
                      </a:r>
                      <a:endParaRPr sz="1800" u="none" strike="noStrike" cap="none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43100" marR="43100" marT="43100" marB="43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800" u="none" strike="noStrike" cap="none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43100" marR="43100" marT="43100" marB="43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n/a</a:t>
                      </a:r>
                      <a:endParaRPr sz="1800" u="none" strike="noStrike" cap="none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43100" marR="43100" marT="43100" marB="43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22593831"/>
                  </a:ext>
                </a:extLst>
              </a:tr>
            </a:tbl>
          </a:graphicData>
        </a:graphic>
      </p:graphicFrame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FC1E9F5-4FCC-4A61-BE94-0E8FBFCCF4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ABDA560F-461C-6043-9BC4-489BA92F7161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133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56F0E6-2B0E-23CB-E1AC-52D70C869E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20E5D6-97FC-8E2F-6E6C-BCEB284F88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1876"/>
            <a:ext cx="10515600" cy="1325563"/>
          </a:xfrm>
        </p:spPr>
        <p:txBody>
          <a:bodyPr/>
          <a:lstStyle/>
          <a:p>
            <a:r>
              <a:rPr lang="en-US" dirty="0">
                <a:sym typeface="Helvetica Neue Light"/>
              </a:rPr>
              <a:t>Selecting Hardware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1C63A0-7AAD-CE14-BE42-A4A9FA0B63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848278" cy="3222160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2F2B20"/>
                </a:solidFill>
                <a:latin typeface="Arial"/>
                <a:cs typeface="Arial"/>
                <a:sym typeface="Arial"/>
              </a:rPr>
              <a:t>Once a partition and QoS are selected, we need to say how much of the hardware we would like to use</a:t>
            </a:r>
          </a:p>
          <a:p>
            <a:r>
              <a:rPr lang="en-US" dirty="0">
                <a:solidFill>
                  <a:srgbClr val="2F2B20"/>
                </a:solidFill>
                <a:latin typeface="Arial"/>
                <a:cs typeface="Arial"/>
                <a:sym typeface="Arial"/>
              </a:rPr>
              <a:t>The most common selections are </a:t>
            </a:r>
          </a:p>
          <a:p>
            <a:pPr lvl="1"/>
            <a:r>
              <a:rPr lang="en-US" dirty="0">
                <a:solidFill>
                  <a:srgbClr val="2F2B20"/>
                </a:solidFill>
                <a:latin typeface="Arial"/>
                <a:cs typeface="Arial"/>
                <a:sym typeface="Arial"/>
              </a:rPr>
              <a:t>The number of cores (often called “</a:t>
            </a:r>
            <a:r>
              <a:rPr lang="en-US" dirty="0" err="1">
                <a:solidFill>
                  <a:srgbClr val="2F2B20"/>
                </a:solidFill>
                <a:latin typeface="Arial"/>
                <a:cs typeface="Arial"/>
                <a:sym typeface="Arial"/>
              </a:rPr>
              <a:t>ntasks</a:t>
            </a:r>
            <a:r>
              <a:rPr lang="en-US" dirty="0">
                <a:solidFill>
                  <a:srgbClr val="2F2B20"/>
                </a:solidFill>
                <a:latin typeface="Arial"/>
                <a:cs typeface="Arial"/>
                <a:sym typeface="Arial"/>
              </a:rPr>
              <a:t>” on our system)</a:t>
            </a:r>
          </a:p>
          <a:p>
            <a:pPr lvl="1"/>
            <a:r>
              <a:rPr lang="en-US" dirty="0">
                <a:solidFill>
                  <a:srgbClr val="2F2B20"/>
                </a:solidFill>
                <a:latin typeface="Arial"/>
                <a:cs typeface="Arial"/>
                <a:sym typeface="Arial"/>
              </a:rPr>
              <a:t>The number computes nodes (often referred to as “nodes”)</a:t>
            </a:r>
          </a:p>
          <a:p>
            <a:pPr lvl="1"/>
            <a:r>
              <a:rPr lang="en-US" dirty="0">
                <a:solidFill>
                  <a:srgbClr val="2F2B20"/>
                </a:solidFill>
                <a:latin typeface="Arial"/>
                <a:cs typeface="Arial"/>
                <a:sym typeface="Arial"/>
              </a:rPr>
              <a:t>The type of GPU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35D81AB-A51F-7B41-E6AC-60B107901A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ABDA560F-461C-6043-9BC4-489BA92F7161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733409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C1EABC-E222-1436-FA78-0243A98587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63C058-48E2-EF87-1665-7FC5E12F31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1876"/>
            <a:ext cx="10515600" cy="1325563"/>
          </a:xfrm>
        </p:spPr>
        <p:txBody>
          <a:bodyPr/>
          <a:lstStyle/>
          <a:p>
            <a:r>
              <a:rPr lang="en-US" dirty="0">
                <a:sym typeface="Helvetica Neue Light"/>
              </a:rPr>
              <a:t>GRES Type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3184BE-D895-9FD0-54E5-D060BBDFDB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848278" cy="3222160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2F2B20"/>
                </a:solidFill>
                <a:latin typeface="Arial"/>
                <a:cs typeface="Arial"/>
                <a:sym typeface="Arial"/>
              </a:rPr>
              <a:t>Once</a:t>
            </a:r>
          </a:p>
          <a:p>
            <a:r>
              <a:rPr lang="en-US" dirty="0">
                <a:solidFill>
                  <a:srgbClr val="2F2B20"/>
                </a:solidFill>
                <a:latin typeface="Arial"/>
                <a:cs typeface="Arial"/>
                <a:sym typeface="Arial"/>
              </a:rPr>
              <a:t>MIG 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C723D85-F8DA-F3C1-0456-B7943E3C47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ABDA560F-461C-6043-9BC4-489BA92F7161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734238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265C23-DD0E-8418-7104-BEBD21012B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36AB93-A076-6924-5EBE-142FDD8B10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1876"/>
            <a:ext cx="10515600" cy="1325563"/>
          </a:xfrm>
        </p:spPr>
        <p:txBody>
          <a:bodyPr/>
          <a:lstStyle/>
          <a:p>
            <a:r>
              <a:rPr lang="en-US" dirty="0" err="1">
                <a:sym typeface="Helvetica Neue Light"/>
              </a:rPr>
              <a:t>Walltime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67B6D3-2A13-7853-77B6-7186F5718A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848278" cy="3222160"/>
          </a:xfrm>
        </p:spPr>
        <p:txBody>
          <a:bodyPr>
            <a:normAutofit/>
          </a:bodyPr>
          <a:lstStyle/>
          <a:p>
            <a:r>
              <a:rPr lang="en-US" dirty="0" err="1">
                <a:solidFill>
                  <a:srgbClr val="2F2B20"/>
                </a:solidFill>
                <a:latin typeface="Arial"/>
                <a:cs typeface="Arial"/>
                <a:sym typeface="Arial"/>
              </a:rPr>
              <a:t>Walltime</a:t>
            </a:r>
            <a:r>
              <a:rPr lang="en-US" dirty="0">
                <a:solidFill>
                  <a:srgbClr val="2F2B20"/>
                </a:solidFill>
                <a:latin typeface="Arial"/>
                <a:cs typeface="Arial"/>
                <a:sym typeface="Arial"/>
              </a:rPr>
              <a:t> or “run time” is how long you want to run on the selected resources </a:t>
            </a:r>
          </a:p>
          <a:p>
            <a:r>
              <a:rPr lang="en-US" dirty="0">
                <a:solidFill>
                  <a:srgbClr val="2F2B20"/>
                </a:solidFill>
                <a:latin typeface="Arial"/>
                <a:cs typeface="Arial"/>
                <a:sym typeface="Arial"/>
              </a:rPr>
              <a:t>How long do I specify? </a:t>
            </a:r>
          </a:p>
          <a:p>
            <a:pPr lvl="1"/>
            <a:r>
              <a:rPr lang="en-US" dirty="0">
                <a:solidFill>
                  <a:srgbClr val="2F2B20"/>
                </a:solidFill>
                <a:latin typeface="Arial"/>
                <a:cs typeface="Arial"/>
                <a:sym typeface="Arial"/>
              </a:rPr>
              <a:t>Downsides to requesting too much time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F61AEA4-442A-4969-E885-6D61604CA6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ABDA560F-461C-6043-9BC4-489BA92F7161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982563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7C0266-CD00-C38A-47A9-FF9BB2FC40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8832731-D078-1A8A-478F-25675808A4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A560F-461C-6043-9BC4-489BA92F7161}" type="slidenum">
              <a:rPr lang="en-US" smtClean="0"/>
              <a:t>28</a:t>
            </a:fld>
            <a:endParaRPr lang="en-US"/>
          </a:p>
        </p:txBody>
      </p:sp>
      <p:sp>
        <p:nvSpPr>
          <p:cNvPr id="21" name="Google Shape;225;p30">
            <a:extLst>
              <a:ext uri="{FF2B5EF4-FFF2-40B4-BE49-F238E27FC236}">
                <a16:creationId xmlns:a16="http://schemas.microsoft.com/office/drawing/2014/main" id="{A0605272-BE98-92AD-D034-42553F6B300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24711" y="18996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Helvetica Neue Light"/>
              <a:buNone/>
            </a:pPr>
            <a:r>
              <a:rPr lang="en-US" dirty="0">
                <a:sym typeface="Helvetica Neue Light"/>
              </a:rPr>
              <a:t>Selecting Resources</a:t>
            </a:r>
            <a:endParaRPr dirty="0"/>
          </a:p>
        </p:txBody>
      </p:sp>
      <p:sp>
        <p:nvSpPr>
          <p:cNvPr id="7" name="Down Arrow 6">
            <a:extLst>
              <a:ext uri="{FF2B5EF4-FFF2-40B4-BE49-F238E27FC236}">
                <a16:creationId xmlns:a16="http://schemas.microsoft.com/office/drawing/2014/main" id="{0D76E484-48E7-79A3-60D1-85A73CF1247B}"/>
              </a:ext>
            </a:extLst>
          </p:cNvPr>
          <p:cNvSpPr/>
          <p:nvPr/>
        </p:nvSpPr>
        <p:spPr>
          <a:xfrm rot="10800000">
            <a:off x="9369521" y="5340571"/>
            <a:ext cx="1133856" cy="97840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AFD34D9C-F989-D664-2005-21CE4A86ABCA}"/>
              </a:ext>
            </a:extLst>
          </p:cNvPr>
          <p:cNvGrpSpPr/>
          <p:nvPr/>
        </p:nvGrpSpPr>
        <p:grpSpPr>
          <a:xfrm>
            <a:off x="1069178" y="1759077"/>
            <a:ext cx="3636619" cy="3339847"/>
            <a:chOff x="1069178" y="1759077"/>
            <a:chExt cx="3636619" cy="3339847"/>
          </a:xfrm>
        </p:grpSpPr>
        <p:pic>
          <p:nvPicPr>
            <p:cNvPr id="4" name="Google Shape;210;p30">
              <a:extLst>
                <a:ext uri="{FF2B5EF4-FFF2-40B4-BE49-F238E27FC236}">
                  <a16:creationId xmlns:a16="http://schemas.microsoft.com/office/drawing/2014/main" id="{8B458A91-FF0A-1F38-B5B7-137B75883FB2}"/>
                </a:ext>
              </a:extLst>
            </p:cNvPr>
            <p:cNvPicPr preferRelativeResize="0">
              <a:picLocks noChangeAspect="1"/>
            </p:cNvPicPr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1069178" y="2240351"/>
              <a:ext cx="2377292" cy="2377297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8" name="Right Arrow Callout 7">
              <a:extLst>
                <a:ext uri="{FF2B5EF4-FFF2-40B4-BE49-F238E27FC236}">
                  <a16:creationId xmlns:a16="http://schemas.microsoft.com/office/drawing/2014/main" id="{414F5456-ED2A-312F-BA97-C95C1B0BC431}"/>
                </a:ext>
              </a:extLst>
            </p:cNvPr>
            <p:cNvSpPr/>
            <p:nvPr/>
          </p:nvSpPr>
          <p:spPr>
            <a:xfrm>
              <a:off x="1094954" y="1759077"/>
              <a:ext cx="3610843" cy="3339847"/>
            </a:xfrm>
            <a:prstGeom prst="rightArrowCallou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898CE92A-4C4C-F2C1-7343-E6FA210FBE0C}"/>
                </a:ext>
              </a:extLst>
            </p:cNvPr>
            <p:cNvGrpSpPr/>
            <p:nvPr/>
          </p:nvGrpSpPr>
          <p:grpSpPr>
            <a:xfrm>
              <a:off x="1082066" y="1873651"/>
              <a:ext cx="2351516" cy="707886"/>
              <a:chOff x="540307" y="1873650"/>
              <a:chExt cx="2351516" cy="707886"/>
            </a:xfrm>
          </p:grpSpPr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4AA1F5E-DBA8-BC74-58B7-1751988076F6}"/>
                  </a:ext>
                </a:extLst>
              </p:cNvPr>
              <p:cNvSpPr txBox="1"/>
              <p:nvPr/>
            </p:nvSpPr>
            <p:spPr>
              <a:xfrm>
                <a:off x="540307" y="1873650"/>
                <a:ext cx="2351516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4000" b="1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1</a:t>
                </a:r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E1EAB982-7162-9D1E-37BB-AE701054CD1F}"/>
                  </a:ext>
                </a:extLst>
              </p:cNvPr>
              <p:cNvSpPr/>
              <p:nvPr/>
            </p:nvSpPr>
            <p:spPr>
              <a:xfrm>
                <a:off x="1396025" y="1901951"/>
                <a:ext cx="640080" cy="640080"/>
              </a:xfrm>
              <a:prstGeom prst="ellips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FA728923-CAAA-B7E7-8A6A-7EA197CEA88E}"/>
                </a:ext>
              </a:extLst>
            </p:cNvPr>
            <p:cNvSpPr txBox="1"/>
            <p:nvPr/>
          </p:nvSpPr>
          <p:spPr>
            <a:xfrm>
              <a:off x="1094954" y="4432982"/>
              <a:ext cx="233862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/>
                <a:t>Login Node</a:t>
              </a: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1ED8E21F-3C16-A70A-A99A-E4AEBC1E58FE}"/>
              </a:ext>
            </a:extLst>
          </p:cNvPr>
          <p:cNvGrpSpPr/>
          <p:nvPr/>
        </p:nvGrpSpPr>
        <p:grpSpPr>
          <a:xfrm>
            <a:off x="4913198" y="1759077"/>
            <a:ext cx="3631266" cy="3339847"/>
            <a:chOff x="4913198" y="1759077"/>
            <a:chExt cx="3631266" cy="3339847"/>
          </a:xfrm>
        </p:grpSpPr>
        <p:sp>
          <p:nvSpPr>
            <p:cNvPr id="14" name="Right Arrow Callout 13">
              <a:extLst>
                <a:ext uri="{FF2B5EF4-FFF2-40B4-BE49-F238E27FC236}">
                  <a16:creationId xmlns:a16="http://schemas.microsoft.com/office/drawing/2014/main" id="{56074ACA-4643-AA03-1166-0377BD941636}"/>
                </a:ext>
              </a:extLst>
            </p:cNvPr>
            <p:cNvSpPr/>
            <p:nvPr/>
          </p:nvSpPr>
          <p:spPr>
            <a:xfrm>
              <a:off x="4933621" y="1759077"/>
              <a:ext cx="3610843" cy="3339847"/>
            </a:xfrm>
            <a:prstGeom prst="rightArrowCallou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192E9AF6-328F-19CC-DA36-112E527B6DA8}"/>
                </a:ext>
              </a:extLst>
            </p:cNvPr>
            <p:cNvGrpSpPr/>
            <p:nvPr/>
          </p:nvGrpSpPr>
          <p:grpSpPr>
            <a:xfrm>
              <a:off x="4920733" y="1873651"/>
              <a:ext cx="2351516" cy="707886"/>
              <a:chOff x="540307" y="1873650"/>
              <a:chExt cx="2351516" cy="707886"/>
            </a:xfrm>
          </p:grpSpPr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A7EFD36C-F04B-72BB-9574-06CADB98B04D}"/>
                  </a:ext>
                </a:extLst>
              </p:cNvPr>
              <p:cNvSpPr txBox="1"/>
              <p:nvPr/>
            </p:nvSpPr>
            <p:spPr>
              <a:xfrm>
                <a:off x="540307" y="1873650"/>
                <a:ext cx="2351516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4000" b="1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2</a:t>
                </a:r>
              </a:p>
            </p:txBody>
          </p:sp>
          <p:sp>
            <p:nvSpPr>
              <p:cNvPr id="41" name="Oval 40">
                <a:extLst>
                  <a:ext uri="{FF2B5EF4-FFF2-40B4-BE49-F238E27FC236}">
                    <a16:creationId xmlns:a16="http://schemas.microsoft.com/office/drawing/2014/main" id="{E4A8B5C5-51E8-7466-E028-302296E01D4F}"/>
                  </a:ext>
                </a:extLst>
              </p:cNvPr>
              <p:cNvSpPr/>
              <p:nvPr/>
            </p:nvSpPr>
            <p:spPr>
              <a:xfrm>
                <a:off x="1396025" y="1901951"/>
                <a:ext cx="640080" cy="640080"/>
              </a:xfrm>
              <a:prstGeom prst="ellips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064EFAE1-E5AD-B347-4DDC-7DD5D72304CB}"/>
                </a:ext>
              </a:extLst>
            </p:cNvPr>
            <p:cNvSpPr txBox="1"/>
            <p:nvPr/>
          </p:nvSpPr>
          <p:spPr>
            <a:xfrm>
              <a:off x="4913198" y="4436192"/>
              <a:ext cx="233862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/>
                <a:t>Resources</a:t>
              </a:r>
            </a:p>
          </p:txBody>
        </p: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2734962A-039B-3174-4456-8ABA8A6BF28A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5273040" y="2755023"/>
              <a:ext cx="1645920" cy="1546836"/>
              <a:chOff x="8412658" y="2617108"/>
              <a:chExt cx="1929294" cy="1813150"/>
            </a:xfrm>
          </p:grpSpPr>
          <p:grpSp>
            <p:nvGrpSpPr>
              <p:cNvPr id="18" name="Group 17">
                <a:extLst>
                  <a:ext uri="{FF2B5EF4-FFF2-40B4-BE49-F238E27FC236}">
                    <a16:creationId xmlns:a16="http://schemas.microsoft.com/office/drawing/2014/main" id="{5F2FA2A3-8E13-692F-47DC-AACAB2515DF5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8412658" y="2617108"/>
                <a:ext cx="1078992" cy="1082299"/>
                <a:chOff x="4726983" y="2457616"/>
                <a:chExt cx="2062421" cy="1993113"/>
              </a:xfrm>
            </p:grpSpPr>
            <p:sp>
              <p:nvSpPr>
                <p:cNvPr id="26" name="Rounded Rectangle 25" descr="An icon representing a computer chip">
                  <a:extLst>
                    <a:ext uri="{FF2B5EF4-FFF2-40B4-BE49-F238E27FC236}">
                      <a16:creationId xmlns:a16="http://schemas.microsoft.com/office/drawing/2014/main" id="{CFAFDB09-506C-42CF-6B6B-BE4C2405B272}"/>
                    </a:ext>
                  </a:extLst>
                </p:cNvPr>
                <p:cNvSpPr/>
                <p:nvPr/>
              </p:nvSpPr>
              <p:spPr>
                <a:xfrm>
                  <a:off x="4726983" y="2457616"/>
                  <a:ext cx="2062421" cy="1993113"/>
                </a:xfrm>
                <a:prstGeom prst="roundRect">
                  <a:avLst/>
                </a:prstGeom>
                <a:solidFill>
                  <a:schemeClr val="bg1"/>
                </a:solidFill>
                <a:ln w="571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pic>
              <p:nvPicPr>
                <p:cNvPr id="27" name="Graphic 26">
                  <a:extLst>
                    <a:ext uri="{FF2B5EF4-FFF2-40B4-BE49-F238E27FC236}">
                      <a16:creationId xmlns:a16="http://schemas.microsoft.com/office/drawing/2014/main" id="{2D07500D-9B13-64D7-8F33-6D2CD03E7F5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4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975767" y="2671746"/>
                  <a:ext cx="1564852" cy="1564852"/>
                </a:xfrm>
                <a:prstGeom prst="rect">
                  <a:avLst/>
                </a:prstGeom>
              </p:spPr>
            </p:pic>
          </p:grpSp>
          <p:grpSp>
            <p:nvGrpSpPr>
              <p:cNvPr id="19" name="Group 18">
                <a:extLst>
                  <a:ext uri="{FF2B5EF4-FFF2-40B4-BE49-F238E27FC236}">
                    <a16:creationId xmlns:a16="http://schemas.microsoft.com/office/drawing/2014/main" id="{A5D4BE65-8A28-D62A-4C2A-1FC319267D8C}"/>
                  </a:ext>
                </a:extLst>
              </p:cNvPr>
              <p:cNvGrpSpPr/>
              <p:nvPr/>
            </p:nvGrpSpPr>
            <p:grpSpPr>
              <a:xfrm>
                <a:off x="9262960" y="3347959"/>
                <a:ext cx="1078992" cy="1082299"/>
                <a:chOff x="9174826" y="3192427"/>
                <a:chExt cx="1078992" cy="1082299"/>
              </a:xfrm>
            </p:grpSpPr>
            <p:sp>
              <p:nvSpPr>
                <p:cNvPr id="20" name="Rounded Rectangle 19" descr="An icon of a stopwatch">
                  <a:extLst>
                    <a:ext uri="{FF2B5EF4-FFF2-40B4-BE49-F238E27FC236}">
                      <a16:creationId xmlns:a16="http://schemas.microsoft.com/office/drawing/2014/main" id="{54E095ED-174C-45A0-0363-72AE018014E8}"/>
                    </a:ext>
                  </a:extLst>
                </p:cNvPr>
                <p:cNvSpPr/>
                <p:nvPr/>
              </p:nvSpPr>
              <p:spPr>
                <a:xfrm>
                  <a:off x="9174826" y="3192427"/>
                  <a:ext cx="1078992" cy="1082299"/>
                </a:xfrm>
                <a:prstGeom prst="roundRect">
                  <a:avLst/>
                </a:prstGeom>
                <a:solidFill>
                  <a:schemeClr val="bg1"/>
                </a:solidFill>
                <a:ln w="571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pic>
              <p:nvPicPr>
                <p:cNvPr id="25" name="Graphic 24" descr="Stopwatch with solid fill">
                  <a:extLst>
                    <a:ext uri="{FF2B5EF4-FFF2-40B4-BE49-F238E27FC236}">
                      <a16:creationId xmlns:a16="http://schemas.microsoft.com/office/drawing/2014/main" id="{9F43AB8D-E92F-1148-F572-416D95FDAE8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302842" y="3322096"/>
                  <a:ext cx="822960" cy="822960"/>
                </a:xfrm>
                <a:prstGeom prst="rect">
                  <a:avLst/>
                </a:prstGeom>
              </p:spPr>
            </p:pic>
          </p:grpSp>
        </p:grp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9BD498DD-BE63-D019-CA25-189761565FD7}"/>
              </a:ext>
            </a:extLst>
          </p:cNvPr>
          <p:cNvGrpSpPr/>
          <p:nvPr/>
        </p:nvGrpSpPr>
        <p:grpSpPr>
          <a:xfrm>
            <a:off x="8747203" y="1764792"/>
            <a:ext cx="2358559" cy="3334132"/>
            <a:chOff x="8747203" y="1764792"/>
            <a:chExt cx="2358559" cy="3334132"/>
          </a:xfrm>
        </p:grpSpPr>
        <p:pic>
          <p:nvPicPr>
            <p:cNvPr id="44" name="Picture 2" descr="The logo of the Slurm workload manager">
              <a:extLst>
                <a:ext uri="{FF2B5EF4-FFF2-40B4-BE49-F238E27FC236}">
                  <a16:creationId xmlns:a16="http://schemas.microsoft.com/office/drawing/2014/main" id="{A3A6F250-68AA-D999-1944-C460AD91536E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12089"/>
            <a:stretch/>
          </p:blipFill>
          <p:spPr bwMode="auto">
            <a:xfrm>
              <a:off x="9087422" y="2803512"/>
              <a:ext cx="1698054" cy="136656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85073609-3ED6-D3C9-7C20-F3497BEA684B}"/>
                </a:ext>
              </a:extLst>
            </p:cNvPr>
            <p:cNvSpPr txBox="1"/>
            <p:nvPr/>
          </p:nvSpPr>
          <p:spPr>
            <a:xfrm>
              <a:off x="8758419" y="4432982"/>
              <a:ext cx="233862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/>
                <a:t>Job Request</a:t>
              </a:r>
            </a:p>
          </p:txBody>
        </p:sp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4EC49E83-226A-15BA-AFC9-468D4F5E281F}"/>
                </a:ext>
              </a:extLst>
            </p:cNvPr>
            <p:cNvSpPr/>
            <p:nvPr/>
          </p:nvSpPr>
          <p:spPr>
            <a:xfrm>
              <a:off x="8767136" y="1764792"/>
              <a:ext cx="2338626" cy="3334132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E2A3D37E-C5B4-23A0-41C0-99A8FB3B0844}"/>
                </a:ext>
              </a:extLst>
            </p:cNvPr>
            <p:cNvGrpSpPr/>
            <p:nvPr/>
          </p:nvGrpSpPr>
          <p:grpSpPr>
            <a:xfrm>
              <a:off x="8747203" y="1891582"/>
              <a:ext cx="2351516" cy="707886"/>
              <a:chOff x="540307" y="1873650"/>
              <a:chExt cx="2351516" cy="707886"/>
            </a:xfrm>
          </p:grpSpPr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AC720AFF-5152-D169-093F-90B1FBF90CA7}"/>
                  </a:ext>
                </a:extLst>
              </p:cNvPr>
              <p:cNvSpPr txBox="1"/>
              <p:nvPr/>
            </p:nvSpPr>
            <p:spPr>
              <a:xfrm>
                <a:off x="540307" y="1873650"/>
                <a:ext cx="2351516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4000" b="1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3</a:t>
                </a:r>
              </a:p>
            </p:txBody>
          </p:sp>
          <p:sp>
            <p:nvSpPr>
              <p:cNvPr id="56" name="Oval 55">
                <a:extLst>
                  <a:ext uri="{FF2B5EF4-FFF2-40B4-BE49-F238E27FC236}">
                    <a16:creationId xmlns:a16="http://schemas.microsoft.com/office/drawing/2014/main" id="{8787AAA0-E77E-C111-289F-2CF0755E4764}"/>
                  </a:ext>
                </a:extLst>
              </p:cNvPr>
              <p:cNvSpPr/>
              <p:nvPr/>
            </p:nvSpPr>
            <p:spPr>
              <a:xfrm>
                <a:off x="1396025" y="1901951"/>
                <a:ext cx="640080" cy="640080"/>
              </a:xfrm>
              <a:prstGeom prst="ellips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29051508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860617-0666-E878-70B5-A1BD416EB6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2DEF42-BA73-9A05-DD77-EB61AC2E72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6091"/>
            <a:ext cx="10515600" cy="1325563"/>
          </a:xfrm>
        </p:spPr>
        <p:txBody>
          <a:bodyPr/>
          <a:lstStyle/>
          <a:p>
            <a:r>
              <a:rPr lang="en-US" dirty="0"/>
              <a:t>Planned Maintenance 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A25307E-1328-FFDA-4BAC-FF718AC899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A560F-461C-6043-9BC4-489BA92F7161}" type="slidenum">
              <a:rPr lang="en-US" smtClean="0"/>
              <a:t>29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6A78ED3-706B-AB70-FC82-4FDAEF170EA4}"/>
              </a:ext>
            </a:extLst>
          </p:cNvPr>
          <p:cNvSpPr txBox="1"/>
          <p:nvPr/>
        </p:nvSpPr>
        <p:spPr>
          <a:xfrm>
            <a:off x="3337932" y="2304585"/>
            <a:ext cx="50031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Planned maintenance is … </a:t>
            </a:r>
          </a:p>
        </p:txBody>
      </p:sp>
    </p:spTree>
    <p:extLst>
      <p:ext uri="{BB962C8B-B14F-4D97-AF65-F5344CB8AC3E}">
        <p14:creationId xmlns:p14="http://schemas.microsoft.com/office/powerpoint/2010/main" val="9431824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76F7EE-8529-C957-850C-D05C9D4591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D93C40-5499-1E66-0CA5-1A0705CA07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6091"/>
            <a:ext cx="10515600" cy="1325563"/>
          </a:xfrm>
        </p:spPr>
        <p:txBody>
          <a:bodyPr/>
          <a:lstStyle/>
          <a:p>
            <a:r>
              <a:rPr lang="en-US" dirty="0"/>
              <a:t>Batch vs Interactive Jobs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33C2F5F-B807-D784-081F-3B32B3A762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A560F-461C-6043-9BC4-489BA92F7161}" type="slidenum">
              <a:rPr lang="en-US" smtClean="0"/>
              <a:t>30</a:t>
            </a:fld>
            <a:endParaRPr lang="en-US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A28E736A-7947-EE7A-4678-F4E31408E72D}"/>
              </a:ext>
            </a:extLst>
          </p:cNvPr>
          <p:cNvGrpSpPr/>
          <p:nvPr/>
        </p:nvGrpSpPr>
        <p:grpSpPr>
          <a:xfrm>
            <a:off x="3372129" y="2268586"/>
            <a:ext cx="5343664" cy="2960167"/>
            <a:chOff x="3424168" y="1948917"/>
            <a:chExt cx="5343664" cy="2960167"/>
          </a:xfrm>
        </p:grpSpPr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60D7A3ED-821E-BB6F-5641-85D5CE360CD5}"/>
                </a:ext>
              </a:extLst>
            </p:cNvPr>
            <p:cNvGrpSpPr/>
            <p:nvPr/>
          </p:nvGrpSpPr>
          <p:grpSpPr>
            <a:xfrm>
              <a:off x="3424168" y="1948917"/>
              <a:ext cx="5343664" cy="2960167"/>
              <a:chOff x="6357009" y="1948917"/>
              <a:chExt cx="5343664" cy="2960167"/>
            </a:xfrm>
          </p:grpSpPr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4EB19255-9CD8-81CF-BB4B-54900D426E23}"/>
                  </a:ext>
                </a:extLst>
              </p:cNvPr>
              <p:cNvSpPr/>
              <p:nvPr/>
            </p:nvSpPr>
            <p:spPr>
              <a:xfrm>
                <a:off x="6357009" y="1948917"/>
                <a:ext cx="2468880" cy="2949023"/>
              </a:xfrm>
              <a:prstGeom prst="roundRect">
                <a:avLst/>
              </a:prstGeom>
              <a:solidFill>
                <a:schemeClr val="bg1"/>
              </a:solidFill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018631C2-A132-3700-E80E-19088F61F609}"/>
                  </a:ext>
                </a:extLst>
              </p:cNvPr>
              <p:cNvSpPr/>
              <p:nvPr/>
            </p:nvSpPr>
            <p:spPr>
              <a:xfrm>
                <a:off x="9231793" y="1948917"/>
                <a:ext cx="2468880" cy="2960167"/>
              </a:xfrm>
              <a:prstGeom prst="roundRect">
                <a:avLst/>
              </a:prstGeom>
              <a:solidFill>
                <a:schemeClr val="bg1"/>
              </a:solidFill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9ADB6E1F-94E0-76DF-9754-C5A29B1FAE7B}"/>
                  </a:ext>
                </a:extLst>
              </p:cNvPr>
              <p:cNvSpPr txBox="1"/>
              <p:nvPr/>
            </p:nvSpPr>
            <p:spPr>
              <a:xfrm>
                <a:off x="9420249" y="3598703"/>
                <a:ext cx="2091967" cy="9541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dirty="0"/>
                  <a:t>Interactive</a:t>
                </a:r>
              </a:p>
              <a:p>
                <a:pPr algn="ctr"/>
                <a:r>
                  <a:rPr lang="en-US" sz="2800" b="1" dirty="0"/>
                  <a:t>Job</a:t>
                </a:r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294AB67-EDF1-F066-79B3-E5790D516265}"/>
                  </a:ext>
                </a:extLst>
              </p:cNvPr>
              <p:cNvSpPr txBox="1"/>
              <p:nvPr/>
            </p:nvSpPr>
            <p:spPr>
              <a:xfrm>
                <a:off x="6634225" y="3587559"/>
                <a:ext cx="1914448" cy="9541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dirty="0"/>
                  <a:t>Batch</a:t>
                </a:r>
              </a:p>
              <a:p>
                <a:pPr algn="ctr"/>
                <a:r>
                  <a:rPr lang="en-US" sz="2800" b="1" dirty="0"/>
                  <a:t>Job</a:t>
                </a:r>
              </a:p>
            </p:txBody>
          </p:sp>
          <p:pic>
            <p:nvPicPr>
              <p:cNvPr id="15" name="Graphic 14" descr="An icon of a person programming on a laptop">
                <a:extLst>
                  <a:ext uri="{FF2B5EF4-FFF2-40B4-BE49-F238E27FC236}">
                    <a16:creationId xmlns:a16="http://schemas.microsoft.com/office/drawing/2014/main" id="{54DD9B6F-D7A1-07A2-97A8-39C87AB71C6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9826153" y="2206872"/>
                <a:ext cx="1280160" cy="1280160"/>
              </a:xfrm>
              <a:prstGeom prst="rect">
                <a:avLst/>
              </a:prstGeom>
            </p:spPr>
          </p:pic>
        </p:grpSp>
        <p:pic>
          <p:nvPicPr>
            <p:cNvPr id="17" name="Graphic 16" descr="An icon representing a file or document">
              <a:extLst>
                <a:ext uri="{FF2B5EF4-FFF2-40B4-BE49-F238E27FC236}">
                  <a16:creationId xmlns:a16="http://schemas.microsoft.com/office/drawing/2014/main" id="{D40FBE46-BFB3-A198-58EE-83F3CC95768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4018528" y="2206872"/>
              <a:ext cx="1280160" cy="128016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06040683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B7DFA3-5110-BFBC-7E61-7CC123894D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491FB9-57BC-89B2-4E6B-8B32E1A03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6416"/>
            <a:ext cx="10515600" cy="1325563"/>
          </a:xfrm>
        </p:spPr>
        <p:txBody>
          <a:bodyPr/>
          <a:lstStyle/>
          <a:p>
            <a:r>
              <a:rPr lang="en-US" dirty="0"/>
              <a:t>Batch Jobs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13EFA4B-17AF-5B22-E346-078C64D81E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A560F-461C-6043-9BC4-489BA92F7161}" type="slidenum">
              <a:rPr lang="en-US" smtClean="0"/>
              <a:t>31</a:t>
            </a:fld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A44EAFD-E4A2-3B20-2AF6-224D103A3C3D}"/>
              </a:ext>
            </a:extLst>
          </p:cNvPr>
          <p:cNvSpPr txBox="1"/>
          <p:nvPr/>
        </p:nvSpPr>
        <p:spPr>
          <a:xfrm>
            <a:off x="160197" y="1994315"/>
            <a:ext cx="3088372" cy="29854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34950" indent="-2349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800" dirty="0"/>
              <a:t>Runs a job script</a:t>
            </a:r>
          </a:p>
          <a:p>
            <a:pPr marL="234950" indent="-2349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800" dirty="0"/>
              <a:t>No need for user input</a:t>
            </a:r>
          </a:p>
          <a:p>
            <a:pPr marL="234950" indent="-2349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800" dirty="0"/>
              <a:t>Best for tested workflows and long/big jobs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8BFF9413-AF66-3B44-0DBA-46F85CADD4D4}"/>
              </a:ext>
            </a:extLst>
          </p:cNvPr>
          <p:cNvGrpSpPr/>
          <p:nvPr/>
        </p:nvGrpSpPr>
        <p:grpSpPr>
          <a:xfrm>
            <a:off x="3424168" y="1948917"/>
            <a:ext cx="5343664" cy="2960167"/>
            <a:chOff x="3424168" y="1948917"/>
            <a:chExt cx="5343664" cy="2960167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A07040C0-DE5D-8B66-F16C-AA887D18049D}"/>
                </a:ext>
              </a:extLst>
            </p:cNvPr>
            <p:cNvGrpSpPr/>
            <p:nvPr/>
          </p:nvGrpSpPr>
          <p:grpSpPr>
            <a:xfrm>
              <a:off x="3424168" y="1948917"/>
              <a:ext cx="5343664" cy="2960167"/>
              <a:chOff x="6357009" y="1948917"/>
              <a:chExt cx="5343664" cy="2960167"/>
            </a:xfrm>
          </p:grpSpPr>
          <p:sp>
            <p:nvSpPr>
              <p:cNvPr id="20" name="Rounded Rectangle 19">
                <a:extLst>
                  <a:ext uri="{FF2B5EF4-FFF2-40B4-BE49-F238E27FC236}">
                    <a16:creationId xmlns:a16="http://schemas.microsoft.com/office/drawing/2014/main" id="{A929CAED-116B-4FF4-F439-FF1FEF2DAA0C}"/>
                  </a:ext>
                </a:extLst>
              </p:cNvPr>
              <p:cNvSpPr/>
              <p:nvPr/>
            </p:nvSpPr>
            <p:spPr>
              <a:xfrm>
                <a:off x="6357009" y="1948917"/>
                <a:ext cx="2468880" cy="2949023"/>
              </a:xfrm>
              <a:prstGeom prst="roundRect">
                <a:avLst/>
              </a:prstGeom>
              <a:solidFill>
                <a:schemeClr val="bg1"/>
              </a:solidFill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1" name="Rounded Rectangle 20">
                <a:extLst>
                  <a:ext uri="{FF2B5EF4-FFF2-40B4-BE49-F238E27FC236}">
                    <a16:creationId xmlns:a16="http://schemas.microsoft.com/office/drawing/2014/main" id="{D9828C0A-A937-7C55-98A2-35DBEBA65963}"/>
                  </a:ext>
                </a:extLst>
              </p:cNvPr>
              <p:cNvSpPr/>
              <p:nvPr/>
            </p:nvSpPr>
            <p:spPr>
              <a:xfrm>
                <a:off x="9231793" y="1948917"/>
                <a:ext cx="2468880" cy="2960167"/>
              </a:xfrm>
              <a:prstGeom prst="roundRect">
                <a:avLst/>
              </a:prstGeom>
              <a:solidFill>
                <a:schemeClr val="bg1"/>
              </a:solidFill>
              <a:ln w="57150">
                <a:solidFill>
                  <a:schemeClr val="accent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7C276ED2-0A65-F281-EF55-EDBBF58593E6}"/>
                  </a:ext>
                </a:extLst>
              </p:cNvPr>
              <p:cNvSpPr txBox="1"/>
              <p:nvPr/>
            </p:nvSpPr>
            <p:spPr>
              <a:xfrm>
                <a:off x="9420249" y="3598703"/>
                <a:ext cx="2091967" cy="9541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dirty="0"/>
                  <a:t>Interactive</a:t>
                </a:r>
              </a:p>
              <a:p>
                <a:pPr algn="ctr"/>
                <a:r>
                  <a:rPr lang="en-US" sz="2800" b="1" dirty="0"/>
                  <a:t>Job</a:t>
                </a:r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0D2086C8-A33B-E2DC-8C8B-FCFCC8A8E1BC}"/>
                  </a:ext>
                </a:extLst>
              </p:cNvPr>
              <p:cNvSpPr txBox="1"/>
              <p:nvPr/>
            </p:nvSpPr>
            <p:spPr>
              <a:xfrm>
                <a:off x="6634225" y="3587559"/>
                <a:ext cx="1914448" cy="9541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dirty="0"/>
                  <a:t>Batch</a:t>
                </a:r>
              </a:p>
              <a:p>
                <a:pPr algn="ctr"/>
                <a:r>
                  <a:rPr lang="en-US" sz="2800" b="1" dirty="0"/>
                  <a:t>Job</a:t>
                </a:r>
              </a:p>
            </p:txBody>
          </p:sp>
          <p:pic>
            <p:nvPicPr>
              <p:cNvPr id="24" name="Graphic 23" descr="An icon of a person programming on a laptop">
                <a:extLst>
                  <a:ext uri="{FF2B5EF4-FFF2-40B4-BE49-F238E27FC236}">
                    <a16:creationId xmlns:a16="http://schemas.microsoft.com/office/drawing/2014/main" id="{76ABB1BB-7A37-0718-43EC-81E099C6597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9826153" y="2206872"/>
                <a:ext cx="1280160" cy="1280160"/>
              </a:xfrm>
              <a:prstGeom prst="rect">
                <a:avLst/>
              </a:prstGeom>
            </p:spPr>
          </p:pic>
        </p:grpSp>
        <p:pic>
          <p:nvPicPr>
            <p:cNvPr id="19" name="Graphic 18" descr="An icon representing a file or document">
              <a:extLst>
                <a:ext uri="{FF2B5EF4-FFF2-40B4-BE49-F238E27FC236}">
                  <a16:creationId xmlns:a16="http://schemas.microsoft.com/office/drawing/2014/main" id="{D7C34AFB-86A2-793E-CDD0-E8E43D59E07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4018528" y="2206872"/>
              <a:ext cx="1280160" cy="128016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38868929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FB1FC0-3AD8-06A5-88C3-49CEDC6DDC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450087-ACDB-90AE-3696-BAC8254D10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6416"/>
            <a:ext cx="10515600" cy="1325563"/>
          </a:xfrm>
        </p:spPr>
        <p:txBody>
          <a:bodyPr/>
          <a:lstStyle/>
          <a:p>
            <a:r>
              <a:rPr lang="en-US" dirty="0"/>
              <a:t>Interactive Jobs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9D01677-1C2C-5558-7AE4-0A49C88F5F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A560F-461C-6043-9BC4-489BA92F7161}" type="slidenum">
              <a:rPr lang="en-US" smtClean="0"/>
              <a:t>32</a:t>
            </a:fld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5928697-2372-B16C-61ED-73DACE02410A}"/>
              </a:ext>
            </a:extLst>
          </p:cNvPr>
          <p:cNvSpPr txBox="1"/>
          <p:nvPr/>
        </p:nvSpPr>
        <p:spPr>
          <a:xfrm>
            <a:off x="8956904" y="1994314"/>
            <a:ext cx="3088372" cy="29854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34950" indent="-2349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800" dirty="0"/>
              <a:t>Terminal or GUI</a:t>
            </a:r>
          </a:p>
          <a:p>
            <a:pPr marL="234950" indent="-2349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800" dirty="0"/>
              <a:t>Requires active user input</a:t>
            </a:r>
          </a:p>
          <a:p>
            <a:pPr marL="234950" indent="-2349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800" dirty="0"/>
              <a:t>Best for development and exploration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502A463C-C1C7-DBC6-2C46-4CC480B9271B}"/>
              </a:ext>
            </a:extLst>
          </p:cNvPr>
          <p:cNvGrpSpPr/>
          <p:nvPr/>
        </p:nvGrpSpPr>
        <p:grpSpPr>
          <a:xfrm>
            <a:off x="3424168" y="1948917"/>
            <a:ext cx="5343664" cy="2960167"/>
            <a:chOff x="3424168" y="1948917"/>
            <a:chExt cx="5343664" cy="2960167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929CA036-2B62-5E9C-C26C-21970ADF69DB}"/>
                </a:ext>
              </a:extLst>
            </p:cNvPr>
            <p:cNvGrpSpPr/>
            <p:nvPr/>
          </p:nvGrpSpPr>
          <p:grpSpPr>
            <a:xfrm>
              <a:off x="3424168" y="1948917"/>
              <a:ext cx="5343664" cy="2960167"/>
              <a:chOff x="6357009" y="1948917"/>
              <a:chExt cx="5343664" cy="2960167"/>
            </a:xfrm>
          </p:grpSpPr>
          <p:sp>
            <p:nvSpPr>
              <p:cNvPr id="21" name="Rounded Rectangle 20">
                <a:extLst>
                  <a:ext uri="{FF2B5EF4-FFF2-40B4-BE49-F238E27FC236}">
                    <a16:creationId xmlns:a16="http://schemas.microsoft.com/office/drawing/2014/main" id="{EBDE617D-2D77-E7B3-D147-B231AFC59D2D}"/>
                  </a:ext>
                </a:extLst>
              </p:cNvPr>
              <p:cNvSpPr/>
              <p:nvPr/>
            </p:nvSpPr>
            <p:spPr>
              <a:xfrm>
                <a:off x="6357009" y="1948917"/>
                <a:ext cx="2468880" cy="2949023"/>
              </a:xfrm>
              <a:prstGeom prst="roundRect">
                <a:avLst/>
              </a:prstGeom>
              <a:solidFill>
                <a:schemeClr val="bg1"/>
              </a:solidFill>
              <a:ln w="57150">
                <a:solidFill>
                  <a:schemeClr val="accent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2" name="Rounded Rectangle 21">
                <a:extLst>
                  <a:ext uri="{FF2B5EF4-FFF2-40B4-BE49-F238E27FC236}">
                    <a16:creationId xmlns:a16="http://schemas.microsoft.com/office/drawing/2014/main" id="{849BE665-6220-CB9B-9A9B-10BA60715703}"/>
                  </a:ext>
                </a:extLst>
              </p:cNvPr>
              <p:cNvSpPr/>
              <p:nvPr/>
            </p:nvSpPr>
            <p:spPr>
              <a:xfrm>
                <a:off x="9231793" y="1948917"/>
                <a:ext cx="2468880" cy="2960167"/>
              </a:xfrm>
              <a:prstGeom prst="roundRect">
                <a:avLst/>
              </a:prstGeom>
              <a:solidFill>
                <a:schemeClr val="bg1"/>
              </a:solidFill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DD3C5999-F21A-59DF-5638-6C324A840743}"/>
                  </a:ext>
                </a:extLst>
              </p:cNvPr>
              <p:cNvSpPr txBox="1"/>
              <p:nvPr/>
            </p:nvSpPr>
            <p:spPr>
              <a:xfrm>
                <a:off x="9420249" y="3598703"/>
                <a:ext cx="2091967" cy="9541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dirty="0"/>
                  <a:t>Interactive</a:t>
                </a:r>
              </a:p>
              <a:p>
                <a:pPr algn="ctr"/>
                <a:r>
                  <a:rPr lang="en-US" sz="2800" b="1" dirty="0"/>
                  <a:t>Job</a:t>
                </a:r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0398E922-3457-38FC-F6D6-85B33CC84168}"/>
                  </a:ext>
                </a:extLst>
              </p:cNvPr>
              <p:cNvSpPr txBox="1"/>
              <p:nvPr/>
            </p:nvSpPr>
            <p:spPr>
              <a:xfrm>
                <a:off x="6634225" y="3587559"/>
                <a:ext cx="1914448" cy="9541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dirty="0"/>
                  <a:t>Batch</a:t>
                </a:r>
              </a:p>
              <a:p>
                <a:pPr algn="ctr"/>
                <a:r>
                  <a:rPr lang="en-US" sz="2800" b="1" dirty="0"/>
                  <a:t>Job</a:t>
                </a:r>
              </a:p>
            </p:txBody>
          </p:sp>
          <p:pic>
            <p:nvPicPr>
              <p:cNvPr id="25" name="Graphic 24" descr="An icon of a person programming on a laptop">
                <a:extLst>
                  <a:ext uri="{FF2B5EF4-FFF2-40B4-BE49-F238E27FC236}">
                    <a16:creationId xmlns:a16="http://schemas.microsoft.com/office/drawing/2014/main" id="{07393C4B-8E86-71F2-D05F-280A12AE110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9826153" y="2206872"/>
                <a:ext cx="1280160" cy="1280160"/>
              </a:xfrm>
              <a:prstGeom prst="rect">
                <a:avLst/>
              </a:prstGeom>
            </p:spPr>
          </p:pic>
        </p:grpSp>
        <p:pic>
          <p:nvPicPr>
            <p:cNvPr id="20" name="Graphic 19" descr="An icon representing a file or a document">
              <a:extLst>
                <a:ext uri="{FF2B5EF4-FFF2-40B4-BE49-F238E27FC236}">
                  <a16:creationId xmlns:a16="http://schemas.microsoft.com/office/drawing/2014/main" id="{A143587B-8A7E-CE44-6249-3A3D243069B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4018528" y="2206872"/>
              <a:ext cx="1280160" cy="128016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77296423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118F5C-843C-1042-FD0A-C057E07CA4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E42C17-DD7D-9248-BD8C-574C2CD70B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6091"/>
            <a:ext cx="10515600" cy="1325563"/>
          </a:xfrm>
        </p:spPr>
        <p:txBody>
          <a:bodyPr/>
          <a:lstStyle/>
          <a:p>
            <a:r>
              <a:rPr lang="en-US" dirty="0" err="1"/>
              <a:t>Slurm</a:t>
            </a:r>
            <a:r>
              <a:rPr lang="en-US" dirty="0"/>
              <a:t> Directives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CD81A90-4F9D-573E-6096-B83BA10286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A560F-461C-6043-9BC4-489BA92F7161}" type="slidenum">
              <a:rPr lang="en-US" smtClean="0"/>
              <a:t>33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B3B7597-FB95-7F32-8231-A0B2E11461B2}"/>
              </a:ext>
            </a:extLst>
          </p:cNvPr>
          <p:cNvSpPr txBox="1"/>
          <p:nvPr/>
        </p:nvSpPr>
        <p:spPr>
          <a:xfrm>
            <a:off x="944136" y="1813929"/>
            <a:ext cx="9634653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Slurm</a:t>
            </a:r>
            <a:r>
              <a:rPr lang="en-US" dirty="0"/>
              <a:t> is a popular resource manager for High-Performance Computing systems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Grabs the resources you are requesting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Determines when your job will run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Slurm</a:t>
            </a:r>
            <a:r>
              <a:rPr lang="en-US" dirty="0"/>
              <a:t> directives are how we tell </a:t>
            </a:r>
            <a:r>
              <a:rPr lang="en-US" dirty="0" err="1"/>
              <a:t>Slurm</a:t>
            </a:r>
            <a:r>
              <a:rPr lang="en-US" dirty="0"/>
              <a:t> what resources we would like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Are used for both interactive and batch jobs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897101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749CF7-32EF-DAC5-7DD8-74D583CFA5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EEE945-C7E1-16E3-0841-5FD73FA4F4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Common </a:t>
            </a:r>
            <a:r>
              <a:rPr lang="en-US" dirty="0" err="1"/>
              <a:t>Slurm</a:t>
            </a:r>
            <a:r>
              <a:rPr lang="en-US" dirty="0"/>
              <a:t> Directives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AF732FF-E7A0-5065-1B9F-259E000DF213}"/>
              </a:ext>
            </a:extLst>
          </p:cNvPr>
          <p:cNvSpPr txBox="1"/>
          <p:nvPr/>
        </p:nvSpPr>
        <p:spPr>
          <a:xfrm>
            <a:off x="838200" y="1894367"/>
            <a:ext cx="9519914" cy="347248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40665" marR="0" lvl="0" indent="-205740" algn="l" rtl="0">
              <a:lnSpc>
                <a:spcPct val="122511"/>
              </a:lnSpc>
              <a:spcBef>
                <a:spcPts val="0"/>
              </a:spcBef>
              <a:spcAft>
                <a:spcPts val="0"/>
              </a:spcAft>
              <a:buClr>
                <a:srgbClr val="A9A57C"/>
              </a:buClr>
              <a:buSzPts val="1800"/>
              <a:buFont typeface="Arial"/>
              <a:buChar char="•"/>
            </a:pPr>
            <a:r>
              <a:rPr lang="en-US" sz="1800" b="1" dirty="0">
                <a:solidFill>
                  <a:srgbClr val="2F2B20"/>
                </a:solidFill>
                <a:latin typeface="Arial"/>
                <a:ea typeface="Arial"/>
                <a:cs typeface="Arial"/>
                <a:sym typeface="Arial"/>
              </a:rPr>
              <a:t>Partition – A collection of compute nodes </a:t>
            </a:r>
          </a:p>
          <a:p>
            <a:pPr marL="697865" lvl="1" indent="-205740">
              <a:lnSpc>
                <a:spcPct val="122511"/>
              </a:lnSpc>
              <a:buClr>
                <a:srgbClr val="A9A57C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--partition=</a:t>
            </a:r>
            <a:r>
              <a:rPr lang="en-US" sz="1800" dirty="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-US" sz="1800" dirty="0" err="1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partition_name</a:t>
            </a:r>
            <a:r>
              <a:rPr lang="en-US" sz="1800" dirty="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&gt;</a:t>
            </a:r>
          </a:p>
          <a:p>
            <a:pPr marL="240665" indent="-205740">
              <a:lnSpc>
                <a:spcPct val="122511"/>
              </a:lnSpc>
              <a:buClr>
                <a:srgbClr val="A9A57C"/>
              </a:buClr>
              <a:buSzPts val="1800"/>
              <a:buFont typeface="Arial"/>
              <a:buChar char="•"/>
            </a:pPr>
            <a:r>
              <a:rPr lang="en-US" sz="1800" b="1" dirty="0">
                <a:solidFill>
                  <a:srgbClr val="2F2B20"/>
                </a:solidFill>
              </a:rPr>
              <a:t>Quality of service (QoS) – System defined constraints for a job (more on this later!)</a:t>
            </a:r>
          </a:p>
          <a:p>
            <a:pPr marL="697865" lvl="1" indent="-205740">
              <a:lnSpc>
                <a:spcPct val="122511"/>
              </a:lnSpc>
              <a:buClr>
                <a:srgbClr val="A9A57C"/>
              </a:buClr>
              <a:buSzPts val="1800"/>
              <a:buFont typeface="Arial"/>
              <a:buChar char="•"/>
            </a:pPr>
            <a:r>
              <a:rPr lang="en-US" b="1" dirty="0">
                <a:solidFill>
                  <a:srgbClr val="2F2B20"/>
                </a:solidFill>
              </a:rPr>
              <a:t> </a:t>
            </a:r>
            <a:r>
              <a:rPr lang="en-US" sz="1800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--</a:t>
            </a:r>
            <a:r>
              <a:rPr lang="en-US" sz="1800" dirty="0" err="1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qos</a:t>
            </a:r>
            <a:r>
              <a:rPr lang="en-US" sz="1800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-US" sz="1800" dirty="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-US" sz="1800" dirty="0" err="1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qos</a:t>
            </a:r>
            <a:r>
              <a:rPr lang="en-US" sz="1800" dirty="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&gt;</a:t>
            </a:r>
          </a:p>
          <a:p>
            <a:pPr marL="240665" indent="-205740">
              <a:lnSpc>
                <a:spcPct val="122511"/>
              </a:lnSpc>
              <a:buClr>
                <a:srgbClr val="A9A57C"/>
              </a:buClr>
              <a:buSzPts val="1800"/>
              <a:buFont typeface="Arial"/>
              <a:buChar char="•"/>
            </a:pPr>
            <a:r>
              <a:rPr lang="en-US" sz="1800" b="1" dirty="0">
                <a:solidFill>
                  <a:srgbClr val="2F2B20"/>
                </a:solidFill>
              </a:rPr>
              <a:t>Allocation</a:t>
            </a:r>
            <a:r>
              <a:rPr lang="en-US" b="1" dirty="0">
                <a:solidFill>
                  <a:srgbClr val="2F2B20"/>
                </a:solidFill>
                <a:latin typeface="Arial"/>
                <a:cs typeface="Arial"/>
                <a:sym typeface="Arial"/>
              </a:rPr>
              <a:t> </a:t>
            </a:r>
            <a:r>
              <a:rPr lang="en-US" sz="1800" b="1" dirty="0">
                <a:solidFill>
                  <a:srgbClr val="2F2B20"/>
                </a:solidFill>
                <a:latin typeface="Arial"/>
                <a:cs typeface="Arial"/>
                <a:sym typeface="Arial"/>
              </a:rPr>
              <a:t>– Account to “charge to”</a:t>
            </a:r>
            <a:endParaRPr lang="en-US" sz="1800" b="1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697865" lvl="1" indent="-205740">
              <a:lnSpc>
                <a:spcPct val="122511"/>
              </a:lnSpc>
              <a:buClr>
                <a:srgbClr val="A9A57C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--account=</a:t>
            </a:r>
            <a:r>
              <a:rPr lang="en-US" sz="1800" dirty="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-US" sz="1800" dirty="0" err="1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account_name</a:t>
            </a:r>
            <a:r>
              <a:rPr lang="en-US" sz="1800" dirty="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&gt;</a:t>
            </a:r>
            <a:endParaRPr lang="en-US" b="1" dirty="0">
              <a:solidFill>
                <a:schemeClr val="accent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240665" indent="-205740">
              <a:lnSpc>
                <a:spcPct val="122511"/>
              </a:lnSpc>
              <a:buClr>
                <a:srgbClr val="A9A57C"/>
              </a:buClr>
              <a:buSzPts val="1800"/>
              <a:buFont typeface="Arial"/>
              <a:buChar char="•"/>
            </a:pPr>
            <a:r>
              <a:rPr lang="en-US" sz="1800" b="1" dirty="0">
                <a:solidFill>
                  <a:srgbClr val="2F2B20"/>
                </a:solidFill>
              </a:rPr>
              <a:t>Number of nodes to run on </a:t>
            </a:r>
          </a:p>
          <a:p>
            <a:pPr marL="697865" lvl="1" indent="-205740">
              <a:lnSpc>
                <a:spcPct val="122511"/>
              </a:lnSpc>
              <a:buClr>
                <a:srgbClr val="A9A57C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--nodes=</a:t>
            </a:r>
            <a:r>
              <a:rPr lang="en-US" sz="1800" dirty="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&lt;nodes&gt;</a:t>
            </a:r>
            <a:endParaRPr lang="en-US" b="1" dirty="0">
              <a:solidFill>
                <a:schemeClr val="dk1"/>
              </a:solidFill>
            </a:endParaRPr>
          </a:p>
          <a:p>
            <a:pPr marL="240665" indent="-205740">
              <a:lnSpc>
                <a:spcPct val="122511"/>
              </a:lnSpc>
              <a:buClr>
                <a:srgbClr val="A9A57C"/>
              </a:buClr>
              <a:buSzPts val="1800"/>
              <a:buFont typeface="Arial"/>
              <a:buChar char="•"/>
            </a:pPr>
            <a:r>
              <a:rPr lang="en-US" sz="1800" b="1" dirty="0">
                <a:solidFill>
                  <a:srgbClr val="2F2B20"/>
                </a:solidFill>
              </a:rPr>
              <a:t>Number of cores to run on </a:t>
            </a:r>
          </a:p>
          <a:p>
            <a:pPr marL="697865" lvl="1" indent="-205740">
              <a:lnSpc>
                <a:spcPct val="122511"/>
              </a:lnSpc>
              <a:buClr>
                <a:srgbClr val="A9A57C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--</a:t>
            </a:r>
            <a:r>
              <a:rPr lang="en-US" sz="1800" dirty="0" err="1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ntasks</a:t>
            </a:r>
            <a:r>
              <a:rPr lang="en-US" sz="1800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-US" sz="1800" dirty="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&lt;number-of-tasks&gt;</a:t>
            </a:r>
            <a:endParaRPr lang="en-US" b="1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" name="5-Point Star 2" descr="Red star marking partition as a required directive">
            <a:extLst>
              <a:ext uri="{FF2B5EF4-FFF2-40B4-BE49-F238E27FC236}">
                <a16:creationId xmlns:a16="http://schemas.microsoft.com/office/drawing/2014/main" id="{2B55D852-E469-8741-F5D6-AC99016B0802}"/>
              </a:ext>
            </a:extLst>
          </p:cNvPr>
          <p:cNvSpPr/>
          <p:nvPr/>
        </p:nvSpPr>
        <p:spPr>
          <a:xfrm>
            <a:off x="644768" y="1990293"/>
            <a:ext cx="193431" cy="202224"/>
          </a:xfrm>
          <a:prstGeom prst="star5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5-Point Star 6" descr="Red star marking Quality of Service (qos) as a required directive">
            <a:extLst>
              <a:ext uri="{FF2B5EF4-FFF2-40B4-BE49-F238E27FC236}">
                <a16:creationId xmlns:a16="http://schemas.microsoft.com/office/drawing/2014/main" id="{F437DEB5-E616-4C3E-3712-85C899B03EF2}"/>
              </a:ext>
            </a:extLst>
          </p:cNvPr>
          <p:cNvSpPr/>
          <p:nvPr/>
        </p:nvSpPr>
        <p:spPr>
          <a:xfrm>
            <a:off x="644768" y="2679024"/>
            <a:ext cx="193431" cy="202224"/>
          </a:xfrm>
          <a:prstGeom prst="star5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5-Point Star 7" descr="Red star explaining that a red star indicates a required directive">
            <a:extLst>
              <a:ext uri="{FF2B5EF4-FFF2-40B4-BE49-F238E27FC236}">
                <a16:creationId xmlns:a16="http://schemas.microsoft.com/office/drawing/2014/main" id="{26ACB300-0268-3693-7077-B6C4538447B1}"/>
              </a:ext>
            </a:extLst>
          </p:cNvPr>
          <p:cNvSpPr/>
          <p:nvPr/>
        </p:nvSpPr>
        <p:spPr>
          <a:xfrm>
            <a:off x="644768" y="5767573"/>
            <a:ext cx="193431" cy="202224"/>
          </a:xfrm>
          <a:prstGeom prst="star5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0A11002-4267-A5C2-0CA3-3DB92675F027}"/>
              </a:ext>
            </a:extLst>
          </p:cNvPr>
          <p:cNvSpPr txBox="1"/>
          <p:nvPr/>
        </p:nvSpPr>
        <p:spPr>
          <a:xfrm>
            <a:off x="893887" y="5684019"/>
            <a:ext cx="34547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- Must be specified for every job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E95F16-BC11-4B54-3291-14BA3325C0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ABDA560F-461C-6043-9BC4-489BA92F7161}" type="slidenum">
              <a:rPr lang="en-US" smtClean="0"/>
              <a:t>34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5F25B08-345E-06B0-A86F-E88C437F10D4}"/>
              </a:ext>
            </a:extLst>
          </p:cNvPr>
          <p:cNvSpPr txBox="1"/>
          <p:nvPr/>
        </p:nvSpPr>
        <p:spPr>
          <a:xfrm>
            <a:off x="8214731" y="4514468"/>
            <a:ext cx="4875053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000" dirty="0">
                <a:solidFill>
                  <a:srgbClr val="FF0000"/>
                </a:solidFill>
              </a:rPr>
              <a:t>ADD GRES</a:t>
            </a:r>
          </a:p>
        </p:txBody>
      </p:sp>
    </p:spTree>
    <p:extLst>
      <p:ext uri="{BB962C8B-B14F-4D97-AF65-F5344CB8AC3E}">
        <p14:creationId xmlns:p14="http://schemas.microsoft.com/office/powerpoint/2010/main" val="276702432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38BE79-5A03-F5D8-50D1-D4F6CC2A53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6CBD48-74F1-E6DA-23CB-A8AC715E16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2360"/>
            <a:ext cx="10515600" cy="1325563"/>
          </a:xfrm>
        </p:spPr>
        <p:txBody>
          <a:bodyPr/>
          <a:lstStyle/>
          <a:p>
            <a:r>
              <a:rPr lang="en-US" dirty="0"/>
              <a:t>Common </a:t>
            </a:r>
            <a:r>
              <a:rPr lang="en-US" dirty="0" err="1"/>
              <a:t>Slurm</a:t>
            </a:r>
            <a:r>
              <a:rPr lang="en-US" dirty="0"/>
              <a:t> Directives cont.</a:t>
            </a:r>
          </a:p>
        </p:txBody>
      </p:sp>
      <p:sp>
        <p:nvSpPr>
          <p:cNvPr id="6" name="Google Shape;434;p45">
            <a:extLst>
              <a:ext uri="{FF2B5EF4-FFF2-40B4-BE49-F238E27FC236}">
                <a16:creationId xmlns:a16="http://schemas.microsoft.com/office/drawing/2014/main" id="{AD369E8A-07F2-3C1C-8295-E231CFF93432}"/>
              </a:ext>
            </a:extLst>
          </p:cNvPr>
          <p:cNvSpPr txBox="1"/>
          <p:nvPr/>
        </p:nvSpPr>
        <p:spPr>
          <a:xfrm>
            <a:off x="838200" y="1787035"/>
            <a:ext cx="9429751" cy="35381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675" rIns="0" bIns="0" anchor="t" anchorCtr="0">
            <a:spAutoFit/>
          </a:bodyPr>
          <a:lstStyle/>
          <a:p>
            <a:pPr marL="240665" marR="0" lvl="0" indent="-202692" algn="l" rtl="0">
              <a:lnSpc>
                <a:spcPct val="119836"/>
              </a:lnSpc>
              <a:spcBef>
                <a:spcPts val="26"/>
              </a:spcBef>
              <a:spcAft>
                <a:spcPts val="0"/>
              </a:spcAft>
              <a:buClr>
                <a:srgbClr val="A9A57C"/>
              </a:buClr>
              <a:buSzPts val="1800"/>
              <a:buFont typeface="Arial"/>
              <a:buChar char="•"/>
            </a:pPr>
            <a:r>
              <a:rPr lang="en-US" sz="1800" b="1" dirty="0">
                <a:solidFill>
                  <a:srgbClr val="2F2B20"/>
                </a:solidFill>
                <a:latin typeface="Arial"/>
                <a:ea typeface="Arial"/>
                <a:cs typeface="Arial"/>
                <a:sym typeface="Arial"/>
              </a:rPr>
              <a:t>Wall time – How long you want to run on these resources</a:t>
            </a:r>
          </a:p>
          <a:p>
            <a:pPr marL="697865" lvl="1" indent="-202692">
              <a:lnSpc>
                <a:spcPct val="119836"/>
              </a:lnSpc>
              <a:spcBef>
                <a:spcPts val="26"/>
              </a:spcBef>
              <a:buClr>
                <a:srgbClr val="A9A57C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--time=</a:t>
            </a:r>
            <a:r>
              <a:rPr lang="en-US" sz="1800" dirty="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&lt;wall time&gt;</a:t>
            </a:r>
            <a:endParaRPr lang="en-US" dirty="0">
              <a:solidFill>
                <a:srgbClr val="2F2B2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40665" marR="0" lvl="0" indent="-202692" algn="l" rtl="0">
              <a:lnSpc>
                <a:spcPct val="119836"/>
              </a:lnSpc>
              <a:spcBef>
                <a:spcPts val="0"/>
              </a:spcBef>
              <a:spcAft>
                <a:spcPts val="0"/>
              </a:spcAft>
              <a:buClr>
                <a:srgbClr val="A9A57C"/>
              </a:buClr>
              <a:buSzPts val="1800"/>
              <a:buFont typeface="Arial"/>
              <a:buChar char="•"/>
            </a:pPr>
            <a:r>
              <a:rPr lang="en-US" sz="1800" b="1" dirty="0">
                <a:solidFill>
                  <a:srgbClr val="2F2B20"/>
                </a:solidFill>
                <a:latin typeface="Arial"/>
                <a:ea typeface="Arial"/>
                <a:cs typeface="Arial"/>
                <a:sym typeface="Arial"/>
              </a:rPr>
              <a:t>Job name</a:t>
            </a:r>
          </a:p>
          <a:p>
            <a:pPr marL="697865" lvl="1" indent="-202692">
              <a:lnSpc>
                <a:spcPct val="119836"/>
              </a:lnSpc>
              <a:buClr>
                <a:srgbClr val="A9A57C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--job-name=</a:t>
            </a:r>
            <a:r>
              <a:rPr lang="en-US" sz="1800" dirty="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&lt;jobname&gt;</a:t>
            </a:r>
            <a:endParaRPr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40665" marR="0" lvl="0" indent="-205740" algn="l" rtl="0">
              <a:lnSpc>
                <a:spcPct val="122511"/>
              </a:lnSpc>
              <a:spcBef>
                <a:spcPts val="0"/>
              </a:spcBef>
              <a:spcAft>
                <a:spcPts val="0"/>
              </a:spcAft>
              <a:buClr>
                <a:srgbClr val="A9A57C"/>
              </a:buClr>
              <a:buSzPts val="1800"/>
              <a:buChar char="•"/>
            </a:pPr>
            <a:r>
              <a:rPr lang="en-US" sz="1800" b="1" dirty="0">
                <a:solidFill>
                  <a:srgbClr val="2F2B20"/>
                </a:solidFill>
              </a:rPr>
              <a:t>Output – Where all output that would be written to the terminal should go</a:t>
            </a:r>
          </a:p>
          <a:p>
            <a:pPr marL="697865" lvl="1" indent="-205740">
              <a:lnSpc>
                <a:spcPct val="122511"/>
              </a:lnSpc>
              <a:buClr>
                <a:srgbClr val="A9A57C"/>
              </a:buClr>
              <a:buSzPts val="1800"/>
              <a:buFontTx/>
              <a:buChar char="•"/>
            </a:pPr>
            <a:r>
              <a:rPr lang="en-US" sz="1800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--output=</a:t>
            </a:r>
            <a:r>
              <a:rPr lang="en-US" sz="1800" dirty="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&lt;name&gt;</a:t>
            </a:r>
          </a:p>
          <a:p>
            <a:pPr marL="240665" indent="-205740">
              <a:lnSpc>
                <a:spcPct val="122511"/>
              </a:lnSpc>
              <a:buClr>
                <a:srgbClr val="A9A57C"/>
              </a:buClr>
              <a:buSzPts val="1800"/>
              <a:buFontTx/>
              <a:buChar char="•"/>
            </a:pPr>
            <a:r>
              <a:rPr lang="en-US" sz="2000" b="1" dirty="0">
                <a:solidFill>
                  <a:srgbClr val="2F2B20"/>
                </a:solidFill>
                <a:latin typeface="Arial"/>
                <a:ea typeface="Arial"/>
                <a:cs typeface="Arial"/>
                <a:sym typeface="Arial"/>
              </a:rPr>
              <a:t>Send an email when events happen in the job </a:t>
            </a:r>
          </a:p>
          <a:p>
            <a:pPr marL="697865" lvl="1" indent="-205740">
              <a:lnSpc>
                <a:spcPct val="122511"/>
              </a:lnSpc>
              <a:buClr>
                <a:srgbClr val="A9A57C"/>
              </a:buClr>
              <a:buSzPts val="1800"/>
              <a:buFontTx/>
              <a:buChar char="•"/>
            </a:pPr>
            <a:r>
              <a:rPr lang="en-US" sz="2000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--mail-type=</a:t>
            </a:r>
            <a:r>
              <a:rPr lang="en-US" sz="2000" dirty="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&lt;type&gt;</a:t>
            </a:r>
          </a:p>
          <a:p>
            <a:pPr marL="240665" indent="-205740">
              <a:lnSpc>
                <a:spcPct val="122511"/>
              </a:lnSpc>
              <a:buClr>
                <a:srgbClr val="A9A57C"/>
              </a:buClr>
              <a:buSzPts val="1800"/>
              <a:buFontTx/>
              <a:buChar char="•"/>
            </a:pPr>
            <a:r>
              <a:rPr lang="en-US" sz="2000" b="1" dirty="0">
                <a:solidFill>
                  <a:srgbClr val="2F2B20"/>
                </a:solidFill>
                <a:latin typeface="Arial"/>
                <a:ea typeface="Arial"/>
                <a:cs typeface="Arial"/>
                <a:sym typeface="Arial"/>
              </a:rPr>
              <a:t>Email address to send updates to</a:t>
            </a:r>
          </a:p>
          <a:p>
            <a:pPr marL="697865" lvl="1" indent="-205740">
              <a:lnSpc>
                <a:spcPct val="122511"/>
              </a:lnSpc>
              <a:buClr>
                <a:srgbClr val="A9A57C"/>
              </a:buClr>
              <a:buSzPts val="1800"/>
              <a:buFontTx/>
              <a:buChar char="•"/>
            </a:pPr>
            <a:r>
              <a:rPr lang="en-US" sz="2000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--mail-user=</a:t>
            </a:r>
            <a:r>
              <a:rPr lang="en-US" sz="2000" dirty="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&lt;user&gt;</a:t>
            </a:r>
          </a:p>
        </p:txBody>
      </p:sp>
      <p:sp>
        <p:nvSpPr>
          <p:cNvPr id="3" name="5-Point Star 2" descr="Red star explaining that a red star indicates a required directive">
            <a:extLst>
              <a:ext uri="{FF2B5EF4-FFF2-40B4-BE49-F238E27FC236}">
                <a16:creationId xmlns:a16="http://schemas.microsoft.com/office/drawing/2014/main" id="{62E56462-2B0D-6C0F-08FB-A8010F52D320}"/>
              </a:ext>
            </a:extLst>
          </p:cNvPr>
          <p:cNvSpPr/>
          <p:nvPr/>
        </p:nvSpPr>
        <p:spPr>
          <a:xfrm>
            <a:off x="548052" y="5746724"/>
            <a:ext cx="193431" cy="202224"/>
          </a:xfrm>
          <a:prstGeom prst="star5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E738856-66BD-AC1D-8EC8-3231B1628865}"/>
              </a:ext>
            </a:extLst>
          </p:cNvPr>
          <p:cNvSpPr txBox="1"/>
          <p:nvPr/>
        </p:nvSpPr>
        <p:spPr>
          <a:xfrm>
            <a:off x="797171" y="5663170"/>
            <a:ext cx="34547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- Must be specified for every job</a:t>
            </a:r>
          </a:p>
        </p:txBody>
      </p:sp>
      <p:sp>
        <p:nvSpPr>
          <p:cNvPr id="8" name="5-Point Star 7" descr="Red star explaining that time is a required directive">
            <a:extLst>
              <a:ext uri="{FF2B5EF4-FFF2-40B4-BE49-F238E27FC236}">
                <a16:creationId xmlns:a16="http://schemas.microsoft.com/office/drawing/2014/main" id="{F96BD528-E3F6-BEA0-C198-71294565DDB2}"/>
              </a:ext>
            </a:extLst>
          </p:cNvPr>
          <p:cNvSpPr/>
          <p:nvPr/>
        </p:nvSpPr>
        <p:spPr>
          <a:xfrm>
            <a:off x="548052" y="1808863"/>
            <a:ext cx="193431" cy="202224"/>
          </a:xfrm>
          <a:prstGeom prst="star5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5709A08-339A-78A1-2928-78C1BF0DD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ABDA560F-461C-6043-9BC4-489BA92F7161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167153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642CE9-0675-EC06-F000-CC9AD35A2F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7468"/>
            <a:ext cx="10515600" cy="1325563"/>
          </a:xfrm>
        </p:spPr>
        <p:txBody>
          <a:bodyPr/>
          <a:lstStyle/>
          <a:p>
            <a:r>
              <a:rPr lang="en-US" dirty="0">
                <a:sym typeface="Helvetica Neue Light"/>
              </a:rPr>
              <a:t>Starting an interactive job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A4FEDA-43EC-712B-B865-19D679DBF5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97025"/>
            <a:ext cx="10515600" cy="435133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2798" dirty="0" err="1">
                <a:solidFill>
                  <a:srgbClr val="0070C0"/>
                </a:solidFill>
              </a:rPr>
              <a:t>acompile</a:t>
            </a:r>
            <a:r>
              <a:rPr lang="en-US" sz="2798" dirty="0">
                <a:solidFill>
                  <a:srgbClr val="2F2B20"/>
                </a:solidFill>
              </a:rPr>
              <a:t> </a:t>
            </a:r>
          </a:p>
          <a:p>
            <a:pPr marL="522288" indent="-222250"/>
            <a:r>
              <a:rPr lang="en-US" sz="2398" dirty="0">
                <a:solidFill>
                  <a:srgbClr val="2F2B20"/>
                </a:solidFill>
              </a:rPr>
              <a:t>A custom CURC command</a:t>
            </a:r>
          </a:p>
          <a:p>
            <a:pPr marL="522288" indent="-222250"/>
            <a:r>
              <a:rPr lang="en-US" sz="2398" dirty="0">
                <a:solidFill>
                  <a:srgbClr val="2F2B20"/>
                </a:solidFill>
              </a:rPr>
              <a:t>Submits an interactive job to the </a:t>
            </a:r>
            <a:r>
              <a:rPr lang="en-US" sz="2398" dirty="0" err="1">
                <a:solidFill>
                  <a:srgbClr val="2F2B20"/>
                </a:solidFill>
              </a:rPr>
              <a:t>acompile</a:t>
            </a:r>
            <a:r>
              <a:rPr lang="en-US" sz="2398" dirty="0">
                <a:solidFill>
                  <a:srgbClr val="2F2B20"/>
                </a:solidFill>
              </a:rPr>
              <a:t> testing resources </a:t>
            </a:r>
          </a:p>
          <a:p>
            <a:pPr marL="522288" indent="-222250"/>
            <a:r>
              <a:rPr lang="en-US" sz="2398" dirty="0">
                <a:solidFill>
                  <a:srgbClr val="2F2B20"/>
                </a:solidFill>
              </a:rPr>
              <a:t>Limit of 4 CPUs for up to 12 hours </a:t>
            </a:r>
          </a:p>
          <a:p>
            <a:pPr marL="522288" indent="-222250"/>
            <a:r>
              <a:rPr lang="en-US" sz="2398" dirty="0">
                <a:solidFill>
                  <a:srgbClr val="2F2B20"/>
                </a:solidFill>
              </a:rPr>
              <a:t>Focused on compiling/building software and small workflows</a:t>
            </a:r>
          </a:p>
          <a:p>
            <a:pPr marL="0" indent="0">
              <a:buNone/>
            </a:pPr>
            <a:endParaRPr lang="en-US" sz="1000" dirty="0">
              <a:solidFill>
                <a:srgbClr val="0070C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indent="0">
              <a:buNone/>
            </a:pPr>
            <a:r>
              <a:rPr lang="en-US" sz="2800" dirty="0" err="1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sinteractive</a:t>
            </a:r>
            <a:endParaRPr lang="en-US" sz="2800" dirty="0">
              <a:solidFill>
                <a:srgbClr val="0070C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522288" indent="-222250"/>
            <a:r>
              <a:rPr lang="en-US" sz="2400" dirty="0"/>
              <a:t>Request any partition, more resources, and longer </a:t>
            </a:r>
            <a:r>
              <a:rPr lang="en-US" sz="2400" dirty="0" err="1"/>
              <a:t>walltime</a:t>
            </a:r>
            <a:endParaRPr lang="en-US" sz="2400" dirty="0"/>
          </a:p>
          <a:p>
            <a:pPr marL="522288" indent="-222250"/>
            <a:r>
              <a:rPr lang="en-US" sz="2400" dirty="0">
                <a:solidFill>
                  <a:srgbClr val="2F2B20"/>
                </a:solidFill>
              </a:rPr>
              <a:t>Subject to standard wait times (not immediate access)</a:t>
            </a:r>
          </a:p>
          <a:p>
            <a:pPr marL="522288" indent="-222250"/>
            <a:r>
              <a:rPr lang="en-US" sz="2400" dirty="0">
                <a:solidFill>
                  <a:srgbClr val="2F2B20"/>
                </a:solidFill>
              </a:rPr>
              <a:t>As the name implies, allows you to access a job interactively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B5C126B-89FC-72C8-59A3-0FCCDCDAA3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A560F-461C-6043-9BC4-489BA92F7161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615160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50A83B-11EF-CA66-2994-83CD529803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en-US" dirty="0">
                <a:sym typeface="Helvetica Neue Light"/>
              </a:rPr>
              <a:t>Running an interactive job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EA4B3B-750F-BC61-3BAB-ECDD9C58D1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9585" y="1325563"/>
            <a:ext cx="10515600" cy="4351338"/>
          </a:xfrm>
        </p:spPr>
        <p:txBody>
          <a:bodyPr/>
          <a:lstStyle/>
          <a:p>
            <a:r>
              <a:rPr lang="en-US" dirty="0"/>
              <a:t>Here we will run a Python script using an interactive job</a:t>
            </a:r>
          </a:p>
          <a:p>
            <a:r>
              <a:rPr lang="en-US" dirty="0"/>
              <a:t>First request resources: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When the job starts you will be put on a compute node and you can execute your commands:</a:t>
            </a: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To quit: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6143048-956C-658F-9280-F986F073F3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A560F-461C-6043-9BC4-489BA92F7161}" type="slidenum">
              <a:rPr lang="en-US" smtClean="0"/>
              <a:t>37</a:t>
            </a:fld>
            <a:endParaRPr lang="en-US"/>
          </a:p>
        </p:txBody>
      </p:sp>
      <p:sp>
        <p:nvSpPr>
          <p:cNvPr id="6" name="Google Shape;676;p69">
            <a:extLst>
              <a:ext uri="{FF2B5EF4-FFF2-40B4-BE49-F238E27FC236}">
                <a16:creationId xmlns:a16="http://schemas.microsoft.com/office/drawing/2014/main" id="{3A5FD3D4-9009-92D0-8F81-15435F50C02D}"/>
              </a:ext>
            </a:extLst>
          </p:cNvPr>
          <p:cNvSpPr/>
          <p:nvPr/>
        </p:nvSpPr>
        <p:spPr>
          <a:xfrm>
            <a:off x="719253" y="2368977"/>
            <a:ext cx="11191875" cy="400200"/>
          </a:xfrm>
          <a:prstGeom prst="rect">
            <a:avLst/>
          </a:prstGeom>
          <a:noFill/>
          <a:ln w="9525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[ralphie@login-ci3]$ </a:t>
            </a:r>
            <a:r>
              <a:rPr lang="en-US" sz="1600" b="1" dirty="0" err="1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sinteractive</a:t>
            </a:r>
            <a:r>
              <a:rPr lang="en-US" sz="1600" b="1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 --partition=</a:t>
            </a:r>
            <a:r>
              <a:rPr lang="en-US" sz="1600" b="1" dirty="0" err="1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acpu</a:t>
            </a:r>
            <a:r>
              <a:rPr lang="en-US" sz="1600" b="1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 --</a:t>
            </a:r>
            <a:r>
              <a:rPr lang="en-US" sz="1600" b="1" dirty="0" err="1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qos</a:t>
            </a:r>
            <a:r>
              <a:rPr lang="en-US" sz="1600" b="1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-US" sz="1600" b="1" dirty="0" err="1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cpu</a:t>
            </a:r>
            <a:r>
              <a:rPr lang="en-US" sz="1600" b="1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-normal --time=10 --</a:t>
            </a:r>
            <a:r>
              <a:rPr lang="en-US" sz="1600" b="1" dirty="0" err="1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ntasks</a:t>
            </a:r>
            <a:r>
              <a:rPr lang="en-US" sz="1600" b="1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=1 --nodes=1</a:t>
            </a:r>
            <a:endParaRPr sz="1600" b="1" dirty="0">
              <a:solidFill>
                <a:srgbClr val="0070C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" name="Google Shape;677;p69">
            <a:extLst>
              <a:ext uri="{FF2B5EF4-FFF2-40B4-BE49-F238E27FC236}">
                <a16:creationId xmlns:a16="http://schemas.microsoft.com/office/drawing/2014/main" id="{508607B9-0D5C-B404-BA51-BC3402A6C455}"/>
              </a:ext>
            </a:extLst>
          </p:cNvPr>
          <p:cNvSpPr/>
          <p:nvPr/>
        </p:nvSpPr>
        <p:spPr>
          <a:xfrm>
            <a:off x="719253" y="3848798"/>
            <a:ext cx="7689900" cy="748481"/>
          </a:xfrm>
          <a:prstGeom prst="rect">
            <a:avLst/>
          </a:prstGeom>
          <a:noFill/>
          <a:ln w="9525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[ralphie@c3cpu-e2-u1]$ module load anaconda  </a:t>
            </a:r>
            <a:endParaRPr b="1" dirty="0">
              <a:solidFill>
                <a:srgbClr val="0070C0"/>
              </a:solidFill>
            </a:endParaRPr>
          </a:p>
          <a:p>
            <a:pPr lvl="0"/>
            <a:r>
              <a:rPr lang="en-US" sz="2000" b="1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[ralphie@c3cpu-e2-u1]$ python </a:t>
            </a:r>
            <a:r>
              <a:rPr lang="en-US" sz="2000" b="1" dirty="0" err="1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my_very_cool_script.py</a:t>
            </a:r>
            <a:endParaRPr sz="2000" b="1" dirty="0">
              <a:solidFill>
                <a:srgbClr val="0070C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" name="Google Shape;678;p69">
            <a:extLst>
              <a:ext uri="{FF2B5EF4-FFF2-40B4-BE49-F238E27FC236}">
                <a16:creationId xmlns:a16="http://schemas.microsoft.com/office/drawing/2014/main" id="{A82BCC9A-F85C-03B7-2975-78EF4B73C029}"/>
              </a:ext>
            </a:extLst>
          </p:cNvPr>
          <p:cNvSpPr/>
          <p:nvPr/>
        </p:nvSpPr>
        <p:spPr>
          <a:xfrm>
            <a:off x="719253" y="5416325"/>
            <a:ext cx="7689900" cy="400200"/>
          </a:xfrm>
          <a:prstGeom prst="rect">
            <a:avLst/>
          </a:prstGeom>
          <a:noFill/>
          <a:ln w="9525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/>
            <a:r>
              <a:rPr lang="en-US" sz="2000" b="1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[ralphie@c3cpu-e2-u1]$ exit</a:t>
            </a:r>
            <a:endParaRPr b="1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359903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946005-17DF-C163-F359-579D84C662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ym typeface="Helvetica Neue Light"/>
              </a:rPr>
              <a:t>Batch Jobs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E79D60-9D88-06D2-2DBF-7409090E2E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190750"/>
            <a:ext cx="10515600" cy="3308350"/>
          </a:xfrm>
        </p:spPr>
        <p:txBody>
          <a:bodyPr/>
          <a:lstStyle/>
          <a:p>
            <a:pPr>
              <a:spcAft>
                <a:spcPts val="1200"/>
              </a:spcAft>
            </a:pPr>
            <a:r>
              <a:rPr lang="en-US" b="1" dirty="0">
                <a:solidFill>
                  <a:srgbClr val="2F2B20"/>
                </a:solidFill>
              </a:rPr>
              <a:t>Batch Jobs</a:t>
            </a:r>
            <a:r>
              <a:rPr lang="en-US" dirty="0">
                <a:solidFill>
                  <a:srgbClr val="2F2B20"/>
                </a:solidFill>
              </a:rPr>
              <a:t> are jobs you submit to the scheduler that are run later without supervision</a:t>
            </a:r>
            <a:endParaRPr lang="en-US" dirty="0"/>
          </a:p>
          <a:p>
            <a:r>
              <a:rPr lang="en-US" dirty="0">
                <a:solidFill>
                  <a:srgbClr val="2F2B20"/>
                </a:solidFill>
              </a:rPr>
              <a:t>A job script is simply a script that includes </a:t>
            </a:r>
            <a:r>
              <a:rPr lang="en-US" b="1" dirty="0">
                <a:solidFill>
                  <a:srgbClr val="2F2B20"/>
                </a:solidFill>
              </a:rPr>
              <a:t>SLURM directives</a:t>
            </a:r>
            <a:r>
              <a:rPr lang="en-US" dirty="0">
                <a:solidFill>
                  <a:srgbClr val="2F2B20"/>
                </a:solidFill>
              </a:rPr>
              <a:t> (resource specifics) ahead of any commands.</a:t>
            </a:r>
          </a:p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0E085E6-3FF9-B283-DB43-4334640E2A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A560F-461C-6043-9BC4-489BA92F7161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650377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85C88-55D5-AAC5-53EB-EE49AA2DBF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ym typeface="Helvetica Neue Light"/>
              </a:rPr>
              <a:t>Anatomy of a job script 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56EA042-C86E-8A83-DDA4-9FCEA90C05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A560F-461C-6043-9BC4-489BA92F7161}" type="slidenum">
              <a:rPr lang="en-US" smtClean="0"/>
              <a:t>39</a:t>
            </a:fld>
            <a:endParaRPr lang="en-US"/>
          </a:p>
        </p:txBody>
      </p:sp>
      <p:sp>
        <p:nvSpPr>
          <p:cNvPr id="6" name="Google Shape;418;p43">
            <a:extLst>
              <a:ext uri="{FF2B5EF4-FFF2-40B4-BE49-F238E27FC236}">
                <a16:creationId xmlns:a16="http://schemas.microsoft.com/office/drawing/2014/main" id="{549AC956-14EB-7A28-3E05-7BC3C33B1571}"/>
              </a:ext>
            </a:extLst>
          </p:cNvPr>
          <p:cNvSpPr txBox="1"/>
          <p:nvPr/>
        </p:nvSpPr>
        <p:spPr>
          <a:xfrm>
            <a:off x="838200" y="1891183"/>
            <a:ext cx="10515600" cy="3706118"/>
          </a:xfrm>
          <a:prstGeom prst="rect">
            <a:avLst/>
          </a:prstGeom>
          <a:noFill/>
          <a:ln w="9525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12675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 #!/bin/bash</a:t>
            </a:r>
            <a:endParaRPr sz="2400" b="1" dirty="0">
              <a:solidFill>
                <a:srgbClr val="0070C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endParaRPr sz="2400" b="1" dirty="0">
              <a:solidFill>
                <a:srgbClr val="0070C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 ## Directives </a:t>
            </a:r>
            <a:endParaRPr sz="2400" b="1" dirty="0">
              <a:solidFill>
                <a:srgbClr val="0070C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 #SBATCH --&lt;option&gt;=&lt;value&gt; </a:t>
            </a:r>
            <a:endParaRPr sz="2400" b="1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b="1" dirty="0">
              <a:solidFill>
                <a:srgbClr val="0070C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 ## Software</a:t>
            </a:r>
            <a:endParaRPr sz="2400" b="1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 module load &lt;software&gt;</a:t>
            </a:r>
            <a:endParaRPr sz="2400" b="1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b="1" dirty="0">
              <a:solidFill>
                <a:srgbClr val="0070C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 ## User scripting</a:t>
            </a:r>
            <a:endParaRPr sz="2400" b="1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 &lt;command&gt;</a:t>
            </a:r>
            <a:endParaRPr sz="2400" b="1" dirty="0"/>
          </a:p>
        </p:txBody>
      </p:sp>
    </p:spTree>
    <p:extLst>
      <p:ext uri="{BB962C8B-B14F-4D97-AF65-F5344CB8AC3E}">
        <p14:creationId xmlns:p14="http://schemas.microsoft.com/office/powerpoint/2010/main" val="343468359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38713F-2EF8-AEBD-6D37-EF3013CB26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AF6E75-A8BA-7D39-896B-E2BA149128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Directives in a job script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65C334-04C4-B977-D208-CBF8F7CADD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95512" y="3082924"/>
            <a:ext cx="7800975" cy="692151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sz="3600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#SBATCH --&lt;option&gt;=</a:t>
            </a:r>
            <a:r>
              <a:rPr lang="en-US" sz="3600" dirty="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&lt;value&gt;</a:t>
            </a:r>
            <a:endParaRPr lang="en-US" sz="36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C0B011-F9D7-5C76-072E-30EE9A5BE6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A560F-461C-6043-9BC4-489BA92F7161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687807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FF3C24-5FE4-F44A-9B79-1F0B71D2E7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52C6B0-3280-1E93-7B3D-78EE2046FC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a Job Script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EE5A7FD-380B-179F-1602-A18E53F105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A560F-461C-6043-9BC4-489BA92F7161}" type="slidenum">
              <a:rPr lang="en-US" smtClean="0"/>
              <a:t>41</a:t>
            </a:fld>
            <a:endParaRPr lang="en-US"/>
          </a:p>
        </p:txBody>
      </p:sp>
      <p:pic>
        <p:nvPicPr>
          <p:cNvPr id="7" name="Graphic 6" descr="Programmer male with solid fill">
            <a:extLst>
              <a:ext uri="{FF2B5EF4-FFF2-40B4-BE49-F238E27FC236}">
                <a16:creationId xmlns:a16="http://schemas.microsoft.com/office/drawing/2014/main" id="{9689758E-1B00-4D06-E38E-2112E42DD64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810000" y="1316736"/>
            <a:ext cx="45720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061883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58CB0E-A1F5-9F88-0F48-B1581C48E4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Example job script</a:t>
            </a:r>
          </a:p>
        </p:txBody>
      </p:sp>
      <p:sp>
        <p:nvSpPr>
          <p:cNvPr id="6" name="Google Shape;427;p44">
            <a:extLst>
              <a:ext uri="{FF2B5EF4-FFF2-40B4-BE49-F238E27FC236}">
                <a16:creationId xmlns:a16="http://schemas.microsoft.com/office/drawing/2014/main" id="{3C594338-B5E4-A7B3-5DB7-FF0FB0681EBC}"/>
              </a:ext>
            </a:extLst>
          </p:cNvPr>
          <p:cNvSpPr txBox="1"/>
          <p:nvPr/>
        </p:nvSpPr>
        <p:spPr>
          <a:xfrm>
            <a:off x="812442" y="1830091"/>
            <a:ext cx="10515600" cy="4321671"/>
          </a:xfrm>
          <a:prstGeom prst="rect">
            <a:avLst/>
          </a:prstGeom>
          <a:noFill/>
          <a:ln w="9525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12675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000" b="1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#!/bin/bash</a:t>
            </a:r>
            <a:endParaRPr sz="2000" b="1" dirty="0">
              <a:solidFill>
                <a:srgbClr val="0070C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000" b="1" dirty="0">
              <a:solidFill>
                <a:srgbClr val="0070C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000" b="1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## Directives</a:t>
            </a:r>
            <a:endParaRPr sz="2000" b="1" dirty="0">
              <a:solidFill>
                <a:srgbClr val="0070C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000" b="1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#SBATCH --</a:t>
            </a:r>
            <a:r>
              <a:rPr lang="en-US" sz="2000" b="1" dirty="0" err="1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ntasks</a:t>
            </a:r>
            <a:r>
              <a:rPr lang="en-US" sz="2000" b="1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=1                  	# Number of requested tasks/cores</a:t>
            </a:r>
            <a:endParaRPr sz="2000" b="1" dirty="0">
              <a:solidFill>
                <a:srgbClr val="0070C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000" b="1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#SBATCH --time=0:01:00              	# Max run time</a:t>
            </a:r>
            <a:endParaRPr sz="2000" b="1" dirty="0">
              <a:solidFill>
                <a:srgbClr val="0070C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000" b="1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#SBATCH --partition=</a:t>
            </a:r>
            <a:r>
              <a:rPr lang="en-US" sz="2000" b="1" dirty="0" err="1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acpu</a:t>
            </a:r>
            <a:r>
              <a:rPr lang="en-US" sz="2000" b="1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      	       # Specify Alpine CPU node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000" b="1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#SBATCH --</a:t>
            </a:r>
            <a:r>
              <a:rPr lang="en-US" sz="2000" b="1" dirty="0" err="1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qos</a:t>
            </a:r>
            <a:r>
              <a:rPr lang="en-US" sz="2000" b="1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-US" sz="2000" b="1" dirty="0" err="1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cpu</a:t>
            </a:r>
            <a:r>
              <a:rPr lang="en-US" sz="2000" b="1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-normal                # Specify QoS</a:t>
            </a:r>
            <a:endParaRPr sz="2000" b="1" dirty="0">
              <a:solidFill>
                <a:srgbClr val="0070C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000" b="1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#SBATCH --output=test_%</a:t>
            </a:r>
            <a:r>
              <a:rPr lang="en-US" sz="2000" b="1" dirty="0" err="1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j.out</a:t>
            </a:r>
            <a:r>
              <a:rPr lang="en-US" sz="2000" b="1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        	# Rename standard output file</a:t>
            </a:r>
            <a:endParaRPr sz="2000" b="1" dirty="0">
              <a:solidFill>
                <a:srgbClr val="0070C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000" b="1" dirty="0">
              <a:solidFill>
                <a:srgbClr val="0070C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000" b="1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## Software</a:t>
            </a:r>
            <a:endParaRPr sz="2000" b="1" dirty="0">
              <a:solidFill>
                <a:srgbClr val="0070C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000" b="1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module purge                          # Purge all existing modules</a:t>
            </a:r>
            <a:endParaRPr sz="2000" b="1" dirty="0">
              <a:solidFill>
                <a:srgbClr val="0070C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000" b="1" dirty="0">
              <a:solidFill>
                <a:srgbClr val="0070C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000" b="1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## User commands</a:t>
            </a:r>
            <a:endParaRPr sz="2000" b="1" dirty="0">
              <a:solidFill>
                <a:srgbClr val="0070C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echo "This is a test submitted by $USER" </a:t>
            </a:r>
            <a:endParaRPr b="1" dirty="0"/>
          </a:p>
        </p:txBody>
      </p:sp>
      <p:sp>
        <p:nvSpPr>
          <p:cNvPr id="3" name="Slide Number Placeholder 4">
            <a:extLst>
              <a:ext uri="{FF2B5EF4-FFF2-40B4-BE49-F238E27FC236}">
                <a16:creationId xmlns:a16="http://schemas.microsoft.com/office/drawing/2014/main" id="{3C2D7056-BAA3-C8C6-4D0A-7F2F33224B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ABDA560F-461C-6043-9BC4-489BA92F7161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457462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EBD66B-C564-6FF8-F795-C4157D7B9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Submitting a Job script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707AB8-A2B1-B61F-443C-A12B8E2C9B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40289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dirty="0" err="1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sbatch</a:t>
            </a:r>
            <a:r>
              <a:rPr lang="en-US" sz="3200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 &lt;</a:t>
            </a:r>
            <a:r>
              <a:rPr lang="en-US" sz="3200" dirty="0" err="1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job_file</a:t>
            </a:r>
            <a:r>
              <a:rPr lang="en-US" sz="3200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&gt; &lt;other-directives&gt;</a:t>
            </a:r>
            <a:endParaRPr lang="en-US" sz="3200" dirty="0"/>
          </a:p>
          <a:p>
            <a:r>
              <a:rPr lang="en-US" dirty="0"/>
              <a:t>Command to submit a job to the </a:t>
            </a:r>
            <a:r>
              <a:rPr lang="en-US" dirty="0" err="1"/>
              <a:t>Slurm</a:t>
            </a:r>
            <a:r>
              <a:rPr lang="en-US" dirty="0"/>
              <a:t> job scheduler</a:t>
            </a:r>
          </a:p>
          <a:p>
            <a:r>
              <a:rPr lang="en-US" dirty="0"/>
              <a:t>If we created the job script “</a:t>
            </a:r>
            <a:r>
              <a:rPr lang="en-US" dirty="0" err="1"/>
              <a:t>my_first_job.sh</a:t>
            </a:r>
            <a:r>
              <a:rPr lang="en-US" dirty="0"/>
              <a:t>” then we would submit it as follows:</a:t>
            </a:r>
          </a:p>
          <a:p>
            <a:pPr marL="915988" indent="0">
              <a:spcAft>
                <a:spcPts val="1800"/>
              </a:spcAft>
              <a:buNone/>
            </a:pPr>
            <a:r>
              <a:rPr lang="en-US" sz="2800" dirty="0" err="1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sbatch</a:t>
            </a:r>
            <a:r>
              <a:rPr lang="en-US" sz="2800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 /path/to/</a:t>
            </a:r>
            <a:r>
              <a:rPr lang="en-US" sz="2800" dirty="0" err="1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my_first_job.sh</a:t>
            </a:r>
            <a:endParaRPr lang="en-US" dirty="0"/>
          </a:p>
          <a:p>
            <a:r>
              <a:rPr lang="en-US" dirty="0"/>
              <a:t>Modify </a:t>
            </a:r>
            <a:r>
              <a:rPr lang="en-US" dirty="0" err="1"/>
              <a:t>Slurm</a:t>
            </a:r>
            <a:r>
              <a:rPr lang="en-US" dirty="0"/>
              <a:t> directives in the batch script:</a:t>
            </a:r>
          </a:p>
          <a:p>
            <a:pPr marL="915988" indent="0">
              <a:buNone/>
            </a:pPr>
            <a:r>
              <a:rPr lang="en-US" sz="2800" dirty="0" err="1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sbatch</a:t>
            </a:r>
            <a:r>
              <a:rPr lang="en-US" sz="2800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 /path/to/</a:t>
            </a:r>
            <a:r>
              <a:rPr lang="en-US" sz="2800" dirty="0" err="1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my_first_job.sh</a:t>
            </a:r>
            <a:r>
              <a:rPr lang="en-US" sz="2800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 --</a:t>
            </a:r>
            <a:r>
              <a:rPr lang="en-US" sz="2800" dirty="0" err="1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ntasks</a:t>
            </a:r>
            <a:r>
              <a:rPr lang="en-US" sz="2800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=12</a:t>
            </a:r>
            <a:endParaRPr lang="en-US" sz="2800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A43A6D-36CC-2497-91D7-3D0FF7E061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A560F-461C-6043-9BC4-489BA92F7161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266873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275463-50BF-24AF-3C10-D30FBDDEC8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ym typeface="Helvetica Neue Light"/>
              </a:rPr>
              <a:t>Checking your jobs</a:t>
            </a:r>
            <a:endParaRPr lang="en-US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2804A38D-FDC4-C07B-A6A5-96D3864AFC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351338"/>
          </a:xfrm>
        </p:spPr>
        <p:txBody>
          <a:bodyPr/>
          <a:lstStyle/>
          <a:p>
            <a:r>
              <a:rPr lang="en-US" dirty="0" err="1">
                <a:solidFill>
                  <a:srgbClr val="0070C0"/>
                </a:solidFill>
              </a:rPr>
              <a:t>squeue</a:t>
            </a:r>
            <a:r>
              <a:rPr lang="en-US" dirty="0"/>
              <a:t>: Monitor your jobs status </a:t>
            </a:r>
            <a:r>
              <a:rPr lang="en-US" b="1" dirty="0"/>
              <a:t>in queue and while running</a:t>
            </a:r>
            <a:r>
              <a:rPr lang="en-US" dirty="0"/>
              <a:t>:</a:t>
            </a:r>
          </a:p>
          <a:p>
            <a:pPr marL="685800" lvl="1" indent="-34226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B20"/>
              </a:buClr>
              <a:buSzPts val="1800"/>
              <a:buChar char="•"/>
            </a:pPr>
            <a:r>
              <a:rPr lang="en-US" sz="2400" dirty="0">
                <a:solidFill>
                  <a:srgbClr val="2F2B20"/>
                </a:solidFill>
                <a:latin typeface="Arial"/>
                <a:ea typeface="Arial"/>
                <a:cs typeface="Arial"/>
                <a:sym typeface="Arial"/>
              </a:rPr>
              <a:t>By </a:t>
            </a:r>
            <a:r>
              <a:rPr lang="en-US" dirty="0">
                <a:solidFill>
                  <a:srgbClr val="2F2B20"/>
                </a:solidFill>
                <a:latin typeface="Arial"/>
                <a:ea typeface="Arial"/>
                <a:cs typeface="Arial"/>
                <a:sym typeface="Arial"/>
              </a:rPr>
              <a:t>default,</a:t>
            </a:r>
            <a:r>
              <a:rPr lang="en-US" sz="2400" dirty="0">
                <a:solidFill>
                  <a:srgbClr val="2F2B20"/>
                </a:solidFill>
                <a:latin typeface="Arial"/>
                <a:ea typeface="Arial"/>
                <a:cs typeface="Arial"/>
                <a:sym typeface="Arial"/>
              </a:rPr>
              <a:t> shows all jobs in queue can specify using: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 err="1">
                <a:solidFill>
                  <a:srgbClr val="0070C0"/>
                </a:solidFill>
              </a:rPr>
              <a:t>sacct</a:t>
            </a:r>
            <a:r>
              <a:rPr lang="en-US" dirty="0"/>
              <a:t>: Check back on usage statistics of </a:t>
            </a:r>
            <a:r>
              <a:rPr lang="en-US" b="1" dirty="0"/>
              <a:t>previous Jobs</a:t>
            </a:r>
          </a:p>
          <a:p>
            <a:pPr marL="685800" lvl="1" indent="-34226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B20"/>
              </a:buClr>
              <a:buSzPts val="1800"/>
              <a:buChar char="•"/>
            </a:pPr>
            <a:r>
              <a:rPr lang="en-US" sz="2800" dirty="0">
                <a:solidFill>
                  <a:srgbClr val="2F2B20"/>
                </a:solidFill>
                <a:latin typeface="Arial"/>
                <a:ea typeface="Arial"/>
                <a:cs typeface="Arial"/>
                <a:sym typeface="Arial"/>
              </a:rPr>
              <a:t>By default, only checks all jobs from the start of the current day can specify using:</a:t>
            </a:r>
          </a:p>
          <a:p>
            <a:endParaRPr lang="en-US" b="1" dirty="0"/>
          </a:p>
        </p:txBody>
      </p:sp>
      <p:sp>
        <p:nvSpPr>
          <p:cNvPr id="10" name="Google Shape;513;p52">
            <a:extLst>
              <a:ext uri="{FF2B5EF4-FFF2-40B4-BE49-F238E27FC236}">
                <a16:creationId xmlns:a16="http://schemas.microsoft.com/office/drawing/2014/main" id="{6270ABA3-0AD8-3DB2-D330-EF60D5D9006E}"/>
              </a:ext>
            </a:extLst>
          </p:cNvPr>
          <p:cNvSpPr/>
          <p:nvPr/>
        </p:nvSpPr>
        <p:spPr>
          <a:xfrm>
            <a:off x="1620572" y="2662251"/>
            <a:ext cx="7263300" cy="708000"/>
          </a:xfrm>
          <a:prstGeom prst="rect">
            <a:avLst/>
          </a:prstGeom>
          <a:noFill/>
          <a:ln w="9525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$ </a:t>
            </a:r>
            <a:r>
              <a:rPr lang="en-US" sz="2000" dirty="0" err="1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squeue</a:t>
            </a:r>
            <a:r>
              <a:rPr lang="en-US" sz="2000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 –u </a:t>
            </a:r>
            <a:r>
              <a:rPr lang="en-US" sz="2000" dirty="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&lt;username&gt;</a:t>
            </a:r>
            <a:endParaRPr sz="2000" dirty="0">
              <a:solidFill>
                <a:schemeClr val="accent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$ </a:t>
            </a:r>
            <a:r>
              <a:rPr lang="en-US" sz="2000" dirty="0" err="1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squeue</a:t>
            </a:r>
            <a:r>
              <a:rPr lang="en-US" sz="2000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 –p </a:t>
            </a:r>
            <a:r>
              <a:rPr lang="en-US" sz="2000" dirty="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&lt;partition&gt;</a:t>
            </a:r>
            <a:endParaRPr sz="2000" dirty="0">
              <a:solidFill>
                <a:schemeClr val="accent2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" name="Google Shape;514;p52">
            <a:extLst>
              <a:ext uri="{FF2B5EF4-FFF2-40B4-BE49-F238E27FC236}">
                <a16:creationId xmlns:a16="http://schemas.microsoft.com/office/drawing/2014/main" id="{CAE36032-1193-A772-7D31-F09CE2559DD8}"/>
              </a:ext>
            </a:extLst>
          </p:cNvPr>
          <p:cNvSpPr/>
          <p:nvPr/>
        </p:nvSpPr>
        <p:spPr>
          <a:xfrm>
            <a:off x="1620572" y="5040513"/>
            <a:ext cx="7263300" cy="1015800"/>
          </a:xfrm>
          <a:prstGeom prst="rect">
            <a:avLst/>
          </a:prstGeom>
          <a:noFill/>
          <a:ln w="9525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$ </a:t>
            </a:r>
            <a:r>
              <a:rPr lang="en-US" sz="2000" dirty="0" err="1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sacct</a:t>
            </a:r>
            <a:r>
              <a:rPr lang="en-US" sz="2000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 –u </a:t>
            </a:r>
            <a:r>
              <a:rPr lang="en-US" sz="2000" dirty="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&lt;username&gt;</a:t>
            </a:r>
            <a:endParaRPr sz="1800" dirty="0">
              <a:solidFill>
                <a:schemeClr val="accent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$ </a:t>
            </a:r>
            <a:r>
              <a:rPr lang="en-US" sz="2000" dirty="0" err="1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sacct</a:t>
            </a:r>
            <a:r>
              <a:rPr lang="en-US" sz="2000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 --start=MM/DD/YY –u </a:t>
            </a:r>
            <a:r>
              <a:rPr lang="en-US" sz="2000" dirty="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&lt;username&gt;</a:t>
            </a:r>
            <a:endParaRPr sz="1800" dirty="0"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$ </a:t>
            </a:r>
            <a:r>
              <a:rPr lang="en-US" sz="2000" dirty="0" err="1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sacct</a:t>
            </a:r>
            <a:r>
              <a:rPr lang="en-US" sz="2000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 –j </a:t>
            </a:r>
            <a:r>
              <a:rPr lang="en-US" sz="2000" dirty="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&lt;job-id&gt;</a:t>
            </a:r>
            <a:endParaRPr sz="2000" dirty="0">
              <a:solidFill>
                <a:schemeClr val="accent2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" name="Slide Number Placeholder 4">
            <a:extLst>
              <a:ext uri="{FF2B5EF4-FFF2-40B4-BE49-F238E27FC236}">
                <a16:creationId xmlns:a16="http://schemas.microsoft.com/office/drawing/2014/main" id="{01835F56-1994-3251-C6BE-9145A84CFEAA}"/>
              </a:ext>
            </a:extLst>
          </p:cNvPr>
          <p:cNvSpPr txBox="1">
            <a:spLocks/>
          </p:cNvSpPr>
          <p:nvPr/>
        </p:nvSpPr>
        <p:spPr>
          <a:xfrm>
            <a:off x="8763000" y="65087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ABDA560F-461C-6043-9BC4-489BA92F7161}" type="slidenum">
              <a:rPr lang="en-US" smtClean="0"/>
              <a:pPr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526990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9F7107-FD63-3C5A-931B-D01E0BD5BC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Checking your jobs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5E9A12-6AB5-5F86-E292-71CEE3639C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/>
              <a:t>To check the percentage of CPU and memory usage of a job </a:t>
            </a:r>
            <a:r>
              <a:rPr lang="en-US" sz="2800" b="1" dirty="0"/>
              <a:t>after it completes, </a:t>
            </a:r>
            <a:r>
              <a:rPr lang="en-US" sz="2800" dirty="0"/>
              <a:t>use </a:t>
            </a:r>
            <a:r>
              <a:rPr lang="en-US" sz="2800" dirty="0" err="1">
                <a:solidFill>
                  <a:srgbClr val="0070C0"/>
                </a:solidFill>
              </a:rPr>
              <a:t>seff</a:t>
            </a:r>
            <a:endParaRPr lang="en-US" sz="2800" dirty="0">
              <a:solidFill>
                <a:srgbClr val="0070C0"/>
              </a:solidFill>
            </a:endParaRPr>
          </a:p>
          <a:p>
            <a:endParaRPr lang="en-US" dirty="0">
              <a:solidFill>
                <a:srgbClr val="0070C0"/>
              </a:solidFill>
            </a:endParaRPr>
          </a:p>
          <a:p>
            <a:endParaRPr lang="en-US" dirty="0">
              <a:solidFill>
                <a:srgbClr val="0070C0"/>
              </a:solidFill>
            </a:endParaRPr>
          </a:p>
          <a:p>
            <a:r>
              <a:rPr lang="en-US" dirty="0"/>
              <a:t>To see general statistics for your submitted jobs, use</a:t>
            </a:r>
            <a:r>
              <a:rPr lang="en-US" sz="2800" dirty="0">
                <a:solidFill>
                  <a:srgbClr val="0070C0"/>
                </a:solidFill>
              </a:rPr>
              <a:t> </a:t>
            </a:r>
            <a:r>
              <a:rPr lang="en-US" sz="2800" dirty="0" err="1">
                <a:solidFill>
                  <a:srgbClr val="0070C0"/>
                </a:solidFill>
              </a:rPr>
              <a:t>jobstats</a:t>
            </a:r>
            <a:r>
              <a:rPr lang="en-US" dirty="0"/>
              <a:t> </a:t>
            </a:r>
          </a:p>
        </p:txBody>
      </p:sp>
      <p:sp>
        <p:nvSpPr>
          <p:cNvPr id="6" name="Google Shape;524;p53">
            <a:extLst>
              <a:ext uri="{FF2B5EF4-FFF2-40B4-BE49-F238E27FC236}">
                <a16:creationId xmlns:a16="http://schemas.microsoft.com/office/drawing/2014/main" id="{CF4DCEF5-D99B-F879-C459-5E4536E68F31}"/>
              </a:ext>
            </a:extLst>
          </p:cNvPr>
          <p:cNvSpPr/>
          <p:nvPr/>
        </p:nvSpPr>
        <p:spPr>
          <a:xfrm>
            <a:off x="1185579" y="4241445"/>
            <a:ext cx="7263450" cy="738900"/>
          </a:xfrm>
          <a:prstGeom prst="rect">
            <a:avLst/>
          </a:prstGeom>
          <a:noFill/>
          <a:ln w="9525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$ module load </a:t>
            </a:r>
            <a:r>
              <a:rPr lang="en-US" sz="2000" dirty="0" err="1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slurmtools</a:t>
            </a:r>
            <a:endParaRPr lang="en-US" sz="2000" dirty="0">
              <a:solidFill>
                <a:srgbClr val="0070C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$ </a:t>
            </a:r>
            <a:r>
              <a:rPr lang="en-US" sz="2000" dirty="0" err="1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jobstats</a:t>
            </a:r>
            <a:r>
              <a:rPr lang="en-US" sz="2000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2000" dirty="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&lt;username&gt; &lt;# of days&gt;</a:t>
            </a:r>
            <a:endParaRPr sz="2000" dirty="0">
              <a:solidFill>
                <a:schemeClr val="accent2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" name="Google Shape;525;p53">
            <a:extLst>
              <a:ext uri="{FF2B5EF4-FFF2-40B4-BE49-F238E27FC236}">
                <a16:creationId xmlns:a16="http://schemas.microsoft.com/office/drawing/2014/main" id="{5D84A3AA-B607-E8D8-B14E-9655F494AA9B}"/>
              </a:ext>
            </a:extLst>
          </p:cNvPr>
          <p:cNvSpPr/>
          <p:nvPr/>
        </p:nvSpPr>
        <p:spPr>
          <a:xfrm>
            <a:off x="1185729" y="2757419"/>
            <a:ext cx="7263300" cy="738900"/>
          </a:xfrm>
          <a:prstGeom prst="rect">
            <a:avLst/>
          </a:prstGeom>
          <a:noFill/>
          <a:ln w="9525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$ module load </a:t>
            </a:r>
            <a:r>
              <a:rPr lang="en-US" sz="2000" dirty="0" err="1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slurmtools</a:t>
            </a:r>
            <a:endParaRPr sz="2000" dirty="0">
              <a:solidFill>
                <a:srgbClr val="0070C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$ </a:t>
            </a:r>
            <a:r>
              <a:rPr lang="en-US" sz="2000" dirty="0" err="1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seff</a:t>
            </a:r>
            <a:r>
              <a:rPr lang="en-US" sz="2000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2000" dirty="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&lt;job number&gt;</a:t>
            </a:r>
            <a:endParaRPr sz="2000" dirty="0">
              <a:solidFill>
                <a:schemeClr val="accent2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" name="Slide Number Placeholder 4">
            <a:extLst>
              <a:ext uri="{FF2B5EF4-FFF2-40B4-BE49-F238E27FC236}">
                <a16:creationId xmlns:a16="http://schemas.microsoft.com/office/drawing/2014/main" id="{FBBE5115-E911-129B-C175-8232773E4569}"/>
              </a:ext>
            </a:extLst>
          </p:cNvPr>
          <p:cNvSpPr txBox="1">
            <a:spLocks/>
          </p:cNvSpPr>
          <p:nvPr/>
        </p:nvSpPr>
        <p:spPr>
          <a:xfrm>
            <a:off x="8763000" y="65087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ABDA560F-461C-6043-9BC4-489BA92F7161}" type="slidenum">
              <a:rPr lang="en-US" smtClean="0"/>
              <a:pPr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573558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BCE62E-E30C-F963-780F-4C867BBECA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Job Monitoring - XDMOD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C7966D6-9645-45E3-95A6-E25C97B469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A560F-461C-6043-9BC4-489BA92F7161}" type="slidenum">
              <a:rPr lang="en-US" smtClean="0"/>
              <a:t>46</a:t>
            </a:fld>
            <a:endParaRPr lang="en-US"/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E36BD517-D6FE-03D3-3158-D78C63FF08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54195" y="1462088"/>
            <a:ext cx="8128005" cy="4114800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349494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8" name="Google Shape;898;p76"/>
          <p:cNvSpPr txBox="1">
            <a:spLocks noGrp="1"/>
          </p:cNvSpPr>
          <p:nvPr>
            <p:ph type="title"/>
          </p:nvPr>
        </p:nvSpPr>
        <p:spPr>
          <a:xfrm>
            <a:off x="838200" y="80816"/>
            <a:ext cx="10515600" cy="13257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Help! I’m stuck, where do I go?</a:t>
            </a:r>
            <a:endParaRPr dirty="0"/>
          </a:p>
        </p:txBody>
      </p:sp>
      <p:sp>
        <p:nvSpPr>
          <p:cNvPr id="899" name="Google Shape;899;p76"/>
          <p:cNvSpPr txBox="1">
            <a:spLocks noGrp="1"/>
          </p:cNvSpPr>
          <p:nvPr>
            <p:ph type="body" idx="1"/>
          </p:nvPr>
        </p:nvSpPr>
        <p:spPr>
          <a:xfrm>
            <a:off x="437990" y="1406516"/>
            <a:ext cx="11107911" cy="41631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lvl="0" indent="-374650" algn="l" rtl="0">
              <a:lnSpc>
                <a:spcPct val="150001"/>
              </a:lnSpc>
              <a:spcBef>
                <a:spcPts val="300"/>
              </a:spcBef>
              <a:spcAft>
                <a:spcPts val="0"/>
              </a:spcAft>
              <a:buClr>
                <a:srgbClr val="1D1C1D"/>
              </a:buClr>
              <a:buSzPts val="2300"/>
              <a:buFont typeface="Arial"/>
              <a:buChar char="●"/>
            </a:pPr>
            <a:r>
              <a:rPr lang="en-US" sz="2200" b="1" u="sng" dirty="0">
                <a:solidFill>
                  <a:srgbClr val="1D1C1D"/>
                </a:solidFill>
              </a:rPr>
              <a:t>Documentation</a:t>
            </a:r>
            <a:r>
              <a:rPr lang="en-US" sz="2200" dirty="0">
                <a:solidFill>
                  <a:srgbClr val="1D1C1D"/>
                </a:solidFill>
              </a:rPr>
              <a:t>: </a:t>
            </a:r>
            <a:r>
              <a:rPr lang="en-US" sz="2200" u="sng" dirty="0">
                <a:solidFill>
                  <a:schemeClr val="hlink"/>
                </a:solidFill>
                <a:hlinkClick r:id="rId3"/>
              </a:rPr>
              <a:t>curc.readthedocs.io</a:t>
            </a:r>
            <a:r>
              <a:rPr lang="en-US" sz="2200" dirty="0">
                <a:solidFill>
                  <a:srgbClr val="1D1C1D"/>
                </a:solidFill>
              </a:rPr>
              <a:t> </a:t>
            </a:r>
            <a:endParaRPr sz="2200" dirty="0">
              <a:solidFill>
                <a:srgbClr val="1D1C1D"/>
              </a:solidFill>
            </a:endParaRPr>
          </a:p>
          <a:p>
            <a:pPr marL="457200" lvl="0" indent="-374650" algn="l" rtl="0">
              <a:lnSpc>
                <a:spcPct val="150001"/>
              </a:lnSpc>
              <a:spcBef>
                <a:spcPts val="300"/>
              </a:spcBef>
              <a:spcAft>
                <a:spcPts val="0"/>
              </a:spcAft>
              <a:buClr>
                <a:srgbClr val="1D1C1D"/>
              </a:buClr>
              <a:buSzPts val="2300"/>
              <a:buFont typeface="Arial"/>
              <a:buChar char="●"/>
            </a:pPr>
            <a:r>
              <a:rPr lang="en-US" sz="2200" b="1" u="sng" dirty="0">
                <a:solidFill>
                  <a:srgbClr val="1D1C1D"/>
                </a:solidFill>
              </a:rPr>
              <a:t>Trainings with Center for Research Data and Digital Scholarship (CRDDS)</a:t>
            </a:r>
            <a:r>
              <a:rPr lang="en-US" sz="2200" dirty="0">
                <a:solidFill>
                  <a:srgbClr val="1D1C1D"/>
                </a:solidFill>
              </a:rPr>
              <a:t>: </a:t>
            </a:r>
            <a:r>
              <a:rPr lang="en-US" sz="2200" u="sng" dirty="0">
                <a:solidFill>
                  <a:schemeClr val="hlink"/>
                </a:solidFill>
                <a:hlinkClick r:id="rId4"/>
              </a:rPr>
              <a:t>www.colorado.edu/crdds</a:t>
            </a:r>
            <a:r>
              <a:rPr lang="en-US" sz="2200" dirty="0">
                <a:solidFill>
                  <a:srgbClr val="1D1C1D"/>
                </a:solidFill>
              </a:rPr>
              <a:t> </a:t>
            </a:r>
          </a:p>
          <a:p>
            <a:pPr indent="-374650">
              <a:lnSpc>
                <a:spcPct val="150001"/>
              </a:lnSpc>
              <a:spcBef>
                <a:spcPts val="300"/>
              </a:spcBef>
              <a:buClr>
                <a:srgbClr val="1D1C1D"/>
              </a:buClr>
              <a:buSzPts val="2300"/>
              <a:buFont typeface="Arial"/>
              <a:buChar char="●"/>
            </a:pPr>
            <a:r>
              <a:rPr lang="en-US" sz="2200" b="1" u="sng" dirty="0">
                <a:solidFill>
                  <a:srgbClr val="1D1C1D"/>
                </a:solidFill>
              </a:rPr>
              <a:t>Support request form</a:t>
            </a:r>
            <a:r>
              <a:rPr lang="en-US" sz="2200" dirty="0">
                <a:solidFill>
                  <a:srgbClr val="1D1C1D"/>
                </a:solidFill>
              </a:rPr>
              <a:t>: </a:t>
            </a:r>
            <a:r>
              <a:rPr lang="en-US" sz="2200" dirty="0" err="1">
                <a:solidFill>
                  <a:srgbClr val="0563C1"/>
                </a:solidFill>
              </a:rPr>
              <a:t>colorado.service-now.com</a:t>
            </a:r>
            <a:r>
              <a:rPr lang="en-US" sz="2200" dirty="0">
                <a:solidFill>
                  <a:srgbClr val="0563C1"/>
                </a:solidFill>
              </a:rPr>
              <a:t>/</a:t>
            </a:r>
            <a:r>
              <a:rPr lang="en-US" sz="2200" dirty="0" err="1">
                <a:solidFill>
                  <a:srgbClr val="0563C1"/>
                </a:solidFill>
              </a:rPr>
              <a:t>req_portal?id</a:t>
            </a:r>
            <a:r>
              <a:rPr lang="en-US" sz="2200" dirty="0">
                <a:solidFill>
                  <a:srgbClr val="0563C1"/>
                </a:solidFill>
              </a:rPr>
              <a:t>=</a:t>
            </a:r>
            <a:r>
              <a:rPr lang="en-US" sz="2200" dirty="0" err="1">
                <a:solidFill>
                  <a:srgbClr val="0563C1"/>
                </a:solidFill>
              </a:rPr>
              <a:t>ucb_sc_rc_form</a:t>
            </a:r>
            <a:endParaRPr lang="en-US" sz="2200" dirty="0">
              <a:solidFill>
                <a:srgbClr val="0563C1"/>
              </a:solidFill>
            </a:endParaRPr>
          </a:p>
          <a:p>
            <a:pPr indent="-374650">
              <a:lnSpc>
                <a:spcPct val="150001"/>
              </a:lnSpc>
              <a:spcBef>
                <a:spcPts val="300"/>
              </a:spcBef>
              <a:buClr>
                <a:srgbClr val="1D1C1D"/>
              </a:buClr>
              <a:buSzPts val="2300"/>
              <a:buFont typeface="Arial"/>
              <a:buChar char="●"/>
            </a:pPr>
            <a:r>
              <a:rPr lang="en-US" sz="2200" b="1" u="sng" dirty="0">
                <a:solidFill>
                  <a:schemeClr val="tx1"/>
                </a:solidFill>
                <a:hlinkClick r:id="rId5"/>
              </a:rPr>
              <a:t>Consult Hours</a:t>
            </a:r>
            <a:r>
              <a:rPr lang="en-US" sz="2200" b="1" dirty="0">
                <a:solidFill>
                  <a:schemeClr val="tx1"/>
                </a:solidFill>
                <a:hlinkClick r:id="rId5"/>
              </a:rPr>
              <a:t> </a:t>
            </a:r>
            <a:r>
              <a:rPr lang="en-US" sz="2200" b="1" dirty="0">
                <a:solidFill>
                  <a:schemeClr val="tx1"/>
                </a:solidFill>
              </a:rPr>
              <a:t>(Tuesday 1:00-2:00pm in-person or virtually, Thursday 1:00-2:00pm virtually)</a:t>
            </a:r>
          </a:p>
        </p:txBody>
      </p:sp>
      <p:sp>
        <p:nvSpPr>
          <p:cNvPr id="900" name="Google Shape;900;p7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6828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47</a:t>
            </a:fld>
            <a:endParaRPr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3" name="Google Shape;913;p78"/>
          <p:cNvSpPr txBox="1">
            <a:spLocks noGrp="1"/>
          </p:cNvSpPr>
          <p:nvPr>
            <p:ph type="title"/>
          </p:nvPr>
        </p:nvSpPr>
        <p:spPr>
          <a:xfrm>
            <a:off x="686640" y="136550"/>
            <a:ext cx="10515600" cy="13257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Survey and feedback</a:t>
            </a:r>
            <a:endParaRPr dirty="0"/>
          </a:p>
        </p:txBody>
      </p:sp>
      <p:sp>
        <p:nvSpPr>
          <p:cNvPr id="914" name="Google Shape;914;p78"/>
          <p:cNvSpPr txBox="1">
            <a:spLocks noGrp="1"/>
          </p:cNvSpPr>
          <p:nvPr>
            <p:ph type="body" idx="1"/>
          </p:nvPr>
        </p:nvSpPr>
        <p:spPr>
          <a:xfrm>
            <a:off x="681996" y="2914389"/>
            <a:ext cx="6438580" cy="826239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>
              <a:buNone/>
            </a:pPr>
            <a:r>
              <a:rPr lang="en-US" sz="3300" dirty="0">
                <a:hlinkClick r:id="rId3"/>
              </a:rPr>
              <a:t>https://</a:t>
            </a:r>
            <a:r>
              <a:rPr lang="en-US" sz="3300" dirty="0" err="1">
                <a:hlinkClick r:id="rId3"/>
              </a:rPr>
              <a:t>s.zoom.us</a:t>
            </a:r>
            <a:r>
              <a:rPr lang="en-US" sz="3300" dirty="0">
                <a:hlinkClick r:id="rId3"/>
              </a:rPr>
              <a:t>/m/bPlTUoGhy</a:t>
            </a:r>
            <a:r>
              <a:rPr lang="en-US" sz="3300" dirty="0"/>
              <a:t> </a:t>
            </a:r>
            <a:endParaRPr sz="3300" dirty="0"/>
          </a:p>
        </p:txBody>
      </p:sp>
      <p:sp>
        <p:nvSpPr>
          <p:cNvPr id="915" name="Google Shape;915;p7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6828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48</a:t>
            </a:fld>
            <a:endParaRPr/>
          </a:p>
        </p:txBody>
      </p:sp>
      <p:pic>
        <p:nvPicPr>
          <p:cNvPr id="4" name="Picture 3" descr="QR code for https://s.zoom.us/m/bPlTUoGhy &#13;&#10;">
            <a:extLst>
              <a:ext uri="{FF2B5EF4-FFF2-40B4-BE49-F238E27FC236}">
                <a16:creationId xmlns:a16="http://schemas.microsoft.com/office/drawing/2014/main" id="{564303DD-19B4-0BEF-F5ED-CFEBD5E7400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1754" y="1750549"/>
            <a:ext cx="3160701" cy="315391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CUB Content 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92c16b9d-8c83-445e-a4f4-1fe3d2f43f13" xsi:nil="true"/>
    <lcf76f155ced4ddcb4097134ff3c332f xmlns="7e49f7d3-8802-46ca-9604-495ce27f67f4">
      <Terms xmlns="http://schemas.microsoft.com/office/infopath/2007/PartnerControls"/>
    </lcf76f155ced4ddcb4097134ff3c332f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C7320DB280744439FF1CC777D09ECA4" ma:contentTypeVersion="15" ma:contentTypeDescription="Create a new document." ma:contentTypeScope="" ma:versionID="e50b92032c956cc777cf00ac7d475189">
  <xsd:schema xmlns:xsd="http://www.w3.org/2001/XMLSchema" xmlns:xs="http://www.w3.org/2001/XMLSchema" xmlns:p="http://schemas.microsoft.com/office/2006/metadata/properties" xmlns:ns2="7e49f7d3-8802-46ca-9604-495ce27f67f4" xmlns:ns3="a1519f9a-9d6a-41c1-afc9-552e4069f82f" xmlns:ns4="92c16b9d-8c83-445e-a4f4-1fe3d2f43f13" targetNamespace="http://schemas.microsoft.com/office/2006/metadata/properties" ma:root="true" ma:fieldsID="fcd7cab68a23f1df7b42ced4f3edf141" ns2:_="" ns3:_="" ns4:_="">
    <xsd:import namespace="7e49f7d3-8802-46ca-9604-495ce27f67f4"/>
    <xsd:import namespace="a1519f9a-9d6a-41c1-afc9-552e4069f82f"/>
    <xsd:import namespace="92c16b9d-8c83-445e-a4f4-1fe3d2f43f13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4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e49f7d3-8802-46ca-9604-495ce27f67f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KeyPoints" ma:index="11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2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lcf76f155ced4ddcb4097134ff3c332f" ma:index="16" nillable="true" ma:taxonomy="true" ma:internalName="lcf76f155ced4ddcb4097134ff3c332f" ma:taxonomyFieldName="MediaServiceImageTags" ma:displayName="Image Tags" ma:readOnly="false" ma:fieldId="{5cf76f15-5ced-4ddc-b409-7134ff3c332f}" ma:taxonomyMulti="true" ma:sspId="52802cc5-2881-4dd7-9d75-38905e9cf7fb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0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21" nillable="true" ma:displayName="MediaLengthInSeconds" ma:hidden="true" ma:internalName="MediaLengthInSeconds" ma:readOnly="true">
      <xsd:simpleType>
        <xsd:restriction base="dms:Unknown"/>
      </xsd:simpleType>
    </xsd:element>
    <xsd:element name="MediaServiceLocation" ma:index="22" nillable="true" ma:displayName="Location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1519f9a-9d6a-41c1-afc9-552e4069f82f" elementFormDefault="qualified">
    <xsd:import namespace="http://schemas.microsoft.com/office/2006/documentManagement/types"/>
    <xsd:import namespace="http://schemas.microsoft.com/office/infopath/2007/PartnerControls"/>
    <xsd:element name="SharedWithUsers" ma:index="13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4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2c16b9d-8c83-445e-a4f4-1fe3d2f43f13" elementFormDefault="qualified">
    <xsd:import namespace="http://schemas.microsoft.com/office/2006/documentManagement/types"/>
    <xsd:import namespace="http://schemas.microsoft.com/office/infopath/2007/PartnerControls"/>
    <xsd:element name="TaxCatchAll" ma:index="17" nillable="true" ma:displayName="Taxonomy Catch All Column" ma:hidden="true" ma:list="{95373c19-887a-4e93-8582-23ebe3fe2f18}" ma:internalName="TaxCatchAll" ma:showField="CatchAllData" ma:web="a1519f9a-9d6a-41c1-afc9-552e4069f82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4AB02FF4-25A1-49FE-9DF7-DD19F525B7FA}">
  <ds:schemaRefs>
    <ds:schemaRef ds:uri="7e49f7d3-8802-46ca-9604-495ce27f67f4"/>
    <ds:schemaRef ds:uri="http://schemas.microsoft.com/office/2006/metadata/properties"/>
    <ds:schemaRef ds:uri="http://schemas.microsoft.com/office/infopath/2007/PartnerControls"/>
    <ds:schemaRef ds:uri="http://purl.org/dc/terms/"/>
    <ds:schemaRef ds:uri="http://purl.org/dc/elements/1.1/"/>
    <ds:schemaRef ds:uri="http://www.w3.org/XML/1998/namespace"/>
    <ds:schemaRef ds:uri="92c16b9d-8c83-445e-a4f4-1fe3d2f43f13"/>
    <ds:schemaRef ds:uri="http://schemas.microsoft.com/office/2006/documentManagement/types"/>
    <ds:schemaRef ds:uri="http://purl.org/dc/dcmitype/"/>
    <ds:schemaRef ds:uri="http://schemas.openxmlformats.org/package/2006/metadata/core-properties"/>
    <ds:schemaRef ds:uri="a1519f9a-9d6a-41c1-afc9-552e4069f82f"/>
  </ds:schemaRefs>
</ds:datastoreItem>
</file>

<file path=customXml/itemProps2.xml><?xml version="1.0" encoding="utf-8"?>
<ds:datastoreItem xmlns:ds="http://schemas.openxmlformats.org/officeDocument/2006/customXml" ds:itemID="{6BBC22CE-40EC-4545-8FE9-90326628051D}">
  <ds:schemaRefs>
    <ds:schemaRef ds:uri="7e49f7d3-8802-46ca-9604-495ce27f67f4"/>
    <ds:schemaRef ds:uri="92c16b9d-8c83-445e-a4f4-1fe3d2f43f13"/>
    <ds:schemaRef ds:uri="a1519f9a-9d6a-41c1-afc9-552e4069f82f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06B4C708-AA43-4CE7-BE2D-F9D9A02F4940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3ded8b1b-070d-4629-82e4-c0b019f46057}" enabled="0" method="" siteId="{3ded8b1b-070d-4629-82e4-c0b019f46057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11219</TotalTime>
  <Words>2895</Words>
  <Application>Microsoft Macintosh PowerPoint</Application>
  <PresentationFormat>Widescreen</PresentationFormat>
  <Paragraphs>529</Paragraphs>
  <Slides>48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48</vt:i4>
      </vt:variant>
    </vt:vector>
  </HeadingPairs>
  <TitlesOfParts>
    <vt:vector size="57" baseType="lpstr">
      <vt:lpstr>Arial</vt:lpstr>
      <vt:lpstr>Arial Black</vt:lpstr>
      <vt:lpstr>Calibri</vt:lpstr>
      <vt:lpstr>Consolas</vt:lpstr>
      <vt:lpstr>Courier New</vt:lpstr>
      <vt:lpstr>Helvetica Neue</vt:lpstr>
      <vt:lpstr>Helvetica Neue Light</vt:lpstr>
      <vt:lpstr>Times New Roman</vt:lpstr>
      <vt:lpstr>CUB Content </vt:lpstr>
      <vt:lpstr>Getting Started with Research Computing From Command Line to Job Scheduling</vt:lpstr>
      <vt:lpstr>Useful CURC links</vt:lpstr>
      <vt:lpstr>The user support team</vt:lpstr>
      <vt:lpstr>PowerPoint Presentation</vt:lpstr>
      <vt:lpstr>General Overview of Job Submission</vt:lpstr>
      <vt:lpstr>Login Nodes</vt:lpstr>
      <vt:lpstr>Accessing the Terminal</vt:lpstr>
      <vt:lpstr>Accessing the Terminal Cont.</vt:lpstr>
      <vt:lpstr>Linux Command Line</vt:lpstr>
      <vt:lpstr>List Files and Directories</vt:lpstr>
      <vt:lpstr>Standard CURC Directories</vt:lpstr>
      <vt:lpstr>File Operations</vt:lpstr>
      <vt:lpstr>Create and edit a file – Terminal Text Editors</vt:lpstr>
      <vt:lpstr>Creating a Bash Script</vt:lpstr>
      <vt:lpstr>Shell script basics</vt:lpstr>
      <vt:lpstr>Selecting Resources</vt:lpstr>
      <vt:lpstr>Common Resource Requests</vt:lpstr>
      <vt:lpstr>Alpine Partitions</vt:lpstr>
      <vt:lpstr>Alpine Partitions - acpu</vt:lpstr>
      <vt:lpstr>Alpine Partitions - amem</vt:lpstr>
      <vt:lpstr>Alpine Partitions – NVIDIA GPUs</vt:lpstr>
      <vt:lpstr>Alpine Partitions – AMD GPUs</vt:lpstr>
      <vt:lpstr>Alpine Testing Resources</vt:lpstr>
      <vt:lpstr>Quality of Service (QoS)</vt:lpstr>
      <vt:lpstr>Selecting Hardware</vt:lpstr>
      <vt:lpstr>GRES Type</vt:lpstr>
      <vt:lpstr>Walltime</vt:lpstr>
      <vt:lpstr>Selecting Resources</vt:lpstr>
      <vt:lpstr>Planned Maintenance </vt:lpstr>
      <vt:lpstr>Batch vs Interactive Jobs</vt:lpstr>
      <vt:lpstr>Batch Jobs</vt:lpstr>
      <vt:lpstr>Interactive Jobs</vt:lpstr>
      <vt:lpstr>Slurm Directives</vt:lpstr>
      <vt:lpstr>Common Slurm Directives</vt:lpstr>
      <vt:lpstr>Common Slurm Directives cont.</vt:lpstr>
      <vt:lpstr>Starting an interactive job</vt:lpstr>
      <vt:lpstr>Running an interactive job</vt:lpstr>
      <vt:lpstr>Batch Jobs</vt:lpstr>
      <vt:lpstr>Anatomy of a job script </vt:lpstr>
      <vt:lpstr>Directives in a job script</vt:lpstr>
      <vt:lpstr>Creating a Job Script</vt:lpstr>
      <vt:lpstr>Example job script</vt:lpstr>
      <vt:lpstr>Submitting a Job script</vt:lpstr>
      <vt:lpstr>Checking your jobs</vt:lpstr>
      <vt:lpstr>Checking your jobs</vt:lpstr>
      <vt:lpstr>Job Monitoring - XDMOD</vt:lpstr>
      <vt:lpstr>Help! I’m stuck, where do I go?</vt:lpstr>
      <vt:lpstr>Survey and feedback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CURC Alpine Allocations</dc:title>
  <dc:creator>Layla Freeborn</dc:creator>
  <cp:lastModifiedBy>Brandon Reyes</cp:lastModifiedBy>
  <cp:revision>59</cp:revision>
  <cp:lastPrinted>2025-09-12T16:15:41Z</cp:lastPrinted>
  <dcterms:created xsi:type="dcterms:W3CDTF">2023-01-13T17:07:22Z</dcterms:created>
  <dcterms:modified xsi:type="dcterms:W3CDTF">2026-08-28T21:19:48Z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0x010100DC7320DB280744439FF1CC777D09ECA4</vt:lpwstr>
  </property>
</Properties>
</file>