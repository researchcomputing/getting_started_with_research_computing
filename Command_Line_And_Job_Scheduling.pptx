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55"/>
  </p:notesMasterIdLst>
  <p:sldIdLst>
    <p:sldId id="256" r:id="rId5"/>
    <p:sldId id="430" r:id="rId6"/>
    <p:sldId id="365" r:id="rId7"/>
    <p:sldId id="261" r:id="rId8"/>
    <p:sldId id="351" r:id="rId9"/>
    <p:sldId id="450" r:id="rId10"/>
    <p:sldId id="420" r:id="rId11"/>
    <p:sldId id="421" r:id="rId12"/>
    <p:sldId id="400" r:id="rId13"/>
    <p:sldId id="404" r:id="rId14"/>
    <p:sldId id="405" r:id="rId15"/>
    <p:sldId id="424" r:id="rId16"/>
    <p:sldId id="407" r:id="rId17"/>
    <p:sldId id="425" r:id="rId18"/>
    <p:sldId id="263" r:id="rId19"/>
    <p:sldId id="426" r:id="rId20"/>
    <p:sldId id="431" r:id="rId21"/>
    <p:sldId id="374" r:id="rId22"/>
    <p:sldId id="432" r:id="rId23"/>
    <p:sldId id="433" r:id="rId24"/>
    <p:sldId id="434" r:id="rId25"/>
    <p:sldId id="373" r:id="rId26"/>
    <p:sldId id="435" r:id="rId27"/>
    <p:sldId id="436" r:id="rId28"/>
    <p:sldId id="451" r:id="rId29"/>
    <p:sldId id="437" r:id="rId30"/>
    <p:sldId id="438" r:id="rId31"/>
    <p:sldId id="452" r:id="rId32"/>
    <p:sldId id="439" r:id="rId33"/>
    <p:sldId id="440" r:id="rId34"/>
    <p:sldId id="444" r:id="rId35"/>
    <p:sldId id="441" r:id="rId36"/>
    <p:sldId id="442" r:id="rId37"/>
    <p:sldId id="443" r:id="rId38"/>
    <p:sldId id="445" r:id="rId39"/>
    <p:sldId id="446" r:id="rId40"/>
    <p:sldId id="447" r:id="rId41"/>
    <p:sldId id="370" r:id="rId42"/>
    <p:sldId id="371" r:id="rId43"/>
    <p:sldId id="354" r:id="rId44"/>
    <p:sldId id="355" r:id="rId45"/>
    <p:sldId id="429" r:id="rId46"/>
    <p:sldId id="427" r:id="rId47"/>
    <p:sldId id="396" r:id="rId48"/>
    <p:sldId id="359" r:id="rId49"/>
    <p:sldId id="361" r:id="rId50"/>
    <p:sldId id="362" r:id="rId51"/>
    <p:sldId id="416" r:id="rId52"/>
    <p:sldId id="448" r:id="rId53"/>
    <p:sldId id="449"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691206C-2BA2-452A-5B48-4B2D08511887}" name="Michael Joseph Schneider" initials="MS" userId="S::misc7570@colorado.edu::0526a63a-26d6-4239-972a-179b08dd2c7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FE0"/>
    <a:srgbClr val="D883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828"/>
    <p:restoredTop sz="97228"/>
  </p:normalViewPr>
  <p:slideViewPr>
    <p:cSldViewPr snapToGrid="0">
      <p:cViewPr varScale="1">
        <p:scale>
          <a:sx n="167" d="100"/>
          <a:sy n="167" d="100"/>
        </p:scale>
        <p:origin x="1296" y="18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notesMaster" Target="notesMasters/notes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theme" Target="theme/theme1.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2"/>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2"/>
            <a:ext cx="2971800" cy="458788"/>
          </a:xfrm>
          <a:prstGeom prst="rect">
            <a:avLst/>
          </a:prstGeom>
        </p:spPr>
        <p:txBody>
          <a:bodyPr vert="horz" lIns="91440" tIns="45720" rIns="91440" bIns="45720" rtlCol="0"/>
          <a:lstStyle>
            <a:lvl1pPr algn="r">
              <a:defRPr sz="1200"/>
            </a:lvl1pPr>
          </a:lstStyle>
          <a:p>
            <a:fld id="{EFDA08D6-E137-3341-A5EE-84219A24203E}" type="datetimeFigureOut">
              <a:rPr lang="en-US" smtClean="0"/>
              <a:t>8/28/26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26901F-C6C3-9E47-9843-744856EDDD7A}" type="slidenum">
              <a:rPr lang="en-US" smtClean="0"/>
              <a:t>‹#›</a:t>
            </a:fld>
            <a:endParaRPr lang="en-US"/>
          </a:p>
        </p:txBody>
      </p:sp>
    </p:spTree>
    <p:extLst>
      <p:ext uri="{BB962C8B-B14F-4D97-AF65-F5344CB8AC3E}">
        <p14:creationId xmlns:p14="http://schemas.microsoft.com/office/powerpoint/2010/main" val="384540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1:notes"/>
          <p:cNvSpPr txBox="1">
            <a:spLocks noGrp="1"/>
          </p:cNvSpPr>
          <p:nvPr>
            <p:ph type="body" idx="1"/>
          </p:nvPr>
        </p:nvSpPr>
        <p:spPr>
          <a:xfrm>
            <a:off x="685800" y="4400549"/>
            <a:ext cx="5486400" cy="3600451"/>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93" name="Google Shape;9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0" name="Google Shape;100;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A60E6FC-C58D-CA46-93FA-98E1AAB1BA51}" type="slidenum">
              <a:rPr lang="en-US" smtClean="0"/>
              <a:t>3</a:t>
            </a:fld>
            <a:endParaRPr lang="en-US" dirty="0"/>
          </a:p>
        </p:txBody>
      </p:sp>
    </p:spTree>
    <p:extLst>
      <p:ext uri="{BB962C8B-B14F-4D97-AF65-F5344CB8AC3E}">
        <p14:creationId xmlns:p14="http://schemas.microsoft.com/office/powerpoint/2010/main" val="2489830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12316551eda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12316551eda_0_13:notes"/>
          <p:cNvSpPr txBox="1">
            <a:spLocks noGrp="1"/>
          </p:cNvSpPr>
          <p:nvPr>
            <p:ph type="body" idx="1"/>
          </p:nvPr>
        </p:nvSpPr>
        <p:spPr>
          <a:xfrm>
            <a:off x="685800" y="4400549"/>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workshop is meant to be empowering and information-rich – to help you get the most out of your HPC workflow.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Feel free to ask questions during the presentations and to discuss ideas/thoughts during breaks and the hands-on portion of the workshop.</a:t>
            </a:r>
            <a:endParaRPr dirty="0"/>
          </a:p>
        </p:txBody>
      </p:sp>
      <p:sp>
        <p:nvSpPr>
          <p:cNvPr id="130" name="Google Shape;130;g12316551eda_0_13:notes"/>
          <p:cNvSpPr txBox="1">
            <a:spLocks noGrp="1"/>
          </p:cNvSpPr>
          <p:nvPr>
            <p:ph type="sldNum" idx="12"/>
          </p:nvPr>
        </p:nvSpPr>
        <p:spPr>
          <a:xfrm>
            <a:off x="3884613" y="8685215"/>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dirty="0"/>
          </a:p>
          <a:p>
            <a:pPr marL="0" indent="0">
              <a:buNone/>
            </a:pPr>
            <a:r>
              <a:rPr lang="en-US" dirty="0"/>
              <a:t>3. Jobs do not run immediately but instead wait in a SLURM managed queue.  A job’s placement in the queue is dependent on multiple factors. We will discuss a few of the most common factors, but a general rule to follow is that the more resources a job requests the longer it will wait in the queue.</a:t>
            </a:r>
          </a:p>
        </p:txBody>
      </p:sp>
      <p:sp>
        <p:nvSpPr>
          <p:cNvPr id="4" name="Slide Number Placeholder 3"/>
          <p:cNvSpPr>
            <a:spLocks noGrp="1"/>
          </p:cNvSpPr>
          <p:nvPr>
            <p:ph type="sldNum" sz="quarter" idx="5"/>
          </p:nvPr>
        </p:nvSpPr>
        <p:spPr/>
        <p:txBody>
          <a:bodyPr/>
          <a:lstStyle/>
          <a:p>
            <a:fld id="{A926901F-C6C3-9E47-9843-744856EDDD7A}" type="slidenum">
              <a:rPr lang="en-US" smtClean="0"/>
              <a:t>5</a:t>
            </a:fld>
            <a:endParaRPr lang="en-US"/>
          </a:p>
        </p:txBody>
      </p:sp>
    </p:spTree>
    <p:extLst>
      <p:ext uri="{BB962C8B-B14F-4D97-AF65-F5344CB8AC3E}">
        <p14:creationId xmlns:p14="http://schemas.microsoft.com/office/powerpoint/2010/main" val="3216689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The </a:t>
            </a:r>
            <a:r>
              <a:rPr lang="en-US" dirty="0" err="1"/>
              <a:t>hello.sh</a:t>
            </a:r>
            <a:r>
              <a:rPr lang="en-US" dirty="0"/>
              <a:t> file you </a:t>
            </a:r>
            <a:r>
              <a:rPr lang="en-US" dirty="0" err="1"/>
              <a:t>chmod’d</a:t>
            </a:r>
            <a:r>
              <a:rPr lang="en-US" dirty="0"/>
              <a:t> was a bash shell script.</a:t>
            </a:r>
          </a:p>
          <a:p>
            <a:pPr marL="0" lvl="0" indent="0" algn="l" rtl="0">
              <a:spcBef>
                <a:spcPts val="0"/>
              </a:spcBef>
              <a:spcAft>
                <a:spcPts val="0"/>
              </a:spcAft>
              <a:buNone/>
            </a:pPr>
            <a:r>
              <a:rPr lang="en-US" dirty="0"/>
              <a:t>This implies that the Bash script is running in a separate independent shell. This separate shell terminates at the end of the script, leaving the parent shell, the shell we’re in, unaffected.</a:t>
            </a:r>
            <a:endParaRPr dirty="0"/>
          </a:p>
          <a:p>
            <a:pPr marL="0" lvl="0" indent="0" algn="l" rtl="0">
              <a:spcBef>
                <a:spcPts val="0"/>
              </a:spcBef>
              <a:spcAft>
                <a:spcPts val="0"/>
              </a:spcAft>
              <a:buNone/>
            </a:pPr>
            <a:endParaRPr dirty="0"/>
          </a:p>
          <a:p>
            <a:pPr marL="0" lvl="0" indent="0" algn="l" rtl="0">
              <a:spcBef>
                <a:spcPts val="0"/>
              </a:spcBef>
              <a:spcAft>
                <a:spcPts val="0"/>
              </a:spcAft>
              <a:buClr>
                <a:schemeClr val="dk1"/>
              </a:buClr>
              <a:buSzPts val="1100"/>
              <a:buFont typeface="Arial"/>
              <a:buNone/>
            </a:pPr>
            <a:r>
              <a:rPr lang="en-US" dirty="0" err="1"/>
              <a:t>pwd</a:t>
            </a:r>
            <a:endParaRPr dirty="0"/>
          </a:p>
          <a:p>
            <a:pPr marL="0" lvl="0" indent="0" algn="l" rtl="0">
              <a:spcBef>
                <a:spcPts val="0"/>
              </a:spcBef>
              <a:spcAft>
                <a:spcPts val="0"/>
              </a:spcAft>
              <a:buNone/>
            </a:pPr>
            <a:r>
              <a:rPr lang="en-US" dirty="0"/>
              <a:t>echo $$ </a:t>
            </a:r>
          </a:p>
          <a:p>
            <a:pPr marL="0" lvl="0" indent="0" algn="l" rtl="0">
              <a:spcBef>
                <a:spcPts val="0"/>
              </a:spcBef>
              <a:spcAft>
                <a:spcPts val="0"/>
              </a:spcAft>
              <a:buNone/>
            </a:pPr>
            <a:r>
              <a:rPr lang="en-US" dirty="0"/>
              <a:t>PID OF CURRENT PROCESS</a:t>
            </a:r>
            <a:endParaRPr dirty="0"/>
          </a:p>
        </p:txBody>
      </p:sp>
      <p:sp>
        <p:nvSpPr>
          <p:cNvPr id="220" name="Google Shape;220;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EFF08-17DB-28FC-AC3E-D0CE318520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089E0-940F-F89C-AEDB-4483A7E3C7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FE7A55-A2DC-8455-F874-C7762F9541B8}"/>
              </a:ext>
            </a:extLst>
          </p:cNvPr>
          <p:cNvSpPr>
            <a:spLocks noGrp="1"/>
          </p:cNvSpPr>
          <p:nvPr>
            <p:ph type="body" idx="1"/>
          </p:nvPr>
        </p:nvSpPr>
        <p:spPr/>
        <p:txBody>
          <a:bodyPr/>
          <a:lstStyle/>
          <a:p>
            <a:pPr marL="0" indent="0">
              <a:buNone/>
            </a:pPr>
            <a:endParaRPr lang="en-US" dirty="0"/>
          </a:p>
          <a:p>
            <a:pPr marL="0" indent="0">
              <a:buNone/>
            </a:pPr>
            <a:r>
              <a:rPr lang="en-US" dirty="0"/>
              <a:t>3. Jobs do not run immediately but instead wait in a SLURM managed queue.  A job’s placement in the queue is dependent on multiple factors. We will discuss a few of the most common factors, but a general rule to follow is that the more resources a job requests the longer it will wait in the queue.</a:t>
            </a:r>
          </a:p>
        </p:txBody>
      </p:sp>
      <p:sp>
        <p:nvSpPr>
          <p:cNvPr id="4" name="Slide Number Placeholder 3">
            <a:extLst>
              <a:ext uri="{FF2B5EF4-FFF2-40B4-BE49-F238E27FC236}">
                <a16:creationId xmlns:a16="http://schemas.microsoft.com/office/drawing/2014/main" id="{0031DDC3-11A8-B552-D2B9-C2EE619A242A}"/>
              </a:ext>
            </a:extLst>
          </p:cNvPr>
          <p:cNvSpPr>
            <a:spLocks noGrp="1"/>
          </p:cNvSpPr>
          <p:nvPr>
            <p:ph type="sldNum" sz="quarter" idx="5"/>
          </p:nvPr>
        </p:nvSpPr>
        <p:spPr/>
        <p:txBody>
          <a:bodyPr/>
          <a:lstStyle/>
          <a:p>
            <a:fld id="{A926901F-C6C3-9E47-9843-744856EDDD7A}" type="slidenum">
              <a:rPr lang="en-US" smtClean="0"/>
              <a:t>16</a:t>
            </a:fld>
            <a:endParaRPr lang="en-US"/>
          </a:p>
        </p:txBody>
      </p:sp>
    </p:spTree>
    <p:extLst>
      <p:ext uri="{BB962C8B-B14F-4D97-AF65-F5344CB8AC3E}">
        <p14:creationId xmlns:p14="http://schemas.microsoft.com/office/powerpoint/2010/main" val="23512572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979A2-6C01-2D82-2026-873F0C42DD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B4BD3-D55B-C978-3890-0BC25B0563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D632A4-DAED-18E7-2A05-12E1398AB635}"/>
              </a:ext>
            </a:extLst>
          </p:cNvPr>
          <p:cNvSpPr>
            <a:spLocks noGrp="1"/>
          </p:cNvSpPr>
          <p:nvPr>
            <p:ph type="body" idx="1"/>
          </p:nvPr>
        </p:nvSpPr>
        <p:spPr/>
        <p:txBody>
          <a:bodyPr/>
          <a:lstStyle/>
          <a:p>
            <a:r>
              <a:rPr lang="en-US" dirty="0"/>
              <a:t>Partition – Defines what type of hardware your job has access to. </a:t>
            </a:r>
          </a:p>
          <a:p>
            <a:endParaRPr lang="en-US" dirty="0"/>
          </a:p>
          <a:p>
            <a:r>
              <a:rPr lang="en-US" dirty="0" err="1"/>
              <a:t>Ntasks</a:t>
            </a:r>
            <a:r>
              <a:rPr lang="en-US" dirty="0"/>
              <a:t> – How many CPU cores your job is requesting</a:t>
            </a:r>
          </a:p>
          <a:p>
            <a:endParaRPr lang="en-US" dirty="0"/>
          </a:p>
          <a:p>
            <a:r>
              <a:rPr lang="en-US" dirty="0"/>
              <a:t>Nodes – How many nodes your job will run across (typically 1, but can be more)</a:t>
            </a:r>
          </a:p>
          <a:p>
            <a:endParaRPr lang="en-US" dirty="0"/>
          </a:p>
          <a:p>
            <a:r>
              <a:rPr lang="en-US" dirty="0"/>
              <a:t>Wall Time – How much time your job needs to run on the system (can be a few minutes, a few hours, to multiple days)</a:t>
            </a:r>
          </a:p>
          <a:p>
            <a:endParaRPr lang="en-US" dirty="0"/>
          </a:p>
          <a:p>
            <a:r>
              <a:rPr lang="en-US" dirty="0"/>
              <a:t>Quality of Service (QOS) – Defines additional job constraints – i.e. limits to how much your job can request.</a:t>
            </a:r>
          </a:p>
        </p:txBody>
      </p:sp>
      <p:sp>
        <p:nvSpPr>
          <p:cNvPr id="4" name="Slide Number Placeholder 3">
            <a:extLst>
              <a:ext uri="{FF2B5EF4-FFF2-40B4-BE49-F238E27FC236}">
                <a16:creationId xmlns:a16="http://schemas.microsoft.com/office/drawing/2014/main" id="{9FAED7FE-C9C0-4E32-9AFC-C2DAB812B795}"/>
              </a:ext>
            </a:extLst>
          </p:cNvPr>
          <p:cNvSpPr>
            <a:spLocks noGrp="1"/>
          </p:cNvSpPr>
          <p:nvPr>
            <p:ph type="sldNum" sz="quarter" idx="5"/>
          </p:nvPr>
        </p:nvSpPr>
        <p:spPr/>
        <p:txBody>
          <a:bodyPr/>
          <a:lstStyle/>
          <a:p>
            <a:fld id="{A926901F-C6C3-9E47-9843-744856EDDD7A}" type="slidenum">
              <a:rPr lang="en-US" smtClean="0"/>
              <a:t>17</a:t>
            </a:fld>
            <a:endParaRPr lang="en-US"/>
          </a:p>
        </p:txBody>
      </p:sp>
    </p:spTree>
    <p:extLst>
      <p:ext uri="{BB962C8B-B14F-4D97-AF65-F5344CB8AC3E}">
        <p14:creationId xmlns:p14="http://schemas.microsoft.com/office/powerpoint/2010/main" val="6417087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D0A3E20E-FC8A-5CE7-3FB3-E125CF507492}"/>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F7B83B71-ECA6-67CD-8273-82DEA84147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A9D89E84-E581-89A7-7FA7-E771B1827C03}"/>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Compute nodes are organized into partitions – logical groups of similarly spec’d hardware. </a:t>
            </a:r>
          </a:p>
          <a:p>
            <a:pPr marL="0" lvl="0" indent="0" algn="l" rtl="0">
              <a:spcBef>
                <a:spcPts val="0"/>
              </a:spcBef>
              <a:spcAft>
                <a:spcPts val="0"/>
              </a:spcAft>
              <a:buNone/>
            </a:pPr>
            <a:endParaRPr lang="en-US"/>
          </a:p>
          <a:p>
            <a:pPr marL="0" lvl="0" indent="0" algn="l" rtl="0">
              <a:spcBef>
                <a:spcPts val="0"/>
              </a:spcBef>
              <a:spcAft>
                <a:spcPts val="0"/>
              </a:spcAft>
              <a:buNone/>
            </a:pPr>
            <a:r>
              <a:rPr lang="en-US"/>
              <a:t>Partitions make it easier to request specific resources and ensure a more consistent user experience. </a:t>
            </a:r>
          </a:p>
          <a:p>
            <a:pPr marL="0" lvl="0" indent="0" algn="l" rtl="0">
              <a:spcBef>
                <a:spcPts val="0"/>
              </a:spcBef>
              <a:spcAft>
                <a:spcPts val="0"/>
              </a:spcAft>
              <a:buNone/>
            </a:pPr>
            <a:endParaRPr lang="en-US"/>
          </a:p>
          <a:p>
            <a:pPr marL="0" lvl="0" indent="0" algn="l" rtl="0">
              <a:spcBef>
                <a:spcPts val="0"/>
              </a:spcBef>
              <a:spcAft>
                <a:spcPts val="0"/>
              </a:spcAft>
              <a:buNone/>
            </a:pPr>
            <a:r>
              <a:rPr lang="en-US"/>
              <a:t>The Alpine Cluster has four primary partitions. </a:t>
            </a:r>
          </a:p>
          <a:p>
            <a:pPr marL="0" lvl="0" indent="0" algn="l" rtl="0">
              <a:spcBef>
                <a:spcPts val="0"/>
              </a:spcBef>
              <a:spcAft>
                <a:spcPts val="0"/>
              </a:spcAft>
              <a:buNone/>
            </a:pPr>
            <a:endParaRPr lang="en-US"/>
          </a:p>
          <a:p>
            <a:pPr marL="0" lvl="0" indent="0" algn="l" rtl="0">
              <a:spcBef>
                <a:spcPts val="0"/>
              </a:spcBef>
              <a:spcAft>
                <a:spcPts val="0"/>
              </a:spcAft>
              <a:buNone/>
            </a:pPr>
            <a:r>
              <a:rPr lang="en-US"/>
              <a:t>Detailed Information on Alpine Hardware: </a:t>
            </a:r>
            <a:br>
              <a:rPr lang="en-US"/>
            </a:br>
            <a:r>
              <a:rPr lang="en-US"/>
              <a:t>https://</a:t>
            </a:r>
            <a:r>
              <a:rPr lang="en-US" err="1"/>
              <a:t>curc.readthedocs.io</a:t>
            </a:r>
            <a:r>
              <a:rPr lang="en-US"/>
              <a:t>/</a:t>
            </a:r>
            <a:r>
              <a:rPr lang="en-US" err="1"/>
              <a:t>en</a:t>
            </a:r>
            <a:r>
              <a:rPr lang="en-US"/>
              <a:t>/latest/clusters/alpine/alpine-</a:t>
            </a:r>
            <a:r>
              <a:rPr lang="en-US" err="1"/>
              <a:t>hardware.html</a:t>
            </a:r>
            <a:r>
              <a:rPr lang="en-US"/>
              <a:t> </a:t>
            </a:r>
            <a:endParaRPr/>
          </a:p>
        </p:txBody>
      </p:sp>
      <p:sp>
        <p:nvSpPr>
          <p:cNvPr id="333" name="Google Shape;333;g12316551eda_0_238:notes">
            <a:extLst>
              <a:ext uri="{FF2B5EF4-FFF2-40B4-BE49-F238E27FC236}">
                <a16:creationId xmlns:a16="http://schemas.microsoft.com/office/drawing/2014/main" id="{9D29B984-FBEC-866C-F88B-A129F4D25AE2}"/>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18</a:t>
            </a:fld>
            <a:endParaRPr/>
          </a:p>
        </p:txBody>
      </p:sp>
    </p:spTree>
    <p:extLst>
      <p:ext uri="{BB962C8B-B14F-4D97-AF65-F5344CB8AC3E}">
        <p14:creationId xmlns:p14="http://schemas.microsoft.com/office/powerpoint/2010/main" val="2213417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3B3E419D-42DC-9BF8-E574-79B5FE756C63}"/>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E2B5DF0E-33E4-CD33-E622-8A5DDB436E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9F259969-7916-7A22-7681-4C78BEE02A48}"/>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err="1"/>
              <a:t>amilan</a:t>
            </a:r>
            <a:r>
              <a:rPr lang="en-US"/>
              <a:t>: </a:t>
            </a:r>
          </a:p>
          <a:p>
            <a:pPr marL="0" lvl="0" indent="0" algn="l" rtl="0">
              <a:spcBef>
                <a:spcPts val="0"/>
              </a:spcBef>
              <a:spcAft>
                <a:spcPts val="0"/>
              </a:spcAft>
              <a:buNone/>
            </a:pPr>
            <a:r>
              <a:rPr lang="en-US"/>
              <a:t>285 Nodes</a:t>
            </a:r>
          </a:p>
          <a:p>
            <a:pPr marL="0" lvl="0" indent="0" algn="l" rtl="0">
              <a:spcBef>
                <a:spcPts val="0"/>
              </a:spcBef>
              <a:spcAft>
                <a:spcPts val="0"/>
              </a:spcAft>
              <a:buNone/>
            </a:pPr>
            <a:r>
              <a:rPr lang="en-US"/>
              <a:t>64 CPU Cores per Node</a:t>
            </a:r>
          </a:p>
          <a:p>
            <a:pPr marL="0" lvl="0" indent="0" algn="l" rtl="0">
              <a:spcBef>
                <a:spcPts val="0"/>
              </a:spcBef>
              <a:spcAft>
                <a:spcPts val="0"/>
              </a:spcAft>
              <a:buNone/>
            </a:pPr>
            <a:r>
              <a:rPr lang="en-US"/>
              <a:t>3.75 GB of RAM per CPU (240 GB total)</a:t>
            </a:r>
          </a:p>
          <a:p>
            <a:pPr marL="0" lvl="0" indent="0" algn="l" rtl="0">
              <a:spcBef>
                <a:spcPts val="0"/>
              </a:spcBef>
              <a:spcAft>
                <a:spcPts val="0"/>
              </a:spcAft>
              <a:buNone/>
            </a:pPr>
            <a:endParaRPr lang="en-US"/>
          </a:p>
          <a:p>
            <a:pPr marL="0" lvl="0" indent="0" algn="l" rtl="0">
              <a:spcBef>
                <a:spcPts val="0"/>
              </a:spcBef>
              <a:spcAft>
                <a:spcPts val="0"/>
              </a:spcAft>
              <a:buNone/>
            </a:pPr>
            <a:endParaRPr lang="en-US"/>
          </a:p>
          <a:p>
            <a:pPr marL="0" lvl="0" indent="0" algn="l" rtl="0">
              <a:spcBef>
                <a:spcPts val="0"/>
              </a:spcBef>
              <a:spcAft>
                <a:spcPts val="0"/>
              </a:spcAft>
              <a:buNone/>
            </a:pPr>
            <a:r>
              <a:rPr lang="en-US"/>
              <a:t>Detailed Information on Alpine Hardware: </a:t>
            </a:r>
            <a:br>
              <a:rPr lang="en-US"/>
            </a:br>
            <a:r>
              <a:rPr lang="en-US"/>
              <a:t>https://</a:t>
            </a:r>
            <a:r>
              <a:rPr lang="en-US" err="1"/>
              <a:t>curc.readthedocs.io</a:t>
            </a:r>
            <a:r>
              <a:rPr lang="en-US"/>
              <a:t>/</a:t>
            </a:r>
            <a:r>
              <a:rPr lang="en-US" err="1"/>
              <a:t>en</a:t>
            </a:r>
            <a:r>
              <a:rPr lang="en-US"/>
              <a:t>/latest/clusters/alpine/alpine-</a:t>
            </a:r>
            <a:r>
              <a:rPr lang="en-US" err="1"/>
              <a:t>hardware.html</a:t>
            </a:r>
            <a:r>
              <a:rPr lang="en-US"/>
              <a:t> </a:t>
            </a:r>
            <a:endParaRPr/>
          </a:p>
        </p:txBody>
      </p:sp>
      <p:sp>
        <p:nvSpPr>
          <p:cNvPr id="333" name="Google Shape;333;g12316551eda_0_238:notes">
            <a:extLst>
              <a:ext uri="{FF2B5EF4-FFF2-40B4-BE49-F238E27FC236}">
                <a16:creationId xmlns:a16="http://schemas.microsoft.com/office/drawing/2014/main" id="{186D727F-2132-DA15-78AF-130F8F1B1EE6}"/>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19</a:t>
            </a:fld>
            <a:endParaRPr/>
          </a:p>
        </p:txBody>
      </p:sp>
    </p:spTree>
    <p:extLst>
      <p:ext uri="{BB962C8B-B14F-4D97-AF65-F5344CB8AC3E}">
        <p14:creationId xmlns:p14="http://schemas.microsoft.com/office/powerpoint/2010/main" val="26758037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2C0D8D7D-F11A-6ED5-0EA5-19E98E5BB233}"/>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50EA0C7D-3FEF-4C96-8B9F-1773780BE6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B7914616-93C1-BF2D-A39D-0222189A572F}"/>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err="1"/>
              <a:t>amem</a:t>
            </a:r>
            <a:r>
              <a:rPr lang="en-US"/>
              <a:t>: </a:t>
            </a:r>
          </a:p>
          <a:p>
            <a:pPr marL="0" lvl="0" indent="0" algn="l" rtl="0">
              <a:spcBef>
                <a:spcPts val="0"/>
              </a:spcBef>
              <a:spcAft>
                <a:spcPts val="0"/>
              </a:spcAft>
              <a:buNone/>
            </a:pPr>
            <a:r>
              <a:rPr lang="en-US"/>
              <a:t>22 Nodes</a:t>
            </a:r>
          </a:p>
          <a:p>
            <a:pPr marL="0" lvl="0" indent="0" algn="l" rtl="0">
              <a:spcBef>
                <a:spcPts val="0"/>
              </a:spcBef>
              <a:spcAft>
                <a:spcPts val="0"/>
              </a:spcAft>
              <a:buNone/>
            </a:pPr>
            <a:r>
              <a:rPr lang="en-US"/>
              <a:t>48 CPU Cores per node (12)</a:t>
            </a:r>
          </a:p>
          <a:p>
            <a:pPr marL="0" lvl="0" indent="0" algn="l" rtl="0">
              <a:spcBef>
                <a:spcPts val="0"/>
              </a:spcBef>
              <a:spcAft>
                <a:spcPts val="0"/>
              </a:spcAft>
              <a:buNone/>
            </a:pPr>
            <a:r>
              <a:rPr lang="en-US"/>
              <a:t>64 CPU Cores per node (10)</a:t>
            </a:r>
          </a:p>
          <a:p>
            <a:pPr marL="0" lvl="0" indent="0" algn="l" rtl="0">
              <a:spcBef>
                <a:spcPts val="0"/>
              </a:spcBef>
              <a:spcAft>
                <a:spcPts val="0"/>
              </a:spcAft>
              <a:buNone/>
            </a:pPr>
            <a:r>
              <a:rPr lang="en-US"/>
              <a:t>21.5 GB of RAM per CPU (1 TB total)</a:t>
            </a:r>
          </a:p>
          <a:p>
            <a:pPr marL="0" lvl="0" indent="0" algn="l" rtl="0">
              <a:spcBef>
                <a:spcPts val="0"/>
              </a:spcBef>
              <a:spcAft>
                <a:spcPts val="0"/>
              </a:spcAft>
              <a:buNone/>
            </a:pPr>
            <a:endParaRPr lang="en-US"/>
          </a:p>
          <a:p>
            <a:pPr marL="0" lvl="0" indent="0" algn="l" rtl="0">
              <a:spcBef>
                <a:spcPts val="0"/>
              </a:spcBef>
              <a:spcAft>
                <a:spcPts val="0"/>
              </a:spcAft>
              <a:buNone/>
            </a:pPr>
            <a:endParaRPr lang="en-US"/>
          </a:p>
          <a:p>
            <a:pPr marL="0" lvl="0" indent="0" algn="l" rtl="0">
              <a:spcBef>
                <a:spcPts val="0"/>
              </a:spcBef>
              <a:spcAft>
                <a:spcPts val="0"/>
              </a:spcAft>
              <a:buNone/>
            </a:pPr>
            <a:r>
              <a:rPr lang="en-US"/>
              <a:t>Detailed Information on Alpine Hardware: </a:t>
            </a:r>
            <a:br>
              <a:rPr lang="en-US"/>
            </a:br>
            <a:r>
              <a:rPr lang="en-US"/>
              <a:t>https://</a:t>
            </a:r>
            <a:r>
              <a:rPr lang="en-US" err="1"/>
              <a:t>curc.readthedocs.io</a:t>
            </a:r>
            <a:r>
              <a:rPr lang="en-US"/>
              <a:t>/</a:t>
            </a:r>
            <a:r>
              <a:rPr lang="en-US" err="1"/>
              <a:t>en</a:t>
            </a:r>
            <a:r>
              <a:rPr lang="en-US"/>
              <a:t>/latest/clusters/alpine/alpine-</a:t>
            </a:r>
            <a:r>
              <a:rPr lang="en-US" err="1"/>
              <a:t>hardware.html</a:t>
            </a:r>
            <a:r>
              <a:rPr lang="en-US"/>
              <a:t> </a:t>
            </a:r>
          </a:p>
        </p:txBody>
      </p:sp>
      <p:sp>
        <p:nvSpPr>
          <p:cNvPr id="333" name="Google Shape;333;g12316551eda_0_238:notes">
            <a:extLst>
              <a:ext uri="{FF2B5EF4-FFF2-40B4-BE49-F238E27FC236}">
                <a16:creationId xmlns:a16="http://schemas.microsoft.com/office/drawing/2014/main" id="{29DCA4C4-C232-5907-9F06-1B58CD873E11}"/>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20</a:t>
            </a:fld>
            <a:endParaRPr/>
          </a:p>
        </p:txBody>
      </p:sp>
    </p:spTree>
    <p:extLst>
      <p:ext uri="{BB962C8B-B14F-4D97-AF65-F5344CB8AC3E}">
        <p14:creationId xmlns:p14="http://schemas.microsoft.com/office/powerpoint/2010/main" val="30234900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F8D2C90A-5B73-4508-615E-264362A90974}"/>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B16E7737-79B1-8E6E-5A38-C6999827C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F931679B-1D1E-8F7D-0C6C-336DB0BAB532}"/>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aa100</a:t>
            </a:r>
          </a:p>
          <a:p>
            <a:pPr marL="0" lvl="0" indent="0" algn="l" rtl="0">
              <a:spcBef>
                <a:spcPts val="0"/>
              </a:spcBef>
              <a:spcAft>
                <a:spcPts val="0"/>
              </a:spcAft>
              <a:buNone/>
            </a:pPr>
            <a:r>
              <a:rPr lang="en-US"/>
              <a:t>12 Nodes</a:t>
            </a:r>
          </a:p>
          <a:p>
            <a:pPr marL="0" lvl="0" indent="0" algn="l" rtl="0">
              <a:spcBef>
                <a:spcPts val="0"/>
              </a:spcBef>
              <a:spcAft>
                <a:spcPts val="0"/>
              </a:spcAft>
              <a:buNone/>
            </a:pPr>
            <a:r>
              <a:rPr lang="en-US"/>
              <a:t>64 CPU Cores per Node</a:t>
            </a:r>
          </a:p>
          <a:p>
            <a:pPr marL="0" lvl="0" indent="0" algn="l" rtl="0">
              <a:spcBef>
                <a:spcPts val="0"/>
              </a:spcBef>
              <a:spcAft>
                <a:spcPts val="0"/>
              </a:spcAft>
              <a:buNone/>
            </a:pPr>
            <a:r>
              <a:rPr lang="en-US"/>
              <a:t>3.75 GB of RAM per CPU (240 GB total)</a:t>
            </a:r>
          </a:p>
          <a:p>
            <a:pPr marL="0" lvl="0" indent="0" algn="l" rtl="0">
              <a:spcBef>
                <a:spcPts val="0"/>
              </a:spcBef>
              <a:spcAft>
                <a:spcPts val="0"/>
              </a:spcAft>
              <a:buNone/>
            </a:pPr>
            <a:r>
              <a:rPr lang="en-US"/>
              <a:t>3 GPU’s per Node (Nvidia A100)</a:t>
            </a:r>
          </a:p>
        </p:txBody>
      </p:sp>
      <p:sp>
        <p:nvSpPr>
          <p:cNvPr id="333" name="Google Shape;333;g12316551eda_0_238:notes">
            <a:extLst>
              <a:ext uri="{FF2B5EF4-FFF2-40B4-BE49-F238E27FC236}">
                <a16:creationId xmlns:a16="http://schemas.microsoft.com/office/drawing/2014/main" id="{1382B4DD-9E5B-2333-B86F-57C4B97154D5}"/>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21</a:t>
            </a:fld>
            <a:endParaRPr/>
          </a:p>
        </p:txBody>
      </p:sp>
    </p:spTree>
    <p:extLst>
      <p:ext uri="{BB962C8B-B14F-4D97-AF65-F5344CB8AC3E}">
        <p14:creationId xmlns:p14="http://schemas.microsoft.com/office/powerpoint/2010/main" val="19210581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A4AEB09C-00E5-8F93-C01E-34DCA8FC78DC}"/>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B468BC0F-AD51-A90A-E685-BFC983EF0D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9CD8BF36-4E58-DC63-9B9E-3C3A3BA1C8C7}"/>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ami100</a:t>
            </a:r>
          </a:p>
          <a:p>
            <a:pPr marL="0" lvl="0" indent="0" algn="l" rtl="0">
              <a:spcBef>
                <a:spcPts val="0"/>
              </a:spcBef>
              <a:spcAft>
                <a:spcPts val="0"/>
              </a:spcAft>
              <a:buNone/>
            </a:pPr>
            <a:r>
              <a:rPr lang="en-US" dirty="0"/>
              <a:t>8 Nodes</a:t>
            </a:r>
          </a:p>
          <a:p>
            <a:pPr marL="0" lvl="0" indent="0" algn="l" rtl="0">
              <a:spcBef>
                <a:spcPts val="0"/>
              </a:spcBef>
              <a:spcAft>
                <a:spcPts val="0"/>
              </a:spcAft>
              <a:buNone/>
            </a:pPr>
            <a:r>
              <a:rPr lang="en-US" dirty="0"/>
              <a:t>64 CPU Cores per Node</a:t>
            </a:r>
          </a:p>
          <a:p>
            <a:pPr marL="0" lvl="0" indent="0" algn="l" rtl="0">
              <a:spcBef>
                <a:spcPts val="0"/>
              </a:spcBef>
              <a:spcAft>
                <a:spcPts val="0"/>
              </a:spcAft>
              <a:buNone/>
            </a:pPr>
            <a:r>
              <a:rPr lang="en-US" dirty="0"/>
              <a:t>3.75 GB of RAM per CPU (240 GB total)</a:t>
            </a:r>
          </a:p>
          <a:p>
            <a:pPr marL="0" lvl="0" indent="0" algn="l" rtl="0">
              <a:spcBef>
                <a:spcPts val="0"/>
              </a:spcBef>
              <a:spcAft>
                <a:spcPts val="0"/>
              </a:spcAft>
              <a:buNone/>
            </a:pPr>
            <a:r>
              <a:rPr lang="en-US" dirty="0"/>
              <a:t>3 GPU’s per Node (AMD MI100)</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Detailed Information on Alpine Hardware: </a:t>
            </a:r>
            <a:br>
              <a:rPr lang="en-US" dirty="0"/>
            </a:br>
            <a:r>
              <a:rPr lang="en-US" dirty="0"/>
              <a:t>https://</a:t>
            </a:r>
            <a:r>
              <a:rPr lang="en-US" dirty="0" err="1"/>
              <a:t>curc.readthedocs.io</a:t>
            </a:r>
            <a:r>
              <a:rPr lang="en-US" dirty="0"/>
              <a:t>/</a:t>
            </a:r>
            <a:r>
              <a:rPr lang="en-US" dirty="0" err="1"/>
              <a:t>en</a:t>
            </a:r>
            <a:r>
              <a:rPr lang="en-US" dirty="0"/>
              <a:t>/latest/clusters/alpine/alpine-</a:t>
            </a:r>
            <a:r>
              <a:rPr lang="en-US" dirty="0" err="1"/>
              <a:t>hardware.html</a:t>
            </a:r>
            <a:r>
              <a:rPr lang="en-US" dirty="0"/>
              <a:t> </a:t>
            </a:r>
          </a:p>
          <a:p>
            <a:pPr marL="0" lvl="0" indent="0" algn="l" rtl="0">
              <a:spcBef>
                <a:spcPts val="0"/>
              </a:spcBef>
              <a:spcAft>
                <a:spcPts val="0"/>
              </a:spcAft>
              <a:buNone/>
            </a:pPr>
            <a:endParaRPr dirty="0"/>
          </a:p>
        </p:txBody>
      </p:sp>
      <p:sp>
        <p:nvSpPr>
          <p:cNvPr id="333" name="Google Shape;333;g12316551eda_0_238:notes">
            <a:extLst>
              <a:ext uri="{FF2B5EF4-FFF2-40B4-BE49-F238E27FC236}">
                <a16:creationId xmlns:a16="http://schemas.microsoft.com/office/drawing/2014/main" id="{2FE227A3-0A7E-F0BB-133C-485346F2602B}"/>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22</a:t>
            </a:fld>
            <a:endParaRPr/>
          </a:p>
        </p:txBody>
      </p:sp>
    </p:spTree>
    <p:extLst>
      <p:ext uri="{BB962C8B-B14F-4D97-AF65-F5344CB8AC3E}">
        <p14:creationId xmlns:p14="http://schemas.microsoft.com/office/powerpoint/2010/main" val="25013782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1E7D0-0725-6665-14DF-9F7A4523EB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9A6DA9-F009-EEE8-8B1A-8E90DAF76E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B0F619-60A5-1FB2-D41A-47126FD18733}"/>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C1FA2D7E-DA2B-ACA6-AA95-DE7BC011E5C7}"/>
              </a:ext>
            </a:extLst>
          </p:cNvPr>
          <p:cNvSpPr>
            <a:spLocks noGrp="1"/>
          </p:cNvSpPr>
          <p:nvPr>
            <p:ph type="sldNum" sz="quarter" idx="5"/>
          </p:nvPr>
        </p:nvSpPr>
        <p:spPr/>
        <p:txBody>
          <a:bodyPr/>
          <a:lstStyle/>
          <a:p>
            <a:fld id="{A926901F-C6C3-9E47-9843-744856EDDD7A}" type="slidenum">
              <a:rPr lang="en-US" smtClean="0"/>
              <a:t>24</a:t>
            </a:fld>
            <a:endParaRPr lang="en-US"/>
          </a:p>
        </p:txBody>
      </p:sp>
    </p:spTree>
    <p:extLst>
      <p:ext uri="{BB962C8B-B14F-4D97-AF65-F5344CB8AC3E}">
        <p14:creationId xmlns:p14="http://schemas.microsoft.com/office/powerpoint/2010/main" val="21508430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E4EE8-4115-31E5-E074-686B33B35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E0B9E0-D839-FB4D-8618-E78AC3403B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B1B69A-8AEC-89FC-D798-9187901423D5}"/>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E68314E7-743C-51B4-E19A-D73FC11DA433}"/>
              </a:ext>
            </a:extLst>
          </p:cNvPr>
          <p:cNvSpPr>
            <a:spLocks noGrp="1"/>
          </p:cNvSpPr>
          <p:nvPr>
            <p:ph type="sldNum" sz="quarter" idx="5"/>
          </p:nvPr>
        </p:nvSpPr>
        <p:spPr/>
        <p:txBody>
          <a:bodyPr/>
          <a:lstStyle/>
          <a:p>
            <a:fld id="{A926901F-C6C3-9E47-9843-744856EDDD7A}" type="slidenum">
              <a:rPr lang="en-US" smtClean="0"/>
              <a:t>25</a:t>
            </a:fld>
            <a:endParaRPr lang="en-US"/>
          </a:p>
        </p:txBody>
      </p:sp>
    </p:spTree>
    <p:extLst>
      <p:ext uri="{BB962C8B-B14F-4D97-AF65-F5344CB8AC3E}">
        <p14:creationId xmlns:p14="http://schemas.microsoft.com/office/powerpoint/2010/main" val="7202888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86FBDD-18EF-3EDE-7CA2-4E60F4533B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E75BAB-96D6-30D0-B2AF-AAF74B1A9D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36AB2A-C9F5-E41C-C786-266D4AC3E8E2}"/>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33172852-BB9D-24B5-015C-014BB57B6FFF}"/>
              </a:ext>
            </a:extLst>
          </p:cNvPr>
          <p:cNvSpPr>
            <a:spLocks noGrp="1"/>
          </p:cNvSpPr>
          <p:nvPr>
            <p:ph type="sldNum" sz="quarter" idx="5"/>
          </p:nvPr>
        </p:nvSpPr>
        <p:spPr/>
        <p:txBody>
          <a:bodyPr/>
          <a:lstStyle/>
          <a:p>
            <a:fld id="{A926901F-C6C3-9E47-9843-744856EDDD7A}" type="slidenum">
              <a:rPr lang="en-US" smtClean="0"/>
              <a:t>26</a:t>
            </a:fld>
            <a:endParaRPr lang="en-US"/>
          </a:p>
        </p:txBody>
      </p:sp>
    </p:spTree>
    <p:extLst>
      <p:ext uri="{BB962C8B-B14F-4D97-AF65-F5344CB8AC3E}">
        <p14:creationId xmlns:p14="http://schemas.microsoft.com/office/powerpoint/2010/main" val="7487289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3A9B1-007B-13AA-060E-AA5FF107D6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4C4436-5598-A78E-DBEB-EFACD36C65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03121B-DED7-2B48-F877-68E205E9C80A}"/>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CEEED0AE-EC8C-3A14-F8F9-ACEA4E4F827B}"/>
              </a:ext>
            </a:extLst>
          </p:cNvPr>
          <p:cNvSpPr>
            <a:spLocks noGrp="1"/>
          </p:cNvSpPr>
          <p:nvPr>
            <p:ph type="sldNum" sz="quarter" idx="5"/>
          </p:nvPr>
        </p:nvSpPr>
        <p:spPr/>
        <p:txBody>
          <a:bodyPr/>
          <a:lstStyle/>
          <a:p>
            <a:fld id="{A926901F-C6C3-9E47-9843-744856EDDD7A}" type="slidenum">
              <a:rPr lang="en-US" smtClean="0"/>
              <a:t>27</a:t>
            </a:fld>
            <a:endParaRPr lang="en-US"/>
          </a:p>
        </p:txBody>
      </p:sp>
    </p:spTree>
    <p:extLst>
      <p:ext uri="{BB962C8B-B14F-4D97-AF65-F5344CB8AC3E}">
        <p14:creationId xmlns:p14="http://schemas.microsoft.com/office/powerpoint/2010/main" val="9900287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005FB-CD5C-B888-5C42-8156A48CED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8101B-C364-6F8A-493A-EC79C4FED9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621EBE-1CD5-6ED5-585B-8FB8DB4B4E8F}"/>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02A57A80-1433-B794-AC7E-BA979ABA3F08}"/>
              </a:ext>
            </a:extLst>
          </p:cNvPr>
          <p:cNvSpPr>
            <a:spLocks noGrp="1"/>
          </p:cNvSpPr>
          <p:nvPr>
            <p:ph type="sldNum" sz="quarter" idx="5"/>
          </p:nvPr>
        </p:nvSpPr>
        <p:spPr/>
        <p:txBody>
          <a:bodyPr/>
          <a:lstStyle/>
          <a:p>
            <a:fld id="{A926901F-C6C3-9E47-9843-744856EDDD7A}" type="slidenum">
              <a:rPr lang="en-US" smtClean="0"/>
              <a:t>28</a:t>
            </a:fld>
            <a:endParaRPr lang="en-US"/>
          </a:p>
        </p:txBody>
      </p:sp>
    </p:spTree>
    <p:extLst>
      <p:ext uri="{BB962C8B-B14F-4D97-AF65-F5344CB8AC3E}">
        <p14:creationId xmlns:p14="http://schemas.microsoft.com/office/powerpoint/2010/main" val="16950202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A9927-4C90-402D-D4FA-DE392C2F0F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AB8E0F-1BDF-86CA-BB2E-8BD8CF3270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A6C142-3031-06D7-4B05-60A3CA8F78EF}"/>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8FD17CEF-F18E-56BE-6FAC-7438DF3001F5}"/>
              </a:ext>
            </a:extLst>
          </p:cNvPr>
          <p:cNvSpPr>
            <a:spLocks noGrp="1"/>
          </p:cNvSpPr>
          <p:nvPr>
            <p:ph type="sldNum" sz="quarter" idx="5"/>
          </p:nvPr>
        </p:nvSpPr>
        <p:spPr/>
        <p:txBody>
          <a:bodyPr/>
          <a:lstStyle/>
          <a:p>
            <a:fld id="{A926901F-C6C3-9E47-9843-744856EDDD7A}" type="slidenum">
              <a:rPr lang="en-US" smtClean="0"/>
              <a:t>29</a:t>
            </a:fld>
            <a:endParaRPr lang="en-US"/>
          </a:p>
        </p:txBody>
      </p:sp>
    </p:spTree>
    <p:extLst>
      <p:ext uri="{BB962C8B-B14F-4D97-AF65-F5344CB8AC3E}">
        <p14:creationId xmlns:p14="http://schemas.microsoft.com/office/powerpoint/2010/main" val="19315389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DBD51-25E1-0F1C-054E-F778B831E1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096864-F886-9DBF-E4EF-491A4BF356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0C0CBE-D626-6BBF-8401-EC37756772F2}"/>
              </a:ext>
            </a:extLst>
          </p:cNvPr>
          <p:cNvSpPr>
            <a:spLocks noGrp="1"/>
          </p:cNvSpPr>
          <p:nvPr>
            <p:ph type="body" idx="1"/>
          </p:nvPr>
        </p:nvSpPr>
        <p:spPr/>
        <p:txBody>
          <a:bodyPr/>
          <a:lstStyle/>
          <a:p>
            <a:pPr marL="0" indent="0">
              <a:buNone/>
            </a:pPr>
            <a:endParaRPr lang="en-US" dirty="0"/>
          </a:p>
          <a:p>
            <a:pPr marL="0" indent="0">
              <a:buNone/>
            </a:pPr>
            <a:r>
              <a:rPr lang="en-US" dirty="0"/>
              <a:t>3. Jobs do not run immediately but instead wait in a SLURM managed queue.  A job’s placement in the queue is dependent on multiple factors. We will discuss a few of the most common factors, but a general rule to follow is that the more resources a job requests the longer it will wait in the queue.</a:t>
            </a:r>
          </a:p>
        </p:txBody>
      </p:sp>
      <p:sp>
        <p:nvSpPr>
          <p:cNvPr id="4" name="Slide Number Placeholder 3">
            <a:extLst>
              <a:ext uri="{FF2B5EF4-FFF2-40B4-BE49-F238E27FC236}">
                <a16:creationId xmlns:a16="http://schemas.microsoft.com/office/drawing/2014/main" id="{676023E9-13F8-BD48-4E77-8E2FCB1E3E93}"/>
              </a:ext>
            </a:extLst>
          </p:cNvPr>
          <p:cNvSpPr>
            <a:spLocks noGrp="1"/>
          </p:cNvSpPr>
          <p:nvPr>
            <p:ph type="sldNum" sz="quarter" idx="5"/>
          </p:nvPr>
        </p:nvSpPr>
        <p:spPr/>
        <p:txBody>
          <a:bodyPr/>
          <a:lstStyle/>
          <a:p>
            <a:fld id="{A926901F-C6C3-9E47-9843-744856EDDD7A}" type="slidenum">
              <a:rPr lang="en-US" smtClean="0"/>
              <a:t>30</a:t>
            </a:fld>
            <a:endParaRPr lang="en-US"/>
          </a:p>
        </p:txBody>
      </p:sp>
    </p:spTree>
    <p:extLst>
      <p:ext uri="{BB962C8B-B14F-4D97-AF65-F5344CB8AC3E}">
        <p14:creationId xmlns:p14="http://schemas.microsoft.com/office/powerpoint/2010/main" val="39876197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F51B7-29B3-0112-5E32-83A871CFE0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1962EB-B378-2736-9CAE-339AD94199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76D1BE-9966-E586-1474-A9DFBA683F3D}"/>
              </a:ext>
            </a:extLst>
          </p:cNvPr>
          <p:cNvSpPr>
            <a:spLocks noGrp="1"/>
          </p:cNvSpPr>
          <p:nvPr>
            <p:ph type="body" idx="1"/>
          </p:nvPr>
        </p:nvSpPr>
        <p:spPr/>
        <p:txBody>
          <a:bodyPr/>
          <a:lstStyle/>
          <a:p>
            <a:r>
              <a:rPr lang="en-US" dirty="0"/>
              <a:t>Now that you have a general idea of what resources you plan to request, you will need to consider the type of job you are wanting to schedule. A batch job or an interactive job. </a:t>
            </a:r>
          </a:p>
        </p:txBody>
      </p:sp>
      <p:sp>
        <p:nvSpPr>
          <p:cNvPr id="4" name="Slide Number Placeholder 3">
            <a:extLst>
              <a:ext uri="{FF2B5EF4-FFF2-40B4-BE49-F238E27FC236}">
                <a16:creationId xmlns:a16="http://schemas.microsoft.com/office/drawing/2014/main" id="{54382BE5-474D-4859-22C8-B864105EB2D7}"/>
              </a:ext>
            </a:extLst>
          </p:cNvPr>
          <p:cNvSpPr>
            <a:spLocks noGrp="1"/>
          </p:cNvSpPr>
          <p:nvPr>
            <p:ph type="sldNum" sz="quarter" idx="5"/>
          </p:nvPr>
        </p:nvSpPr>
        <p:spPr/>
        <p:txBody>
          <a:bodyPr/>
          <a:lstStyle/>
          <a:p>
            <a:fld id="{A926901F-C6C3-9E47-9843-744856EDDD7A}" type="slidenum">
              <a:rPr lang="en-US" smtClean="0"/>
              <a:t>31</a:t>
            </a:fld>
            <a:endParaRPr lang="en-US"/>
          </a:p>
        </p:txBody>
      </p:sp>
    </p:spTree>
    <p:extLst>
      <p:ext uri="{BB962C8B-B14F-4D97-AF65-F5344CB8AC3E}">
        <p14:creationId xmlns:p14="http://schemas.microsoft.com/office/powerpoint/2010/main" val="18514866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BFC44-A34E-28D1-FE49-D832B52E96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97BE60-168F-5349-1DDD-710230AAB8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FF71DE-BF13-6457-4DAF-DEFF595D8440}"/>
              </a:ext>
            </a:extLst>
          </p:cNvPr>
          <p:cNvSpPr>
            <a:spLocks noGrp="1"/>
          </p:cNvSpPr>
          <p:nvPr>
            <p:ph type="body" idx="1"/>
          </p:nvPr>
        </p:nvSpPr>
        <p:spPr/>
        <p:txBody>
          <a:bodyPr/>
          <a:lstStyle/>
          <a:p>
            <a:r>
              <a:rPr lang="en-US" dirty="0"/>
              <a:t>Now that you have a general idea of what resources you plan to request, you will need to consider the type of job you are wanting to schedule. A batch job or an interactive job. </a:t>
            </a:r>
          </a:p>
        </p:txBody>
      </p:sp>
      <p:sp>
        <p:nvSpPr>
          <p:cNvPr id="4" name="Slide Number Placeholder 3">
            <a:extLst>
              <a:ext uri="{FF2B5EF4-FFF2-40B4-BE49-F238E27FC236}">
                <a16:creationId xmlns:a16="http://schemas.microsoft.com/office/drawing/2014/main" id="{27D83CEA-8AF0-2722-6646-76C90C8C31D9}"/>
              </a:ext>
            </a:extLst>
          </p:cNvPr>
          <p:cNvSpPr>
            <a:spLocks noGrp="1"/>
          </p:cNvSpPr>
          <p:nvPr>
            <p:ph type="sldNum" sz="quarter" idx="5"/>
          </p:nvPr>
        </p:nvSpPr>
        <p:spPr/>
        <p:txBody>
          <a:bodyPr/>
          <a:lstStyle/>
          <a:p>
            <a:fld id="{A926901F-C6C3-9E47-9843-744856EDDD7A}" type="slidenum">
              <a:rPr lang="en-US" smtClean="0"/>
              <a:t>32</a:t>
            </a:fld>
            <a:endParaRPr lang="en-US"/>
          </a:p>
        </p:txBody>
      </p:sp>
    </p:spTree>
    <p:extLst>
      <p:ext uri="{BB962C8B-B14F-4D97-AF65-F5344CB8AC3E}">
        <p14:creationId xmlns:p14="http://schemas.microsoft.com/office/powerpoint/2010/main" val="20184600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3DF2B-675D-239C-E650-982B125596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C37A37-8653-7393-1295-E5E418AEEB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665B49-4672-A46E-CE55-24825C0ADD7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8623C39-22FC-A8E6-3C5D-583D8A3BE9C2}"/>
              </a:ext>
            </a:extLst>
          </p:cNvPr>
          <p:cNvSpPr>
            <a:spLocks noGrp="1"/>
          </p:cNvSpPr>
          <p:nvPr>
            <p:ph type="sldNum" sz="quarter" idx="5"/>
          </p:nvPr>
        </p:nvSpPr>
        <p:spPr/>
        <p:txBody>
          <a:bodyPr/>
          <a:lstStyle/>
          <a:p>
            <a:fld id="{A926901F-C6C3-9E47-9843-744856EDDD7A}" type="slidenum">
              <a:rPr lang="en-US" smtClean="0"/>
              <a:t>33</a:t>
            </a:fld>
            <a:endParaRPr lang="en-US"/>
          </a:p>
        </p:txBody>
      </p:sp>
    </p:spTree>
    <p:extLst>
      <p:ext uri="{BB962C8B-B14F-4D97-AF65-F5344CB8AC3E}">
        <p14:creationId xmlns:p14="http://schemas.microsoft.com/office/powerpoint/2010/main" val="416100952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17E46-49BC-FBAD-7E02-8504716A06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AD6A41-4937-8E88-ABEC-A39E9A59F0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2733E8-1DA8-857B-4671-7714847F20C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36C58A9-C264-4351-474A-E99697DBF9E1}"/>
              </a:ext>
            </a:extLst>
          </p:cNvPr>
          <p:cNvSpPr>
            <a:spLocks noGrp="1"/>
          </p:cNvSpPr>
          <p:nvPr>
            <p:ph type="sldNum" sz="quarter" idx="5"/>
          </p:nvPr>
        </p:nvSpPr>
        <p:spPr/>
        <p:txBody>
          <a:bodyPr/>
          <a:lstStyle/>
          <a:p>
            <a:fld id="{A926901F-C6C3-9E47-9843-744856EDDD7A}" type="slidenum">
              <a:rPr lang="en-US" smtClean="0"/>
              <a:t>34</a:t>
            </a:fld>
            <a:endParaRPr lang="en-US"/>
          </a:p>
        </p:txBody>
      </p:sp>
    </p:spTree>
    <p:extLst>
      <p:ext uri="{BB962C8B-B14F-4D97-AF65-F5344CB8AC3E}">
        <p14:creationId xmlns:p14="http://schemas.microsoft.com/office/powerpoint/2010/main" val="405115496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7F6531-9052-44FE-6875-825A68F606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EDE30D-05CD-D15D-375E-A830D1B31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59F8E3-592D-C6C8-6811-56A33187792F}"/>
              </a:ext>
            </a:extLst>
          </p:cNvPr>
          <p:cNvSpPr>
            <a:spLocks noGrp="1"/>
          </p:cNvSpPr>
          <p:nvPr>
            <p:ph type="body" idx="1"/>
          </p:nvPr>
        </p:nvSpPr>
        <p:spPr/>
        <p:txBody>
          <a:bodyPr/>
          <a:lstStyle/>
          <a:p>
            <a:r>
              <a:rPr lang="en-US" dirty="0"/>
              <a:t>Now that you have a general idea of what resources you plan to request, you will need to consider the type of job you are wanting to schedule. A batch job or an interactive job. </a:t>
            </a:r>
          </a:p>
        </p:txBody>
      </p:sp>
      <p:sp>
        <p:nvSpPr>
          <p:cNvPr id="4" name="Slide Number Placeholder 3">
            <a:extLst>
              <a:ext uri="{FF2B5EF4-FFF2-40B4-BE49-F238E27FC236}">
                <a16:creationId xmlns:a16="http://schemas.microsoft.com/office/drawing/2014/main" id="{0AF459B2-5D56-15DF-545F-CA7BCAAB7AB2}"/>
              </a:ext>
            </a:extLst>
          </p:cNvPr>
          <p:cNvSpPr>
            <a:spLocks noGrp="1"/>
          </p:cNvSpPr>
          <p:nvPr>
            <p:ph type="sldNum" sz="quarter" idx="5"/>
          </p:nvPr>
        </p:nvSpPr>
        <p:spPr/>
        <p:txBody>
          <a:bodyPr/>
          <a:lstStyle/>
          <a:p>
            <a:fld id="{A926901F-C6C3-9E47-9843-744856EDDD7A}" type="slidenum">
              <a:rPr lang="en-US" smtClean="0"/>
              <a:t>35</a:t>
            </a:fld>
            <a:endParaRPr lang="en-US"/>
          </a:p>
        </p:txBody>
      </p:sp>
    </p:spTree>
    <p:extLst>
      <p:ext uri="{BB962C8B-B14F-4D97-AF65-F5344CB8AC3E}">
        <p14:creationId xmlns:p14="http://schemas.microsoft.com/office/powerpoint/2010/main" val="252369116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9C57E-C2FA-62A3-CFAD-FA9A3D029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23225B-783E-ABB6-174D-F820456C95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AECF32-6210-6AF5-6EAC-583EC3A90FE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0E3EA2F-18CA-AC4E-DD26-703E892032DE}"/>
              </a:ext>
            </a:extLst>
          </p:cNvPr>
          <p:cNvSpPr>
            <a:spLocks noGrp="1"/>
          </p:cNvSpPr>
          <p:nvPr>
            <p:ph type="sldNum" sz="quarter" idx="5"/>
          </p:nvPr>
        </p:nvSpPr>
        <p:spPr/>
        <p:txBody>
          <a:bodyPr/>
          <a:lstStyle/>
          <a:p>
            <a:fld id="{A926901F-C6C3-9E47-9843-744856EDDD7A}" type="slidenum">
              <a:rPr lang="en-US" smtClean="0"/>
              <a:t>36</a:t>
            </a:fld>
            <a:endParaRPr lang="en-US"/>
          </a:p>
        </p:txBody>
      </p:sp>
    </p:spTree>
    <p:extLst>
      <p:ext uri="{BB962C8B-B14F-4D97-AF65-F5344CB8AC3E}">
        <p14:creationId xmlns:p14="http://schemas.microsoft.com/office/powerpoint/2010/main" val="21740348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EC96C-9B1E-B70B-1010-EEC80ACB82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7BB30A-3C4C-7C9D-E79E-D5C1E4E0F7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F1A3A5-2CF4-0DDD-65D7-E4FE30C0E0A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BF89BE1-C032-9DB3-F537-A25A39FEDB33}"/>
              </a:ext>
            </a:extLst>
          </p:cNvPr>
          <p:cNvSpPr>
            <a:spLocks noGrp="1"/>
          </p:cNvSpPr>
          <p:nvPr>
            <p:ph type="sldNum" sz="quarter" idx="5"/>
          </p:nvPr>
        </p:nvSpPr>
        <p:spPr/>
        <p:txBody>
          <a:bodyPr/>
          <a:lstStyle/>
          <a:p>
            <a:fld id="{A926901F-C6C3-9E47-9843-744856EDDD7A}" type="slidenum">
              <a:rPr lang="en-US" smtClean="0"/>
              <a:t>37</a:t>
            </a:fld>
            <a:endParaRPr lang="en-US"/>
          </a:p>
        </p:txBody>
      </p:sp>
    </p:spTree>
    <p:extLst>
      <p:ext uri="{BB962C8B-B14F-4D97-AF65-F5344CB8AC3E}">
        <p14:creationId xmlns:p14="http://schemas.microsoft.com/office/powerpoint/2010/main" val="33170005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38</a:t>
            </a:fld>
            <a:endParaRPr lang="en-US"/>
          </a:p>
        </p:txBody>
      </p:sp>
    </p:spTree>
    <p:extLst>
      <p:ext uri="{BB962C8B-B14F-4D97-AF65-F5344CB8AC3E}">
        <p14:creationId xmlns:p14="http://schemas.microsoft.com/office/powerpoint/2010/main" val="29945232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39</a:t>
            </a:fld>
            <a:endParaRPr lang="en-US"/>
          </a:p>
        </p:txBody>
      </p:sp>
    </p:spTree>
    <p:extLst>
      <p:ext uri="{BB962C8B-B14F-4D97-AF65-F5344CB8AC3E}">
        <p14:creationId xmlns:p14="http://schemas.microsoft.com/office/powerpoint/2010/main" val="39267308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40</a:t>
            </a:fld>
            <a:endParaRPr lang="en-US"/>
          </a:p>
        </p:txBody>
      </p:sp>
    </p:spTree>
    <p:extLst>
      <p:ext uri="{BB962C8B-B14F-4D97-AF65-F5344CB8AC3E}">
        <p14:creationId xmlns:p14="http://schemas.microsoft.com/office/powerpoint/2010/main" val="392322167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41</a:t>
            </a:fld>
            <a:endParaRPr lang="en-US"/>
          </a:p>
        </p:txBody>
      </p:sp>
    </p:spTree>
    <p:extLst>
      <p:ext uri="{BB962C8B-B14F-4D97-AF65-F5344CB8AC3E}">
        <p14:creationId xmlns:p14="http://schemas.microsoft.com/office/powerpoint/2010/main" val="42738522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F0D89-6906-7AE4-7E91-B3575E8E63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85DE2-BF0B-B41C-543E-B97A115273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BD6A8D-EDE2-023B-A521-F8A5342AF02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B2151F9-BACF-5D57-CA63-DBF49896D5DC}"/>
              </a:ext>
            </a:extLst>
          </p:cNvPr>
          <p:cNvSpPr>
            <a:spLocks noGrp="1"/>
          </p:cNvSpPr>
          <p:nvPr>
            <p:ph type="sldNum" sz="quarter" idx="5"/>
          </p:nvPr>
        </p:nvSpPr>
        <p:spPr/>
        <p:txBody>
          <a:bodyPr/>
          <a:lstStyle/>
          <a:p>
            <a:fld id="{A926901F-C6C3-9E47-9843-744856EDDD7A}" type="slidenum">
              <a:rPr lang="en-US" smtClean="0"/>
              <a:t>42</a:t>
            </a:fld>
            <a:endParaRPr lang="en-US"/>
          </a:p>
        </p:txBody>
      </p:sp>
    </p:spTree>
    <p:extLst>
      <p:ext uri="{BB962C8B-B14F-4D97-AF65-F5344CB8AC3E}">
        <p14:creationId xmlns:p14="http://schemas.microsoft.com/office/powerpoint/2010/main" val="20884443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9885" marR="0" lvl="1" indent="0" algn="l" rtl="0">
              <a:lnSpc>
                <a:spcPct val="90000"/>
              </a:lnSpc>
              <a:spcBef>
                <a:spcPts val="500"/>
              </a:spcBef>
              <a:spcAft>
                <a:spcPts val="0"/>
              </a:spcAft>
              <a:buClr>
                <a:schemeClr val="dk1"/>
              </a:buClr>
              <a:buSzPts val="2300"/>
              <a:buNone/>
            </a:pPr>
            <a:r>
              <a:rPr lang="en-US" sz="1200" i="0" u="none" strike="noStrike" cap="none" dirty="0">
                <a:solidFill>
                  <a:schemeClr val="dk1"/>
                </a:solidFill>
              </a:rPr>
              <a:t>Output files are important for debugging and verifying a job has completed successfully. Always include a --output directive!</a:t>
            </a:r>
          </a:p>
          <a:p>
            <a:pPr marL="349885" marR="0" lvl="1" indent="0" algn="l" rtl="0">
              <a:lnSpc>
                <a:spcPct val="90000"/>
              </a:lnSpc>
              <a:spcBef>
                <a:spcPts val="500"/>
              </a:spcBef>
              <a:spcAft>
                <a:spcPts val="0"/>
              </a:spcAft>
              <a:buClr>
                <a:schemeClr val="dk1"/>
              </a:buClr>
              <a:buSzPts val="2300"/>
              <a:buNone/>
            </a:pPr>
            <a:r>
              <a:rPr lang="en-US" sz="1200" i="0" u="none" strike="noStrike" cap="none" dirty="0">
                <a:solidFill>
                  <a:schemeClr val="dk1"/>
                </a:solidFill>
              </a:rPr>
              <a:t>The output file is created in directory job was run unless specified in your </a:t>
            </a:r>
            <a:r>
              <a:rPr lang="en-US" sz="1200" i="0" u="none" strike="noStrike" cap="none" dirty="0">
                <a:solidFill>
                  <a:srgbClr val="0070C0"/>
                </a:solidFill>
              </a:rPr>
              <a:t>--output </a:t>
            </a:r>
            <a:r>
              <a:rPr lang="en-US" sz="1200" i="0" u="none" strike="noStrike" cap="none" dirty="0">
                <a:solidFill>
                  <a:schemeClr val="dk1"/>
                </a:solidFill>
              </a:rPr>
              <a:t>directive.</a:t>
            </a:r>
            <a:endParaRPr lang="en-US" sz="900" i="0" u="none" strike="noStrike" cap="none" dirty="0">
              <a:solidFill>
                <a:schemeClr val="tx1"/>
              </a:solidFill>
            </a:endParaRPr>
          </a:p>
          <a:p>
            <a:pPr marL="349885" marR="0" lvl="1" indent="0" algn="l" rtl="0">
              <a:lnSpc>
                <a:spcPct val="90000"/>
              </a:lnSpc>
              <a:spcBef>
                <a:spcPts val="500"/>
              </a:spcBef>
              <a:spcAft>
                <a:spcPts val="0"/>
              </a:spcAft>
              <a:buClr>
                <a:schemeClr val="dk1"/>
              </a:buClr>
              <a:buSzPts val="2300"/>
              <a:buNone/>
            </a:pPr>
            <a:r>
              <a:rPr lang="en-US" sz="1200" i="0" u="none" strike="noStrike" cap="none" dirty="0">
                <a:solidFill>
                  <a:schemeClr val="dk1"/>
                </a:solidFill>
              </a:rPr>
              <a:t>If the </a:t>
            </a:r>
            <a:r>
              <a:rPr lang="en-US" sz="1200" i="0" u="none" strike="noStrike" cap="none" dirty="0">
                <a:solidFill>
                  <a:srgbClr val="000000"/>
                </a:solidFill>
              </a:rPr>
              <a:t>directive </a:t>
            </a:r>
            <a:r>
              <a:rPr lang="en-US" sz="1200" i="0" u="none" strike="noStrike" cap="none" dirty="0">
                <a:solidFill>
                  <a:srgbClr val="0070C0"/>
                </a:solidFill>
              </a:rPr>
              <a:t>--output </a:t>
            </a:r>
            <a:r>
              <a:rPr lang="en-US" sz="1200" i="0" u="none" strike="noStrike" cap="none" dirty="0">
                <a:solidFill>
                  <a:schemeClr val="dk1"/>
                </a:solidFill>
              </a:rPr>
              <a:t>is not provided, then a generic file name will be used (</a:t>
            </a:r>
            <a:r>
              <a:rPr lang="en-US" sz="1200" i="0" u="none" strike="noStrike" cap="none" dirty="0" err="1">
                <a:solidFill>
                  <a:schemeClr val="dk1"/>
                </a:solidFill>
              </a:rPr>
              <a:t>slurm_xxxxxx.out</a:t>
            </a:r>
            <a:r>
              <a:rPr lang="en-US" sz="1200" i="0" u="none" strike="noStrike" cap="none" dirty="0">
                <a:solidFill>
                  <a:schemeClr val="dk1"/>
                </a:solidFill>
              </a:rPr>
              <a:t>).</a:t>
            </a:r>
          </a:p>
          <a:p>
            <a:endParaRPr lang="en-US" dirty="0"/>
          </a:p>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44</a:t>
            </a:fld>
            <a:endParaRPr lang="en-US"/>
          </a:p>
        </p:txBody>
      </p:sp>
    </p:spTree>
    <p:extLst>
      <p:ext uri="{BB962C8B-B14F-4D97-AF65-F5344CB8AC3E}">
        <p14:creationId xmlns:p14="http://schemas.microsoft.com/office/powerpoint/2010/main" val="151726919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45</a:t>
            </a:fld>
            <a:endParaRPr lang="en-US"/>
          </a:p>
        </p:txBody>
      </p:sp>
    </p:spTree>
    <p:extLst>
      <p:ext uri="{BB962C8B-B14F-4D97-AF65-F5344CB8AC3E}">
        <p14:creationId xmlns:p14="http://schemas.microsoft.com/office/powerpoint/2010/main" val="45960900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46</a:t>
            </a:fld>
            <a:endParaRPr lang="en-US"/>
          </a:p>
        </p:txBody>
      </p:sp>
    </p:spTree>
    <p:extLst>
      <p:ext uri="{BB962C8B-B14F-4D97-AF65-F5344CB8AC3E}">
        <p14:creationId xmlns:p14="http://schemas.microsoft.com/office/powerpoint/2010/main" val="18475120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47</a:t>
            </a:fld>
            <a:endParaRPr lang="en-US"/>
          </a:p>
        </p:txBody>
      </p:sp>
    </p:spTree>
    <p:extLst>
      <p:ext uri="{BB962C8B-B14F-4D97-AF65-F5344CB8AC3E}">
        <p14:creationId xmlns:p14="http://schemas.microsoft.com/office/powerpoint/2010/main" val="35094414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48</a:t>
            </a:fld>
            <a:endParaRPr lang="en-US"/>
          </a:p>
        </p:txBody>
      </p:sp>
    </p:spTree>
    <p:extLst>
      <p:ext uri="{BB962C8B-B14F-4D97-AF65-F5344CB8AC3E}">
        <p14:creationId xmlns:p14="http://schemas.microsoft.com/office/powerpoint/2010/main" val="51389847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3"/>
        <p:cNvGrpSpPr/>
        <p:nvPr/>
      </p:nvGrpSpPr>
      <p:grpSpPr>
        <a:xfrm>
          <a:off x="0" y="0"/>
          <a:ext cx="0" cy="0"/>
          <a:chOff x="0" y="0"/>
          <a:chExt cx="0" cy="0"/>
        </a:xfrm>
      </p:grpSpPr>
      <p:sp>
        <p:nvSpPr>
          <p:cNvPr id="894" name="Google Shape;894;g12316551eda_0_86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895" name="Google Shape;895;g12316551eda_0_86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96" name="Google Shape;896;g12316551eda_0_86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49</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p:cNvGrpSpPr/>
        <p:nvPr/>
      </p:nvGrpSpPr>
      <p:grpSpPr>
        <a:xfrm>
          <a:off x="0" y="0"/>
          <a:ext cx="0" cy="0"/>
          <a:chOff x="0" y="0"/>
          <a:chExt cx="0" cy="0"/>
        </a:xfrm>
      </p:grpSpPr>
      <p:sp>
        <p:nvSpPr>
          <p:cNvPr id="909" name="Google Shape;909;g12316551eda_0_87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910" name="Google Shape;910;g12316551eda_0_87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11" name="Google Shape;911;g12316551eda_0_87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50</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22933-1853-3695-5698-EA2C873D55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8339900-6690-4850-B14D-CFF0A6DDBA4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403EF43-FA77-3703-DB72-C6218B0476B5}"/>
              </a:ext>
            </a:extLst>
          </p:cNvPr>
          <p:cNvSpPr>
            <a:spLocks noGrp="1"/>
          </p:cNvSpPr>
          <p:nvPr>
            <p:ph type="dt" sz="half" idx="10"/>
          </p:nvPr>
        </p:nvSpPr>
        <p:spPr>
          <a:xfrm>
            <a:off x="4724400" y="6356350"/>
            <a:ext cx="2743200" cy="365125"/>
          </a:xfrm>
          <a:prstGeom prst="rect">
            <a:avLst/>
          </a:prstGeom>
        </p:spPr>
        <p:txBody>
          <a:bodyPr/>
          <a:lstStyle/>
          <a:p>
            <a:pPr algn="ctr"/>
            <a:r>
              <a:rPr lang="en-US"/>
              <a:t>9/12/25</a:t>
            </a:r>
          </a:p>
        </p:txBody>
      </p:sp>
      <p:sp>
        <p:nvSpPr>
          <p:cNvPr id="6" name="Slide Number Placeholder 5">
            <a:extLst>
              <a:ext uri="{FF2B5EF4-FFF2-40B4-BE49-F238E27FC236}">
                <a16:creationId xmlns:a16="http://schemas.microsoft.com/office/drawing/2014/main" id="{7F62B1B4-AC37-41B2-EB63-E0D769F470EA}"/>
              </a:ext>
            </a:extLst>
          </p:cNvPr>
          <p:cNvSpPr>
            <a:spLocks noGrp="1"/>
          </p:cNvSpPr>
          <p:nvPr>
            <p:ph type="sldNum" sz="quarter" idx="12"/>
          </p:nvPr>
        </p:nvSpPr>
        <p:spPr/>
        <p:txBody>
          <a:bodyPr/>
          <a:lstStyle/>
          <a:p>
            <a:fld id="{ABDA560F-461C-6043-9BC4-489BA92F7161}" type="slidenum">
              <a:rPr lang="en-US" smtClean="0"/>
              <a:t>‹#›</a:t>
            </a:fld>
            <a:endParaRPr lang="en-US"/>
          </a:p>
        </p:txBody>
      </p:sp>
    </p:spTree>
    <p:extLst>
      <p:ext uri="{BB962C8B-B14F-4D97-AF65-F5344CB8AC3E}">
        <p14:creationId xmlns:p14="http://schemas.microsoft.com/office/powerpoint/2010/main" val="2219838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E1D7D-D016-C86F-111E-51245E7BA7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F70B542-AE2F-4E58-DD66-7DA9CB44457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D321B0-98E4-9776-8ABB-72C7B07ABE94}"/>
              </a:ext>
            </a:extLst>
          </p:cNvPr>
          <p:cNvSpPr>
            <a:spLocks noGrp="1"/>
          </p:cNvSpPr>
          <p:nvPr>
            <p:ph type="dt" sz="half" idx="10"/>
          </p:nvPr>
        </p:nvSpPr>
        <p:spPr>
          <a:xfrm>
            <a:off x="4724400" y="6370515"/>
            <a:ext cx="2743200" cy="365125"/>
          </a:xfrm>
          <a:prstGeom prst="rect">
            <a:avLst/>
          </a:prstGeom>
        </p:spPr>
        <p:txBody>
          <a:bodyPr/>
          <a:lstStyle/>
          <a:p>
            <a:pPr algn="ctr"/>
            <a:r>
              <a:rPr lang="en-US"/>
              <a:t>9/12/25</a:t>
            </a:r>
          </a:p>
        </p:txBody>
      </p:sp>
      <p:sp>
        <p:nvSpPr>
          <p:cNvPr id="6" name="Slide Number Placeholder 5">
            <a:extLst>
              <a:ext uri="{FF2B5EF4-FFF2-40B4-BE49-F238E27FC236}">
                <a16:creationId xmlns:a16="http://schemas.microsoft.com/office/drawing/2014/main" id="{F3E58BD9-1414-8B11-5258-F11F3BBA1358}"/>
              </a:ext>
            </a:extLst>
          </p:cNvPr>
          <p:cNvSpPr>
            <a:spLocks noGrp="1"/>
          </p:cNvSpPr>
          <p:nvPr>
            <p:ph type="sldNum" sz="quarter" idx="12"/>
          </p:nvPr>
        </p:nvSpPr>
        <p:spPr/>
        <p:txBody>
          <a:bodyPr/>
          <a:lstStyle/>
          <a:p>
            <a:fld id="{ABDA560F-461C-6043-9BC4-489BA92F7161}" type="slidenum">
              <a:rPr lang="en-US" smtClean="0"/>
              <a:t>‹#›</a:t>
            </a:fld>
            <a:endParaRPr lang="en-US"/>
          </a:p>
        </p:txBody>
      </p:sp>
    </p:spTree>
    <p:extLst>
      <p:ext uri="{BB962C8B-B14F-4D97-AF65-F5344CB8AC3E}">
        <p14:creationId xmlns:p14="http://schemas.microsoft.com/office/powerpoint/2010/main" val="16656463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0FF543F-785B-81AD-859C-25E1E14F9B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A11285-AC5A-F005-FEA3-CACE5986B4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F19AEED0-1DC9-A7B8-1AA0-116CA0EB67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BDA560F-461C-6043-9BC4-489BA92F7161}" type="slidenum">
              <a:rPr lang="en-US" smtClean="0"/>
              <a:t>‹#›</a:t>
            </a:fld>
            <a:endParaRPr lang="en-US"/>
          </a:p>
        </p:txBody>
      </p:sp>
      <p:pic>
        <p:nvPicPr>
          <p:cNvPr id="8" name="Picture 7" descr="Shape&#10;&#10;Description automatically generated with medium confidence">
            <a:extLst>
              <a:ext uri="{FF2B5EF4-FFF2-40B4-BE49-F238E27FC236}">
                <a16:creationId xmlns:a16="http://schemas.microsoft.com/office/drawing/2014/main" id="{16A367C9-3AA6-1192-2565-6CDE4E3F4F0A}"/>
              </a:ext>
            </a:extLst>
          </p:cNvPr>
          <p:cNvPicPr>
            <a:picLocks noChangeAspect="1"/>
          </p:cNvPicPr>
          <p:nvPr userDrawn="1"/>
        </p:nvPicPr>
        <p:blipFill>
          <a:blip r:embed="rId4"/>
          <a:stretch>
            <a:fillRect/>
          </a:stretch>
        </p:blipFill>
        <p:spPr>
          <a:xfrm>
            <a:off x="0" y="6246811"/>
            <a:ext cx="4724400" cy="584200"/>
          </a:xfrm>
          <a:prstGeom prst="rect">
            <a:avLst/>
          </a:prstGeom>
        </p:spPr>
      </p:pic>
      <p:sp>
        <p:nvSpPr>
          <p:cNvPr id="9" name="Date Placeholder 8">
            <a:extLst>
              <a:ext uri="{FF2B5EF4-FFF2-40B4-BE49-F238E27FC236}">
                <a16:creationId xmlns:a16="http://schemas.microsoft.com/office/drawing/2014/main" id="{6CA2128F-B59B-98EB-B50C-F663F9DCCD82}"/>
              </a:ext>
            </a:extLst>
          </p:cNvPr>
          <p:cNvSpPr>
            <a:spLocks noGrp="1"/>
          </p:cNvSpPr>
          <p:nvPr>
            <p:ph type="dt" sz="half" idx="2"/>
          </p:nvPr>
        </p:nvSpPr>
        <p:spPr>
          <a:xfrm>
            <a:off x="4724400" y="6356349"/>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lgn="ctr"/>
            <a:r>
              <a:rPr lang="en-US"/>
              <a:t>9/12/25</a:t>
            </a:r>
          </a:p>
        </p:txBody>
      </p:sp>
    </p:spTree>
    <p:extLst>
      <p:ext uri="{BB962C8B-B14F-4D97-AF65-F5344CB8AC3E}">
        <p14:creationId xmlns:p14="http://schemas.microsoft.com/office/powerpoint/2010/main" val="2504841742"/>
      </p:ext>
    </p:extLst>
  </p:cSld>
  <p:clrMap bg1="lt1" tx1="dk1" bg2="lt2" tx2="dk2" accent1="accent1" accent2="accent2" accent3="accent3" accent4="accent4" accent5="accent5" accent6="accent6" hlink="hlink" folHlink="folHlink"/>
  <p:sldLayoutIdLst>
    <p:sldLayoutId id="2147483661" r:id="rId1"/>
    <p:sldLayoutId id="2147483662" r:id="rId2"/>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www.rc.colorado.edu/"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curc.readthedocs.io/en/lates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sv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2" Type="http://schemas.openxmlformats.org/officeDocument/2006/relationships/image" Target="../media/image20.sv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svg"/></Relationships>
</file>

<file path=ppt/slides/_rels/slide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33.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3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0.sv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curc.readthedocs.io/"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hyperlink" Target="https://curc.readthedocs.io/en/latest/getting_started/trainings_and_consults/index.html#weekly-office-hours" TargetMode="External"/><Relationship Id="rId4" Type="http://schemas.openxmlformats.org/officeDocument/2006/relationships/hyperlink" Target="https://www.colorado.edu/crdds/"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s.zoom.us/m/bPlTUoGhy"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pic>
        <p:nvPicPr>
          <p:cNvPr id="95" name="Google Shape;95;p14">
            <a:extLst>
              <a:ext uri="{C183D7F6-B498-43B3-948B-1728B52AA6E4}">
                <adec:decorative xmlns:adec="http://schemas.microsoft.com/office/drawing/2017/decorative" val="1"/>
              </a:ext>
            </a:extLst>
          </p:cNvPr>
          <p:cNvPicPr preferRelativeResize="0"/>
          <p:nvPr/>
        </p:nvPicPr>
        <p:blipFill rotWithShape="1">
          <a:blip r:embed="rId3">
            <a:alphaModFix/>
          </a:blip>
          <a:srcRect b="32560"/>
          <a:stretch/>
        </p:blipFill>
        <p:spPr>
          <a:xfrm>
            <a:off x="0" y="0"/>
            <a:ext cx="12208413" cy="4500750"/>
          </a:xfrm>
          <a:prstGeom prst="rect">
            <a:avLst/>
          </a:prstGeom>
          <a:noFill/>
          <a:ln>
            <a:noFill/>
          </a:ln>
        </p:spPr>
      </p:pic>
      <p:sp>
        <p:nvSpPr>
          <p:cNvPr id="96" name="Google Shape;96;p14"/>
          <p:cNvSpPr txBox="1">
            <a:spLocks noGrp="1"/>
          </p:cNvSpPr>
          <p:nvPr>
            <p:ph type="ctrTitle"/>
          </p:nvPr>
        </p:nvSpPr>
        <p:spPr>
          <a:xfrm>
            <a:off x="459256" y="4836507"/>
            <a:ext cx="11289900" cy="1181700"/>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chemeClr val="dk1"/>
              </a:buClr>
              <a:buSzPts val="6000"/>
              <a:buFont typeface="Arial Black"/>
              <a:buNone/>
            </a:pPr>
            <a:r>
              <a:rPr lang="en-US" sz="4400" dirty="0"/>
              <a:t>Getting Started with Research Computing</a:t>
            </a:r>
            <a:br>
              <a:rPr lang="en-US" sz="4400" dirty="0"/>
            </a:br>
            <a:r>
              <a:rPr lang="en-US" sz="3200" dirty="0"/>
              <a:t>From Command Line to Job Scheduling</a:t>
            </a:r>
            <a:endParaRPr sz="4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2" name="Title 1">
            <a:extLst>
              <a:ext uri="{FF2B5EF4-FFF2-40B4-BE49-F238E27FC236}">
                <a16:creationId xmlns:a16="http://schemas.microsoft.com/office/drawing/2014/main" id="{760F0082-60A2-8E8C-93CB-F5A869FA28DD}"/>
              </a:ext>
            </a:extLst>
          </p:cNvPr>
          <p:cNvSpPr>
            <a:spLocks noGrp="1"/>
          </p:cNvSpPr>
          <p:nvPr>
            <p:ph type="title"/>
          </p:nvPr>
        </p:nvSpPr>
        <p:spPr>
          <a:xfrm>
            <a:off x="838200" y="-1325563"/>
            <a:ext cx="10515600" cy="1325563"/>
          </a:xfrm>
        </p:spPr>
        <p:txBody>
          <a:bodyPr spcFirstLastPara="1" wrap="square" lIns="91425" tIns="45700" rIns="91425" bIns="45700" anchor="b" anchorCtr="0">
            <a:normAutofit/>
          </a:bodyPr>
          <a:lstStyle/>
          <a:p>
            <a:r>
              <a:rPr lang="en-US" dirty="0"/>
              <a:t>Useful CURC links</a:t>
            </a:r>
          </a:p>
        </p:txBody>
      </p:sp>
      <p:sp>
        <p:nvSpPr>
          <p:cNvPr id="4" name="Google Shape;98;p14">
            <a:extLst>
              <a:ext uri="{FF2B5EF4-FFF2-40B4-BE49-F238E27FC236}">
                <a16:creationId xmlns:a16="http://schemas.microsoft.com/office/drawing/2014/main" id="{68E75E60-516C-5ACC-9B2C-B6A1774A889E}"/>
              </a:ext>
            </a:extLst>
          </p:cNvPr>
          <p:cNvSpPr txBox="1">
            <a:spLocks/>
          </p:cNvSpPr>
          <p:nvPr/>
        </p:nvSpPr>
        <p:spPr>
          <a:xfrm>
            <a:off x="279955" y="2331720"/>
            <a:ext cx="7010400" cy="2194560"/>
          </a:xfrm>
          <a:prstGeom prst="rect">
            <a:avLst/>
          </a:prstGeom>
          <a:noFill/>
          <a:ln>
            <a:noFill/>
          </a:ln>
        </p:spPr>
        <p:txBody>
          <a:bodyPr spcFirstLastPara="1" vert="horz" wrap="square" lIns="68569" tIns="34275" rIns="68569" bIns="3427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5000"/>
              </a:lnSpc>
              <a:spcBef>
                <a:spcPts val="600"/>
              </a:spcBef>
              <a:buSzPts val="2500"/>
              <a:buNone/>
            </a:pPr>
            <a:r>
              <a:rPr lang="en-US" sz="2400" b="1" dirty="0">
                <a:ea typeface="Arial"/>
                <a:cs typeface="Arial"/>
              </a:rPr>
              <a:t>Website: </a:t>
            </a:r>
            <a:r>
              <a:rPr lang="en-US" sz="2400" u="sng" dirty="0">
                <a:solidFill>
                  <a:schemeClr val="hlink"/>
                </a:solidFill>
                <a:ea typeface="Arial"/>
                <a:cs typeface="Arial"/>
                <a:hlinkClick r:id="rId3"/>
              </a:rPr>
              <a:t>www.rc.colorado.edu</a:t>
            </a:r>
            <a:endParaRPr lang="en-US" sz="2400" dirty="0">
              <a:solidFill>
                <a:schemeClr val="hlink"/>
              </a:solidFill>
              <a:ea typeface="Arial"/>
              <a:cs typeface="Arial"/>
            </a:endParaRPr>
          </a:p>
          <a:p>
            <a:pPr marL="0" indent="0">
              <a:lnSpc>
                <a:spcPct val="125000"/>
              </a:lnSpc>
              <a:spcBef>
                <a:spcPts val="600"/>
              </a:spcBef>
              <a:buSzPts val="2500"/>
              <a:buNone/>
            </a:pPr>
            <a:r>
              <a:rPr lang="en-US" sz="2400" b="1" dirty="0">
                <a:ea typeface="Arial"/>
                <a:cs typeface="Arial"/>
              </a:rPr>
              <a:t>Documentation:</a:t>
            </a:r>
            <a:r>
              <a:rPr lang="en-US" sz="2400" dirty="0">
                <a:ea typeface="Arial"/>
                <a:cs typeface="Arial"/>
              </a:rPr>
              <a:t> </a:t>
            </a:r>
            <a:r>
              <a:rPr lang="en-US" sz="2400" dirty="0">
                <a:ea typeface="Arial"/>
                <a:cs typeface="Arial"/>
                <a:hlinkClick r:id="rId4"/>
              </a:rPr>
              <a:t>curc.readthedocs.io</a:t>
            </a:r>
            <a:r>
              <a:rPr lang="en-US" sz="2400" dirty="0">
                <a:ea typeface="Arial"/>
                <a:cs typeface="Arial"/>
              </a:rPr>
              <a:t> </a:t>
            </a:r>
          </a:p>
          <a:p>
            <a:pPr marL="0" indent="0">
              <a:lnSpc>
                <a:spcPct val="125000"/>
              </a:lnSpc>
              <a:spcBef>
                <a:spcPts val="600"/>
              </a:spcBef>
              <a:buSzPts val="2500"/>
              <a:buNone/>
            </a:pPr>
            <a:r>
              <a:rPr lang="en-US" sz="2400" b="1" dirty="0">
                <a:ea typeface="Arial"/>
                <a:cs typeface="Arial"/>
              </a:rPr>
              <a:t>Support request form:</a:t>
            </a:r>
            <a:r>
              <a:rPr lang="en-US" sz="2400" dirty="0">
                <a:ea typeface="Arial"/>
                <a:cs typeface="Arial"/>
              </a:rPr>
              <a:t> </a:t>
            </a:r>
            <a:r>
              <a:rPr lang="en-US" sz="2400" dirty="0">
                <a:solidFill>
                  <a:srgbClr val="0563C1"/>
                </a:solidFill>
                <a:ea typeface="Arial"/>
                <a:cs typeface="Arial"/>
              </a:rPr>
              <a:t>colorado.service-now.com/req_portal?id=ucb_sc_rc_form</a:t>
            </a:r>
            <a:r>
              <a:rPr lang="en-US" sz="2400" dirty="0">
                <a:solidFill>
                  <a:srgbClr val="0000FF"/>
                </a:solidFill>
                <a:ea typeface="Arial"/>
                <a:cs typeface="Arial"/>
              </a:rPr>
              <a:t> </a:t>
            </a:r>
            <a:endParaRPr lang="en-US" sz="2400" u="sng" dirty="0">
              <a:solidFill>
                <a:srgbClr val="0000FF"/>
              </a:solidFill>
              <a:ea typeface="Arial"/>
              <a:cs typeface="Arial"/>
            </a:endParaRPr>
          </a:p>
        </p:txBody>
      </p:sp>
      <p:sp>
        <p:nvSpPr>
          <p:cNvPr id="5" name="Slide Number Placeholder 5">
            <a:extLst>
              <a:ext uri="{FF2B5EF4-FFF2-40B4-BE49-F238E27FC236}">
                <a16:creationId xmlns:a16="http://schemas.microsoft.com/office/drawing/2014/main" id="{7CE29C41-6B27-6F60-8168-62581B12D518}"/>
              </a:ext>
            </a:extLst>
          </p:cNvPr>
          <p:cNvSpPr txBox="1">
            <a:spLocks/>
          </p:cNvSpPr>
          <p:nvPr/>
        </p:nvSpPr>
        <p:spPr>
          <a:xfrm>
            <a:off x="5841558" y="6367559"/>
            <a:ext cx="508883"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6A7983A4-F384-C340-9CB2-175593F0E4F5}" type="slidenum">
              <a:rPr lang="en-US"/>
              <a:pPr algn="l"/>
              <a:t>2</a:t>
            </a:fld>
            <a:endParaRPr lang="en-US" dirty="0"/>
          </a:p>
        </p:txBody>
      </p:sp>
      <p:grpSp>
        <p:nvGrpSpPr>
          <p:cNvPr id="11" name="Group 10">
            <a:extLst>
              <a:ext uri="{FF2B5EF4-FFF2-40B4-BE49-F238E27FC236}">
                <a16:creationId xmlns:a16="http://schemas.microsoft.com/office/drawing/2014/main" id="{6EEE983C-BF7D-9FDC-C0C2-904D80A68007}"/>
              </a:ext>
              <a:ext uri="{C183D7F6-B498-43B3-948B-1728B52AA6E4}">
                <adec:decorative xmlns:adec="http://schemas.microsoft.com/office/drawing/2017/decorative" val="1"/>
              </a:ext>
            </a:extLst>
          </p:cNvPr>
          <p:cNvGrpSpPr/>
          <p:nvPr/>
        </p:nvGrpSpPr>
        <p:grpSpPr>
          <a:xfrm>
            <a:off x="7565968" y="2331720"/>
            <a:ext cx="3931920" cy="2194560"/>
            <a:chOff x="2734356" y="510892"/>
            <a:chExt cx="3931920" cy="2194560"/>
          </a:xfrm>
        </p:grpSpPr>
        <p:pic>
          <p:nvPicPr>
            <p:cNvPr id="9" name="Picture 8" descr="A black and gold logo&#10;&#10;Description automatically generated">
              <a:extLst>
                <a:ext uri="{FF2B5EF4-FFF2-40B4-BE49-F238E27FC236}">
                  <a16:creationId xmlns:a16="http://schemas.microsoft.com/office/drawing/2014/main" id="{7FB1F572-2B82-EC63-473F-35770E4BD8B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14649" y="693772"/>
              <a:ext cx="3571335" cy="1828800"/>
            </a:xfrm>
            <a:prstGeom prst="rect">
              <a:avLst/>
            </a:prstGeom>
          </p:spPr>
        </p:pic>
        <p:sp>
          <p:nvSpPr>
            <p:cNvPr id="10" name="Rounded Rectangle 9">
              <a:extLst>
                <a:ext uri="{FF2B5EF4-FFF2-40B4-BE49-F238E27FC236}">
                  <a16:creationId xmlns:a16="http://schemas.microsoft.com/office/drawing/2014/main" id="{4D607CAF-4F62-005D-FDF3-5BB59B1A5EF9}"/>
                </a:ext>
              </a:extLst>
            </p:cNvPr>
            <p:cNvSpPr/>
            <p:nvPr/>
          </p:nvSpPr>
          <p:spPr>
            <a:xfrm>
              <a:off x="2734356" y="510892"/>
              <a:ext cx="3931920" cy="2194560"/>
            </a:xfrm>
            <a:prstGeom prst="roundRect">
              <a:avLst>
                <a:gd name="adj" fmla="val 8994"/>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83A574-E021-E66F-50EE-C0BCBF2D2613}"/>
              </a:ext>
            </a:extLst>
          </p:cNvPr>
          <p:cNvSpPr>
            <a:spLocks noGrp="1"/>
          </p:cNvSpPr>
          <p:nvPr>
            <p:ph type="ctrTitle"/>
          </p:nvPr>
        </p:nvSpPr>
        <p:spPr>
          <a:xfrm>
            <a:off x="1524000" y="-2387600"/>
            <a:ext cx="9144000" cy="2387600"/>
          </a:xfrm>
        </p:spPr>
        <p:txBody>
          <a:bodyPr spcFirstLastPara="1" wrap="square" lIns="91425" tIns="45700" rIns="91425" bIns="45700" anchor="b" anchorCtr="0">
            <a:normAutofit/>
          </a:bodyPr>
          <a:lstStyle/>
          <a:p>
            <a:r>
              <a:rPr lang="en-US" dirty="0"/>
              <a:t>The user support team</a:t>
            </a:r>
          </a:p>
        </p:txBody>
      </p:sp>
      <p:pic>
        <p:nvPicPr>
          <p:cNvPr id="8" name="Picture 7" descr="Picture showing the RC User Support team">
            <a:extLst>
              <a:ext uri="{FF2B5EF4-FFF2-40B4-BE49-F238E27FC236}">
                <a16:creationId xmlns:a16="http://schemas.microsoft.com/office/drawing/2014/main" id="{13513FD8-9948-2F45-CF62-A1A2AFBA5ECA}"/>
              </a:ext>
            </a:extLst>
          </p:cNvPr>
          <p:cNvPicPr>
            <a:picLocks noChangeAspect="1"/>
          </p:cNvPicPr>
          <p:nvPr/>
        </p:nvPicPr>
        <p:blipFill>
          <a:blip r:embed="rId3"/>
          <a:stretch>
            <a:fillRect/>
          </a:stretch>
        </p:blipFill>
        <p:spPr>
          <a:xfrm>
            <a:off x="712304" y="43608"/>
            <a:ext cx="10689866" cy="6013050"/>
          </a:xfrm>
          <a:prstGeom prst="rect">
            <a:avLst/>
          </a:prstGeom>
        </p:spPr>
      </p:pic>
      <p:sp>
        <p:nvSpPr>
          <p:cNvPr id="3" name="Slide Number Placeholder 2">
            <a:extLst>
              <a:ext uri="{FF2B5EF4-FFF2-40B4-BE49-F238E27FC236}">
                <a16:creationId xmlns:a16="http://schemas.microsoft.com/office/drawing/2014/main" id="{A49AEEA2-192E-AA62-50EE-AA62ABA07F8A}"/>
              </a:ext>
            </a:extLst>
          </p:cNvPr>
          <p:cNvSpPr>
            <a:spLocks noGrp="1"/>
          </p:cNvSpPr>
          <p:nvPr>
            <p:ph type="sldNum" idx="12"/>
          </p:nvPr>
        </p:nvSpPr>
        <p:spPr>
          <a:xfrm>
            <a:off x="6096000" y="6324601"/>
            <a:ext cx="682920" cy="365125"/>
          </a:xfrm>
        </p:spPr>
        <p:txBody>
          <a:bodyPr/>
          <a:lstStyle/>
          <a:p>
            <a:pPr marL="0" lvl="0" indent="0" algn="l" rtl="0">
              <a:spcBef>
                <a:spcPts val="0"/>
              </a:spcBef>
              <a:spcAft>
                <a:spcPts val="0"/>
              </a:spcAft>
              <a:buNone/>
            </a:pPr>
            <a:fld id="{00000000-1234-1234-1234-123412341234}" type="slidenum">
              <a:rPr lang="en-US" smtClean="0"/>
              <a:t>3</a:t>
            </a:fld>
            <a:endParaRPr lang="en-US" dirty="0"/>
          </a:p>
        </p:txBody>
      </p:sp>
    </p:spTree>
    <p:extLst>
      <p:ext uri="{BB962C8B-B14F-4D97-AF65-F5344CB8AC3E}">
        <p14:creationId xmlns:p14="http://schemas.microsoft.com/office/powerpoint/2010/main" val="34235618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2" name="Title 1">
            <a:extLst>
              <a:ext uri="{FF2B5EF4-FFF2-40B4-BE49-F238E27FC236}">
                <a16:creationId xmlns:a16="http://schemas.microsoft.com/office/drawing/2014/main" id="{38AC9A89-D639-7D34-8433-DADB778B85B2}"/>
              </a:ext>
            </a:extLst>
          </p:cNvPr>
          <p:cNvSpPr>
            <a:spLocks noGrp="1"/>
          </p:cNvSpPr>
          <p:nvPr>
            <p:ph type="title"/>
          </p:nvPr>
        </p:nvSpPr>
        <p:spPr>
          <a:xfrm>
            <a:off x="838200" y="-1325563"/>
            <a:ext cx="10515600" cy="1325563"/>
          </a:xfrm>
        </p:spPr>
        <p:txBody>
          <a:bodyPr vert="horz" lIns="91440" tIns="45720" rIns="91440" bIns="45720" rtlCol="0" anchor="b">
            <a:normAutofit/>
          </a:bodyPr>
          <a:lstStyle/>
          <a:p>
            <a:r>
              <a:rPr lang="en-US" dirty="0"/>
              <a:t>Encouraging questions</a:t>
            </a:r>
          </a:p>
        </p:txBody>
      </p:sp>
      <p:pic>
        <p:nvPicPr>
          <p:cNvPr id="5" name="Graphic 4" descr="An icon of two people discussing a question, with a speech bubble containing a question mark above them">
            <a:extLst>
              <a:ext uri="{FF2B5EF4-FFF2-40B4-BE49-F238E27FC236}">
                <a16:creationId xmlns:a16="http://schemas.microsoft.com/office/drawing/2014/main" id="{81316737-E39C-896D-10BE-E6C435DF93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99764" y="711954"/>
            <a:ext cx="4114800" cy="4114800"/>
          </a:xfrm>
          <a:prstGeom prst="rect">
            <a:avLst/>
          </a:prstGeom>
        </p:spPr>
      </p:pic>
      <p:sp>
        <p:nvSpPr>
          <p:cNvPr id="136" name="Google Shape;136;p19"/>
          <p:cNvSpPr txBox="1"/>
          <p:nvPr/>
        </p:nvSpPr>
        <p:spPr>
          <a:xfrm>
            <a:off x="4277455" y="4488215"/>
            <a:ext cx="3359418" cy="677078"/>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3200" b="1" dirty="0">
                <a:latin typeface="Helvetica Neue"/>
                <a:ea typeface="Helvetica Neue"/>
                <a:cs typeface="Helvetica Neue"/>
                <a:sym typeface="Helvetica Neue"/>
              </a:rPr>
              <a:t>Ask Questions</a:t>
            </a:r>
            <a:endParaRPr sz="3200" b="1" dirty="0">
              <a:latin typeface="Helvetica Neue"/>
              <a:ea typeface="Helvetica Neue"/>
              <a:cs typeface="Helvetica Neue"/>
              <a:sym typeface="Helvetica Neue"/>
            </a:endParaRPr>
          </a:p>
        </p:txBody>
      </p:sp>
      <p:sp>
        <p:nvSpPr>
          <p:cNvPr id="134" name="Google Shape;134;p19"/>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Google Shape;225;p30">
            <a:extLst>
              <a:ext uri="{FF2B5EF4-FFF2-40B4-BE49-F238E27FC236}">
                <a16:creationId xmlns:a16="http://schemas.microsoft.com/office/drawing/2014/main" id="{8E6FEFA0-D4B8-CC71-FDDD-F918B7C3F752}"/>
              </a:ext>
            </a:extLst>
          </p:cNvPr>
          <p:cNvSpPr txBox="1">
            <a:spLocks noGrp="1"/>
          </p:cNvSpPr>
          <p:nvPr>
            <p:ph type="title"/>
          </p:nvPr>
        </p:nvSpPr>
        <p:spPr>
          <a:xfrm>
            <a:off x="838200" y="220386"/>
            <a:ext cx="10515600" cy="1325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5000"/>
              <a:buFont typeface="Helvetica Neue Light"/>
              <a:buNone/>
            </a:pPr>
            <a:r>
              <a:rPr lang="en-US" dirty="0">
                <a:sym typeface="Helvetica Neue Light"/>
              </a:rPr>
              <a:t>General Overview of Job Submission</a:t>
            </a:r>
            <a:endParaRPr dirty="0"/>
          </a:p>
        </p:txBody>
      </p:sp>
      <p:grpSp>
        <p:nvGrpSpPr>
          <p:cNvPr id="3" name="Group 2" descr="Image depecting that the first step in our general overview is login nodes">
            <a:extLst>
              <a:ext uri="{FF2B5EF4-FFF2-40B4-BE49-F238E27FC236}">
                <a16:creationId xmlns:a16="http://schemas.microsoft.com/office/drawing/2014/main" id="{D6F113AD-1E98-5E7F-5452-270D5896A74B}"/>
              </a:ext>
            </a:extLst>
          </p:cNvPr>
          <p:cNvGrpSpPr/>
          <p:nvPr/>
        </p:nvGrpSpPr>
        <p:grpSpPr>
          <a:xfrm>
            <a:off x="1069178" y="1759077"/>
            <a:ext cx="3636619" cy="3339847"/>
            <a:chOff x="1069178" y="1759077"/>
            <a:chExt cx="3636619" cy="3339847"/>
          </a:xfrm>
        </p:grpSpPr>
        <p:pic>
          <p:nvPicPr>
            <p:cNvPr id="6" name="Google Shape;210;p30">
              <a:extLst>
                <a:ext uri="{FF2B5EF4-FFF2-40B4-BE49-F238E27FC236}">
                  <a16:creationId xmlns:a16="http://schemas.microsoft.com/office/drawing/2014/main" id="{6445D8FA-61FC-C99C-FBF0-FE41F2867EA6}"/>
                </a:ext>
              </a:extLst>
            </p:cNvPr>
            <p:cNvPicPr preferRelativeResize="0">
              <a:picLocks noChangeAspect="1"/>
            </p:cNvPicPr>
            <p:nvPr/>
          </p:nvPicPr>
          <p:blipFill>
            <a:blip r:embed="rId3">
              <a:alphaModFix/>
            </a:blip>
            <a:stretch>
              <a:fillRect/>
            </a:stretch>
          </p:blipFill>
          <p:spPr>
            <a:xfrm>
              <a:off x="1069178" y="2240351"/>
              <a:ext cx="2377292" cy="2377297"/>
            </a:xfrm>
            <a:prstGeom prst="rect">
              <a:avLst/>
            </a:prstGeom>
            <a:noFill/>
            <a:ln>
              <a:noFill/>
            </a:ln>
          </p:spPr>
        </p:pic>
        <p:sp>
          <p:nvSpPr>
            <p:cNvPr id="28" name="Right Arrow Callout 27">
              <a:extLst>
                <a:ext uri="{FF2B5EF4-FFF2-40B4-BE49-F238E27FC236}">
                  <a16:creationId xmlns:a16="http://schemas.microsoft.com/office/drawing/2014/main" id="{D1F6003B-6623-8814-EF42-BD56D32E21D1}"/>
                </a:ext>
              </a:extLst>
            </p:cNvPr>
            <p:cNvSpPr/>
            <p:nvPr/>
          </p:nvSpPr>
          <p:spPr>
            <a:xfrm>
              <a:off x="1094954"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DD54623E-55FE-5016-88E7-859D6212172B}"/>
                </a:ext>
              </a:extLst>
            </p:cNvPr>
            <p:cNvGrpSpPr/>
            <p:nvPr/>
          </p:nvGrpSpPr>
          <p:grpSpPr>
            <a:xfrm>
              <a:off x="1082066" y="1873651"/>
              <a:ext cx="2351516" cy="707886"/>
              <a:chOff x="540307" y="1873650"/>
              <a:chExt cx="2351516" cy="707886"/>
            </a:xfrm>
          </p:grpSpPr>
          <p:sp>
            <p:nvSpPr>
              <p:cNvPr id="29" name="TextBox 28">
                <a:extLst>
                  <a:ext uri="{FF2B5EF4-FFF2-40B4-BE49-F238E27FC236}">
                    <a16:creationId xmlns:a16="http://schemas.microsoft.com/office/drawing/2014/main" id="{9AF5CB76-729A-3C38-279C-2C7E61E3A9B0}"/>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1</a:t>
                </a:r>
              </a:p>
            </p:txBody>
          </p:sp>
          <p:sp>
            <p:nvSpPr>
              <p:cNvPr id="30" name="Oval 29">
                <a:extLst>
                  <a:ext uri="{FF2B5EF4-FFF2-40B4-BE49-F238E27FC236}">
                    <a16:creationId xmlns:a16="http://schemas.microsoft.com/office/drawing/2014/main" id="{AA96D8E1-31CF-5327-5B67-2EDC22CED229}"/>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9D6AC7A0-B089-F320-3991-E46034178576}"/>
                </a:ext>
              </a:extLst>
            </p:cNvPr>
            <p:cNvSpPr txBox="1"/>
            <p:nvPr/>
          </p:nvSpPr>
          <p:spPr>
            <a:xfrm>
              <a:off x="1094954" y="4432982"/>
              <a:ext cx="2338627" cy="461665"/>
            </a:xfrm>
            <a:prstGeom prst="rect">
              <a:avLst/>
            </a:prstGeom>
            <a:noFill/>
          </p:spPr>
          <p:txBody>
            <a:bodyPr wrap="square" rtlCol="0">
              <a:spAutoFit/>
            </a:bodyPr>
            <a:lstStyle/>
            <a:p>
              <a:pPr algn="ctr"/>
              <a:r>
                <a:rPr lang="en-US" sz="2400" b="1" dirty="0"/>
                <a:t>Login Node</a:t>
              </a:r>
            </a:p>
          </p:txBody>
        </p:sp>
      </p:grpSp>
      <p:grpSp>
        <p:nvGrpSpPr>
          <p:cNvPr id="8" name="Group 7" descr="Image depecting that the second step in our general overview is requesting resources">
            <a:extLst>
              <a:ext uri="{FF2B5EF4-FFF2-40B4-BE49-F238E27FC236}">
                <a16:creationId xmlns:a16="http://schemas.microsoft.com/office/drawing/2014/main" id="{D6A08A5C-F308-5451-92D0-FC4C0A7EE7C4}"/>
              </a:ext>
            </a:extLst>
          </p:cNvPr>
          <p:cNvGrpSpPr/>
          <p:nvPr/>
        </p:nvGrpSpPr>
        <p:grpSpPr>
          <a:xfrm>
            <a:off x="4913198" y="1759077"/>
            <a:ext cx="3631266" cy="3339847"/>
            <a:chOff x="4913198" y="1759077"/>
            <a:chExt cx="3631266" cy="3339847"/>
          </a:xfrm>
        </p:grpSpPr>
        <p:sp>
          <p:nvSpPr>
            <p:cNvPr id="34" name="Right Arrow Callout 33">
              <a:extLst>
                <a:ext uri="{FF2B5EF4-FFF2-40B4-BE49-F238E27FC236}">
                  <a16:creationId xmlns:a16="http://schemas.microsoft.com/office/drawing/2014/main" id="{3E5C80A0-E947-38AD-F1D4-923A324CA447}"/>
                </a:ext>
              </a:extLst>
            </p:cNvPr>
            <p:cNvSpPr/>
            <p:nvPr/>
          </p:nvSpPr>
          <p:spPr>
            <a:xfrm>
              <a:off x="4933621"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72775936-EA5C-533D-7DFE-4A84895E5977}"/>
                </a:ext>
              </a:extLst>
            </p:cNvPr>
            <p:cNvGrpSpPr/>
            <p:nvPr/>
          </p:nvGrpSpPr>
          <p:grpSpPr>
            <a:xfrm>
              <a:off x="4920733" y="1873651"/>
              <a:ext cx="2351516" cy="707886"/>
              <a:chOff x="540307" y="1873650"/>
              <a:chExt cx="2351516" cy="707886"/>
            </a:xfrm>
          </p:grpSpPr>
          <p:sp>
            <p:nvSpPr>
              <p:cNvPr id="36" name="TextBox 35">
                <a:extLst>
                  <a:ext uri="{FF2B5EF4-FFF2-40B4-BE49-F238E27FC236}">
                    <a16:creationId xmlns:a16="http://schemas.microsoft.com/office/drawing/2014/main" id="{E641A5BB-77EA-273B-8E7A-8664CF1EA0C5}"/>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2</a:t>
                </a:r>
              </a:p>
            </p:txBody>
          </p:sp>
          <p:sp>
            <p:nvSpPr>
              <p:cNvPr id="37" name="Oval 36">
                <a:extLst>
                  <a:ext uri="{FF2B5EF4-FFF2-40B4-BE49-F238E27FC236}">
                    <a16:creationId xmlns:a16="http://schemas.microsoft.com/office/drawing/2014/main" id="{7A54F45C-49A2-0592-EF97-EEB15755B068}"/>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TextBox 39">
              <a:extLst>
                <a:ext uri="{FF2B5EF4-FFF2-40B4-BE49-F238E27FC236}">
                  <a16:creationId xmlns:a16="http://schemas.microsoft.com/office/drawing/2014/main" id="{856C0665-D303-870A-8948-8814BB5FE8E1}"/>
                </a:ext>
              </a:extLst>
            </p:cNvPr>
            <p:cNvSpPr txBox="1"/>
            <p:nvPr/>
          </p:nvSpPr>
          <p:spPr>
            <a:xfrm>
              <a:off x="4913198" y="4436192"/>
              <a:ext cx="2338627" cy="461665"/>
            </a:xfrm>
            <a:prstGeom prst="rect">
              <a:avLst/>
            </a:prstGeom>
            <a:noFill/>
          </p:spPr>
          <p:txBody>
            <a:bodyPr wrap="square" rtlCol="0">
              <a:spAutoFit/>
            </a:bodyPr>
            <a:lstStyle/>
            <a:p>
              <a:pPr algn="ctr"/>
              <a:r>
                <a:rPr lang="en-US" sz="2400" b="1" dirty="0"/>
                <a:t>Resources</a:t>
              </a:r>
            </a:p>
          </p:txBody>
        </p:sp>
        <p:grpSp>
          <p:nvGrpSpPr>
            <p:cNvPr id="47" name="Group 46">
              <a:extLst>
                <a:ext uri="{FF2B5EF4-FFF2-40B4-BE49-F238E27FC236}">
                  <a16:creationId xmlns:a16="http://schemas.microsoft.com/office/drawing/2014/main" id="{214DDDDD-3CB5-2CD6-2422-43D3B8458EA0}"/>
                </a:ext>
              </a:extLst>
            </p:cNvPr>
            <p:cNvGrpSpPr>
              <a:grpSpLocks noChangeAspect="1"/>
            </p:cNvGrpSpPr>
            <p:nvPr/>
          </p:nvGrpSpPr>
          <p:grpSpPr>
            <a:xfrm>
              <a:off x="5273040" y="2755023"/>
              <a:ext cx="1645920" cy="1546836"/>
              <a:chOff x="8412658" y="2617108"/>
              <a:chExt cx="1929294" cy="1813150"/>
            </a:xfrm>
          </p:grpSpPr>
          <p:grpSp>
            <p:nvGrpSpPr>
              <p:cNvPr id="22" name="Group 21">
                <a:extLst>
                  <a:ext uri="{FF2B5EF4-FFF2-40B4-BE49-F238E27FC236}">
                    <a16:creationId xmlns:a16="http://schemas.microsoft.com/office/drawing/2014/main" id="{7FC66A7A-0575-898D-E9E1-B3F27F73801D}"/>
                  </a:ext>
                </a:extLst>
              </p:cNvPr>
              <p:cNvGrpSpPr>
                <a:grpSpLocks noChangeAspect="1"/>
              </p:cNvGrpSpPr>
              <p:nvPr/>
            </p:nvGrpSpPr>
            <p:grpSpPr>
              <a:xfrm>
                <a:off x="8412658" y="2617108"/>
                <a:ext cx="1078992" cy="1082299"/>
                <a:chOff x="4726983" y="2457616"/>
                <a:chExt cx="2062421" cy="1993113"/>
              </a:xfrm>
            </p:grpSpPr>
            <p:sp>
              <p:nvSpPr>
                <p:cNvPr id="23" name="Rounded Rectangle 22" descr="An icon representing a computer chip">
                  <a:extLst>
                    <a:ext uri="{FF2B5EF4-FFF2-40B4-BE49-F238E27FC236}">
                      <a16:creationId xmlns:a16="http://schemas.microsoft.com/office/drawing/2014/main" id="{8D2450D7-B329-63DB-EDD1-E07E82D72D90}"/>
                    </a:ext>
                  </a:extLst>
                </p:cNvPr>
                <p:cNvSpPr/>
                <p:nvPr/>
              </p:nvSpPr>
              <p:spPr>
                <a:xfrm>
                  <a:off x="4726983" y="2457616"/>
                  <a:ext cx="2062421" cy="199311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Graphic 23">
                  <a:extLst>
                    <a:ext uri="{FF2B5EF4-FFF2-40B4-BE49-F238E27FC236}">
                      <a16:creationId xmlns:a16="http://schemas.microsoft.com/office/drawing/2014/main" id="{FE8221AE-93C6-A7FB-48DE-4AB479C030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75767" y="2671746"/>
                  <a:ext cx="1564852" cy="1564852"/>
                </a:xfrm>
                <a:prstGeom prst="rect">
                  <a:avLst/>
                </a:prstGeom>
              </p:spPr>
            </p:pic>
          </p:grpSp>
          <p:grpSp>
            <p:nvGrpSpPr>
              <p:cNvPr id="46" name="Group 45">
                <a:extLst>
                  <a:ext uri="{FF2B5EF4-FFF2-40B4-BE49-F238E27FC236}">
                    <a16:creationId xmlns:a16="http://schemas.microsoft.com/office/drawing/2014/main" id="{597D9C63-4800-BBEA-DC3F-F8FD0C412D20}"/>
                  </a:ext>
                </a:extLst>
              </p:cNvPr>
              <p:cNvGrpSpPr/>
              <p:nvPr/>
            </p:nvGrpSpPr>
            <p:grpSpPr>
              <a:xfrm>
                <a:off x="9262960" y="3347959"/>
                <a:ext cx="1078992" cy="1082299"/>
                <a:chOff x="9174826" y="3192427"/>
                <a:chExt cx="1078992" cy="1082299"/>
              </a:xfrm>
            </p:grpSpPr>
            <p:sp>
              <p:nvSpPr>
                <p:cNvPr id="42" name="Rounded Rectangle 41" descr="An icon of a stopwatch">
                  <a:extLst>
                    <a:ext uri="{FF2B5EF4-FFF2-40B4-BE49-F238E27FC236}">
                      <a16:creationId xmlns:a16="http://schemas.microsoft.com/office/drawing/2014/main" id="{F0D502A3-CB15-6B69-EDED-92F7C83A89B1}"/>
                    </a:ext>
                  </a:extLst>
                </p:cNvPr>
                <p:cNvSpPr/>
                <p:nvPr/>
              </p:nvSpPr>
              <p:spPr>
                <a:xfrm>
                  <a:off x="9174826" y="3192427"/>
                  <a:ext cx="1078992" cy="1082299"/>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5" name="Graphic 44" descr="Stopwatch with solid fill">
                  <a:extLst>
                    <a:ext uri="{FF2B5EF4-FFF2-40B4-BE49-F238E27FC236}">
                      <a16:creationId xmlns:a16="http://schemas.microsoft.com/office/drawing/2014/main" id="{BC741E21-006A-309E-B444-555F73882B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02842" y="3322096"/>
                  <a:ext cx="822960" cy="822960"/>
                </a:xfrm>
                <a:prstGeom prst="rect">
                  <a:avLst/>
                </a:prstGeom>
              </p:spPr>
            </p:pic>
          </p:grpSp>
        </p:grpSp>
      </p:grpSp>
      <p:grpSp>
        <p:nvGrpSpPr>
          <p:cNvPr id="9" name="Group 8" descr="Image depecting that the last step in our general overview is requesting a job">
            <a:extLst>
              <a:ext uri="{FF2B5EF4-FFF2-40B4-BE49-F238E27FC236}">
                <a16:creationId xmlns:a16="http://schemas.microsoft.com/office/drawing/2014/main" id="{F098B293-4659-5662-076E-F58D6E65E23A}"/>
              </a:ext>
            </a:extLst>
          </p:cNvPr>
          <p:cNvGrpSpPr/>
          <p:nvPr/>
        </p:nvGrpSpPr>
        <p:grpSpPr>
          <a:xfrm>
            <a:off x="8747203" y="1764792"/>
            <a:ext cx="2358559" cy="3334132"/>
            <a:chOff x="8747203" y="1764792"/>
            <a:chExt cx="2358559" cy="3334132"/>
          </a:xfrm>
        </p:grpSpPr>
        <p:pic>
          <p:nvPicPr>
            <p:cNvPr id="2" name="Picture 2" descr="The logo of the Slurm workload manager">
              <a:extLst>
                <a:ext uri="{FF2B5EF4-FFF2-40B4-BE49-F238E27FC236}">
                  <a16:creationId xmlns:a16="http://schemas.microsoft.com/office/drawing/2014/main" id="{6CB1CD0B-FBFC-C08B-ACC5-7272C42BC24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2089"/>
            <a:stretch/>
          </p:blipFill>
          <p:spPr bwMode="auto">
            <a:xfrm>
              <a:off x="9087422" y="2803512"/>
              <a:ext cx="1698054" cy="1366560"/>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extLst>
                <a:ext uri="{FF2B5EF4-FFF2-40B4-BE49-F238E27FC236}">
                  <a16:creationId xmlns:a16="http://schemas.microsoft.com/office/drawing/2014/main" id="{FEE613B8-83CC-2DE3-004F-C699F420D014}"/>
                </a:ext>
              </a:extLst>
            </p:cNvPr>
            <p:cNvSpPr txBox="1"/>
            <p:nvPr/>
          </p:nvSpPr>
          <p:spPr>
            <a:xfrm>
              <a:off x="8758419" y="4432982"/>
              <a:ext cx="2338627" cy="461665"/>
            </a:xfrm>
            <a:prstGeom prst="rect">
              <a:avLst/>
            </a:prstGeom>
            <a:noFill/>
          </p:spPr>
          <p:txBody>
            <a:bodyPr wrap="square" rtlCol="0">
              <a:spAutoFit/>
            </a:bodyPr>
            <a:lstStyle/>
            <a:p>
              <a:pPr algn="ctr"/>
              <a:r>
                <a:rPr lang="en-US" sz="2400" b="1" dirty="0"/>
                <a:t>Job Request</a:t>
              </a:r>
            </a:p>
          </p:txBody>
        </p:sp>
        <p:sp>
          <p:nvSpPr>
            <p:cNvPr id="39" name="Rectangle 38">
              <a:extLst>
                <a:ext uri="{FF2B5EF4-FFF2-40B4-BE49-F238E27FC236}">
                  <a16:creationId xmlns:a16="http://schemas.microsoft.com/office/drawing/2014/main" id="{17AA69B1-C5FC-5B47-22B1-1893FB15BCBD}"/>
                </a:ext>
              </a:extLst>
            </p:cNvPr>
            <p:cNvSpPr/>
            <p:nvPr/>
          </p:nvSpPr>
          <p:spPr>
            <a:xfrm>
              <a:off x="8767136" y="1764792"/>
              <a:ext cx="2338626" cy="3334132"/>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8" name="Group 47">
              <a:extLst>
                <a:ext uri="{FF2B5EF4-FFF2-40B4-BE49-F238E27FC236}">
                  <a16:creationId xmlns:a16="http://schemas.microsoft.com/office/drawing/2014/main" id="{3C7D732F-E0EA-02A1-C116-7C8AD7AE53A4}"/>
                </a:ext>
              </a:extLst>
            </p:cNvPr>
            <p:cNvGrpSpPr/>
            <p:nvPr/>
          </p:nvGrpSpPr>
          <p:grpSpPr>
            <a:xfrm>
              <a:off x="8747203" y="1891582"/>
              <a:ext cx="2351516" cy="707886"/>
              <a:chOff x="540307" y="1873650"/>
              <a:chExt cx="2351516" cy="707886"/>
            </a:xfrm>
          </p:grpSpPr>
          <p:sp>
            <p:nvSpPr>
              <p:cNvPr id="49" name="TextBox 48">
                <a:extLst>
                  <a:ext uri="{FF2B5EF4-FFF2-40B4-BE49-F238E27FC236}">
                    <a16:creationId xmlns:a16="http://schemas.microsoft.com/office/drawing/2014/main" id="{D1B292E2-B647-B3FC-DFA6-2C2C40737E41}"/>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3</a:t>
                </a:r>
              </a:p>
            </p:txBody>
          </p:sp>
          <p:sp>
            <p:nvSpPr>
              <p:cNvPr id="50" name="Oval 49">
                <a:extLst>
                  <a:ext uri="{FF2B5EF4-FFF2-40B4-BE49-F238E27FC236}">
                    <a16:creationId xmlns:a16="http://schemas.microsoft.com/office/drawing/2014/main" id="{F3A141B5-4BED-68AB-8415-8477992B4656}"/>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 name="Slide Number Placeholder 4">
            <a:extLst>
              <a:ext uri="{FF2B5EF4-FFF2-40B4-BE49-F238E27FC236}">
                <a16:creationId xmlns:a16="http://schemas.microsoft.com/office/drawing/2014/main" id="{9EDBB18D-FB7D-F2BF-A154-79E6A3457C0D}"/>
              </a:ext>
            </a:extLst>
          </p:cNvPr>
          <p:cNvSpPr>
            <a:spLocks noGrp="1"/>
          </p:cNvSpPr>
          <p:nvPr>
            <p:ph type="sldNum" sz="quarter" idx="12"/>
          </p:nvPr>
        </p:nvSpPr>
        <p:spPr/>
        <p:txBody>
          <a:bodyPr/>
          <a:lstStyle/>
          <a:p>
            <a:fld id="{ABDA560F-461C-6043-9BC4-489BA92F7161}" type="slidenum">
              <a:rPr lang="en-US" smtClean="0"/>
              <a:t>5</a:t>
            </a:fld>
            <a:endParaRPr lang="en-US"/>
          </a:p>
        </p:txBody>
      </p:sp>
    </p:spTree>
    <p:extLst>
      <p:ext uri="{BB962C8B-B14F-4D97-AF65-F5344CB8AC3E}">
        <p14:creationId xmlns:p14="http://schemas.microsoft.com/office/powerpoint/2010/main" val="34427355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421DF-6CFF-1A13-6F53-64FE730E62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87DF08-3D51-1550-1D86-968CF68DDBED}"/>
              </a:ext>
            </a:extLst>
          </p:cNvPr>
          <p:cNvSpPr>
            <a:spLocks noGrp="1"/>
          </p:cNvSpPr>
          <p:nvPr>
            <p:ph type="title"/>
          </p:nvPr>
        </p:nvSpPr>
        <p:spPr/>
        <p:txBody>
          <a:bodyPr/>
          <a:lstStyle/>
          <a:p>
            <a:r>
              <a:rPr lang="en-US" dirty="0"/>
              <a:t>Login Nodes</a:t>
            </a:r>
          </a:p>
        </p:txBody>
      </p:sp>
      <p:sp>
        <p:nvSpPr>
          <p:cNvPr id="4" name="TextBox 3">
            <a:extLst>
              <a:ext uri="{FF2B5EF4-FFF2-40B4-BE49-F238E27FC236}">
                <a16:creationId xmlns:a16="http://schemas.microsoft.com/office/drawing/2014/main" id="{ABDFA786-1F2A-876F-21A0-E14E47954B1A}"/>
              </a:ext>
            </a:extLst>
          </p:cNvPr>
          <p:cNvSpPr txBox="1"/>
          <p:nvPr/>
        </p:nvSpPr>
        <p:spPr>
          <a:xfrm>
            <a:off x="838199" y="1992351"/>
            <a:ext cx="10677041" cy="4739759"/>
          </a:xfrm>
          <a:prstGeom prst="rect">
            <a:avLst/>
          </a:prstGeom>
          <a:noFill/>
        </p:spPr>
        <p:txBody>
          <a:bodyPr wrap="square" rtlCol="0">
            <a:spAutoFit/>
          </a:bodyPr>
          <a:lstStyle/>
          <a:p>
            <a:r>
              <a:rPr lang="en-US" sz="2400" dirty="0"/>
              <a:t>A Login Node is the entryway onto our system. They are meant for:</a:t>
            </a:r>
          </a:p>
          <a:p>
            <a:pPr marL="285750" indent="-285750">
              <a:buFont typeface="Arial" panose="020B0604020202020204" pitchFamily="34" charset="0"/>
              <a:buChar char="•"/>
            </a:pPr>
            <a:r>
              <a:rPr lang="en-US" sz="2400" dirty="0"/>
              <a:t>Viewing or editing files</a:t>
            </a:r>
          </a:p>
          <a:p>
            <a:pPr marL="285750" indent="-285750">
              <a:buFont typeface="Arial" panose="020B0604020202020204" pitchFamily="34" charset="0"/>
              <a:buChar char="•"/>
            </a:pPr>
            <a:r>
              <a:rPr lang="en-US" sz="2400" dirty="0"/>
              <a:t>Submitting Jobs</a:t>
            </a:r>
          </a:p>
          <a:p>
            <a:endParaRPr lang="en-US" sz="2400" dirty="0"/>
          </a:p>
          <a:p>
            <a:r>
              <a:rPr lang="en-US" sz="2400" dirty="0"/>
              <a:t>Login nodes should </a:t>
            </a:r>
            <a:r>
              <a:rPr lang="en-US" sz="2400" b="1" u="sng" dirty="0"/>
              <a:t>never</a:t>
            </a:r>
            <a:r>
              <a:rPr lang="en-US" sz="2400" dirty="0"/>
              <a:t> be used to run code or software.</a:t>
            </a:r>
          </a:p>
          <a:p>
            <a:endParaRPr lang="en-US" sz="2400" dirty="0"/>
          </a:p>
          <a:p>
            <a:r>
              <a:rPr lang="en-US" sz="2400" dirty="0"/>
              <a:t>Once you are on a terminal, you will know you are on a login node by looking at the command prompt. If it contains “login”, you are on a login node</a:t>
            </a:r>
          </a:p>
          <a:p>
            <a:endParaRPr lang="en-US" dirty="0"/>
          </a:p>
          <a:p>
            <a:endParaRPr lang="en-US" dirty="0"/>
          </a:p>
          <a:p>
            <a:endParaRPr lang="en-US" sz="2000" b="1" dirty="0">
              <a:solidFill>
                <a:srgbClr val="0070C0"/>
              </a:solidFill>
              <a:latin typeface="Consolas"/>
              <a:cs typeface="Consolas"/>
            </a:endParaRPr>
          </a:p>
          <a:p>
            <a:endParaRPr lang="en-US" dirty="0"/>
          </a:p>
          <a:p>
            <a:endParaRPr lang="en-US" dirty="0"/>
          </a:p>
          <a:p>
            <a:endParaRPr lang="en-US" dirty="0"/>
          </a:p>
        </p:txBody>
      </p:sp>
      <p:sp>
        <p:nvSpPr>
          <p:cNvPr id="6" name="Google Shape;677;p69">
            <a:extLst>
              <a:ext uri="{FF2B5EF4-FFF2-40B4-BE49-F238E27FC236}">
                <a16:creationId xmlns:a16="http://schemas.microsoft.com/office/drawing/2014/main" id="{E9A8ADAB-D6A2-D92B-FE75-ED16CD68B408}"/>
              </a:ext>
            </a:extLst>
          </p:cNvPr>
          <p:cNvSpPr/>
          <p:nvPr/>
        </p:nvSpPr>
        <p:spPr>
          <a:xfrm>
            <a:off x="1141741" y="5290566"/>
            <a:ext cx="7689900" cy="453574"/>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lvl="0"/>
            <a:r>
              <a:rPr lang="en-US" sz="2000" b="1" dirty="0">
                <a:solidFill>
                  <a:srgbClr val="0070C0"/>
                </a:solidFill>
                <a:latin typeface="Consolas"/>
                <a:cs typeface="Consolas"/>
                <a:sym typeface="Consolas"/>
              </a:rPr>
              <a:t>[ralphie@login-ci3]$</a:t>
            </a:r>
            <a:endParaRPr sz="2000" b="1" dirty="0">
              <a:solidFill>
                <a:srgbClr val="0070C0"/>
              </a:solidFill>
              <a:latin typeface="Consolas"/>
              <a:cs typeface="Consolas"/>
              <a:sym typeface="Consolas"/>
            </a:endParaRPr>
          </a:p>
        </p:txBody>
      </p:sp>
      <p:sp>
        <p:nvSpPr>
          <p:cNvPr id="5" name="Slide Number Placeholder 4">
            <a:extLst>
              <a:ext uri="{FF2B5EF4-FFF2-40B4-BE49-F238E27FC236}">
                <a16:creationId xmlns:a16="http://schemas.microsoft.com/office/drawing/2014/main" id="{E904E2A8-A53B-1490-81FA-6C578DCEB59D}"/>
              </a:ext>
            </a:extLst>
          </p:cNvPr>
          <p:cNvSpPr>
            <a:spLocks noGrp="1"/>
          </p:cNvSpPr>
          <p:nvPr>
            <p:ph type="sldNum" sz="quarter" idx="12"/>
          </p:nvPr>
        </p:nvSpPr>
        <p:spPr/>
        <p:txBody>
          <a:bodyPr/>
          <a:lstStyle/>
          <a:p>
            <a:fld id="{ABDA560F-461C-6043-9BC4-489BA92F7161}" type="slidenum">
              <a:rPr lang="en-US" smtClean="0"/>
              <a:t>6</a:t>
            </a:fld>
            <a:endParaRPr lang="en-US"/>
          </a:p>
        </p:txBody>
      </p:sp>
    </p:spTree>
    <p:extLst>
      <p:ext uri="{BB962C8B-B14F-4D97-AF65-F5344CB8AC3E}">
        <p14:creationId xmlns:p14="http://schemas.microsoft.com/office/powerpoint/2010/main" val="15935200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849B6-FA0E-632E-BFE9-5EF539529D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C3000C-7CEA-027F-5DAE-EDB1A472A199}"/>
              </a:ext>
            </a:extLst>
          </p:cNvPr>
          <p:cNvSpPr>
            <a:spLocks noGrp="1"/>
          </p:cNvSpPr>
          <p:nvPr>
            <p:ph type="title"/>
          </p:nvPr>
        </p:nvSpPr>
        <p:spPr>
          <a:xfrm>
            <a:off x="838199" y="365125"/>
            <a:ext cx="10848863" cy="1325563"/>
          </a:xfrm>
        </p:spPr>
        <p:txBody>
          <a:bodyPr/>
          <a:lstStyle/>
          <a:p>
            <a:r>
              <a:rPr lang="en-US" dirty="0"/>
              <a:t>Accessing the Terminal</a:t>
            </a:r>
            <a:endParaRPr lang="en-US" b="1" dirty="0">
              <a:solidFill>
                <a:srgbClr val="FF0000"/>
              </a:solidFill>
            </a:endParaRPr>
          </a:p>
        </p:txBody>
      </p:sp>
      <p:grpSp>
        <p:nvGrpSpPr>
          <p:cNvPr id="15" name="Group 14" descr="Arrow pointing to an image depecting a terminal obtained through ssh. The text next to the arrow indicates that this is only available to CU Boulder, CSU, and CU Anschutz">
            <a:extLst>
              <a:ext uri="{FF2B5EF4-FFF2-40B4-BE49-F238E27FC236}">
                <a16:creationId xmlns:a16="http://schemas.microsoft.com/office/drawing/2014/main" id="{AA283A69-CAF7-D377-BA26-103E3C742CC2}"/>
              </a:ext>
            </a:extLst>
          </p:cNvPr>
          <p:cNvGrpSpPr/>
          <p:nvPr/>
        </p:nvGrpSpPr>
        <p:grpSpPr>
          <a:xfrm>
            <a:off x="573024" y="1554479"/>
            <a:ext cx="9781486" cy="4918249"/>
            <a:chOff x="573024" y="1554479"/>
            <a:chExt cx="9781486" cy="4918249"/>
          </a:xfrm>
        </p:grpSpPr>
        <p:grpSp>
          <p:nvGrpSpPr>
            <p:cNvPr id="10" name="Group 9" descr="An image depicting a terminal obtained via ssh">
              <a:extLst>
                <a:ext uri="{FF2B5EF4-FFF2-40B4-BE49-F238E27FC236}">
                  <a16:creationId xmlns:a16="http://schemas.microsoft.com/office/drawing/2014/main" id="{99E25198-1369-D4C5-51BB-81C57861825F}"/>
                </a:ext>
              </a:extLst>
            </p:cNvPr>
            <p:cNvGrpSpPr/>
            <p:nvPr/>
          </p:nvGrpSpPr>
          <p:grpSpPr>
            <a:xfrm>
              <a:off x="573024" y="1554479"/>
              <a:ext cx="4151376" cy="3657600"/>
              <a:chOff x="573024" y="1929383"/>
              <a:chExt cx="4151376" cy="3657600"/>
            </a:xfrm>
          </p:grpSpPr>
          <p:pic>
            <p:nvPicPr>
              <p:cNvPr id="7" name="Graphic 6" descr="Cmd Terminal with solid fill">
                <a:extLst>
                  <a:ext uri="{FF2B5EF4-FFF2-40B4-BE49-F238E27FC236}">
                    <a16:creationId xmlns:a16="http://schemas.microsoft.com/office/drawing/2014/main" id="{72615F4C-761B-7DA5-B792-44E61068963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024" y="1929383"/>
                <a:ext cx="4151376" cy="3657600"/>
              </a:xfrm>
              <a:prstGeom prst="rect">
                <a:avLst/>
              </a:prstGeom>
            </p:spPr>
          </p:pic>
          <p:sp>
            <p:nvSpPr>
              <p:cNvPr id="8" name="TextBox 7">
                <a:extLst>
                  <a:ext uri="{FF2B5EF4-FFF2-40B4-BE49-F238E27FC236}">
                    <a16:creationId xmlns:a16="http://schemas.microsoft.com/office/drawing/2014/main" id="{1FA68AD3-91A2-EB77-18A0-E2F2771A9AD8}"/>
                  </a:ext>
                </a:extLst>
              </p:cNvPr>
              <p:cNvSpPr txBox="1"/>
              <p:nvPr/>
            </p:nvSpPr>
            <p:spPr>
              <a:xfrm>
                <a:off x="2185416" y="3250351"/>
                <a:ext cx="1766830" cy="1015663"/>
              </a:xfrm>
              <a:prstGeom prst="rect">
                <a:avLst/>
              </a:prstGeom>
              <a:noFill/>
            </p:spPr>
            <p:txBody>
              <a:bodyPr wrap="none" rtlCol="0">
                <a:spAutoFit/>
              </a:bodyPr>
              <a:lstStyle/>
              <a:p>
                <a:r>
                  <a:rPr lang="en-US" sz="6000" b="1" dirty="0"/>
                  <a:t>SSH</a:t>
                </a:r>
              </a:p>
            </p:txBody>
          </p:sp>
        </p:grpSp>
        <p:sp>
          <p:nvSpPr>
            <p:cNvPr id="4" name="Bent Arrow 3" descr="An arrow pointing to the image depecting a terminal obtained through ssh ">
              <a:extLst>
                <a:ext uri="{FF2B5EF4-FFF2-40B4-BE49-F238E27FC236}">
                  <a16:creationId xmlns:a16="http://schemas.microsoft.com/office/drawing/2014/main" id="{8903F95E-55D5-EC56-DE14-E4C91F299303}"/>
                </a:ext>
              </a:extLst>
            </p:cNvPr>
            <p:cNvSpPr/>
            <p:nvPr/>
          </p:nvSpPr>
          <p:spPr>
            <a:xfrm rot="16200000">
              <a:off x="2259811" y="4644227"/>
              <a:ext cx="1015664" cy="1164453"/>
            </a:xfrm>
            <a:prstGeom prst="bentArrow">
              <a:avLst>
                <a:gd name="adj1" fmla="val 27759"/>
                <a:gd name="adj2" fmla="val 33968"/>
                <a:gd name="adj3" fmla="val 38796"/>
                <a:gd name="adj4" fmla="val 4375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13" name="TextBox 12">
              <a:extLst>
                <a:ext uri="{FF2B5EF4-FFF2-40B4-BE49-F238E27FC236}">
                  <a16:creationId xmlns:a16="http://schemas.microsoft.com/office/drawing/2014/main" id="{361D4D72-04D4-3D0A-C757-A28D399697A7}"/>
                </a:ext>
              </a:extLst>
            </p:cNvPr>
            <p:cNvSpPr txBox="1"/>
            <p:nvPr/>
          </p:nvSpPr>
          <p:spPr>
            <a:xfrm>
              <a:off x="3466983" y="5272399"/>
              <a:ext cx="6887527" cy="1200329"/>
            </a:xfrm>
            <a:prstGeom prst="rect">
              <a:avLst/>
            </a:prstGeom>
            <a:noFill/>
          </p:spPr>
          <p:txBody>
            <a:bodyPr wrap="none" rtlCol="0">
              <a:spAutoFit/>
            </a:bodyPr>
            <a:lstStyle/>
            <a:p>
              <a:r>
                <a:rPr lang="en-US" sz="3600" b="1" dirty="0"/>
                <a:t>Available to CU Boulder, CSU, </a:t>
              </a:r>
            </a:p>
            <a:p>
              <a:r>
                <a:rPr lang="en-US" sz="3600" b="1" dirty="0"/>
                <a:t>CU Anschutz</a:t>
              </a:r>
            </a:p>
          </p:txBody>
        </p:sp>
      </p:grpSp>
      <p:grpSp>
        <p:nvGrpSpPr>
          <p:cNvPr id="11" name="Group 10" descr="Logo for Open OnDemand">
            <a:extLst>
              <a:ext uri="{FF2B5EF4-FFF2-40B4-BE49-F238E27FC236}">
                <a16:creationId xmlns:a16="http://schemas.microsoft.com/office/drawing/2014/main" id="{FD032D55-B880-8085-C60C-441CCBC12A44}"/>
              </a:ext>
            </a:extLst>
          </p:cNvPr>
          <p:cNvGrpSpPr/>
          <p:nvPr/>
        </p:nvGrpSpPr>
        <p:grpSpPr>
          <a:xfrm>
            <a:off x="5534135" y="1779011"/>
            <a:ext cx="6152927" cy="3208537"/>
            <a:chOff x="5534135" y="1929383"/>
            <a:chExt cx="6152927" cy="3208537"/>
          </a:xfrm>
        </p:grpSpPr>
        <p:pic>
          <p:nvPicPr>
            <p:cNvPr id="1026" name="Picture 2">
              <a:extLst>
                <a:ext uri="{FF2B5EF4-FFF2-40B4-BE49-F238E27FC236}">
                  <a16:creationId xmlns:a16="http://schemas.microsoft.com/office/drawing/2014/main" id="{315E240A-128C-0721-3473-E1CC67C50B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60319" y="1929383"/>
              <a:ext cx="5500561" cy="3208537"/>
            </a:xfrm>
            <a:prstGeom prst="rect">
              <a:avLst/>
            </a:prstGeom>
            <a:noFill/>
            <a:extLst>
              <a:ext uri="{909E8E84-426E-40DD-AFC4-6F175D3DCCD1}">
                <a14:hiddenFill xmlns:a14="http://schemas.microsoft.com/office/drawing/2010/main">
                  <a:solidFill>
                    <a:srgbClr val="FFFFFF"/>
                  </a:solidFill>
                </a14:hiddenFill>
              </a:ext>
            </a:extLst>
          </p:spPr>
        </p:pic>
        <p:sp>
          <p:nvSpPr>
            <p:cNvPr id="9" name="Rounded Rectangle 8">
              <a:extLst>
                <a:ext uri="{FF2B5EF4-FFF2-40B4-BE49-F238E27FC236}">
                  <a16:creationId xmlns:a16="http://schemas.microsoft.com/office/drawing/2014/main" id="{8C9EB0A2-80FF-ABBE-28D7-E35F40EB1D10}"/>
                </a:ext>
              </a:extLst>
            </p:cNvPr>
            <p:cNvSpPr/>
            <p:nvPr/>
          </p:nvSpPr>
          <p:spPr>
            <a:xfrm rot="5400000">
              <a:off x="7453689" y="457188"/>
              <a:ext cx="2313820" cy="6152927"/>
            </a:xfrm>
            <a:prstGeom prst="roundRect">
              <a:avLst>
                <a:gd name="adj" fmla="val 50000"/>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Slide Number Placeholder 4">
            <a:extLst>
              <a:ext uri="{FF2B5EF4-FFF2-40B4-BE49-F238E27FC236}">
                <a16:creationId xmlns:a16="http://schemas.microsoft.com/office/drawing/2014/main" id="{55992857-3DA0-E8E3-DFD3-E045D955F59B}"/>
              </a:ext>
            </a:extLst>
          </p:cNvPr>
          <p:cNvSpPr>
            <a:spLocks noGrp="1"/>
          </p:cNvSpPr>
          <p:nvPr>
            <p:ph type="sldNum" sz="quarter" idx="12"/>
          </p:nvPr>
        </p:nvSpPr>
        <p:spPr/>
        <p:txBody>
          <a:bodyPr/>
          <a:lstStyle/>
          <a:p>
            <a:fld id="{ABDA560F-461C-6043-9BC4-489BA92F7161}" type="slidenum">
              <a:rPr lang="en-US" smtClean="0"/>
              <a:t>7</a:t>
            </a:fld>
            <a:endParaRPr lang="en-US"/>
          </a:p>
        </p:txBody>
      </p:sp>
    </p:spTree>
    <p:extLst>
      <p:ext uri="{BB962C8B-B14F-4D97-AF65-F5344CB8AC3E}">
        <p14:creationId xmlns:p14="http://schemas.microsoft.com/office/powerpoint/2010/main" val="17543137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029A8C-62EC-E57C-B5AC-E43ACE804B19}"/>
              </a:ext>
            </a:extLst>
          </p:cNvPr>
          <p:cNvSpPr>
            <a:spLocks noGrp="1"/>
          </p:cNvSpPr>
          <p:nvPr>
            <p:ph type="title"/>
          </p:nvPr>
        </p:nvSpPr>
        <p:spPr>
          <a:xfrm>
            <a:off x="838200" y="136525"/>
            <a:ext cx="10515600" cy="1325563"/>
          </a:xfrm>
        </p:spPr>
        <p:txBody>
          <a:bodyPr/>
          <a:lstStyle/>
          <a:p>
            <a:r>
              <a:rPr lang="en-US" dirty="0"/>
              <a:t>Accessing the Terminal Cont.</a:t>
            </a:r>
          </a:p>
        </p:txBody>
      </p:sp>
      <p:sp>
        <p:nvSpPr>
          <p:cNvPr id="5" name="Slide Number Placeholder 4">
            <a:extLst>
              <a:ext uri="{FF2B5EF4-FFF2-40B4-BE49-F238E27FC236}">
                <a16:creationId xmlns:a16="http://schemas.microsoft.com/office/drawing/2014/main" id="{94B22216-06E5-B4E4-BE71-75150CB195DC}"/>
              </a:ext>
            </a:extLst>
          </p:cNvPr>
          <p:cNvSpPr>
            <a:spLocks noGrp="1"/>
          </p:cNvSpPr>
          <p:nvPr>
            <p:ph type="sldNum" sz="quarter" idx="12"/>
          </p:nvPr>
        </p:nvSpPr>
        <p:spPr/>
        <p:txBody>
          <a:bodyPr/>
          <a:lstStyle/>
          <a:p>
            <a:fld id="{ABDA560F-461C-6043-9BC4-489BA92F7161}" type="slidenum">
              <a:rPr lang="en-US" smtClean="0"/>
              <a:t>8</a:t>
            </a:fld>
            <a:endParaRPr lang="en-US"/>
          </a:p>
        </p:txBody>
      </p:sp>
      <p:grpSp>
        <p:nvGrpSpPr>
          <p:cNvPr id="3" name="Group 2" descr="Screenshot of the University of Colorado Boulder Research Computing Open OnDemand homepage. The Clusters menu in the top navigation bar is open, displaying Alpine Shell Access. A red outline, arrow, and enlarged inset on the right highlight the Clusters menu and Alpine Shell Access option. This provides instructions for accessing a terminal via Open OnDemand">
            <a:extLst>
              <a:ext uri="{FF2B5EF4-FFF2-40B4-BE49-F238E27FC236}">
                <a16:creationId xmlns:a16="http://schemas.microsoft.com/office/drawing/2014/main" id="{19F50948-1CDE-F15C-1B84-1268992B0EF9}"/>
              </a:ext>
            </a:extLst>
          </p:cNvPr>
          <p:cNvGrpSpPr/>
          <p:nvPr/>
        </p:nvGrpSpPr>
        <p:grpSpPr>
          <a:xfrm>
            <a:off x="838200" y="1535240"/>
            <a:ext cx="9812640" cy="4391560"/>
            <a:chOff x="838200" y="1535240"/>
            <a:chExt cx="9812640" cy="4391560"/>
          </a:xfrm>
        </p:grpSpPr>
        <p:pic>
          <p:nvPicPr>
            <p:cNvPr id="7" name="Picture 6" descr="A screenshot of a computer&#10;&#10;AI-generated content may be incorrect.">
              <a:extLst>
                <a:ext uri="{FF2B5EF4-FFF2-40B4-BE49-F238E27FC236}">
                  <a16:creationId xmlns:a16="http://schemas.microsoft.com/office/drawing/2014/main" id="{162B5603-6B0A-1049-94E5-A33C2715C78E}"/>
                </a:ext>
              </a:extLst>
            </p:cNvPr>
            <p:cNvPicPr>
              <a:picLocks noChangeAspect="1"/>
            </p:cNvPicPr>
            <p:nvPr/>
          </p:nvPicPr>
          <p:blipFill>
            <a:blip r:embed="rId2"/>
            <a:stretch>
              <a:fillRect/>
            </a:stretch>
          </p:blipFill>
          <p:spPr>
            <a:xfrm>
              <a:off x="838200" y="1535240"/>
              <a:ext cx="5345845" cy="4391560"/>
            </a:xfrm>
            <a:prstGeom prst="rect">
              <a:avLst/>
            </a:prstGeom>
            <a:ln>
              <a:solidFill>
                <a:schemeClr val="tx1"/>
              </a:solidFill>
            </a:ln>
          </p:spPr>
        </p:pic>
        <p:pic>
          <p:nvPicPr>
            <p:cNvPr id="8" name="Picture 7" descr="A screenshot of a computer&#10;&#10;AI-generated content may be incorrect.">
              <a:extLst>
                <a:ext uri="{FF2B5EF4-FFF2-40B4-BE49-F238E27FC236}">
                  <a16:creationId xmlns:a16="http://schemas.microsoft.com/office/drawing/2014/main" id="{53F0B396-882B-E124-6740-FAD0E23C92A0}"/>
                </a:ext>
              </a:extLst>
            </p:cNvPr>
            <p:cNvPicPr>
              <a:picLocks noChangeAspect="1"/>
            </p:cNvPicPr>
            <p:nvPr/>
          </p:nvPicPr>
          <p:blipFill>
            <a:blip r:embed="rId2"/>
            <a:srcRect l="21200" r="51992" b="85195"/>
            <a:stretch>
              <a:fillRect/>
            </a:stretch>
          </p:blipFill>
          <p:spPr>
            <a:xfrm>
              <a:off x="6821424" y="1535240"/>
              <a:ext cx="3829416" cy="1737360"/>
            </a:xfrm>
            <a:prstGeom prst="roundRect">
              <a:avLst/>
            </a:prstGeom>
            <a:ln w="57150">
              <a:solidFill>
                <a:srgbClr val="FF0000"/>
              </a:solidFill>
            </a:ln>
          </p:spPr>
        </p:pic>
        <p:sp>
          <p:nvSpPr>
            <p:cNvPr id="9" name="Rounded Rectangle 8">
              <a:extLst>
                <a:ext uri="{FF2B5EF4-FFF2-40B4-BE49-F238E27FC236}">
                  <a16:creationId xmlns:a16="http://schemas.microsoft.com/office/drawing/2014/main" id="{8A25DA60-FD6F-A998-C066-4DB5485CCEC6}"/>
                </a:ext>
              </a:extLst>
            </p:cNvPr>
            <p:cNvSpPr/>
            <p:nvPr/>
          </p:nvSpPr>
          <p:spPr>
            <a:xfrm>
              <a:off x="1975104" y="1535240"/>
              <a:ext cx="1399032" cy="604456"/>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0068BE46-195F-7289-29A3-1E032F01279A}"/>
                </a:ext>
              </a:extLst>
            </p:cNvPr>
            <p:cNvCxnSpPr/>
            <p:nvPr/>
          </p:nvCxnSpPr>
          <p:spPr>
            <a:xfrm>
              <a:off x="3374136" y="1837944"/>
              <a:ext cx="3383280" cy="0"/>
            </a:xfrm>
            <a:prstGeom prst="straightConnector1">
              <a:avLst/>
            </a:prstGeom>
            <a:ln w="5715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4" name="TextBox 3">
            <a:extLst>
              <a:ext uri="{FF2B5EF4-FFF2-40B4-BE49-F238E27FC236}">
                <a16:creationId xmlns:a16="http://schemas.microsoft.com/office/drawing/2014/main" id="{42FA6D46-1D09-239E-8CDF-72A21D37154E}"/>
              </a:ext>
            </a:extLst>
          </p:cNvPr>
          <p:cNvSpPr txBox="1"/>
          <p:nvPr/>
        </p:nvSpPr>
        <p:spPr>
          <a:xfrm>
            <a:off x="6689540" y="3937312"/>
            <a:ext cx="4775630" cy="1754326"/>
          </a:xfrm>
          <a:prstGeom prst="rect">
            <a:avLst/>
          </a:prstGeom>
          <a:noFill/>
        </p:spPr>
        <p:txBody>
          <a:bodyPr wrap="square" rtlCol="0">
            <a:spAutoFit/>
          </a:bodyPr>
          <a:lstStyle/>
          <a:p>
            <a:r>
              <a:rPr lang="en-US" dirty="0"/>
              <a:t>If you would like to access a terminal via ssh, please see:</a:t>
            </a:r>
          </a:p>
          <a:p>
            <a:r>
              <a:rPr lang="en-US" dirty="0"/>
              <a:t> </a:t>
            </a:r>
            <a:r>
              <a:rPr lang="en-US" dirty="0" err="1">
                <a:solidFill>
                  <a:srgbClr val="0563C1"/>
                </a:solidFill>
                <a:cs typeface="Arial"/>
                <a:sym typeface="Arial"/>
              </a:rPr>
              <a:t>curc.readthedocs.io</a:t>
            </a:r>
            <a:r>
              <a:rPr lang="en-US" dirty="0">
                <a:solidFill>
                  <a:srgbClr val="0563C1"/>
                </a:solidFill>
                <a:cs typeface="Arial"/>
                <a:sym typeface="Arial"/>
              </a:rPr>
              <a:t>/</a:t>
            </a:r>
            <a:r>
              <a:rPr lang="en-US" dirty="0" err="1">
                <a:solidFill>
                  <a:srgbClr val="0563C1"/>
                </a:solidFill>
                <a:cs typeface="Arial"/>
                <a:sym typeface="Arial"/>
              </a:rPr>
              <a:t>en</a:t>
            </a:r>
            <a:r>
              <a:rPr lang="en-US" dirty="0">
                <a:solidFill>
                  <a:srgbClr val="0563C1"/>
                </a:solidFill>
                <a:cs typeface="Arial"/>
                <a:sym typeface="Arial"/>
              </a:rPr>
              <a:t>/latest/</a:t>
            </a:r>
            <a:r>
              <a:rPr lang="en-US" dirty="0" err="1">
                <a:solidFill>
                  <a:srgbClr val="0563C1"/>
                </a:solidFill>
                <a:cs typeface="Arial"/>
                <a:sym typeface="Arial"/>
              </a:rPr>
              <a:t>getting_started</a:t>
            </a:r>
            <a:r>
              <a:rPr lang="en-US" dirty="0">
                <a:solidFill>
                  <a:srgbClr val="0563C1"/>
                </a:solidFill>
                <a:cs typeface="Arial"/>
                <a:sym typeface="Arial"/>
              </a:rPr>
              <a:t>/</a:t>
            </a:r>
            <a:r>
              <a:rPr lang="en-US" dirty="0" err="1">
                <a:solidFill>
                  <a:srgbClr val="0563C1"/>
                </a:solidFill>
                <a:cs typeface="Arial"/>
                <a:sym typeface="Arial"/>
              </a:rPr>
              <a:t>logging-in.html#terminal-access-for-different-operating-systems</a:t>
            </a:r>
            <a:r>
              <a:rPr lang="en-US" dirty="0">
                <a:solidFill>
                  <a:srgbClr val="0563C1"/>
                </a:solidFill>
                <a:cs typeface="Arial"/>
                <a:sym typeface="Arial"/>
              </a:rPr>
              <a:t>  </a:t>
            </a:r>
          </a:p>
        </p:txBody>
      </p:sp>
    </p:spTree>
    <p:extLst>
      <p:ext uri="{BB962C8B-B14F-4D97-AF65-F5344CB8AC3E}">
        <p14:creationId xmlns:p14="http://schemas.microsoft.com/office/powerpoint/2010/main" val="38791211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4ECE1CA5-697B-D029-7FE7-F2D009956B39}"/>
              </a:ext>
              <a:ext uri="{C183D7F6-B498-43B3-948B-1728B52AA6E4}">
                <adec:decorative xmlns:adec="http://schemas.microsoft.com/office/drawing/2017/decorative" val="1"/>
              </a:ext>
            </a:extLst>
          </p:cNvPr>
          <p:cNvGrpSpPr>
            <a:grpSpLocks noChangeAspect="1"/>
          </p:cNvGrpSpPr>
          <p:nvPr/>
        </p:nvGrpSpPr>
        <p:grpSpPr>
          <a:xfrm>
            <a:off x="289560" y="414761"/>
            <a:ext cx="1097280" cy="1097280"/>
            <a:chOff x="7287768" y="1408176"/>
            <a:chExt cx="2286000" cy="2286000"/>
          </a:xfrm>
        </p:grpSpPr>
        <p:pic>
          <p:nvPicPr>
            <p:cNvPr id="6" name="Google Shape;120;p16">
              <a:extLst>
                <a:ext uri="{FF2B5EF4-FFF2-40B4-BE49-F238E27FC236}">
                  <a16:creationId xmlns:a16="http://schemas.microsoft.com/office/drawing/2014/main" id="{31BBCAC4-1C2A-D7A2-C754-3DC68A866644}"/>
                </a:ext>
                <a:ext uri="{C183D7F6-B498-43B3-948B-1728B52AA6E4}">
                  <adec:decorative xmlns:adec="http://schemas.microsoft.com/office/drawing/2017/decorative" val="1"/>
                </a:ext>
              </a:extLst>
            </p:cNvPr>
            <p:cNvPicPr preferRelativeResize="0">
              <a:picLocks noChangeAspect="1"/>
            </p:cNvPicPr>
            <p:nvPr/>
          </p:nvPicPr>
          <p:blipFill>
            <a:blip r:embed="rId2">
              <a:alphaModFix/>
            </a:blip>
            <a:stretch>
              <a:fillRect/>
            </a:stretch>
          </p:blipFill>
          <p:spPr>
            <a:xfrm>
              <a:off x="7676983" y="1573086"/>
              <a:ext cx="1599009" cy="1737360"/>
            </a:xfrm>
            <a:prstGeom prst="rect">
              <a:avLst/>
            </a:prstGeom>
            <a:noFill/>
            <a:ln>
              <a:noFill/>
            </a:ln>
          </p:spPr>
        </p:pic>
        <p:sp>
          <p:nvSpPr>
            <p:cNvPr id="7" name="Oval 6">
              <a:extLst>
                <a:ext uri="{FF2B5EF4-FFF2-40B4-BE49-F238E27FC236}">
                  <a16:creationId xmlns:a16="http://schemas.microsoft.com/office/drawing/2014/main" id="{FC43F646-79E8-DA81-69AF-199DEF43DB61}"/>
                </a:ext>
              </a:extLst>
            </p:cNvPr>
            <p:cNvSpPr>
              <a:spLocks noChangeAspect="1"/>
            </p:cNvSpPr>
            <p:nvPr/>
          </p:nvSpPr>
          <p:spPr>
            <a:xfrm>
              <a:off x="7287768" y="1408176"/>
              <a:ext cx="2286000" cy="2286000"/>
            </a:xfrm>
            <a:prstGeom prst="ellipse">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D817A85-75CE-B5C7-7739-FF43294CF2B4}"/>
              </a:ext>
            </a:extLst>
          </p:cNvPr>
          <p:cNvSpPr>
            <a:spLocks noGrp="1"/>
          </p:cNvSpPr>
          <p:nvPr>
            <p:ph type="title"/>
          </p:nvPr>
        </p:nvSpPr>
        <p:spPr>
          <a:xfrm>
            <a:off x="1655064" y="300619"/>
            <a:ext cx="9506712" cy="1325563"/>
          </a:xfrm>
        </p:spPr>
        <p:txBody>
          <a:bodyPr/>
          <a:lstStyle/>
          <a:p>
            <a:r>
              <a:rPr lang="en-US" dirty="0"/>
              <a:t>Linux Command Line</a:t>
            </a:r>
          </a:p>
        </p:txBody>
      </p:sp>
      <p:pic>
        <p:nvPicPr>
          <p:cNvPr id="13" name="Graphic 12" descr="Open folder with solid fill">
            <a:extLst>
              <a:ext uri="{FF2B5EF4-FFF2-40B4-BE49-F238E27FC236}">
                <a16:creationId xmlns:a16="http://schemas.microsoft.com/office/drawing/2014/main" id="{C793D1E0-C52D-E0A0-E590-D1F9CAB35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56104" y="1664208"/>
            <a:ext cx="3108960" cy="3108960"/>
          </a:xfrm>
          <a:prstGeom prst="rect">
            <a:avLst/>
          </a:prstGeom>
        </p:spPr>
      </p:pic>
      <p:sp>
        <p:nvSpPr>
          <p:cNvPr id="11" name="TextBox 10">
            <a:extLst>
              <a:ext uri="{FF2B5EF4-FFF2-40B4-BE49-F238E27FC236}">
                <a16:creationId xmlns:a16="http://schemas.microsoft.com/office/drawing/2014/main" id="{4049F409-F674-7932-E507-A46AC4AA9AD4}"/>
              </a:ext>
            </a:extLst>
          </p:cNvPr>
          <p:cNvSpPr txBox="1"/>
          <p:nvPr/>
        </p:nvSpPr>
        <p:spPr>
          <a:xfrm>
            <a:off x="2234417" y="4307226"/>
            <a:ext cx="3544560" cy="646331"/>
          </a:xfrm>
          <a:prstGeom prst="rect">
            <a:avLst/>
          </a:prstGeom>
          <a:noFill/>
        </p:spPr>
        <p:txBody>
          <a:bodyPr wrap="none" rtlCol="0">
            <a:spAutoFit/>
          </a:bodyPr>
          <a:lstStyle/>
          <a:p>
            <a:r>
              <a:rPr lang="en-US" sz="3600" b="1" dirty="0"/>
              <a:t>File Operations</a:t>
            </a:r>
          </a:p>
        </p:txBody>
      </p:sp>
      <p:pic>
        <p:nvPicPr>
          <p:cNvPr id="19" name="Graphic 18" descr="Scroll with solid fill">
            <a:extLst>
              <a:ext uri="{FF2B5EF4-FFF2-40B4-BE49-F238E27FC236}">
                <a16:creationId xmlns:a16="http://schemas.microsoft.com/office/drawing/2014/main" id="{5E6A5D04-E2D9-9257-FDF4-5CFA7C9ECE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11570" y="2029968"/>
            <a:ext cx="2377440" cy="2377440"/>
          </a:xfrm>
          <a:prstGeom prst="rect">
            <a:avLst/>
          </a:prstGeom>
        </p:spPr>
      </p:pic>
      <p:sp>
        <p:nvSpPr>
          <p:cNvPr id="20" name="TextBox 19">
            <a:extLst>
              <a:ext uri="{FF2B5EF4-FFF2-40B4-BE49-F238E27FC236}">
                <a16:creationId xmlns:a16="http://schemas.microsoft.com/office/drawing/2014/main" id="{5FAA5060-E8A0-590D-6B76-CE0AC455A475}"/>
              </a:ext>
            </a:extLst>
          </p:cNvPr>
          <p:cNvSpPr txBox="1"/>
          <p:nvPr/>
        </p:nvSpPr>
        <p:spPr>
          <a:xfrm>
            <a:off x="7403796" y="4307226"/>
            <a:ext cx="2185214" cy="646331"/>
          </a:xfrm>
          <a:prstGeom prst="rect">
            <a:avLst/>
          </a:prstGeom>
          <a:noFill/>
        </p:spPr>
        <p:txBody>
          <a:bodyPr wrap="none" rtlCol="0">
            <a:spAutoFit/>
          </a:bodyPr>
          <a:lstStyle/>
          <a:p>
            <a:r>
              <a:rPr lang="en-US" sz="3600" b="1" dirty="0"/>
              <a:t>Scripting</a:t>
            </a:r>
          </a:p>
        </p:txBody>
      </p:sp>
      <p:sp>
        <p:nvSpPr>
          <p:cNvPr id="5" name="Slide Number Placeholder 4">
            <a:extLst>
              <a:ext uri="{FF2B5EF4-FFF2-40B4-BE49-F238E27FC236}">
                <a16:creationId xmlns:a16="http://schemas.microsoft.com/office/drawing/2014/main" id="{1112D271-C3A8-074E-FFF1-4B8DF84C09DA}"/>
              </a:ext>
            </a:extLst>
          </p:cNvPr>
          <p:cNvSpPr>
            <a:spLocks noGrp="1"/>
          </p:cNvSpPr>
          <p:nvPr>
            <p:ph type="sldNum" sz="quarter" idx="12"/>
          </p:nvPr>
        </p:nvSpPr>
        <p:spPr/>
        <p:txBody>
          <a:bodyPr/>
          <a:lstStyle/>
          <a:p>
            <a:fld id="{ABDA560F-461C-6043-9BC4-489BA92F7161}" type="slidenum">
              <a:rPr lang="en-US" smtClean="0"/>
              <a:t>9</a:t>
            </a:fld>
            <a:endParaRPr lang="en-US"/>
          </a:p>
        </p:txBody>
      </p:sp>
    </p:spTree>
    <p:extLst>
      <p:ext uri="{BB962C8B-B14F-4D97-AF65-F5344CB8AC3E}">
        <p14:creationId xmlns:p14="http://schemas.microsoft.com/office/powerpoint/2010/main" val="3582249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389;p33">
            <a:extLst>
              <a:ext uri="{FF2B5EF4-FFF2-40B4-BE49-F238E27FC236}">
                <a16:creationId xmlns:a16="http://schemas.microsoft.com/office/drawing/2014/main" id="{29EC96DC-426B-7C01-1776-6B63530E424A}"/>
              </a:ext>
            </a:extLst>
          </p:cNvPr>
          <p:cNvSpPr txBox="1">
            <a:spLocks noGrp="1"/>
          </p:cNvSpPr>
          <p:nvPr>
            <p:ph type="title"/>
          </p:nvPr>
        </p:nvSpPr>
        <p:spPr>
          <a:xfrm>
            <a:off x="457950" y="640575"/>
            <a:ext cx="11471100" cy="691851"/>
          </a:xfrm>
          <a:prstGeom prst="rect">
            <a:avLst/>
          </a:prstGeom>
          <a:noFill/>
          <a:ln>
            <a:noFill/>
          </a:ln>
        </p:spPr>
        <p:txBody>
          <a:bodyPr spcFirstLastPara="1" wrap="square" lIns="0" tIns="14600" rIns="0" bIns="0" anchor="ctr" anchorCtr="0">
            <a:spAutoFit/>
          </a:bodyPr>
          <a:lstStyle/>
          <a:p>
            <a:pPr marL="12700" lvl="0" indent="0" algn="l" rtl="0">
              <a:lnSpc>
                <a:spcPct val="100000"/>
              </a:lnSpc>
              <a:spcBef>
                <a:spcPts val="0"/>
              </a:spcBef>
              <a:spcAft>
                <a:spcPts val="0"/>
              </a:spcAft>
              <a:buClr>
                <a:schemeClr val="dk1"/>
              </a:buClr>
              <a:buSzPts val="4350"/>
              <a:buFont typeface="Arial Black"/>
              <a:buNone/>
            </a:pPr>
            <a:r>
              <a:rPr lang="en-US" b="1" u="sng" dirty="0">
                <a:latin typeface="+mn-lt"/>
              </a:rPr>
              <a:t>L</a:t>
            </a:r>
            <a:r>
              <a:rPr lang="en-US" dirty="0">
                <a:latin typeface="+mn-lt"/>
              </a:rPr>
              <a:t>i</a:t>
            </a:r>
            <a:r>
              <a:rPr lang="en-US" b="1" u="sng" dirty="0">
                <a:latin typeface="+mn-lt"/>
              </a:rPr>
              <a:t>s</a:t>
            </a:r>
            <a:r>
              <a:rPr lang="en-US" dirty="0">
                <a:latin typeface="+mn-lt"/>
              </a:rPr>
              <a:t>t Files and Directories</a:t>
            </a:r>
            <a:endParaRPr dirty="0">
              <a:latin typeface="+mn-lt"/>
            </a:endParaRPr>
          </a:p>
        </p:txBody>
      </p:sp>
      <p:sp>
        <p:nvSpPr>
          <p:cNvPr id="7" name="Google Shape;391;p33">
            <a:extLst>
              <a:ext uri="{FF2B5EF4-FFF2-40B4-BE49-F238E27FC236}">
                <a16:creationId xmlns:a16="http://schemas.microsoft.com/office/drawing/2014/main" id="{B4016F04-24FF-059A-E0E9-34034B0B2F03}"/>
              </a:ext>
            </a:extLst>
          </p:cNvPr>
          <p:cNvSpPr txBox="1"/>
          <p:nvPr/>
        </p:nvSpPr>
        <p:spPr>
          <a:xfrm>
            <a:off x="1028838" y="2149430"/>
            <a:ext cx="9869620" cy="3863868"/>
          </a:xfrm>
          <a:prstGeom prst="rect">
            <a:avLst/>
          </a:prstGeom>
          <a:noFill/>
          <a:ln>
            <a:noFill/>
          </a:ln>
        </p:spPr>
        <p:txBody>
          <a:bodyPr spcFirstLastPara="1" wrap="square" lIns="0" tIns="16500" rIns="0" bIns="0" anchor="t" anchorCtr="0">
            <a:spAutoFit/>
          </a:bodyPr>
          <a:lstStyle/>
          <a:p>
            <a:pPr marL="12700" marR="0" lvl="0" algn="l" rtl="0">
              <a:lnSpc>
                <a:spcPct val="100000"/>
              </a:lnSpc>
              <a:spcBef>
                <a:spcPts val="0"/>
              </a:spcBef>
              <a:spcAft>
                <a:spcPts val="0"/>
              </a:spcAft>
              <a:buClr>
                <a:srgbClr val="CEB97C"/>
              </a:buClr>
            </a:pPr>
            <a:r>
              <a:rPr lang="en-US" sz="2800" b="1" dirty="0">
                <a:solidFill>
                  <a:srgbClr val="0070C0"/>
                </a:solidFill>
                <a:latin typeface="Consolas"/>
                <a:cs typeface="Consolas"/>
              </a:rPr>
              <a:t>l</a:t>
            </a:r>
            <a:r>
              <a:rPr lang="en-US" sz="2800" b="1" dirty="0">
                <a:solidFill>
                  <a:srgbClr val="0070C0"/>
                </a:solidFill>
                <a:latin typeface="Consolas"/>
                <a:cs typeface="Consolas"/>
                <a:sym typeface="Arial"/>
              </a:rPr>
              <a:t>s [option] [file/directory]</a:t>
            </a:r>
          </a:p>
          <a:p>
            <a:pPr marL="12700" marR="0" lvl="0" algn="l" rtl="0">
              <a:lnSpc>
                <a:spcPct val="100000"/>
              </a:lnSpc>
              <a:spcBef>
                <a:spcPts val="0"/>
              </a:spcBef>
              <a:spcAft>
                <a:spcPts val="0"/>
              </a:spcAft>
              <a:buClr>
                <a:srgbClr val="CEB97C"/>
              </a:buClr>
            </a:pPr>
            <a:endParaRPr lang="en-US" sz="2800" b="1" dirty="0">
              <a:solidFill>
                <a:srgbClr val="0070C0"/>
              </a:solidFill>
              <a:latin typeface="Consolas"/>
              <a:cs typeface="Consolas"/>
            </a:endParaRPr>
          </a:p>
          <a:p>
            <a:pPr marL="12700" marR="0" lvl="0" algn="l" rtl="0">
              <a:lnSpc>
                <a:spcPct val="125000"/>
              </a:lnSpc>
              <a:spcBef>
                <a:spcPts val="0"/>
              </a:spcBef>
              <a:spcAft>
                <a:spcPts val="0"/>
              </a:spcAft>
              <a:buClr>
                <a:srgbClr val="CEB97C"/>
              </a:buClr>
            </a:pPr>
            <a:r>
              <a:rPr lang="en-US" sz="2800" b="1" dirty="0">
                <a:solidFill>
                  <a:srgbClr val="0070C0"/>
                </a:solidFill>
                <a:latin typeface="Consolas"/>
                <a:cs typeface="Consolas"/>
              </a:rPr>
              <a:t>  -l (long format)         -a (all files)</a:t>
            </a:r>
          </a:p>
          <a:p>
            <a:pPr marL="12700" marR="0" lvl="0" algn="l" rtl="0">
              <a:lnSpc>
                <a:spcPct val="125000"/>
              </a:lnSpc>
              <a:spcBef>
                <a:spcPts val="0"/>
              </a:spcBef>
              <a:spcAft>
                <a:spcPts val="0"/>
              </a:spcAft>
              <a:buClr>
                <a:srgbClr val="CEB97C"/>
              </a:buClr>
            </a:pPr>
            <a:r>
              <a:rPr lang="en-US" sz="2800" b="1" dirty="0">
                <a:solidFill>
                  <a:srgbClr val="0070C0"/>
                </a:solidFill>
                <a:latin typeface="Consolas"/>
                <a:cs typeface="Consolas"/>
              </a:rPr>
              <a:t>  -h (readable file size)  -r (reverse sort)</a:t>
            </a:r>
          </a:p>
          <a:p>
            <a:pPr marL="12700" marR="0" lvl="0" algn="l" rtl="0">
              <a:lnSpc>
                <a:spcPct val="125000"/>
              </a:lnSpc>
              <a:spcBef>
                <a:spcPts val="0"/>
              </a:spcBef>
              <a:spcAft>
                <a:spcPts val="0"/>
              </a:spcAft>
              <a:buClr>
                <a:srgbClr val="CEB97C"/>
              </a:buClr>
            </a:pPr>
            <a:r>
              <a:rPr lang="en-US" sz="2800" b="1" dirty="0">
                <a:solidFill>
                  <a:srgbClr val="0070C0"/>
                </a:solidFill>
                <a:latin typeface="Consolas"/>
                <a:cs typeface="Consolas"/>
              </a:rPr>
              <a:t>  -S (sort by file size)</a:t>
            </a:r>
          </a:p>
          <a:p>
            <a:pPr marL="12700">
              <a:lnSpc>
                <a:spcPct val="125000"/>
              </a:lnSpc>
              <a:buClr>
                <a:srgbClr val="CEB97C"/>
              </a:buClr>
            </a:pPr>
            <a:r>
              <a:rPr lang="en-US" sz="2800" b="1" dirty="0">
                <a:solidFill>
                  <a:srgbClr val="0070C0"/>
                </a:solidFill>
                <a:latin typeface="Consolas"/>
                <a:cs typeface="Consolas"/>
              </a:rPr>
              <a:t>  -t (sort by modification time)</a:t>
            </a:r>
          </a:p>
          <a:p>
            <a:pPr marL="12700" marR="0" lvl="0" algn="l" rtl="0">
              <a:lnSpc>
                <a:spcPct val="100000"/>
              </a:lnSpc>
              <a:spcBef>
                <a:spcPts val="0"/>
              </a:spcBef>
              <a:spcAft>
                <a:spcPts val="0"/>
              </a:spcAft>
              <a:buClr>
                <a:srgbClr val="CEB97C"/>
              </a:buClr>
            </a:pPr>
            <a:endParaRPr lang="en-US" sz="5400" b="1" dirty="0">
              <a:solidFill>
                <a:schemeClr val="accent1">
                  <a:lumMod val="75000"/>
                </a:schemeClr>
              </a:solidFill>
              <a:latin typeface="Consolas" panose="020B0609020204030204" pitchFamily="49" charset="0"/>
              <a:ea typeface="Helvetica Neue Light" panose="02000403000000020004" pitchFamily="2" charset="0"/>
              <a:cs typeface="Consolas" panose="020B0609020204030204" pitchFamily="49" charset="0"/>
            </a:endParaRPr>
          </a:p>
        </p:txBody>
      </p:sp>
      <p:sp>
        <p:nvSpPr>
          <p:cNvPr id="5" name="Slide Number Placeholder 4">
            <a:extLst>
              <a:ext uri="{FF2B5EF4-FFF2-40B4-BE49-F238E27FC236}">
                <a16:creationId xmlns:a16="http://schemas.microsoft.com/office/drawing/2014/main" id="{AF1D3E1B-63DE-13CD-8AD0-94C6DC443D46}"/>
              </a:ext>
            </a:extLst>
          </p:cNvPr>
          <p:cNvSpPr>
            <a:spLocks noGrp="1"/>
          </p:cNvSpPr>
          <p:nvPr>
            <p:ph type="sldNum" sz="quarter" idx="12"/>
          </p:nvPr>
        </p:nvSpPr>
        <p:spPr/>
        <p:txBody>
          <a:bodyPr/>
          <a:lstStyle/>
          <a:p>
            <a:fld id="{ABDA560F-461C-6043-9BC4-489BA92F7161}" type="slidenum">
              <a:rPr lang="en-US" smtClean="0"/>
              <a:t>10</a:t>
            </a:fld>
            <a:endParaRPr lang="en-US"/>
          </a:p>
        </p:txBody>
      </p:sp>
    </p:spTree>
    <p:extLst>
      <p:ext uri="{BB962C8B-B14F-4D97-AF65-F5344CB8AC3E}">
        <p14:creationId xmlns:p14="http://schemas.microsoft.com/office/powerpoint/2010/main" val="20626493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251;p28">
            <a:extLst>
              <a:ext uri="{FF2B5EF4-FFF2-40B4-BE49-F238E27FC236}">
                <a16:creationId xmlns:a16="http://schemas.microsoft.com/office/drawing/2014/main" id="{3E998812-C6CE-F047-D7FC-6B938EF683E5}"/>
              </a:ext>
            </a:extLst>
          </p:cNvPr>
          <p:cNvSpPr txBox="1">
            <a:spLocks noGrp="1"/>
          </p:cNvSpPr>
          <p:nvPr>
            <p:ph type="title"/>
          </p:nvPr>
        </p:nvSpPr>
        <p:spPr>
          <a:xfrm>
            <a:off x="878686" y="356858"/>
            <a:ext cx="10182023" cy="689932"/>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chemeClr val="dk1"/>
              </a:buClr>
              <a:buSzPts val="4400"/>
              <a:buFont typeface="Arial Black"/>
              <a:buNone/>
            </a:pPr>
            <a:r>
              <a:rPr lang="en-US" dirty="0"/>
              <a:t>Standard CURC Directories</a:t>
            </a:r>
            <a:endParaRPr dirty="0"/>
          </a:p>
        </p:txBody>
      </p:sp>
      <p:grpSp>
        <p:nvGrpSpPr>
          <p:cNvPr id="92" name="Group 91" descr="Diagram of CU Boulder Research Computing storage directories. The top level branches into /home, /projects, /scratch, /curc (software stack), and /pl. User directories are /home/&lt;user&gt;, /projects/&lt;user&gt;, and /scratch/alpine/&lt;user&gt;. The /pl directory branches into /pl/active/&lt;group&gt; and /pl/archive/&lt;group&gt;.">
            <a:extLst>
              <a:ext uri="{FF2B5EF4-FFF2-40B4-BE49-F238E27FC236}">
                <a16:creationId xmlns:a16="http://schemas.microsoft.com/office/drawing/2014/main" id="{58FF7E23-A7E8-3698-8FC0-C48611FD7B06}"/>
              </a:ext>
            </a:extLst>
          </p:cNvPr>
          <p:cNvGrpSpPr/>
          <p:nvPr/>
        </p:nvGrpSpPr>
        <p:grpSpPr>
          <a:xfrm>
            <a:off x="260838" y="2127006"/>
            <a:ext cx="11690413" cy="2613503"/>
            <a:chOff x="260838" y="2127006"/>
            <a:chExt cx="11690413" cy="2613503"/>
          </a:xfrm>
        </p:grpSpPr>
        <p:sp>
          <p:nvSpPr>
            <p:cNvPr id="75" name="Text 14">
              <a:extLst>
                <a:ext uri="{FF2B5EF4-FFF2-40B4-BE49-F238E27FC236}">
                  <a16:creationId xmlns:a16="http://schemas.microsoft.com/office/drawing/2014/main" id="{6CA5B1BD-41BA-BEDD-9A12-63DF1449EE7F}"/>
                </a:ext>
              </a:extLst>
            </p:cNvPr>
            <p:cNvSpPr/>
            <p:nvPr/>
          </p:nvSpPr>
          <p:spPr>
            <a:xfrm>
              <a:off x="260838" y="3393641"/>
              <a:ext cx="1453515" cy="359918"/>
            </a:xfrm>
            <a:prstGeom prst="rect">
              <a:avLst/>
            </a:prstGeom>
            <a:noFill/>
            <a:ln/>
          </p:spPr>
          <p:txBody>
            <a:bodyPr wrap="square" lIns="0" tIns="0" rIns="0" bIns="0" rtlCol="0" anchor="ctr">
              <a:normAutofit fontScale="775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/home/&lt;user&gt;</a:t>
              </a:r>
              <a:endParaRPr lang="en-US" sz="2200" dirty="0"/>
            </a:p>
          </p:txBody>
        </p:sp>
        <p:grpSp>
          <p:nvGrpSpPr>
            <p:cNvPr id="91" name="Group 90" descr="Diagram of CU Boulder Research Computing storage directories. The top level branches into /home, /projects, /scratch, /curc (software stack), and /pl. User directories are /home/&lt;user&gt;, /projects/&lt;user&gt;, and /scratch/alpine/&lt;user&gt;. The /pl directory branches into /pl/active/&lt;group&gt; and /pl/archive/&lt;group&gt;.">
              <a:extLst>
                <a:ext uri="{FF2B5EF4-FFF2-40B4-BE49-F238E27FC236}">
                  <a16:creationId xmlns:a16="http://schemas.microsoft.com/office/drawing/2014/main" id="{4E845F0D-C0B1-2D7D-D68E-4F917EC5ADEE}"/>
                </a:ext>
              </a:extLst>
            </p:cNvPr>
            <p:cNvGrpSpPr/>
            <p:nvPr/>
          </p:nvGrpSpPr>
          <p:grpSpPr>
            <a:xfrm>
              <a:off x="593070" y="2127006"/>
              <a:ext cx="11358181" cy="2613503"/>
              <a:chOff x="593070" y="2127006"/>
              <a:chExt cx="11358181" cy="2613503"/>
            </a:xfrm>
          </p:grpSpPr>
          <p:sp>
            <p:nvSpPr>
              <p:cNvPr id="62" name="Shape 1">
                <a:extLst>
                  <a:ext uri="{FF2B5EF4-FFF2-40B4-BE49-F238E27FC236}">
                    <a16:creationId xmlns:a16="http://schemas.microsoft.com/office/drawing/2014/main" id="{F84A57B2-7547-22F9-E48E-17760A383F62}"/>
                  </a:ext>
                </a:extLst>
              </p:cNvPr>
              <p:cNvSpPr/>
              <p:nvPr/>
            </p:nvSpPr>
            <p:spPr>
              <a:xfrm>
                <a:off x="932223" y="2127006"/>
                <a:ext cx="8001254" cy="0"/>
              </a:xfrm>
              <a:prstGeom prst="line">
                <a:avLst/>
              </a:prstGeom>
              <a:noFill/>
              <a:ln w="22860">
                <a:solidFill>
                  <a:srgbClr val="111111"/>
                </a:solidFill>
                <a:prstDash val="solid"/>
                <a:headEnd type="none"/>
                <a:tailEnd type="none"/>
              </a:ln>
            </p:spPr>
            <p:txBody>
              <a:bodyPr/>
              <a:lstStyle/>
              <a:p>
                <a:endParaRPr lang="en-US"/>
              </a:p>
            </p:txBody>
          </p:sp>
          <p:sp>
            <p:nvSpPr>
              <p:cNvPr id="63" name="Shape 2">
                <a:extLst>
                  <a:ext uri="{FF2B5EF4-FFF2-40B4-BE49-F238E27FC236}">
                    <a16:creationId xmlns:a16="http://schemas.microsoft.com/office/drawing/2014/main" id="{6A1C0401-49EF-CB15-0EC5-BD87A7DD7ED0}"/>
                  </a:ext>
                </a:extLst>
              </p:cNvPr>
              <p:cNvSpPr/>
              <p:nvPr/>
            </p:nvSpPr>
            <p:spPr>
              <a:xfrm>
                <a:off x="932223" y="2127006"/>
                <a:ext cx="0" cy="498348"/>
              </a:xfrm>
              <a:prstGeom prst="line">
                <a:avLst/>
              </a:prstGeom>
              <a:noFill/>
              <a:ln w="22860">
                <a:solidFill>
                  <a:srgbClr val="111111"/>
                </a:solidFill>
                <a:prstDash val="solid"/>
                <a:headEnd type="none"/>
                <a:tailEnd type="none"/>
              </a:ln>
            </p:spPr>
            <p:txBody>
              <a:bodyPr/>
              <a:lstStyle/>
              <a:p>
                <a:endParaRPr lang="en-US"/>
              </a:p>
            </p:txBody>
          </p:sp>
          <p:sp>
            <p:nvSpPr>
              <p:cNvPr id="64" name="Shape 3">
                <a:extLst>
                  <a:ext uri="{FF2B5EF4-FFF2-40B4-BE49-F238E27FC236}">
                    <a16:creationId xmlns:a16="http://schemas.microsoft.com/office/drawing/2014/main" id="{BC714367-BA2D-FD4D-65F5-33D75689A0A9}"/>
                  </a:ext>
                </a:extLst>
              </p:cNvPr>
              <p:cNvSpPr/>
              <p:nvPr/>
            </p:nvSpPr>
            <p:spPr>
              <a:xfrm>
                <a:off x="2690284" y="2127006"/>
                <a:ext cx="0" cy="498348"/>
              </a:xfrm>
              <a:prstGeom prst="line">
                <a:avLst/>
              </a:prstGeom>
              <a:noFill/>
              <a:ln w="22860">
                <a:solidFill>
                  <a:srgbClr val="111111"/>
                </a:solidFill>
                <a:prstDash val="solid"/>
                <a:headEnd type="none"/>
                <a:tailEnd type="none"/>
              </a:ln>
            </p:spPr>
            <p:txBody>
              <a:bodyPr/>
              <a:lstStyle/>
              <a:p>
                <a:endParaRPr lang="en-US"/>
              </a:p>
            </p:txBody>
          </p:sp>
          <p:sp>
            <p:nvSpPr>
              <p:cNvPr id="65" name="Shape 4">
                <a:extLst>
                  <a:ext uri="{FF2B5EF4-FFF2-40B4-BE49-F238E27FC236}">
                    <a16:creationId xmlns:a16="http://schemas.microsoft.com/office/drawing/2014/main" id="{C47BC24F-5E1F-7AB3-A1A8-F5AF3FEEE6B0}"/>
                  </a:ext>
                </a:extLst>
              </p:cNvPr>
              <p:cNvSpPr/>
              <p:nvPr/>
            </p:nvSpPr>
            <p:spPr>
              <a:xfrm>
                <a:off x="4441424" y="2127006"/>
                <a:ext cx="0" cy="498348"/>
              </a:xfrm>
              <a:prstGeom prst="line">
                <a:avLst/>
              </a:prstGeom>
              <a:noFill/>
              <a:ln w="22860">
                <a:solidFill>
                  <a:srgbClr val="111111"/>
                </a:solidFill>
                <a:prstDash val="solid"/>
                <a:headEnd type="none"/>
                <a:tailEnd type="none"/>
              </a:ln>
            </p:spPr>
            <p:txBody>
              <a:bodyPr/>
              <a:lstStyle/>
              <a:p>
                <a:endParaRPr lang="en-US"/>
              </a:p>
            </p:txBody>
          </p:sp>
          <p:sp>
            <p:nvSpPr>
              <p:cNvPr id="66" name="Shape 5">
                <a:extLst>
                  <a:ext uri="{FF2B5EF4-FFF2-40B4-BE49-F238E27FC236}">
                    <a16:creationId xmlns:a16="http://schemas.microsoft.com/office/drawing/2014/main" id="{C408814A-E587-B2DD-1861-316A854AE3A0}"/>
                  </a:ext>
                </a:extLst>
              </p:cNvPr>
              <p:cNvSpPr/>
              <p:nvPr/>
            </p:nvSpPr>
            <p:spPr>
              <a:xfrm>
                <a:off x="6199485" y="2127006"/>
                <a:ext cx="0" cy="242253"/>
              </a:xfrm>
              <a:prstGeom prst="line">
                <a:avLst/>
              </a:prstGeom>
              <a:noFill/>
              <a:ln w="22860">
                <a:solidFill>
                  <a:srgbClr val="111111"/>
                </a:solidFill>
                <a:prstDash val="solid"/>
                <a:headEnd type="none"/>
                <a:tailEnd type="none"/>
              </a:ln>
            </p:spPr>
            <p:txBody>
              <a:bodyPr/>
              <a:lstStyle/>
              <a:p>
                <a:endParaRPr lang="en-US"/>
              </a:p>
            </p:txBody>
          </p:sp>
          <p:sp>
            <p:nvSpPr>
              <p:cNvPr id="67" name="Shape 6">
                <a:extLst>
                  <a:ext uri="{FF2B5EF4-FFF2-40B4-BE49-F238E27FC236}">
                    <a16:creationId xmlns:a16="http://schemas.microsoft.com/office/drawing/2014/main" id="{766C30A6-F4FE-EEBD-C4F5-4341438672FF}"/>
                  </a:ext>
                </a:extLst>
              </p:cNvPr>
              <p:cNvSpPr/>
              <p:nvPr/>
            </p:nvSpPr>
            <p:spPr>
              <a:xfrm>
                <a:off x="8926556" y="2127006"/>
                <a:ext cx="0" cy="498348"/>
              </a:xfrm>
              <a:prstGeom prst="line">
                <a:avLst/>
              </a:prstGeom>
              <a:noFill/>
              <a:ln w="22860">
                <a:solidFill>
                  <a:srgbClr val="111111"/>
                </a:solidFill>
                <a:prstDash val="solid"/>
                <a:headEnd type="none"/>
                <a:tailEnd type="none"/>
              </a:ln>
            </p:spPr>
            <p:txBody>
              <a:bodyPr/>
              <a:lstStyle/>
              <a:p>
                <a:endParaRPr lang="en-US"/>
              </a:p>
            </p:txBody>
          </p:sp>
          <p:sp>
            <p:nvSpPr>
              <p:cNvPr id="68" name="Text 7">
                <a:extLst>
                  <a:ext uri="{FF2B5EF4-FFF2-40B4-BE49-F238E27FC236}">
                    <a16:creationId xmlns:a16="http://schemas.microsoft.com/office/drawing/2014/main" id="{FC334432-7213-1D23-C5C2-D938C047CCBE}"/>
                  </a:ext>
                </a:extLst>
              </p:cNvPr>
              <p:cNvSpPr/>
              <p:nvPr/>
            </p:nvSpPr>
            <p:spPr>
              <a:xfrm>
                <a:off x="593070" y="2543055"/>
                <a:ext cx="858266" cy="380683"/>
              </a:xfrm>
              <a:prstGeom prst="rect">
                <a:avLst/>
              </a:prstGeom>
              <a:noFill/>
              <a:ln/>
            </p:spPr>
            <p:txBody>
              <a:bodyPr wrap="square" lIns="0" tIns="0" rIns="0" bIns="0" rtlCol="0" anchor="ctr">
                <a:normAutofit fontScale="92500"/>
              </a:bodyPr>
              <a:lstStyle/>
              <a:p>
                <a:pPr marL="0" indent="0" algn="l">
                  <a:buNone/>
                </a:pPr>
                <a:r>
                  <a:rPr lang="en-US" sz="2500" dirty="0">
                    <a:solidFill>
                      <a:srgbClr val="111111"/>
                    </a:solidFill>
                    <a:latin typeface="Arial" pitchFamily="34" charset="0"/>
                    <a:ea typeface="Arial" pitchFamily="34" charset="-122"/>
                    <a:cs typeface="Arial" pitchFamily="34" charset="-120"/>
                  </a:rPr>
                  <a:t>/home</a:t>
                </a:r>
                <a:endParaRPr lang="en-US" sz="2500" dirty="0"/>
              </a:p>
            </p:txBody>
          </p:sp>
          <p:sp>
            <p:nvSpPr>
              <p:cNvPr id="69" name="Text 8">
                <a:extLst>
                  <a:ext uri="{FF2B5EF4-FFF2-40B4-BE49-F238E27FC236}">
                    <a16:creationId xmlns:a16="http://schemas.microsoft.com/office/drawing/2014/main" id="{5A62249A-CEC1-3E18-62C6-9D03940C955E}"/>
                  </a:ext>
                </a:extLst>
              </p:cNvPr>
              <p:cNvSpPr/>
              <p:nvPr/>
            </p:nvSpPr>
            <p:spPr>
              <a:xfrm>
                <a:off x="2264612" y="2543055"/>
                <a:ext cx="1038225" cy="380683"/>
              </a:xfrm>
              <a:prstGeom prst="rect">
                <a:avLst/>
              </a:prstGeom>
              <a:noFill/>
              <a:ln/>
            </p:spPr>
            <p:txBody>
              <a:bodyPr wrap="square" lIns="0" tIns="0" rIns="0" bIns="0" rtlCol="0" anchor="ctr">
                <a:normAutofit fontScale="85000" lnSpcReduction="10000"/>
              </a:bodyPr>
              <a:lstStyle/>
              <a:p>
                <a:pPr marL="0" indent="0" algn="l">
                  <a:buNone/>
                </a:pPr>
                <a:r>
                  <a:rPr lang="en-US" sz="2500" dirty="0">
                    <a:solidFill>
                      <a:srgbClr val="111111"/>
                    </a:solidFill>
                    <a:latin typeface="Arial" pitchFamily="34" charset="0"/>
                    <a:ea typeface="Arial" pitchFamily="34" charset="-122"/>
                    <a:cs typeface="Arial" pitchFamily="34" charset="-120"/>
                  </a:rPr>
                  <a:t>/projects</a:t>
                </a:r>
                <a:endParaRPr lang="en-US" sz="2500" dirty="0"/>
              </a:p>
            </p:txBody>
          </p:sp>
          <p:sp>
            <p:nvSpPr>
              <p:cNvPr id="70" name="Text 9">
                <a:extLst>
                  <a:ext uri="{FF2B5EF4-FFF2-40B4-BE49-F238E27FC236}">
                    <a16:creationId xmlns:a16="http://schemas.microsoft.com/office/drawing/2014/main" id="{945E2161-6879-AF54-723F-3F84468AFCEC}"/>
                  </a:ext>
                </a:extLst>
              </p:cNvPr>
              <p:cNvSpPr/>
              <p:nvPr/>
            </p:nvSpPr>
            <p:spPr>
              <a:xfrm>
                <a:off x="4057280" y="2566521"/>
                <a:ext cx="982853" cy="380683"/>
              </a:xfrm>
              <a:prstGeom prst="rect">
                <a:avLst/>
              </a:prstGeom>
              <a:noFill/>
              <a:ln/>
            </p:spPr>
            <p:txBody>
              <a:bodyPr wrap="square" lIns="0" tIns="0" rIns="0" bIns="0" rtlCol="0" anchor="ctr">
                <a:normAutofit fontScale="85000" lnSpcReduction="10000"/>
              </a:bodyPr>
              <a:lstStyle/>
              <a:p>
                <a:pPr marL="0" indent="0" algn="l">
                  <a:buNone/>
                </a:pPr>
                <a:r>
                  <a:rPr lang="en-US" sz="2500" dirty="0">
                    <a:solidFill>
                      <a:srgbClr val="111111"/>
                    </a:solidFill>
                    <a:latin typeface="Arial" pitchFamily="34" charset="0"/>
                    <a:ea typeface="Arial" pitchFamily="34" charset="-122"/>
                    <a:cs typeface="Arial" pitchFamily="34" charset="-120"/>
                  </a:rPr>
                  <a:t>/scratch</a:t>
                </a:r>
                <a:endParaRPr lang="en-US" sz="2500" dirty="0"/>
              </a:p>
            </p:txBody>
          </p:sp>
          <p:sp>
            <p:nvSpPr>
              <p:cNvPr id="71" name="Text 10">
                <a:extLst>
                  <a:ext uri="{FF2B5EF4-FFF2-40B4-BE49-F238E27FC236}">
                    <a16:creationId xmlns:a16="http://schemas.microsoft.com/office/drawing/2014/main" id="{BDA28349-CCB1-D51F-DA3B-CEBF8DD2620F}"/>
                  </a:ext>
                </a:extLst>
              </p:cNvPr>
              <p:cNvSpPr/>
              <p:nvPr/>
            </p:nvSpPr>
            <p:spPr>
              <a:xfrm>
                <a:off x="5881096" y="2362337"/>
                <a:ext cx="830580" cy="290703"/>
              </a:xfrm>
              <a:prstGeom prst="rect">
                <a:avLst/>
              </a:prstGeom>
              <a:noFill/>
              <a:ln/>
            </p:spPr>
            <p:txBody>
              <a:bodyPr wrap="square" lIns="0" tIns="0" rIns="0" bIns="0" rtlCol="0" anchor="ctr">
                <a:normAutofit fontScale="92500" lnSpcReduction="20000"/>
              </a:bodyPr>
              <a:lstStyle/>
              <a:p>
                <a:pPr marL="0" indent="0" algn="l">
                  <a:buNone/>
                </a:pPr>
                <a:r>
                  <a:rPr lang="en-US" sz="2500" dirty="0">
                    <a:solidFill>
                      <a:srgbClr val="111111"/>
                    </a:solidFill>
                    <a:latin typeface="Arial" pitchFamily="34" charset="0"/>
                    <a:ea typeface="Arial" pitchFamily="34" charset="-122"/>
                    <a:cs typeface="Arial" pitchFamily="34" charset="-120"/>
                  </a:rPr>
                  <a:t>/curc</a:t>
                </a:r>
                <a:endParaRPr lang="en-US" sz="2500" dirty="0"/>
              </a:p>
            </p:txBody>
          </p:sp>
          <p:sp>
            <p:nvSpPr>
              <p:cNvPr id="72" name="Text 11">
                <a:extLst>
                  <a:ext uri="{FF2B5EF4-FFF2-40B4-BE49-F238E27FC236}">
                    <a16:creationId xmlns:a16="http://schemas.microsoft.com/office/drawing/2014/main" id="{6477E823-B668-B538-BEE2-D139BB507F4D}"/>
                  </a:ext>
                </a:extLst>
              </p:cNvPr>
              <p:cNvSpPr/>
              <p:nvPr/>
            </p:nvSpPr>
            <p:spPr>
              <a:xfrm>
                <a:off x="5888017" y="2715334"/>
                <a:ext cx="1072833" cy="152273"/>
              </a:xfrm>
              <a:prstGeom prst="rect">
                <a:avLst/>
              </a:prstGeom>
              <a:noFill/>
              <a:ln/>
            </p:spPr>
            <p:txBody>
              <a:bodyPr wrap="square" lIns="0" tIns="0" rIns="0" bIns="0" rtlCol="0" anchor="ctr">
                <a:normAutofit fontScale="92500" lnSpcReduction="10000"/>
              </a:bodyPr>
              <a:lstStyle/>
              <a:p>
                <a:pPr marL="0" indent="0" algn="l">
                  <a:buNone/>
                </a:pPr>
                <a:r>
                  <a:rPr lang="en-US" sz="1200" dirty="0">
                    <a:solidFill>
                      <a:srgbClr val="111111"/>
                    </a:solidFill>
                    <a:latin typeface="Arial" pitchFamily="34" charset="0"/>
                    <a:ea typeface="Arial" pitchFamily="34" charset="-122"/>
                    <a:cs typeface="Arial" pitchFamily="34" charset="-120"/>
                  </a:rPr>
                  <a:t>(software stack)</a:t>
                </a:r>
                <a:endParaRPr lang="en-US" sz="1200" dirty="0"/>
              </a:p>
            </p:txBody>
          </p:sp>
          <p:sp>
            <p:nvSpPr>
              <p:cNvPr id="73" name="Text 12">
                <a:extLst>
                  <a:ext uri="{FF2B5EF4-FFF2-40B4-BE49-F238E27FC236}">
                    <a16:creationId xmlns:a16="http://schemas.microsoft.com/office/drawing/2014/main" id="{C9B69215-6FEB-CB6D-1EF9-2FE57F15619D}"/>
                  </a:ext>
                </a:extLst>
              </p:cNvPr>
              <p:cNvSpPr/>
              <p:nvPr/>
            </p:nvSpPr>
            <p:spPr>
              <a:xfrm>
                <a:off x="8746597" y="2604590"/>
                <a:ext cx="484505" cy="380683"/>
              </a:xfrm>
              <a:prstGeom prst="rect">
                <a:avLst/>
              </a:prstGeom>
              <a:noFill/>
              <a:ln/>
            </p:spPr>
            <p:txBody>
              <a:bodyPr wrap="square" lIns="0" tIns="0" rIns="0" bIns="0" rtlCol="0" anchor="ctr">
                <a:normAutofit lnSpcReduction="10000"/>
              </a:bodyPr>
              <a:lstStyle/>
              <a:p>
                <a:pPr marL="0" indent="0" algn="l">
                  <a:buNone/>
                </a:pPr>
                <a:r>
                  <a:rPr lang="en-US" sz="2500" dirty="0">
                    <a:solidFill>
                      <a:srgbClr val="111111"/>
                    </a:solidFill>
                    <a:latin typeface="Arial" pitchFamily="34" charset="0"/>
                    <a:ea typeface="Arial" pitchFamily="34" charset="-122"/>
                    <a:cs typeface="Arial" pitchFamily="34" charset="-120"/>
                  </a:rPr>
                  <a:t>/pl</a:t>
                </a:r>
                <a:endParaRPr lang="en-US" sz="2500" dirty="0"/>
              </a:p>
            </p:txBody>
          </p:sp>
          <p:sp>
            <p:nvSpPr>
              <p:cNvPr id="74" name="Shape 13">
                <a:extLst>
                  <a:ext uri="{FF2B5EF4-FFF2-40B4-BE49-F238E27FC236}">
                    <a16:creationId xmlns:a16="http://schemas.microsoft.com/office/drawing/2014/main" id="{35872FC4-F16A-D4BE-804C-17173BD6BDD6}"/>
                  </a:ext>
                </a:extLst>
              </p:cNvPr>
              <p:cNvSpPr/>
              <p:nvPr/>
            </p:nvSpPr>
            <p:spPr>
              <a:xfrm>
                <a:off x="939145" y="2909136"/>
                <a:ext cx="0" cy="456819"/>
              </a:xfrm>
              <a:prstGeom prst="line">
                <a:avLst/>
              </a:prstGeom>
              <a:noFill/>
              <a:ln w="22860">
                <a:solidFill>
                  <a:srgbClr val="111111"/>
                </a:solidFill>
                <a:prstDash val="solid"/>
                <a:headEnd type="none"/>
                <a:tailEnd type="none"/>
              </a:ln>
            </p:spPr>
            <p:txBody>
              <a:bodyPr/>
              <a:lstStyle/>
              <a:p>
                <a:endParaRPr lang="en-US"/>
              </a:p>
            </p:txBody>
          </p:sp>
          <p:sp>
            <p:nvSpPr>
              <p:cNvPr id="76" name="Shape 15">
                <a:extLst>
                  <a:ext uri="{FF2B5EF4-FFF2-40B4-BE49-F238E27FC236}">
                    <a16:creationId xmlns:a16="http://schemas.microsoft.com/office/drawing/2014/main" id="{07FA9F19-90A9-9244-0EDF-DD1D5C8A4F68}"/>
                  </a:ext>
                </a:extLst>
              </p:cNvPr>
              <p:cNvSpPr/>
              <p:nvPr/>
            </p:nvSpPr>
            <p:spPr>
              <a:xfrm>
                <a:off x="2697206" y="2909136"/>
                <a:ext cx="0" cy="456819"/>
              </a:xfrm>
              <a:prstGeom prst="line">
                <a:avLst/>
              </a:prstGeom>
              <a:noFill/>
              <a:ln w="22860">
                <a:solidFill>
                  <a:srgbClr val="111111"/>
                </a:solidFill>
                <a:prstDash val="solid"/>
                <a:headEnd type="none"/>
                <a:tailEnd type="none"/>
              </a:ln>
            </p:spPr>
            <p:txBody>
              <a:bodyPr/>
              <a:lstStyle/>
              <a:p>
                <a:endParaRPr lang="en-US"/>
              </a:p>
            </p:txBody>
          </p:sp>
          <p:sp>
            <p:nvSpPr>
              <p:cNvPr id="77" name="Text 16">
                <a:extLst>
                  <a:ext uri="{FF2B5EF4-FFF2-40B4-BE49-F238E27FC236}">
                    <a16:creationId xmlns:a16="http://schemas.microsoft.com/office/drawing/2014/main" id="{C6EA4DD5-CABA-36F2-9DE1-E17FFC3F18BC}"/>
                  </a:ext>
                </a:extLst>
              </p:cNvPr>
              <p:cNvSpPr/>
              <p:nvPr/>
            </p:nvSpPr>
            <p:spPr>
              <a:xfrm>
                <a:off x="1915076" y="3393641"/>
                <a:ext cx="1591945" cy="359918"/>
              </a:xfrm>
              <a:prstGeom prst="rect">
                <a:avLst/>
              </a:prstGeom>
              <a:noFill/>
              <a:ln/>
            </p:spPr>
            <p:txBody>
              <a:bodyPr wrap="square" lIns="0" tIns="0" rIns="0" bIns="0" rtlCol="0" anchor="ctr">
                <a:normAutofit fontScale="775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/projects/&lt;user&gt;</a:t>
                </a:r>
                <a:endParaRPr lang="en-US" sz="2200" dirty="0"/>
              </a:p>
            </p:txBody>
          </p:sp>
          <p:sp>
            <p:nvSpPr>
              <p:cNvPr id="78" name="Shape 17">
                <a:extLst>
                  <a:ext uri="{FF2B5EF4-FFF2-40B4-BE49-F238E27FC236}">
                    <a16:creationId xmlns:a16="http://schemas.microsoft.com/office/drawing/2014/main" id="{D82A27B9-DA7F-01FB-6553-5BA77F2753DD}"/>
                  </a:ext>
                </a:extLst>
              </p:cNvPr>
              <p:cNvSpPr/>
              <p:nvPr/>
            </p:nvSpPr>
            <p:spPr>
              <a:xfrm>
                <a:off x="4462188" y="2909136"/>
                <a:ext cx="0" cy="456819"/>
              </a:xfrm>
              <a:prstGeom prst="line">
                <a:avLst/>
              </a:prstGeom>
              <a:noFill/>
              <a:ln w="22860">
                <a:solidFill>
                  <a:srgbClr val="111111"/>
                </a:solidFill>
                <a:prstDash val="solid"/>
                <a:headEnd type="none"/>
                <a:tailEnd type="none"/>
              </a:ln>
            </p:spPr>
            <p:txBody>
              <a:bodyPr/>
              <a:lstStyle/>
              <a:p>
                <a:endParaRPr lang="en-US"/>
              </a:p>
            </p:txBody>
          </p:sp>
          <p:sp>
            <p:nvSpPr>
              <p:cNvPr id="79" name="Text 18">
                <a:extLst>
                  <a:ext uri="{FF2B5EF4-FFF2-40B4-BE49-F238E27FC236}">
                    <a16:creationId xmlns:a16="http://schemas.microsoft.com/office/drawing/2014/main" id="{2488637E-5685-591F-F2A9-B80F58C11AEA}"/>
                  </a:ext>
                </a:extLst>
              </p:cNvPr>
              <p:cNvSpPr/>
              <p:nvPr/>
            </p:nvSpPr>
            <p:spPr>
              <a:xfrm>
                <a:off x="3744492" y="3365955"/>
                <a:ext cx="1522730" cy="359918"/>
              </a:xfrm>
              <a:prstGeom prst="rect">
                <a:avLst/>
              </a:prstGeom>
              <a:noFill/>
              <a:ln/>
            </p:spPr>
            <p:txBody>
              <a:bodyPr wrap="square" lIns="0" tIns="0" rIns="0" bIns="0" rtlCol="0" anchor="ctr">
                <a:normAutofit fontScale="775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/scratch/alpine</a:t>
                </a:r>
                <a:endParaRPr lang="en-US" sz="2200" dirty="0"/>
              </a:p>
            </p:txBody>
          </p:sp>
          <p:sp>
            <p:nvSpPr>
              <p:cNvPr id="80" name="Shape 19">
                <a:extLst>
                  <a:ext uri="{FF2B5EF4-FFF2-40B4-BE49-F238E27FC236}">
                    <a16:creationId xmlns:a16="http://schemas.microsoft.com/office/drawing/2014/main" id="{DB02772A-365A-61C1-2133-BE0B97A0CB66}"/>
                  </a:ext>
                </a:extLst>
              </p:cNvPr>
              <p:cNvSpPr/>
              <p:nvPr/>
            </p:nvSpPr>
            <p:spPr>
              <a:xfrm>
                <a:off x="4462188" y="3725873"/>
                <a:ext cx="0" cy="588328"/>
              </a:xfrm>
              <a:prstGeom prst="line">
                <a:avLst/>
              </a:prstGeom>
              <a:noFill/>
              <a:ln w="22860">
                <a:solidFill>
                  <a:srgbClr val="111111"/>
                </a:solidFill>
                <a:prstDash val="solid"/>
                <a:headEnd type="none"/>
                <a:tailEnd type="none"/>
              </a:ln>
            </p:spPr>
            <p:txBody>
              <a:bodyPr/>
              <a:lstStyle/>
              <a:p>
                <a:endParaRPr lang="en-US"/>
              </a:p>
            </p:txBody>
          </p:sp>
          <p:sp>
            <p:nvSpPr>
              <p:cNvPr id="81" name="Text 20">
                <a:extLst>
                  <a:ext uri="{FF2B5EF4-FFF2-40B4-BE49-F238E27FC236}">
                    <a16:creationId xmlns:a16="http://schemas.microsoft.com/office/drawing/2014/main" id="{7193255B-88AB-479F-F665-46EEC20EBB2E}"/>
                  </a:ext>
                </a:extLst>
              </p:cNvPr>
              <p:cNvSpPr/>
              <p:nvPr/>
            </p:nvSpPr>
            <p:spPr>
              <a:xfrm>
                <a:off x="3579696" y="4339062"/>
                <a:ext cx="1938020" cy="401447"/>
              </a:xfrm>
              <a:prstGeom prst="rect">
                <a:avLst/>
              </a:prstGeom>
              <a:noFill/>
              <a:ln/>
            </p:spPr>
            <p:txBody>
              <a:bodyPr wrap="square" lIns="0" tIns="0" rIns="0" bIns="0" rtlCol="0" anchor="ctr">
                <a:normAutofit fontScale="700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/scratch/alpine/&lt;user&gt;</a:t>
                </a:r>
                <a:endParaRPr lang="en-US" sz="2200" dirty="0"/>
              </a:p>
            </p:txBody>
          </p:sp>
          <p:sp>
            <p:nvSpPr>
              <p:cNvPr id="82" name="Shape 21">
                <a:extLst>
                  <a:ext uri="{FF2B5EF4-FFF2-40B4-BE49-F238E27FC236}">
                    <a16:creationId xmlns:a16="http://schemas.microsoft.com/office/drawing/2014/main" id="{98AAE701-30B7-0DCF-AB1A-382DB76375EA}"/>
                  </a:ext>
                </a:extLst>
              </p:cNvPr>
              <p:cNvSpPr/>
              <p:nvPr/>
            </p:nvSpPr>
            <p:spPr>
              <a:xfrm>
                <a:off x="8919634" y="2992194"/>
                <a:ext cx="2207958" cy="0"/>
              </a:xfrm>
              <a:prstGeom prst="line">
                <a:avLst/>
              </a:prstGeom>
              <a:noFill/>
              <a:ln w="22860">
                <a:solidFill>
                  <a:srgbClr val="111111"/>
                </a:solidFill>
                <a:prstDash val="solid"/>
                <a:headEnd type="none"/>
                <a:tailEnd type="none"/>
              </a:ln>
            </p:spPr>
            <p:txBody>
              <a:bodyPr/>
              <a:lstStyle/>
              <a:p>
                <a:endParaRPr lang="en-US"/>
              </a:p>
            </p:txBody>
          </p:sp>
          <p:sp>
            <p:nvSpPr>
              <p:cNvPr id="83" name="Shape 22">
                <a:extLst>
                  <a:ext uri="{FF2B5EF4-FFF2-40B4-BE49-F238E27FC236}">
                    <a16:creationId xmlns:a16="http://schemas.microsoft.com/office/drawing/2014/main" id="{A754E921-4590-914B-EA8F-94D42ED779E8}"/>
                  </a:ext>
                </a:extLst>
              </p:cNvPr>
              <p:cNvSpPr/>
              <p:nvPr/>
            </p:nvSpPr>
            <p:spPr>
              <a:xfrm>
                <a:off x="8919634" y="2992194"/>
                <a:ext cx="0" cy="352997"/>
              </a:xfrm>
              <a:prstGeom prst="line">
                <a:avLst/>
              </a:prstGeom>
              <a:noFill/>
              <a:ln w="22860">
                <a:solidFill>
                  <a:srgbClr val="111111"/>
                </a:solidFill>
                <a:prstDash val="solid"/>
                <a:headEnd type="none"/>
                <a:tailEnd type="none"/>
              </a:ln>
            </p:spPr>
            <p:txBody>
              <a:bodyPr/>
              <a:lstStyle/>
              <a:p>
                <a:endParaRPr lang="en-US"/>
              </a:p>
            </p:txBody>
          </p:sp>
          <p:sp>
            <p:nvSpPr>
              <p:cNvPr id="84" name="Shape 23">
                <a:extLst>
                  <a:ext uri="{FF2B5EF4-FFF2-40B4-BE49-F238E27FC236}">
                    <a16:creationId xmlns:a16="http://schemas.microsoft.com/office/drawing/2014/main" id="{D56F742A-E615-83B9-605B-5AFB3D8BBDE5}"/>
                  </a:ext>
                </a:extLst>
              </p:cNvPr>
              <p:cNvSpPr/>
              <p:nvPr/>
            </p:nvSpPr>
            <p:spPr>
              <a:xfrm>
                <a:off x="11127592" y="2992194"/>
                <a:ext cx="0" cy="352997"/>
              </a:xfrm>
              <a:prstGeom prst="line">
                <a:avLst/>
              </a:prstGeom>
              <a:noFill/>
              <a:ln w="22860">
                <a:solidFill>
                  <a:srgbClr val="111111"/>
                </a:solidFill>
                <a:prstDash val="solid"/>
                <a:headEnd type="none"/>
                <a:tailEnd type="none"/>
              </a:ln>
            </p:spPr>
            <p:txBody>
              <a:bodyPr/>
              <a:lstStyle/>
              <a:p>
                <a:endParaRPr lang="en-US"/>
              </a:p>
            </p:txBody>
          </p:sp>
          <p:sp>
            <p:nvSpPr>
              <p:cNvPr id="85" name="Text 24">
                <a:extLst>
                  <a:ext uri="{FF2B5EF4-FFF2-40B4-BE49-F238E27FC236}">
                    <a16:creationId xmlns:a16="http://schemas.microsoft.com/office/drawing/2014/main" id="{D66BF242-0215-B388-14F1-D8736BDC4C42}"/>
                  </a:ext>
                </a:extLst>
              </p:cNvPr>
              <p:cNvSpPr/>
              <p:nvPr/>
            </p:nvSpPr>
            <p:spPr>
              <a:xfrm>
                <a:off x="8490501" y="3386719"/>
                <a:ext cx="1072833" cy="359918"/>
              </a:xfrm>
              <a:prstGeom prst="rect">
                <a:avLst/>
              </a:prstGeom>
              <a:noFill/>
              <a:ln/>
            </p:spPr>
            <p:txBody>
              <a:bodyPr wrap="square" lIns="0" tIns="0" rIns="0" bIns="0" rtlCol="0" anchor="ctr">
                <a:normAutofit fontScale="92500"/>
              </a:bodyPr>
              <a:lstStyle/>
              <a:p>
                <a:pPr marL="0" indent="0" algn="l">
                  <a:buNone/>
                </a:pPr>
                <a:r>
                  <a:rPr lang="en-US" sz="2200" dirty="0">
                    <a:solidFill>
                      <a:srgbClr val="111111"/>
                    </a:solidFill>
                    <a:latin typeface="Arial" pitchFamily="34" charset="0"/>
                    <a:ea typeface="Arial" pitchFamily="34" charset="-122"/>
                    <a:cs typeface="Arial" pitchFamily="34" charset="-120"/>
                  </a:rPr>
                  <a:t>/pl/active</a:t>
                </a:r>
                <a:endParaRPr lang="en-US" sz="2200" dirty="0"/>
              </a:p>
            </p:txBody>
          </p:sp>
          <p:sp>
            <p:nvSpPr>
              <p:cNvPr id="86" name="Text 25">
                <a:extLst>
                  <a:ext uri="{FF2B5EF4-FFF2-40B4-BE49-F238E27FC236}">
                    <a16:creationId xmlns:a16="http://schemas.microsoft.com/office/drawing/2014/main" id="{2B70B4BD-74B1-294F-8D31-19443268CF96}"/>
                  </a:ext>
                </a:extLst>
              </p:cNvPr>
              <p:cNvSpPr/>
              <p:nvPr/>
            </p:nvSpPr>
            <p:spPr>
              <a:xfrm>
                <a:off x="10650009" y="3386719"/>
                <a:ext cx="1142048" cy="359918"/>
              </a:xfrm>
              <a:prstGeom prst="rect">
                <a:avLst/>
              </a:prstGeom>
              <a:noFill/>
              <a:ln/>
            </p:spPr>
            <p:txBody>
              <a:bodyPr wrap="square" lIns="0" tIns="0" rIns="0" bIns="0" rtlCol="0" anchor="ctr">
                <a:normAutofit fontScale="85000" lnSpcReduction="10000"/>
              </a:bodyPr>
              <a:lstStyle/>
              <a:p>
                <a:pPr marL="0" indent="0" algn="l">
                  <a:buNone/>
                </a:pPr>
                <a:r>
                  <a:rPr lang="en-US" sz="2200" dirty="0">
                    <a:solidFill>
                      <a:srgbClr val="111111"/>
                    </a:solidFill>
                    <a:latin typeface="Arial" pitchFamily="34" charset="0"/>
                    <a:ea typeface="Arial" pitchFamily="34" charset="-122"/>
                    <a:cs typeface="Arial" pitchFamily="34" charset="-120"/>
                  </a:rPr>
                  <a:t>/pl/archive</a:t>
                </a:r>
                <a:endParaRPr lang="en-US" sz="2200" dirty="0"/>
              </a:p>
            </p:txBody>
          </p:sp>
          <p:sp>
            <p:nvSpPr>
              <p:cNvPr id="87" name="Shape 26">
                <a:extLst>
                  <a:ext uri="{FF2B5EF4-FFF2-40B4-BE49-F238E27FC236}">
                    <a16:creationId xmlns:a16="http://schemas.microsoft.com/office/drawing/2014/main" id="{C73D1A8E-A458-7137-0B6C-6AA0EBD8942C}"/>
                  </a:ext>
                </a:extLst>
              </p:cNvPr>
              <p:cNvSpPr/>
              <p:nvPr/>
            </p:nvSpPr>
            <p:spPr>
              <a:xfrm>
                <a:off x="8926556" y="3705108"/>
                <a:ext cx="0" cy="560642"/>
              </a:xfrm>
              <a:prstGeom prst="line">
                <a:avLst/>
              </a:prstGeom>
              <a:noFill/>
              <a:ln w="22860">
                <a:solidFill>
                  <a:srgbClr val="111111"/>
                </a:solidFill>
                <a:prstDash val="solid"/>
                <a:headEnd type="none"/>
                <a:tailEnd type="none"/>
              </a:ln>
            </p:spPr>
            <p:txBody>
              <a:bodyPr/>
              <a:lstStyle/>
              <a:p>
                <a:endParaRPr lang="en-US"/>
              </a:p>
            </p:txBody>
          </p:sp>
          <p:sp>
            <p:nvSpPr>
              <p:cNvPr id="88" name="Shape 27">
                <a:extLst>
                  <a:ext uri="{FF2B5EF4-FFF2-40B4-BE49-F238E27FC236}">
                    <a16:creationId xmlns:a16="http://schemas.microsoft.com/office/drawing/2014/main" id="{F318DEA4-71FF-CF1C-E2BE-BB2F78E352AD}"/>
                  </a:ext>
                </a:extLst>
              </p:cNvPr>
              <p:cNvSpPr/>
              <p:nvPr/>
            </p:nvSpPr>
            <p:spPr>
              <a:xfrm>
                <a:off x="11127592" y="3705108"/>
                <a:ext cx="0" cy="560642"/>
              </a:xfrm>
              <a:prstGeom prst="line">
                <a:avLst/>
              </a:prstGeom>
              <a:noFill/>
              <a:ln w="22860">
                <a:solidFill>
                  <a:srgbClr val="111111"/>
                </a:solidFill>
                <a:prstDash val="solid"/>
                <a:headEnd type="none"/>
                <a:tailEnd type="none"/>
              </a:ln>
            </p:spPr>
            <p:txBody>
              <a:bodyPr/>
              <a:lstStyle/>
              <a:p>
                <a:endParaRPr lang="en-US"/>
              </a:p>
            </p:txBody>
          </p:sp>
          <p:sp>
            <p:nvSpPr>
              <p:cNvPr id="89" name="Text 28">
                <a:extLst>
                  <a:ext uri="{FF2B5EF4-FFF2-40B4-BE49-F238E27FC236}">
                    <a16:creationId xmlns:a16="http://schemas.microsoft.com/office/drawing/2014/main" id="{4FDE1D9B-6996-9AC2-4E12-FFFEC540BA03}"/>
                  </a:ext>
                </a:extLst>
              </p:cNvPr>
              <p:cNvSpPr/>
              <p:nvPr/>
            </p:nvSpPr>
            <p:spPr>
              <a:xfrm>
                <a:off x="8137504" y="4265750"/>
                <a:ext cx="1730375" cy="380683"/>
              </a:xfrm>
              <a:prstGeom prst="rect">
                <a:avLst/>
              </a:prstGeom>
              <a:noFill/>
              <a:ln/>
            </p:spPr>
            <p:txBody>
              <a:bodyPr wrap="square" lIns="0" tIns="0" rIns="0" bIns="0" rtlCol="0" anchor="ctr">
                <a:normAutofit fontScale="775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/pl/active/&lt;group&gt;</a:t>
                </a:r>
                <a:endParaRPr lang="en-US" sz="2200" dirty="0"/>
              </a:p>
            </p:txBody>
          </p:sp>
          <p:sp>
            <p:nvSpPr>
              <p:cNvPr id="90" name="Text 29">
                <a:extLst>
                  <a:ext uri="{FF2B5EF4-FFF2-40B4-BE49-F238E27FC236}">
                    <a16:creationId xmlns:a16="http://schemas.microsoft.com/office/drawing/2014/main" id="{06122E52-9D21-086B-B54E-1FC166F113BE}"/>
                  </a:ext>
                </a:extLst>
              </p:cNvPr>
              <p:cNvSpPr/>
              <p:nvPr/>
            </p:nvSpPr>
            <p:spPr>
              <a:xfrm>
                <a:off x="10220876" y="4265750"/>
                <a:ext cx="1730375" cy="380683"/>
              </a:xfrm>
              <a:prstGeom prst="rect">
                <a:avLst/>
              </a:prstGeom>
              <a:noFill/>
              <a:ln/>
            </p:spPr>
            <p:txBody>
              <a:bodyPr wrap="square" lIns="0" tIns="0" rIns="0" bIns="0" rtlCol="0" anchor="ctr">
                <a:normAutofit fontScale="700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/pl/archive/&lt;group&gt;</a:t>
                </a:r>
                <a:endParaRPr lang="en-US" sz="2200" dirty="0"/>
              </a:p>
            </p:txBody>
          </p:sp>
        </p:grpSp>
      </p:grpSp>
      <p:sp>
        <p:nvSpPr>
          <p:cNvPr id="5" name="Slide Number Placeholder 4">
            <a:extLst>
              <a:ext uri="{FF2B5EF4-FFF2-40B4-BE49-F238E27FC236}">
                <a16:creationId xmlns:a16="http://schemas.microsoft.com/office/drawing/2014/main" id="{A41C18EB-13F5-43F0-2F07-DFAD42939D49}"/>
              </a:ext>
            </a:extLst>
          </p:cNvPr>
          <p:cNvSpPr>
            <a:spLocks noGrp="1"/>
          </p:cNvSpPr>
          <p:nvPr>
            <p:ph type="sldNum" sz="quarter" idx="12"/>
          </p:nvPr>
        </p:nvSpPr>
        <p:spPr/>
        <p:txBody>
          <a:bodyPr/>
          <a:lstStyle/>
          <a:p>
            <a:fld id="{ABDA560F-461C-6043-9BC4-489BA92F7161}" type="slidenum">
              <a:rPr lang="en-US" smtClean="0"/>
              <a:t>11</a:t>
            </a:fld>
            <a:endParaRPr lang="en-US"/>
          </a:p>
        </p:txBody>
      </p:sp>
    </p:spTree>
    <p:extLst>
      <p:ext uri="{BB962C8B-B14F-4D97-AF65-F5344CB8AC3E}">
        <p14:creationId xmlns:p14="http://schemas.microsoft.com/office/powerpoint/2010/main" val="14541538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5B5DA-BC6A-7BA7-29D4-08F9204BB0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DB9173-4CCA-F71B-04B5-91BA41E035A6}"/>
              </a:ext>
            </a:extLst>
          </p:cNvPr>
          <p:cNvSpPr>
            <a:spLocks noGrp="1"/>
          </p:cNvSpPr>
          <p:nvPr>
            <p:ph type="title"/>
          </p:nvPr>
        </p:nvSpPr>
        <p:spPr>
          <a:xfrm>
            <a:off x="838200" y="136525"/>
            <a:ext cx="10515600" cy="1325563"/>
          </a:xfrm>
        </p:spPr>
        <p:txBody>
          <a:bodyPr/>
          <a:lstStyle/>
          <a:p>
            <a:r>
              <a:rPr lang="en-US" dirty="0"/>
              <a:t>File Operations</a:t>
            </a:r>
          </a:p>
        </p:txBody>
      </p:sp>
      <p:sp>
        <p:nvSpPr>
          <p:cNvPr id="5" name="Slide Number Placeholder 4">
            <a:extLst>
              <a:ext uri="{FF2B5EF4-FFF2-40B4-BE49-F238E27FC236}">
                <a16:creationId xmlns:a16="http://schemas.microsoft.com/office/drawing/2014/main" id="{C570C9A1-5845-D561-B1F3-AE1A4949DF46}"/>
              </a:ext>
            </a:extLst>
          </p:cNvPr>
          <p:cNvSpPr>
            <a:spLocks noGrp="1"/>
          </p:cNvSpPr>
          <p:nvPr>
            <p:ph type="sldNum" sz="quarter" idx="12"/>
          </p:nvPr>
        </p:nvSpPr>
        <p:spPr/>
        <p:txBody>
          <a:bodyPr/>
          <a:lstStyle/>
          <a:p>
            <a:fld id="{ABDA560F-461C-6043-9BC4-489BA92F7161}" type="slidenum">
              <a:rPr lang="en-US" smtClean="0"/>
              <a:t>12</a:t>
            </a:fld>
            <a:endParaRPr lang="en-US"/>
          </a:p>
        </p:txBody>
      </p:sp>
      <p:grpSp>
        <p:nvGrpSpPr>
          <p:cNvPr id="30" name="Group 29">
            <a:extLst>
              <a:ext uri="{FF2B5EF4-FFF2-40B4-BE49-F238E27FC236}">
                <a16:creationId xmlns:a16="http://schemas.microsoft.com/office/drawing/2014/main" id="{3A868109-8DDA-00F1-76C1-1411E8180F00}"/>
              </a:ext>
              <a:ext uri="{C183D7F6-B498-43B3-948B-1728B52AA6E4}">
                <adec:decorative xmlns:adec="http://schemas.microsoft.com/office/drawing/2017/decorative" val="1"/>
              </a:ext>
            </a:extLst>
          </p:cNvPr>
          <p:cNvGrpSpPr/>
          <p:nvPr/>
        </p:nvGrpSpPr>
        <p:grpSpPr>
          <a:xfrm>
            <a:off x="1470660" y="1462088"/>
            <a:ext cx="9250680" cy="4543807"/>
            <a:chOff x="2254948" y="1462088"/>
            <a:chExt cx="9250680" cy="4543807"/>
          </a:xfrm>
        </p:grpSpPr>
        <p:grpSp>
          <p:nvGrpSpPr>
            <p:cNvPr id="12" name="Group 11">
              <a:extLst>
                <a:ext uri="{FF2B5EF4-FFF2-40B4-BE49-F238E27FC236}">
                  <a16:creationId xmlns:a16="http://schemas.microsoft.com/office/drawing/2014/main" id="{233D9678-2E76-3E55-D6E2-36200B4A28C3}"/>
                </a:ext>
              </a:extLst>
            </p:cNvPr>
            <p:cNvGrpSpPr/>
            <p:nvPr/>
          </p:nvGrpSpPr>
          <p:grpSpPr>
            <a:xfrm>
              <a:off x="2254948" y="1462088"/>
              <a:ext cx="3474720" cy="2089594"/>
              <a:chOff x="2254948" y="1844230"/>
              <a:chExt cx="3474720" cy="2089594"/>
            </a:xfrm>
          </p:grpSpPr>
          <p:pic>
            <p:nvPicPr>
              <p:cNvPr id="8" name="Graphic 7" descr="Open folder outline">
                <a:extLst>
                  <a:ext uri="{FF2B5EF4-FFF2-40B4-BE49-F238E27FC236}">
                    <a16:creationId xmlns:a16="http://schemas.microsoft.com/office/drawing/2014/main" id="{93FC7E3C-272D-62E3-604B-82C88C2014D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75532" y="2971800"/>
                <a:ext cx="0" cy="0"/>
              </a:xfrm>
              <a:prstGeom prst="rect">
                <a:avLst/>
              </a:prstGeom>
            </p:spPr>
          </p:pic>
          <p:sp>
            <p:nvSpPr>
              <p:cNvPr id="9" name="Rounded Rectangle 8">
                <a:extLst>
                  <a:ext uri="{FF2B5EF4-FFF2-40B4-BE49-F238E27FC236}">
                    <a16:creationId xmlns:a16="http://schemas.microsoft.com/office/drawing/2014/main" id="{1E1EC58D-E66E-F5E9-8E69-92CDF35683AC}"/>
                  </a:ext>
                </a:extLst>
              </p:cNvPr>
              <p:cNvSpPr/>
              <p:nvPr/>
            </p:nvSpPr>
            <p:spPr>
              <a:xfrm>
                <a:off x="2254948" y="1844230"/>
                <a:ext cx="3474720" cy="2089594"/>
              </a:xfrm>
              <a:prstGeom prst="round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7E18E69-4A6A-5B22-87B5-0CFACD4691B1}"/>
                  </a:ext>
                </a:extLst>
              </p:cNvPr>
              <p:cNvSpPr txBox="1"/>
              <p:nvPr/>
            </p:nvSpPr>
            <p:spPr>
              <a:xfrm>
                <a:off x="2317811" y="3181668"/>
                <a:ext cx="3348994" cy="584775"/>
              </a:xfrm>
              <a:prstGeom prst="rect">
                <a:avLst/>
              </a:prstGeom>
              <a:noFill/>
            </p:spPr>
            <p:txBody>
              <a:bodyPr wrap="none" rtlCol="0">
                <a:spAutoFit/>
              </a:bodyPr>
              <a:lstStyle/>
              <a:p>
                <a:pPr algn="ctr"/>
                <a:r>
                  <a:rPr lang="en-US" sz="3200" b="1" dirty="0">
                    <a:solidFill>
                      <a:srgbClr val="0070C0"/>
                    </a:solidFill>
                    <a:latin typeface="Consolas"/>
                    <a:cs typeface="Consolas"/>
                  </a:rPr>
                  <a:t>cd [-o] &lt;path&gt;</a:t>
                </a:r>
              </a:p>
            </p:txBody>
          </p:sp>
          <p:sp>
            <p:nvSpPr>
              <p:cNvPr id="11" name="TextBox 10">
                <a:extLst>
                  <a:ext uri="{FF2B5EF4-FFF2-40B4-BE49-F238E27FC236}">
                    <a16:creationId xmlns:a16="http://schemas.microsoft.com/office/drawing/2014/main" id="{DDED40F7-7D64-888C-08A5-19FC803F5427}"/>
                  </a:ext>
                </a:extLst>
              </p:cNvPr>
              <p:cNvSpPr txBox="1"/>
              <p:nvPr/>
            </p:nvSpPr>
            <p:spPr>
              <a:xfrm>
                <a:off x="2999889" y="2014340"/>
                <a:ext cx="1984839" cy="1077218"/>
              </a:xfrm>
              <a:prstGeom prst="rect">
                <a:avLst/>
              </a:prstGeom>
              <a:noFill/>
            </p:spPr>
            <p:txBody>
              <a:bodyPr wrap="none" rtlCol="0">
                <a:spAutoFit/>
              </a:bodyPr>
              <a:lstStyle/>
              <a:p>
                <a:pPr algn="ctr"/>
                <a:r>
                  <a:rPr lang="en-US" sz="3200" b="1" dirty="0"/>
                  <a:t>Change </a:t>
                </a:r>
              </a:p>
              <a:p>
                <a:pPr algn="ctr"/>
                <a:r>
                  <a:rPr lang="en-US" sz="3200" b="1" dirty="0"/>
                  <a:t>Directory</a:t>
                </a:r>
              </a:p>
            </p:txBody>
          </p:sp>
        </p:grpSp>
        <p:grpSp>
          <p:nvGrpSpPr>
            <p:cNvPr id="13" name="Group 12">
              <a:extLst>
                <a:ext uri="{FF2B5EF4-FFF2-40B4-BE49-F238E27FC236}">
                  <a16:creationId xmlns:a16="http://schemas.microsoft.com/office/drawing/2014/main" id="{7E25A928-ACE1-7794-2A29-E38B9B600A94}"/>
                </a:ext>
              </a:extLst>
            </p:cNvPr>
            <p:cNvGrpSpPr/>
            <p:nvPr/>
          </p:nvGrpSpPr>
          <p:grpSpPr>
            <a:xfrm>
              <a:off x="6019228" y="1462088"/>
              <a:ext cx="5486400" cy="2089594"/>
              <a:chOff x="2014999" y="1844230"/>
              <a:chExt cx="4114800" cy="2089594"/>
            </a:xfrm>
          </p:grpSpPr>
          <p:pic>
            <p:nvPicPr>
              <p:cNvPr id="14" name="Graphic 13" descr="Open folder outline">
                <a:extLst>
                  <a:ext uri="{FF2B5EF4-FFF2-40B4-BE49-F238E27FC236}">
                    <a16:creationId xmlns:a16="http://schemas.microsoft.com/office/drawing/2014/main" id="{06A1603C-FD67-7A77-1556-CA3E65C8B0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75532" y="2971800"/>
                <a:ext cx="0" cy="0"/>
              </a:xfrm>
              <a:prstGeom prst="rect">
                <a:avLst/>
              </a:prstGeom>
            </p:spPr>
          </p:pic>
          <p:sp>
            <p:nvSpPr>
              <p:cNvPr id="15" name="Rounded Rectangle 14">
                <a:extLst>
                  <a:ext uri="{FF2B5EF4-FFF2-40B4-BE49-F238E27FC236}">
                    <a16:creationId xmlns:a16="http://schemas.microsoft.com/office/drawing/2014/main" id="{005D8A23-1E7B-56B7-FA44-70B4B3819EE7}"/>
                  </a:ext>
                </a:extLst>
              </p:cNvPr>
              <p:cNvSpPr/>
              <p:nvPr/>
            </p:nvSpPr>
            <p:spPr>
              <a:xfrm>
                <a:off x="2014999" y="1844230"/>
                <a:ext cx="4114800" cy="2089594"/>
              </a:xfrm>
              <a:prstGeom prst="round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7C3DDA6F-EE57-F771-6066-10223EE52066}"/>
                  </a:ext>
                </a:extLst>
              </p:cNvPr>
              <p:cNvSpPr txBox="1"/>
              <p:nvPr/>
            </p:nvSpPr>
            <p:spPr>
              <a:xfrm>
                <a:off x="2562251" y="3181668"/>
                <a:ext cx="3020298" cy="584775"/>
              </a:xfrm>
              <a:prstGeom prst="rect">
                <a:avLst/>
              </a:prstGeom>
              <a:noFill/>
            </p:spPr>
            <p:txBody>
              <a:bodyPr wrap="none" rtlCol="0">
                <a:spAutoFit/>
              </a:bodyPr>
              <a:lstStyle/>
              <a:p>
                <a:pPr algn="ctr"/>
                <a:r>
                  <a:rPr lang="en-US" sz="3200" b="1" dirty="0" err="1">
                    <a:solidFill>
                      <a:srgbClr val="0070C0"/>
                    </a:solidFill>
                    <a:latin typeface="Consolas"/>
                    <a:cs typeface="Consolas"/>
                  </a:rPr>
                  <a:t>mkdir</a:t>
                </a:r>
                <a:r>
                  <a:rPr lang="en-US" sz="3200" b="1" dirty="0">
                    <a:solidFill>
                      <a:srgbClr val="0070C0"/>
                    </a:solidFill>
                    <a:latin typeface="Consolas"/>
                    <a:cs typeface="Consolas"/>
                  </a:rPr>
                  <a:t> [-o] &lt;path&gt;</a:t>
                </a:r>
              </a:p>
            </p:txBody>
          </p:sp>
          <p:sp>
            <p:nvSpPr>
              <p:cNvPr id="17" name="TextBox 16">
                <a:extLst>
                  <a:ext uri="{FF2B5EF4-FFF2-40B4-BE49-F238E27FC236}">
                    <a16:creationId xmlns:a16="http://schemas.microsoft.com/office/drawing/2014/main" id="{BF6B899B-ACD2-C6A0-0046-2FAD5F77A9FB}"/>
                  </a:ext>
                </a:extLst>
              </p:cNvPr>
              <p:cNvSpPr txBox="1"/>
              <p:nvPr/>
            </p:nvSpPr>
            <p:spPr>
              <a:xfrm>
                <a:off x="3079980" y="2014340"/>
                <a:ext cx="1984839" cy="1077218"/>
              </a:xfrm>
              <a:prstGeom prst="rect">
                <a:avLst/>
              </a:prstGeom>
              <a:noFill/>
            </p:spPr>
            <p:txBody>
              <a:bodyPr wrap="none" rtlCol="0">
                <a:spAutoFit/>
              </a:bodyPr>
              <a:lstStyle/>
              <a:p>
                <a:pPr algn="ctr"/>
                <a:r>
                  <a:rPr lang="en-US" sz="3200" b="1" dirty="0"/>
                  <a:t>Make </a:t>
                </a:r>
              </a:p>
              <a:p>
                <a:pPr algn="ctr"/>
                <a:r>
                  <a:rPr lang="en-US" sz="3200" b="1" dirty="0"/>
                  <a:t>Directory</a:t>
                </a:r>
              </a:p>
            </p:txBody>
          </p:sp>
        </p:grpSp>
        <p:grpSp>
          <p:nvGrpSpPr>
            <p:cNvPr id="18" name="Group 17">
              <a:extLst>
                <a:ext uri="{FF2B5EF4-FFF2-40B4-BE49-F238E27FC236}">
                  <a16:creationId xmlns:a16="http://schemas.microsoft.com/office/drawing/2014/main" id="{74900AFF-1E42-7815-4763-1050602C2771}"/>
                </a:ext>
              </a:extLst>
            </p:cNvPr>
            <p:cNvGrpSpPr/>
            <p:nvPr/>
          </p:nvGrpSpPr>
          <p:grpSpPr>
            <a:xfrm>
              <a:off x="2254948" y="3916301"/>
              <a:ext cx="5486400" cy="2089594"/>
              <a:chOff x="2238984" y="1844230"/>
              <a:chExt cx="3478273" cy="2089594"/>
            </a:xfrm>
          </p:grpSpPr>
          <p:pic>
            <p:nvPicPr>
              <p:cNvPr id="19" name="Graphic 18" descr="Open folder outline">
                <a:extLst>
                  <a:ext uri="{FF2B5EF4-FFF2-40B4-BE49-F238E27FC236}">
                    <a16:creationId xmlns:a16="http://schemas.microsoft.com/office/drawing/2014/main" id="{7619D01D-3E4F-7B09-D3B4-C6A2762F061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75532" y="2971800"/>
                <a:ext cx="0" cy="0"/>
              </a:xfrm>
              <a:prstGeom prst="rect">
                <a:avLst/>
              </a:prstGeom>
            </p:spPr>
          </p:pic>
          <p:sp>
            <p:nvSpPr>
              <p:cNvPr id="20" name="Rounded Rectangle 19">
                <a:extLst>
                  <a:ext uri="{FF2B5EF4-FFF2-40B4-BE49-F238E27FC236}">
                    <a16:creationId xmlns:a16="http://schemas.microsoft.com/office/drawing/2014/main" id="{5C4562FB-7C03-8BD1-998A-7F011482916C}"/>
                  </a:ext>
                </a:extLst>
              </p:cNvPr>
              <p:cNvSpPr/>
              <p:nvPr/>
            </p:nvSpPr>
            <p:spPr>
              <a:xfrm>
                <a:off x="2238984" y="1844230"/>
                <a:ext cx="3478273" cy="2089594"/>
              </a:xfrm>
              <a:prstGeom prst="round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4BC9B5B-3CF7-804E-D51B-00BDDC734B9A}"/>
                  </a:ext>
                </a:extLst>
              </p:cNvPr>
              <p:cNvSpPr txBox="1"/>
              <p:nvPr/>
            </p:nvSpPr>
            <p:spPr>
              <a:xfrm>
                <a:off x="2271697" y="3181668"/>
                <a:ext cx="3412849" cy="584775"/>
              </a:xfrm>
              <a:prstGeom prst="rect">
                <a:avLst/>
              </a:prstGeom>
              <a:noFill/>
            </p:spPr>
            <p:txBody>
              <a:bodyPr wrap="none" rtlCol="0">
                <a:spAutoFit/>
              </a:bodyPr>
              <a:lstStyle/>
              <a:p>
                <a:pPr algn="ctr"/>
                <a:r>
                  <a:rPr lang="en-US" sz="3200" b="1" dirty="0">
                    <a:solidFill>
                      <a:srgbClr val="0070C0"/>
                    </a:solidFill>
                    <a:latin typeface="Consolas"/>
                    <a:cs typeface="Consolas"/>
                  </a:rPr>
                  <a:t>cp [-o] &lt;source&gt; &lt;</a:t>
                </a:r>
                <a:r>
                  <a:rPr lang="en-US" sz="3200" b="1" dirty="0" err="1">
                    <a:solidFill>
                      <a:srgbClr val="0070C0"/>
                    </a:solidFill>
                    <a:latin typeface="Consolas"/>
                    <a:cs typeface="Consolas"/>
                  </a:rPr>
                  <a:t>dest</a:t>
                </a:r>
                <a:r>
                  <a:rPr lang="en-US" sz="3200" b="1" dirty="0">
                    <a:solidFill>
                      <a:srgbClr val="0070C0"/>
                    </a:solidFill>
                    <a:latin typeface="Consolas"/>
                    <a:cs typeface="Consolas"/>
                  </a:rPr>
                  <a:t>&gt;</a:t>
                </a:r>
              </a:p>
            </p:txBody>
          </p:sp>
          <p:sp>
            <p:nvSpPr>
              <p:cNvPr id="22" name="TextBox 21">
                <a:extLst>
                  <a:ext uri="{FF2B5EF4-FFF2-40B4-BE49-F238E27FC236}">
                    <a16:creationId xmlns:a16="http://schemas.microsoft.com/office/drawing/2014/main" id="{05A21E4C-9245-1DA6-0994-1FA1B615320B}"/>
                  </a:ext>
                </a:extLst>
              </p:cNvPr>
              <p:cNvSpPr txBox="1"/>
              <p:nvPr/>
            </p:nvSpPr>
            <p:spPr>
              <a:xfrm>
                <a:off x="2742739" y="2014340"/>
                <a:ext cx="2470764" cy="1077218"/>
              </a:xfrm>
              <a:prstGeom prst="rect">
                <a:avLst/>
              </a:prstGeom>
              <a:noFill/>
            </p:spPr>
            <p:txBody>
              <a:bodyPr wrap="none" rtlCol="0">
                <a:spAutoFit/>
              </a:bodyPr>
              <a:lstStyle/>
              <a:p>
                <a:pPr algn="ctr"/>
                <a:r>
                  <a:rPr lang="en-US" sz="3200" b="1" dirty="0"/>
                  <a:t>Copy / Move </a:t>
                </a:r>
              </a:p>
              <a:p>
                <a:pPr algn="ctr"/>
                <a:r>
                  <a:rPr lang="en-US" sz="3200" b="1" dirty="0"/>
                  <a:t>Files &amp; Directories </a:t>
                </a:r>
              </a:p>
            </p:txBody>
          </p:sp>
        </p:grpSp>
        <p:grpSp>
          <p:nvGrpSpPr>
            <p:cNvPr id="23" name="Group 22">
              <a:extLst>
                <a:ext uri="{FF2B5EF4-FFF2-40B4-BE49-F238E27FC236}">
                  <a16:creationId xmlns:a16="http://schemas.microsoft.com/office/drawing/2014/main" id="{AF762859-AFFB-01F6-9BC0-972AD90C53EF}"/>
                </a:ext>
              </a:extLst>
            </p:cNvPr>
            <p:cNvGrpSpPr/>
            <p:nvPr/>
          </p:nvGrpSpPr>
          <p:grpSpPr>
            <a:xfrm>
              <a:off x="8030908" y="3916301"/>
              <a:ext cx="3474720" cy="2089594"/>
              <a:chOff x="2254948" y="1844230"/>
              <a:chExt cx="3474720" cy="2089594"/>
            </a:xfrm>
          </p:grpSpPr>
          <p:pic>
            <p:nvPicPr>
              <p:cNvPr id="24" name="Graphic 23" descr="Open folder outline">
                <a:extLst>
                  <a:ext uri="{FF2B5EF4-FFF2-40B4-BE49-F238E27FC236}">
                    <a16:creationId xmlns:a16="http://schemas.microsoft.com/office/drawing/2014/main" id="{1C0AF813-67D3-F2EB-05E1-D283404B8DD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75532" y="2971800"/>
                <a:ext cx="0" cy="0"/>
              </a:xfrm>
              <a:prstGeom prst="rect">
                <a:avLst/>
              </a:prstGeom>
            </p:spPr>
          </p:pic>
          <p:sp>
            <p:nvSpPr>
              <p:cNvPr id="25" name="Rounded Rectangle 24">
                <a:extLst>
                  <a:ext uri="{FF2B5EF4-FFF2-40B4-BE49-F238E27FC236}">
                    <a16:creationId xmlns:a16="http://schemas.microsoft.com/office/drawing/2014/main" id="{C9851041-E733-31A0-23AA-9FEE8EB9118C}"/>
                  </a:ext>
                </a:extLst>
              </p:cNvPr>
              <p:cNvSpPr/>
              <p:nvPr/>
            </p:nvSpPr>
            <p:spPr>
              <a:xfrm>
                <a:off x="2254948" y="1844230"/>
                <a:ext cx="3474720" cy="2089594"/>
              </a:xfrm>
              <a:prstGeom prst="round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13D33C83-4A9B-CA16-5E91-678EF8E7F46C}"/>
                  </a:ext>
                </a:extLst>
              </p:cNvPr>
              <p:cNvSpPr txBox="1"/>
              <p:nvPr/>
            </p:nvSpPr>
            <p:spPr>
              <a:xfrm>
                <a:off x="2317811" y="3181668"/>
                <a:ext cx="3348994" cy="584775"/>
              </a:xfrm>
              <a:prstGeom prst="rect">
                <a:avLst/>
              </a:prstGeom>
              <a:noFill/>
            </p:spPr>
            <p:txBody>
              <a:bodyPr wrap="none" rtlCol="0">
                <a:spAutoFit/>
              </a:bodyPr>
              <a:lstStyle/>
              <a:p>
                <a:pPr algn="ctr"/>
                <a:r>
                  <a:rPr lang="en-US" sz="3200" b="1" dirty="0">
                    <a:solidFill>
                      <a:srgbClr val="0070C0"/>
                    </a:solidFill>
                    <a:latin typeface="Consolas"/>
                    <a:cs typeface="Consolas"/>
                  </a:rPr>
                  <a:t>rm [-o] &lt;path&gt;</a:t>
                </a:r>
              </a:p>
            </p:txBody>
          </p:sp>
          <p:sp>
            <p:nvSpPr>
              <p:cNvPr id="27" name="TextBox 26">
                <a:extLst>
                  <a:ext uri="{FF2B5EF4-FFF2-40B4-BE49-F238E27FC236}">
                    <a16:creationId xmlns:a16="http://schemas.microsoft.com/office/drawing/2014/main" id="{45C318CE-5B6E-B6F2-6BB6-733FA143943F}"/>
                  </a:ext>
                </a:extLst>
              </p:cNvPr>
              <p:cNvSpPr txBox="1"/>
              <p:nvPr/>
            </p:nvSpPr>
            <p:spPr>
              <a:xfrm>
                <a:off x="3228317" y="2014340"/>
                <a:ext cx="1527982" cy="1077218"/>
              </a:xfrm>
              <a:prstGeom prst="rect">
                <a:avLst/>
              </a:prstGeom>
              <a:noFill/>
            </p:spPr>
            <p:txBody>
              <a:bodyPr wrap="none" rtlCol="0">
                <a:spAutoFit/>
              </a:bodyPr>
              <a:lstStyle/>
              <a:p>
                <a:pPr algn="ctr"/>
                <a:r>
                  <a:rPr lang="en-US" sz="3200" b="1" dirty="0"/>
                  <a:t>Delete </a:t>
                </a:r>
              </a:p>
              <a:p>
                <a:pPr algn="ctr"/>
                <a:r>
                  <a:rPr lang="en-US" sz="3200" b="1" dirty="0"/>
                  <a:t>Files</a:t>
                </a:r>
              </a:p>
            </p:txBody>
          </p:sp>
        </p:grpSp>
      </p:grpSp>
    </p:spTree>
    <p:extLst>
      <p:ext uri="{BB962C8B-B14F-4D97-AF65-F5344CB8AC3E}">
        <p14:creationId xmlns:p14="http://schemas.microsoft.com/office/powerpoint/2010/main" val="37642590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2A80F-467A-598A-27CA-29D7AB90F4C7}"/>
              </a:ext>
            </a:extLst>
          </p:cNvPr>
          <p:cNvSpPr>
            <a:spLocks noGrp="1"/>
          </p:cNvSpPr>
          <p:nvPr>
            <p:ph type="title"/>
          </p:nvPr>
        </p:nvSpPr>
        <p:spPr>
          <a:xfrm>
            <a:off x="463061" y="83771"/>
            <a:ext cx="11265877" cy="1325563"/>
          </a:xfrm>
        </p:spPr>
        <p:txBody>
          <a:bodyPr/>
          <a:lstStyle/>
          <a:p>
            <a:r>
              <a:rPr lang="en-US" dirty="0"/>
              <a:t>Create and edit a file – Terminal Text Editors</a:t>
            </a:r>
          </a:p>
        </p:txBody>
      </p:sp>
      <p:pic>
        <p:nvPicPr>
          <p:cNvPr id="7170" name="Picture 2" descr="Vim logo">
            <a:extLst>
              <a:ext uri="{FF2B5EF4-FFF2-40B4-BE49-F238E27FC236}">
                <a16:creationId xmlns:a16="http://schemas.microsoft.com/office/drawing/2014/main" id="{E70EF3A4-5D20-8FC8-D18B-D1E2A7B2DB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1003" y="1919771"/>
            <a:ext cx="2588146" cy="2593549"/>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02634B4-AF40-DF74-B510-3B418611DD74}"/>
              </a:ext>
            </a:extLst>
          </p:cNvPr>
          <p:cNvSpPr txBox="1"/>
          <p:nvPr/>
        </p:nvSpPr>
        <p:spPr>
          <a:xfrm>
            <a:off x="1605392" y="4706490"/>
            <a:ext cx="1199367" cy="830997"/>
          </a:xfrm>
          <a:prstGeom prst="rect">
            <a:avLst/>
          </a:prstGeom>
          <a:noFill/>
        </p:spPr>
        <p:txBody>
          <a:bodyPr wrap="none" rtlCol="0">
            <a:spAutoFit/>
          </a:bodyPr>
          <a:lstStyle/>
          <a:p>
            <a:r>
              <a:rPr lang="en-US" sz="4800" b="1" dirty="0">
                <a:latin typeface="Consolas" panose="020B0609020204030204" pitchFamily="49" charset="0"/>
                <a:cs typeface="Consolas" panose="020B0609020204030204" pitchFamily="49" charset="0"/>
              </a:rPr>
              <a:t>Vim</a:t>
            </a:r>
            <a:endParaRPr lang="en-US" b="1" dirty="0">
              <a:latin typeface="Consolas" panose="020B0609020204030204" pitchFamily="49" charset="0"/>
              <a:cs typeface="Consolas" panose="020B0609020204030204" pitchFamily="49" charset="0"/>
            </a:endParaRPr>
          </a:p>
        </p:txBody>
      </p:sp>
      <p:pic>
        <p:nvPicPr>
          <p:cNvPr id="7172" name="Picture 4" descr="undefined">
            <a:extLst>
              <a:ext uri="{FF2B5EF4-FFF2-40B4-BE49-F238E27FC236}">
                <a16:creationId xmlns:a16="http://schemas.microsoft.com/office/drawing/2014/main" id="{7ED316EC-14FF-145E-0407-F8D5D7370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9554" y="1892931"/>
            <a:ext cx="2504284" cy="250428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3F1B0254-9AB2-7400-7547-32E8717BC092}"/>
              </a:ext>
            </a:extLst>
          </p:cNvPr>
          <p:cNvSpPr txBox="1"/>
          <p:nvPr/>
        </p:nvSpPr>
        <p:spPr>
          <a:xfrm>
            <a:off x="5192896" y="4667972"/>
            <a:ext cx="1537600" cy="830997"/>
          </a:xfrm>
          <a:prstGeom prst="rect">
            <a:avLst/>
          </a:prstGeom>
          <a:noFill/>
        </p:spPr>
        <p:txBody>
          <a:bodyPr wrap="none" rtlCol="0">
            <a:spAutoFit/>
          </a:bodyPr>
          <a:lstStyle/>
          <a:p>
            <a:r>
              <a:rPr lang="en-US" sz="4800" b="1" dirty="0">
                <a:latin typeface="Consolas" panose="020B0609020204030204" pitchFamily="49" charset="0"/>
                <a:cs typeface="Consolas" panose="020B0609020204030204" pitchFamily="49" charset="0"/>
              </a:rPr>
              <a:t>Nano</a:t>
            </a:r>
            <a:endParaRPr lang="en-US" b="1" dirty="0">
              <a:latin typeface="Consolas" panose="020B0609020204030204" pitchFamily="49" charset="0"/>
              <a:cs typeface="Consolas" panose="020B0609020204030204" pitchFamily="49" charset="0"/>
            </a:endParaRPr>
          </a:p>
        </p:txBody>
      </p:sp>
      <p:pic>
        <p:nvPicPr>
          <p:cNvPr id="4" name="Picture 3" descr="Emacs logo">
            <a:extLst>
              <a:ext uri="{FF2B5EF4-FFF2-40B4-BE49-F238E27FC236}">
                <a16:creationId xmlns:a16="http://schemas.microsoft.com/office/drawing/2014/main" id="{739DE716-6152-038B-9818-B2CAD2E0DC74}"/>
              </a:ext>
            </a:extLst>
          </p:cNvPr>
          <p:cNvPicPr>
            <a:picLocks noChangeAspect="1"/>
          </p:cNvPicPr>
          <p:nvPr/>
        </p:nvPicPr>
        <p:blipFill>
          <a:blip r:embed="rId4"/>
          <a:stretch>
            <a:fillRect/>
          </a:stretch>
        </p:blipFill>
        <p:spPr>
          <a:xfrm>
            <a:off x="8424243" y="1776826"/>
            <a:ext cx="2793505" cy="2736494"/>
          </a:xfrm>
          <a:prstGeom prst="rect">
            <a:avLst/>
          </a:prstGeom>
        </p:spPr>
      </p:pic>
      <p:sp>
        <p:nvSpPr>
          <p:cNvPr id="6" name="TextBox 5">
            <a:extLst>
              <a:ext uri="{FF2B5EF4-FFF2-40B4-BE49-F238E27FC236}">
                <a16:creationId xmlns:a16="http://schemas.microsoft.com/office/drawing/2014/main" id="{7935EB34-99AB-6FA2-4581-3E5B01CD1D91}"/>
              </a:ext>
            </a:extLst>
          </p:cNvPr>
          <p:cNvSpPr txBox="1"/>
          <p:nvPr/>
        </p:nvSpPr>
        <p:spPr>
          <a:xfrm>
            <a:off x="8883077" y="4667972"/>
            <a:ext cx="1875835" cy="830997"/>
          </a:xfrm>
          <a:prstGeom prst="rect">
            <a:avLst/>
          </a:prstGeom>
          <a:noFill/>
        </p:spPr>
        <p:txBody>
          <a:bodyPr wrap="none" rtlCol="0">
            <a:spAutoFit/>
          </a:bodyPr>
          <a:lstStyle/>
          <a:p>
            <a:r>
              <a:rPr lang="en-US" sz="4800" b="1" dirty="0">
                <a:latin typeface="Consolas" panose="020B0609020204030204" pitchFamily="49" charset="0"/>
                <a:cs typeface="Consolas" panose="020B0609020204030204" pitchFamily="49" charset="0"/>
              </a:rPr>
              <a:t>Emacs</a:t>
            </a:r>
            <a:endParaRPr lang="en-US" b="1" dirty="0">
              <a:latin typeface="Consolas" panose="020B0609020204030204" pitchFamily="49" charset="0"/>
              <a:cs typeface="Consolas" panose="020B0609020204030204" pitchFamily="49" charset="0"/>
            </a:endParaRPr>
          </a:p>
        </p:txBody>
      </p:sp>
      <p:sp>
        <p:nvSpPr>
          <p:cNvPr id="5" name="Slide Number Placeholder 4">
            <a:extLst>
              <a:ext uri="{FF2B5EF4-FFF2-40B4-BE49-F238E27FC236}">
                <a16:creationId xmlns:a16="http://schemas.microsoft.com/office/drawing/2014/main" id="{675D91E8-1460-FB3B-3CB2-3E96670D60A7}"/>
              </a:ext>
            </a:extLst>
          </p:cNvPr>
          <p:cNvSpPr>
            <a:spLocks noGrp="1"/>
          </p:cNvSpPr>
          <p:nvPr>
            <p:ph type="sldNum" sz="quarter" idx="12"/>
          </p:nvPr>
        </p:nvSpPr>
        <p:spPr/>
        <p:txBody>
          <a:bodyPr/>
          <a:lstStyle/>
          <a:p>
            <a:fld id="{ABDA560F-461C-6043-9BC4-489BA92F7161}" type="slidenum">
              <a:rPr lang="en-US" smtClean="0"/>
              <a:t>13</a:t>
            </a:fld>
            <a:endParaRPr lang="en-US"/>
          </a:p>
        </p:txBody>
      </p:sp>
    </p:spTree>
    <p:extLst>
      <p:ext uri="{BB962C8B-B14F-4D97-AF65-F5344CB8AC3E}">
        <p14:creationId xmlns:p14="http://schemas.microsoft.com/office/powerpoint/2010/main" val="84620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738BD-DBBE-2994-7077-B94D7FE35641}"/>
              </a:ext>
            </a:extLst>
          </p:cNvPr>
          <p:cNvSpPr>
            <a:spLocks noGrp="1"/>
          </p:cNvSpPr>
          <p:nvPr>
            <p:ph type="title"/>
          </p:nvPr>
        </p:nvSpPr>
        <p:spPr>
          <a:xfrm>
            <a:off x="838200" y="66187"/>
            <a:ext cx="10515600" cy="1325563"/>
          </a:xfrm>
        </p:spPr>
        <p:txBody>
          <a:bodyPr/>
          <a:lstStyle/>
          <a:p>
            <a:r>
              <a:rPr lang="en-US" dirty="0"/>
              <a:t>Creating a Bash Script</a:t>
            </a:r>
          </a:p>
        </p:txBody>
      </p:sp>
      <p:pic>
        <p:nvPicPr>
          <p:cNvPr id="7" name="Graphic 6" descr="Programmer male with solid fill">
            <a:extLst>
              <a:ext uri="{FF2B5EF4-FFF2-40B4-BE49-F238E27FC236}">
                <a16:creationId xmlns:a16="http://schemas.microsoft.com/office/drawing/2014/main" id="{F651B605-88E9-D063-5E96-8891257EEC8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10000" y="1615675"/>
            <a:ext cx="4116910" cy="4116910"/>
          </a:xfrm>
          <a:prstGeom prst="rect">
            <a:avLst/>
          </a:prstGeom>
        </p:spPr>
      </p:pic>
      <p:sp>
        <p:nvSpPr>
          <p:cNvPr id="5" name="Slide Number Placeholder 4">
            <a:extLst>
              <a:ext uri="{FF2B5EF4-FFF2-40B4-BE49-F238E27FC236}">
                <a16:creationId xmlns:a16="http://schemas.microsoft.com/office/drawing/2014/main" id="{7F2F1B2F-F244-BE48-7497-088CA2C348B4}"/>
              </a:ext>
            </a:extLst>
          </p:cNvPr>
          <p:cNvSpPr>
            <a:spLocks noGrp="1"/>
          </p:cNvSpPr>
          <p:nvPr>
            <p:ph type="sldNum" sz="quarter" idx="12"/>
          </p:nvPr>
        </p:nvSpPr>
        <p:spPr/>
        <p:txBody>
          <a:bodyPr/>
          <a:lstStyle/>
          <a:p>
            <a:fld id="{ABDA560F-461C-6043-9BC4-489BA92F7161}" type="slidenum">
              <a:rPr lang="en-US" smtClean="0"/>
              <a:t>14</a:t>
            </a:fld>
            <a:endParaRPr lang="en-US"/>
          </a:p>
        </p:txBody>
      </p:sp>
    </p:spTree>
    <p:extLst>
      <p:ext uri="{BB962C8B-B14F-4D97-AF65-F5344CB8AC3E}">
        <p14:creationId xmlns:p14="http://schemas.microsoft.com/office/powerpoint/2010/main" val="15132584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6" name="Google Shape;216;p31">
            <a:extLst>
              <a:ext uri="{FF2B5EF4-FFF2-40B4-BE49-F238E27FC236}">
                <a16:creationId xmlns:a16="http://schemas.microsoft.com/office/drawing/2014/main" id="{7BB7D35D-D791-33B1-E779-2E55122C2C91}"/>
              </a:ext>
            </a:extLst>
          </p:cNvPr>
          <p:cNvSpPr txBox="1">
            <a:spLocks noGrp="1"/>
          </p:cNvSpPr>
          <p:nvPr>
            <p:ph type="title"/>
          </p:nvPr>
        </p:nvSpPr>
        <p:spPr>
          <a:xfrm>
            <a:off x="251901" y="188360"/>
            <a:ext cx="9962909" cy="714924"/>
          </a:xfrm>
          <a:prstGeom prst="rect">
            <a:avLst/>
          </a:prstGeom>
          <a:noFill/>
          <a:ln>
            <a:noFill/>
          </a:ln>
        </p:spPr>
        <p:txBody>
          <a:bodyPr spcFirstLastPara="1" wrap="square" lIns="0" tIns="37450" rIns="0" bIns="0" anchor="ctr" anchorCtr="0">
            <a:spAutoFit/>
          </a:bodyPr>
          <a:lstStyle/>
          <a:p>
            <a:pPr marL="29975" lvl="0" indent="0" algn="l" rtl="0">
              <a:lnSpc>
                <a:spcPct val="100000"/>
              </a:lnSpc>
              <a:spcBef>
                <a:spcPts val="0"/>
              </a:spcBef>
              <a:spcAft>
                <a:spcPts val="0"/>
              </a:spcAft>
              <a:buClr>
                <a:schemeClr val="dk1"/>
              </a:buClr>
              <a:buSzPts val="4400"/>
              <a:buFont typeface="Arial Black"/>
              <a:buNone/>
            </a:pPr>
            <a:r>
              <a:rPr lang="en-US" dirty="0"/>
              <a:t>Shell script basics</a:t>
            </a:r>
            <a:endParaRPr dirty="0"/>
          </a:p>
        </p:txBody>
      </p:sp>
      <p:sp>
        <p:nvSpPr>
          <p:cNvPr id="223" name="Google Shape;223;p32"/>
          <p:cNvSpPr txBox="1"/>
          <p:nvPr/>
        </p:nvSpPr>
        <p:spPr>
          <a:xfrm>
            <a:off x="672775" y="1190417"/>
            <a:ext cx="10302600" cy="2093648"/>
          </a:xfrm>
          <a:prstGeom prst="rect">
            <a:avLst/>
          </a:prstGeom>
          <a:noFill/>
          <a:ln>
            <a:noFill/>
          </a:ln>
        </p:spPr>
        <p:txBody>
          <a:bodyPr spcFirstLastPara="1" wrap="square" lIns="0" tIns="104900" rIns="0" bIns="0" anchor="t" anchorCtr="0">
            <a:spAutoFit/>
          </a:bodyPr>
          <a:lstStyle/>
          <a:p>
            <a:pPr marL="677130" marR="0" lvl="0" indent="-342900" algn="l" rtl="0">
              <a:lnSpc>
                <a:spcPct val="125000"/>
              </a:lnSpc>
              <a:spcBef>
                <a:spcPts val="0"/>
              </a:spcBef>
              <a:spcAft>
                <a:spcPts val="0"/>
              </a:spcAft>
              <a:buFont typeface="Arial" panose="020B0604020202020204" pitchFamily="34" charset="0"/>
              <a:buChar char="•"/>
            </a:pPr>
            <a:r>
              <a:rPr lang="en-US" sz="2400" dirty="0">
                <a:solidFill>
                  <a:schemeClr val="dk1"/>
                </a:solidFill>
                <a:latin typeface="+mn-lt"/>
                <a:ea typeface="Helvetica Neue Light" panose="02000403000000020004" pitchFamily="2" charset="0"/>
              </a:rPr>
              <a:t>In shell scripts, the first line must specify the shell e.g. </a:t>
            </a:r>
            <a:r>
              <a:rPr lang="en-US" sz="2400" b="1" dirty="0">
                <a:solidFill>
                  <a:srgbClr val="0070C0"/>
                </a:solidFill>
                <a:latin typeface="Consolas"/>
                <a:cs typeface="Consolas"/>
              </a:rPr>
              <a:t>#!/bin/bash</a:t>
            </a:r>
            <a:endParaRPr sz="2400" b="1" dirty="0">
              <a:solidFill>
                <a:srgbClr val="0070C0"/>
              </a:solidFill>
              <a:latin typeface="Consolas"/>
              <a:cs typeface="Consolas"/>
            </a:endParaRPr>
          </a:p>
          <a:p>
            <a:pPr marL="683448" marR="28477" lvl="0" indent="-349218" algn="l" rtl="0">
              <a:lnSpc>
                <a:spcPct val="125000"/>
              </a:lnSpc>
              <a:spcBef>
                <a:spcPts val="507"/>
              </a:spcBef>
              <a:spcAft>
                <a:spcPts val="0"/>
              </a:spcAft>
              <a:buFont typeface="Arial" panose="020B0604020202020204" pitchFamily="34" charset="0"/>
              <a:buChar char="•"/>
            </a:pPr>
            <a:r>
              <a:rPr lang="en-US" sz="2400" dirty="0">
                <a:solidFill>
                  <a:schemeClr val="dk1"/>
                </a:solidFill>
                <a:latin typeface="+mn-lt"/>
                <a:ea typeface="Helvetica Neue Light" panose="02000403000000020004" pitchFamily="2" charset="0"/>
              </a:rPr>
              <a:t>The program loader recognizes the </a:t>
            </a:r>
            <a:r>
              <a:rPr lang="en-US" sz="2400" b="1" dirty="0">
                <a:solidFill>
                  <a:srgbClr val="0070C0"/>
                </a:solidFill>
                <a:latin typeface="Consolas"/>
                <a:cs typeface="Consolas"/>
              </a:rPr>
              <a:t>#!</a:t>
            </a:r>
            <a:r>
              <a:rPr lang="en-US" sz="2400" dirty="0">
                <a:solidFill>
                  <a:schemeClr val="dk1"/>
                </a:solidFill>
                <a:latin typeface="+mn-lt"/>
                <a:ea typeface="Helvetica Neue Light" panose="02000403000000020004" pitchFamily="2" charset="0"/>
              </a:rPr>
              <a:t> and will interpret the rest of the line (</a:t>
            </a:r>
            <a:r>
              <a:rPr lang="en-US" sz="2400" b="1" dirty="0">
                <a:solidFill>
                  <a:srgbClr val="0070C0"/>
                </a:solidFill>
                <a:latin typeface="Consolas"/>
                <a:cs typeface="Consolas"/>
              </a:rPr>
              <a:t>/bin/bash</a:t>
            </a:r>
            <a:r>
              <a:rPr lang="en-US" sz="2400" dirty="0">
                <a:solidFill>
                  <a:schemeClr val="dk1"/>
                </a:solidFill>
                <a:latin typeface="+mn-lt"/>
                <a:ea typeface="Helvetica Neue Light" panose="02000403000000020004" pitchFamily="2" charset="0"/>
              </a:rPr>
              <a:t>) as the interpreter program.</a:t>
            </a:r>
            <a:endParaRPr sz="2400" dirty="0">
              <a:solidFill>
                <a:schemeClr val="dk1"/>
              </a:solidFill>
              <a:latin typeface="+mn-lt"/>
              <a:ea typeface="Helvetica Neue Light" panose="02000403000000020004" pitchFamily="2" charset="0"/>
            </a:endParaRPr>
          </a:p>
          <a:p>
            <a:pPr marL="677130" marR="0" lvl="0" indent="-342900" algn="l" rtl="0">
              <a:lnSpc>
                <a:spcPct val="125000"/>
              </a:lnSpc>
              <a:spcBef>
                <a:spcPts val="600"/>
              </a:spcBef>
              <a:spcAft>
                <a:spcPts val="0"/>
              </a:spcAft>
              <a:buFont typeface="Arial" panose="020B0604020202020204" pitchFamily="34" charset="0"/>
              <a:buChar char="•"/>
            </a:pPr>
            <a:r>
              <a:rPr lang="en-US" sz="2400" dirty="0">
                <a:solidFill>
                  <a:schemeClr val="dk1"/>
                </a:solidFill>
                <a:latin typeface="+mn-lt"/>
                <a:ea typeface="Helvetica Neue Light" panose="02000403000000020004" pitchFamily="2" charset="0"/>
              </a:rPr>
              <a:t>If a line starts with </a:t>
            </a:r>
            <a:r>
              <a:rPr lang="en-US" sz="2400" b="1" dirty="0">
                <a:solidFill>
                  <a:srgbClr val="0070C0"/>
                </a:solidFill>
                <a:latin typeface="Consolas"/>
                <a:cs typeface="Consolas"/>
              </a:rPr>
              <a:t>#</a:t>
            </a:r>
            <a:r>
              <a:rPr lang="en-US" sz="2400" dirty="0">
                <a:solidFill>
                  <a:schemeClr val="dk1"/>
                </a:solidFill>
                <a:latin typeface="+mn-lt"/>
                <a:ea typeface="Helvetica Neue Light" panose="02000403000000020004" pitchFamily="2" charset="0"/>
              </a:rPr>
              <a:t>, it is a comment and is not run.</a:t>
            </a:r>
            <a:endParaRPr sz="2400" dirty="0">
              <a:solidFill>
                <a:schemeClr val="dk1"/>
              </a:solidFill>
              <a:latin typeface="+mn-lt"/>
              <a:ea typeface="Helvetica Neue Light" panose="02000403000000020004" pitchFamily="2" charset="0"/>
            </a:endParaRPr>
          </a:p>
        </p:txBody>
      </p:sp>
      <p:sp>
        <p:nvSpPr>
          <p:cNvPr id="222" name="Google Shape;222;p32">
            <a:extLst>
              <a:ext uri="{C183D7F6-B498-43B3-948B-1728B52AA6E4}">
                <adec:decorative xmlns:adec="http://schemas.microsoft.com/office/drawing/2017/decorative" val="1"/>
              </a:ext>
            </a:extLst>
          </p:cNvPr>
          <p:cNvSpPr/>
          <p:nvPr/>
        </p:nvSpPr>
        <p:spPr>
          <a:xfrm>
            <a:off x="672775" y="3510125"/>
            <a:ext cx="6070925" cy="2415600"/>
          </a:xfrm>
          <a:prstGeom prst="roundRect">
            <a:avLst>
              <a:gd name="adj" fmla="val 16667"/>
            </a:avLst>
          </a:prstGeom>
          <a:solidFill>
            <a:srgbClr val="CFE2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32"/>
          <p:cNvSpPr txBox="1"/>
          <p:nvPr/>
        </p:nvSpPr>
        <p:spPr>
          <a:xfrm>
            <a:off x="944700" y="3497425"/>
            <a:ext cx="5694600" cy="2717774"/>
          </a:xfrm>
          <a:prstGeom prst="rect">
            <a:avLst/>
          </a:prstGeom>
          <a:noFill/>
          <a:ln>
            <a:noFill/>
          </a:ln>
        </p:spPr>
        <p:txBody>
          <a:bodyPr spcFirstLastPara="1" wrap="square" lIns="0" tIns="31475" rIns="0" bIns="0" anchor="t" anchorCtr="0">
            <a:spAutoFit/>
          </a:bodyPr>
          <a:lstStyle/>
          <a:p>
            <a:pPr marL="29975" marR="0" lvl="0" indent="0" algn="l" rtl="0">
              <a:lnSpc>
                <a:spcPct val="150000"/>
              </a:lnSpc>
              <a:spcBef>
                <a:spcPts val="0"/>
              </a:spcBef>
              <a:spcAft>
                <a:spcPts val="0"/>
              </a:spcAft>
              <a:buNone/>
            </a:pPr>
            <a:r>
              <a:rPr lang="en-US" sz="2600" i="1" dirty="0">
                <a:solidFill>
                  <a:srgbClr val="3F7F7F"/>
                </a:solidFill>
                <a:latin typeface="Courier New"/>
                <a:ea typeface="Courier New"/>
                <a:cs typeface="Courier New"/>
                <a:sym typeface="Courier New"/>
              </a:rPr>
              <a:t>#!/bin/bash</a:t>
            </a:r>
            <a:br>
              <a:rPr lang="en-US" sz="2600" i="1" dirty="0">
                <a:solidFill>
                  <a:srgbClr val="3F7F7F"/>
                </a:solidFill>
                <a:latin typeface="Courier New"/>
                <a:ea typeface="Courier New"/>
                <a:cs typeface="Courier New"/>
                <a:sym typeface="Courier New"/>
              </a:rPr>
            </a:br>
            <a:r>
              <a:rPr lang="en-US" sz="2600" i="1" dirty="0">
                <a:solidFill>
                  <a:srgbClr val="3F7F7F"/>
                </a:solidFill>
                <a:latin typeface="Courier New"/>
                <a:ea typeface="Courier New"/>
                <a:cs typeface="Courier New"/>
                <a:sym typeface="Courier New"/>
              </a:rPr>
              <a:t>#look at the files in /</a:t>
            </a:r>
            <a:r>
              <a:rPr lang="en-US" sz="2600" i="1" dirty="0" err="1">
                <a:solidFill>
                  <a:srgbClr val="3F7F7F"/>
                </a:solidFill>
                <a:latin typeface="Courier New"/>
                <a:ea typeface="Courier New"/>
                <a:cs typeface="Courier New"/>
                <a:sym typeface="Courier New"/>
              </a:rPr>
              <a:t>tmp</a:t>
            </a:r>
            <a:endParaRPr sz="2700" dirty="0">
              <a:solidFill>
                <a:schemeClr val="dk1"/>
              </a:solidFill>
              <a:latin typeface="Times New Roman"/>
              <a:ea typeface="Times New Roman"/>
              <a:cs typeface="Times New Roman"/>
              <a:sym typeface="Times New Roman"/>
            </a:endParaRPr>
          </a:p>
          <a:p>
            <a:pPr marL="29975" marR="1212522" lvl="0" indent="0" algn="l" rtl="0">
              <a:lnSpc>
                <a:spcPct val="150000"/>
              </a:lnSpc>
              <a:spcBef>
                <a:spcPts val="0"/>
              </a:spcBef>
              <a:spcAft>
                <a:spcPts val="0"/>
              </a:spcAft>
              <a:buNone/>
            </a:pPr>
            <a:r>
              <a:rPr lang="en-US" sz="2600" dirty="0">
                <a:solidFill>
                  <a:schemeClr val="tx1"/>
                </a:solidFill>
                <a:latin typeface="Courier New"/>
                <a:ea typeface="Courier New"/>
                <a:cs typeface="Courier New"/>
                <a:sym typeface="Courier New"/>
              </a:rPr>
              <a:t>cd</a:t>
            </a:r>
            <a:r>
              <a:rPr lang="en-US" sz="2600" dirty="0">
                <a:solidFill>
                  <a:srgbClr val="007F00"/>
                </a:solidFill>
                <a:latin typeface="Courier New"/>
                <a:ea typeface="Courier New"/>
                <a:cs typeface="Courier New"/>
                <a:sym typeface="Courier New"/>
              </a:rPr>
              <a:t> </a:t>
            </a:r>
            <a:r>
              <a:rPr lang="en-US" sz="2600" dirty="0">
                <a:solidFill>
                  <a:schemeClr val="dk1"/>
                </a:solidFill>
                <a:latin typeface="Courier New"/>
                <a:ea typeface="Courier New"/>
                <a:cs typeface="Courier New"/>
                <a:sym typeface="Courier New"/>
              </a:rPr>
              <a:t>/</a:t>
            </a:r>
            <a:r>
              <a:rPr lang="en-US" sz="2600" dirty="0" err="1">
                <a:solidFill>
                  <a:schemeClr val="dk1"/>
                </a:solidFill>
                <a:latin typeface="Courier New"/>
                <a:ea typeface="Courier New"/>
                <a:cs typeface="Courier New"/>
                <a:sym typeface="Courier New"/>
              </a:rPr>
              <a:t>tmp</a:t>
            </a:r>
            <a:r>
              <a:rPr lang="en-US" sz="2600" dirty="0">
                <a:solidFill>
                  <a:schemeClr val="dk1"/>
                </a:solidFill>
                <a:latin typeface="Courier New"/>
                <a:ea typeface="Courier New"/>
                <a:cs typeface="Courier New"/>
                <a:sym typeface="Courier New"/>
              </a:rPr>
              <a:t>  </a:t>
            </a:r>
            <a:endParaRPr sz="2600" dirty="0">
              <a:solidFill>
                <a:schemeClr val="dk1"/>
              </a:solidFill>
              <a:latin typeface="Courier New"/>
              <a:ea typeface="Courier New"/>
              <a:cs typeface="Courier New"/>
              <a:sym typeface="Courier New"/>
            </a:endParaRPr>
          </a:p>
          <a:p>
            <a:pPr marL="29975" marR="1212522" lvl="0" indent="0" algn="l" rtl="0">
              <a:lnSpc>
                <a:spcPct val="150000"/>
              </a:lnSpc>
              <a:spcBef>
                <a:spcPts val="0"/>
              </a:spcBef>
              <a:spcAft>
                <a:spcPts val="0"/>
              </a:spcAft>
              <a:buNone/>
            </a:pPr>
            <a:r>
              <a:rPr lang="en-US" sz="2600" dirty="0">
                <a:solidFill>
                  <a:schemeClr val="dk1"/>
                </a:solidFill>
                <a:latin typeface="Courier New"/>
                <a:ea typeface="Courier New"/>
                <a:cs typeface="Courier New"/>
                <a:sym typeface="Courier New"/>
              </a:rPr>
              <a:t>ls </a:t>
            </a:r>
            <a:endParaRPr dirty="0"/>
          </a:p>
          <a:p>
            <a:pPr marL="29975" marR="1212522" lvl="0" indent="0" algn="l" rtl="0">
              <a:lnSpc>
                <a:spcPct val="102699"/>
              </a:lnSpc>
              <a:spcBef>
                <a:spcPts val="0"/>
              </a:spcBef>
              <a:spcAft>
                <a:spcPts val="0"/>
              </a:spcAft>
              <a:buNone/>
            </a:pPr>
            <a:endParaRPr dirty="0"/>
          </a:p>
        </p:txBody>
      </p:sp>
      <p:sp>
        <p:nvSpPr>
          <p:cNvPr id="225" name="Google Shape;225;p32"/>
          <p:cNvSpPr txBox="1"/>
          <p:nvPr/>
        </p:nvSpPr>
        <p:spPr>
          <a:xfrm>
            <a:off x="6996234" y="3454776"/>
            <a:ext cx="3228731" cy="2799292"/>
          </a:xfrm>
          <a:prstGeom prst="rect">
            <a:avLst/>
          </a:prstGeom>
          <a:noFill/>
          <a:ln>
            <a:noFill/>
          </a:ln>
        </p:spPr>
        <p:txBody>
          <a:bodyPr spcFirstLastPara="1" wrap="square" lIns="0" tIns="40450" rIns="0" bIns="0" anchor="t" anchorCtr="0">
            <a:spAutoFit/>
          </a:bodyPr>
          <a:lstStyle/>
          <a:p>
            <a:pPr marL="29975" lvl="0" indent="0" algn="l" rtl="0">
              <a:lnSpc>
                <a:spcPct val="150000"/>
              </a:lnSpc>
              <a:spcBef>
                <a:spcPts val="0"/>
              </a:spcBef>
              <a:spcAft>
                <a:spcPts val="0"/>
              </a:spcAft>
              <a:buNone/>
            </a:pPr>
            <a:r>
              <a:rPr lang="en-US" sz="2500" dirty="0">
                <a:solidFill>
                  <a:srgbClr val="FF0000"/>
                </a:solidFill>
                <a:latin typeface="Helvetica Neue Light" panose="02000403000000020004" pitchFamily="2" charset="0"/>
                <a:ea typeface="Helvetica Neue Light" panose="02000403000000020004" pitchFamily="2" charset="0"/>
              </a:rPr>
              <a:t>Shell to run</a:t>
            </a:r>
            <a:endParaRPr sz="2500" dirty="0">
              <a:solidFill>
                <a:srgbClr val="FF0000"/>
              </a:solidFill>
              <a:latin typeface="Helvetica Neue Light" panose="02000403000000020004" pitchFamily="2" charset="0"/>
              <a:ea typeface="Helvetica Neue Light" panose="02000403000000020004" pitchFamily="2" charset="0"/>
            </a:endParaRPr>
          </a:p>
          <a:p>
            <a:pPr marL="29975" lvl="0" indent="0" algn="l" rtl="0">
              <a:lnSpc>
                <a:spcPct val="150000"/>
              </a:lnSpc>
              <a:spcBef>
                <a:spcPts val="0"/>
              </a:spcBef>
              <a:spcAft>
                <a:spcPts val="0"/>
              </a:spcAft>
              <a:buClr>
                <a:schemeClr val="dk1"/>
              </a:buClr>
              <a:buFont typeface="Arial"/>
              <a:buNone/>
            </a:pPr>
            <a:r>
              <a:rPr lang="en-US" sz="2500" dirty="0">
                <a:solidFill>
                  <a:srgbClr val="FF0000"/>
                </a:solidFill>
                <a:latin typeface="Helvetica Neue Light" panose="02000403000000020004" pitchFamily="2" charset="0"/>
                <a:ea typeface="Helvetica Neue Light" panose="02000403000000020004" pitchFamily="2" charset="0"/>
              </a:rPr>
              <a:t>Comment</a:t>
            </a:r>
            <a:endParaRPr sz="2500" dirty="0">
              <a:solidFill>
                <a:srgbClr val="FF0000"/>
              </a:solidFill>
              <a:latin typeface="Helvetica Neue Light" panose="02000403000000020004" pitchFamily="2" charset="0"/>
              <a:ea typeface="Helvetica Neue Light" panose="02000403000000020004" pitchFamily="2" charset="0"/>
            </a:endParaRPr>
          </a:p>
          <a:p>
            <a:pPr marL="29975" marR="11990" lvl="0" indent="0" algn="l" rtl="0">
              <a:lnSpc>
                <a:spcPct val="150000"/>
              </a:lnSpc>
              <a:spcBef>
                <a:spcPts val="0"/>
              </a:spcBef>
              <a:spcAft>
                <a:spcPts val="0"/>
              </a:spcAft>
              <a:buNone/>
            </a:pPr>
            <a:r>
              <a:rPr lang="en-US" sz="2500" dirty="0">
                <a:solidFill>
                  <a:srgbClr val="FF0000"/>
                </a:solidFill>
                <a:latin typeface="Helvetica Neue Light" panose="02000403000000020004" pitchFamily="2" charset="0"/>
                <a:ea typeface="Helvetica Neue Light" panose="02000403000000020004" pitchFamily="2" charset="0"/>
              </a:rPr>
              <a:t>Change directories</a:t>
            </a:r>
            <a:endParaRPr sz="2500" dirty="0">
              <a:solidFill>
                <a:srgbClr val="FF0000"/>
              </a:solidFill>
              <a:latin typeface="Helvetica Neue Light" panose="02000403000000020004" pitchFamily="2" charset="0"/>
              <a:ea typeface="Helvetica Neue Light" panose="02000403000000020004" pitchFamily="2" charset="0"/>
            </a:endParaRPr>
          </a:p>
          <a:p>
            <a:pPr marL="29975" marR="11990" lvl="0" indent="0" algn="l" rtl="0">
              <a:lnSpc>
                <a:spcPct val="150000"/>
              </a:lnSpc>
              <a:spcBef>
                <a:spcPts val="0"/>
              </a:spcBef>
              <a:spcAft>
                <a:spcPts val="0"/>
              </a:spcAft>
              <a:buNone/>
            </a:pPr>
            <a:r>
              <a:rPr lang="en-US" sz="2500" dirty="0">
                <a:solidFill>
                  <a:srgbClr val="FF0000"/>
                </a:solidFill>
                <a:latin typeface="Helvetica Neue Light" panose="02000403000000020004" pitchFamily="2" charset="0"/>
                <a:ea typeface="Helvetica Neue Light" panose="02000403000000020004" pitchFamily="2" charset="0"/>
              </a:rPr>
              <a:t>List everything in /</a:t>
            </a:r>
            <a:r>
              <a:rPr lang="en-US" sz="2500" dirty="0" err="1">
                <a:solidFill>
                  <a:srgbClr val="FF0000"/>
                </a:solidFill>
                <a:latin typeface="Helvetica Neue Light" panose="02000403000000020004" pitchFamily="2" charset="0"/>
                <a:ea typeface="Helvetica Neue Light" panose="02000403000000020004" pitchFamily="2" charset="0"/>
              </a:rPr>
              <a:t>tmp</a:t>
            </a:r>
            <a:r>
              <a:rPr lang="en-US" sz="2500" dirty="0">
                <a:solidFill>
                  <a:srgbClr val="FF0000"/>
                </a:solidFill>
                <a:latin typeface="Helvetica Neue Light" panose="02000403000000020004" pitchFamily="2" charset="0"/>
                <a:ea typeface="Helvetica Neue Light" panose="02000403000000020004" pitchFamily="2" charset="0"/>
              </a:rPr>
              <a:t> </a:t>
            </a:r>
            <a:endParaRPr sz="1300" dirty="0">
              <a:solidFill>
                <a:srgbClr val="FF0000"/>
              </a:solidFill>
              <a:latin typeface="Helvetica Neue Light" panose="02000403000000020004" pitchFamily="2" charset="0"/>
              <a:ea typeface="Helvetica Neue Light" panose="02000403000000020004" pitchFamily="2" charset="0"/>
            </a:endParaRPr>
          </a:p>
          <a:p>
            <a:pPr marL="29975" marR="11990" lvl="0" indent="0" algn="l" rtl="0">
              <a:lnSpc>
                <a:spcPct val="106900"/>
              </a:lnSpc>
              <a:spcBef>
                <a:spcPts val="319"/>
              </a:spcBef>
              <a:spcAft>
                <a:spcPts val="0"/>
              </a:spcAft>
              <a:buNone/>
            </a:pPr>
            <a:endParaRPr sz="2500" dirty="0">
              <a:solidFill>
                <a:schemeClr val="dk2"/>
              </a:solidFill>
            </a:endParaRPr>
          </a:p>
        </p:txBody>
      </p:sp>
      <p:sp>
        <p:nvSpPr>
          <p:cNvPr id="7" name="Slide Number Placeholder 4">
            <a:extLst>
              <a:ext uri="{FF2B5EF4-FFF2-40B4-BE49-F238E27FC236}">
                <a16:creationId xmlns:a16="http://schemas.microsoft.com/office/drawing/2014/main" id="{B732C146-9EAD-2FB1-DBB8-E744A2E51458}"/>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6BAF56-F053-8140-3372-ECB3124396FB}"/>
            </a:ext>
          </a:extLst>
        </p:cNvPr>
        <p:cNvGrpSpPr/>
        <p:nvPr/>
      </p:nvGrpSpPr>
      <p:grpSpPr>
        <a:xfrm>
          <a:off x="0" y="0"/>
          <a:ext cx="0" cy="0"/>
          <a:chOff x="0" y="0"/>
          <a:chExt cx="0" cy="0"/>
        </a:xfrm>
      </p:grpSpPr>
      <p:sp>
        <p:nvSpPr>
          <p:cNvPr id="21" name="Google Shape;225;p30">
            <a:extLst>
              <a:ext uri="{FF2B5EF4-FFF2-40B4-BE49-F238E27FC236}">
                <a16:creationId xmlns:a16="http://schemas.microsoft.com/office/drawing/2014/main" id="{0BB9CD20-92CD-3ECF-7E94-0529795236F5}"/>
              </a:ext>
            </a:extLst>
          </p:cNvPr>
          <p:cNvSpPr txBox="1">
            <a:spLocks noGrp="1"/>
          </p:cNvSpPr>
          <p:nvPr>
            <p:ph type="title"/>
          </p:nvPr>
        </p:nvSpPr>
        <p:spPr>
          <a:xfrm>
            <a:off x="824711" y="18996"/>
            <a:ext cx="10515600" cy="1325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5000"/>
              <a:buFont typeface="Helvetica Neue Light"/>
              <a:buNone/>
            </a:pPr>
            <a:r>
              <a:rPr lang="en-US" dirty="0">
                <a:sym typeface="Helvetica Neue Light"/>
              </a:rPr>
              <a:t>Selecting Resources</a:t>
            </a:r>
            <a:endParaRPr dirty="0"/>
          </a:p>
        </p:txBody>
      </p:sp>
      <p:grpSp>
        <p:nvGrpSpPr>
          <p:cNvPr id="57" name="Group 56" descr="Image depecting that the first step in our general overview is login nodes">
            <a:extLst>
              <a:ext uri="{FF2B5EF4-FFF2-40B4-BE49-F238E27FC236}">
                <a16:creationId xmlns:a16="http://schemas.microsoft.com/office/drawing/2014/main" id="{318BC9D0-9AEE-2BD3-2067-5909395E711A}"/>
              </a:ext>
            </a:extLst>
          </p:cNvPr>
          <p:cNvGrpSpPr/>
          <p:nvPr/>
        </p:nvGrpSpPr>
        <p:grpSpPr>
          <a:xfrm>
            <a:off x="1069178" y="1759077"/>
            <a:ext cx="3636619" cy="3339847"/>
            <a:chOff x="1069178" y="1759077"/>
            <a:chExt cx="3636619" cy="3339847"/>
          </a:xfrm>
        </p:grpSpPr>
        <p:pic>
          <p:nvPicPr>
            <p:cNvPr id="58" name="Google Shape;210;p30">
              <a:extLst>
                <a:ext uri="{FF2B5EF4-FFF2-40B4-BE49-F238E27FC236}">
                  <a16:creationId xmlns:a16="http://schemas.microsoft.com/office/drawing/2014/main" id="{A7E19512-D49A-3F30-279D-531DCD327F21}"/>
                </a:ext>
              </a:extLst>
            </p:cNvPr>
            <p:cNvPicPr preferRelativeResize="0">
              <a:picLocks noChangeAspect="1"/>
            </p:cNvPicPr>
            <p:nvPr/>
          </p:nvPicPr>
          <p:blipFill>
            <a:blip r:embed="rId3">
              <a:alphaModFix/>
            </a:blip>
            <a:stretch>
              <a:fillRect/>
            </a:stretch>
          </p:blipFill>
          <p:spPr>
            <a:xfrm>
              <a:off x="1069178" y="2240351"/>
              <a:ext cx="2377292" cy="2377297"/>
            </a:xfrm>
            <a:prstGeom prst="rect">
              <a:avLst/>
            </a:prstGeom>
            <a:noFill/>
            <a:ln>
              <a:noFill/>
            </a:ln>
          </p:spPr>
        </p:pic>
        <p:sp>
          <p:nvSpPr>
            <p:cNvPr id="59" name="Right Arrow Callout 58">
              <a:extLst>
                <a:ext uri="{FF2B5EF4-FFF2-40B4-BE49-F238E27FC236}">
                  <a16:creationId xmlns:a16="http://schemas.microsoft.com/office/drawing/2014/main" id="{A903AF9E-DCC1-AF97-850E-A83D0E4B1ECB}"/>
                </a:ext>
              </a:extLst>
            </p:cNvPr>
            <p:cNvSpPr/>
            <p:nvPr/>
          </p:nvSpPr>
          <p:spPr>
            <a:xfrm>
              <a:off x="1094954"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EDD7A0C5-2BC9-8EBE-9E38-32B5E26E11FB}"/>
                </a:ext>
              </a:extLst>
            </p:cNvPr>
            <p:cNvGrpSpPr/>
            <p:nvPr/>
          </p:nvGrpSpPr>
          <p:grpSpPr>
            <a:xfrm>
              <a:off x="1082066" y="1873651"/>
              <a:ext cx="2351516" cy="707886"/>
              <a:chOff x="540307" y="1873650"/>
              <a:chExt cx="2351516" cy="707886"/>
            </a:xfrm>
          </p:grpSpPr>
          <p:sp>
            <p:nvSpPr>
              <p:cNvPr id="62" name="TextBox 61">
                <a:extLst>
                  <a:ext uri="{FF2B5EF4-FFF2-40B4-BE49-F238E27FC236}">
                    <a16:creationId xmlns:a16="http://schemas.microsoft.com/office/drawing/2014/main" id="{A2542317-C2E0-9A4D-88A6-F47D7FD5CC60}"/>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1</a:t>
                </a:r>
              </a:p>
            </p:txBody>
          </p:sp>
          <p:sp>
            <p:nvSpPr>
              <p:cNvPr id="63" name="Oval 62">
                <a:extLst>
                  <a:ext uri="{FF2B5EF4-FFF2-40B4-BE49-F238E27FC236}">
                    <a16:creationId xmlns:a16="http://schemas.microsoft.com/office/drawing/2014/main" id="{83FB202E-00CB-53E8-D8B7-467297897695}"/>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 name="TextBox 60">
              <a:extLst>
                <a:ext uri="{FF2B5EF4-FFF2-40B4-BE49-F238E27FC236}">
                  <a16:creationId xmlns:a16="http://schemas.microsoft.com/office/drawing/2014/main" id="{67244EE7-AE46-4346-59DD-E6E357094C08}"/>
                </a:ext>
              </a:extLst>
            </p:cNvPr>
            <p:cNvSpPr txBox="1"/>
            <p:nvPr/>
          </p:nvSpPr>
          <p:spPr>
            <a:xfrm>
              <a:off x="1094954" y="4432982"/>
              <a:ext cx="2338627" cy="461665"/>
            </a:xfrm>
            <a:prstGeom prst="rect">
              <a:avLst/>
            </a:prstGeom>
            <a:noFill/>
          </p:spPr>
          <p:txBody>
            <a:bodyPr wrap="square" rtlCol="0">
              <a:spAutoFit/>
            </a:bodyPr>
            <a:lstStyle/>
            <a:p>
              <a:pPr algn="ctr"/>
              <a:r>
                <a:rPr lang="en-US" sz="2400" b="1" dirty="0"/>
                <a:t>Login Node</a:t>
              </a:r>
            </a:p>
          </p:txBody>
        </p:sp>
      </p:grpSp>
      <p:grpSp>
        <p:nvGrpSpPr>
          <p:cNvPr id="64" name="Group 63" descr="Image depecting that the second step in our general overview is requesting resources">
            <a:extLst>
              <a:ext uri="{FF2B5EF4-FFF2-40B4-BE49-F238E27FC236}">
                <a16:creationId xmlns:a16="http://schemas.microsoft.com/office/drawing/2014/main" id="{E802AA27-686C-B0F6-ED5C-BF90CCFBB730}"/>
              </a:ext>
            </a:extLst>
          </p:cNvPr>
          <p:cNvGrpSpPr/>
          <p:nvPr/>
        </p:nvGrpSpPr>
        <p:grpSpPr>
          <a:xfrm>
            <a:off x="4913198" y="1759077"/>
            <a:ext cx="3631266" cy="3339847"/>
            <a:chOff x="4913198" y="1759077"/>
            <a:chExt cx="3631266" cy="3339847"/>
          </a:xfrm>
        </p:grpSpPr>
        <p:sp>
          <p:nvSpPr>
            <p:cNvPr id="65" name="Right Arrow Callout 64">
              <a:extLst>
                <a:ext uri="{FF2B5EF4-FFF2-40B4-BE49-F238E27FC236}">
                  <a16:creationId xmlns:a16="http://schemas.microsoft.com/office/drawing/2014/main" id="{FD00F694-839F-6EFB-C047-7A5F5BDDBB28}"/>
                </a:ext>
              </a:extLst>
            </p:cNvPr>
            <p:cNvSpPr/>
            <p:nvPr/>
          </p:nvSpPr>
          <p:spPr>
            <a:xfrm>
              <a:off x="4933621"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6" name="Group 65">
              <a:extLst>
                <a:ext uri="{FF2B5EF4-FFF2-40B4-BE49-F238E27FC236}">
                  <a16:creationId xmlns:a16="http://schemas.microsoft.com/office/drawing/2014/main" id="{0705F41A-7057-CF2D-F340-FC5680094766}"/>
                </a:ext>
              </a:extLst>
            </p:cNvPr>
            <p:cNvGrpSpPr/>
            <p:nvPr/>
          </p:nvGrpSpPr>
          <p:grpSpPr>
            <a:xfrm>
              <a:off x="4920733" y="1873651"/>
              <a:ext cx="2351516" cy="707886"/>
              <a:chOff x="540307" y="1873650"/>
              <a:chExt cx="2351516" cy="707886"/>
            </a:xfrm>
          </p:grpSpPr>
          <p:sp>
            <p:nvSpPr>
              <p:cNvPr id="75" name="TextBox 74">
                <a:extLst>
                  <a:ext uri="{FF2B5EF4-FFF2-40B4-BE49-F238E27FC236}">
                    <a16:creationId xmlns:a16="http://schemas.microsoft.com/office/drawing/2014/main" id="{5561A62A-220D-4D6C-5934-065522D9EF72}"/>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2</a:t>
                </a:r>
              </a:p>
            </p:txBody>
          </p:sp>
          <p:sp>
            <p:nvSpPr>
              <p:cNvPr id="76" name="Oval 75">
                <a:extLst>
                  <a:ext uri="{FF2B5EF4-FFF2-40B4-BE49-F238E27FC236}">
                    <a16:creationId xmlns:a16="http://schemas.microsoft.com/office/drawing/2014/main" id="{EB94649F-F154-719F-96DB-252CB09A58D9}"/>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 name="TextBox 66">
              <a:extLst>
                <a:ext uri="{FF2B5EF4-FFF2-40B4-BE49-F238E27FC236}">
                  <a16:creationId xmlns:a16="http://schemas.microsoft.com/office/drawing/2014/main" id="{145D0496-A800-819D-5E2C-735802709119}"/>
                </a:ext>
              </a:extLst>
            </p:cNvPr>
            <p:cNvSpPr txBox="1"/>
            <p:nvPr/>
          </p:nvSpPr>
          <p:spPr>
            <a:xfrm>
              <a:off x="4913198" y="4436192"/>
              <a:ext cx="2338627" cy="461665"/>
            </a:xfrm>
            <a:prstGeom prst="rect">
              <a:avLst/>
            </a:prstGeom>
            <a:noFill/>
          </p:spPr>
          <p:txBody>
            <a:bodyPr wrap="square" rtlCol="0">
              <a:spAutoFit/>
            </a:bodyPr>
            <a:lstStyle/>
            <a:p>
              <a:pPr algn="ctr"/>
              <a:r>
                <a:rPr lang="en-US" sz="2400" b="1" dirty="0"/>
                <a:t>Resources</a:t>
              </a:r>
            </a:p>
          </p:txBody>
        </p:sp>
        <p:grpSp>
          <p:nvGrpSpPr>
            <p:cNvPr id="68" name="Group 67">
              <a:extLst>
                <a:ext uri="{FF2B5EF4-FFF2-40B4-BE49-F238E27FC236}">
                  <a16:creationId xmlns:a16="http://schemas.microsoft.com/office/drawing/2014/main" id="{37754619-51B2-8224-315C-3D35FD43A57D}"/>
                </a:ext>
              </a:extLst>
            </p:cNvPr>
            <p:cNvGrpSpPr>
              <a:grpSpLocks noChangeAspect="1"/>
            </p:cNvGrpSpPr>
            <p:nvPr/>
          </p:nvGrpSpPr>
          <p:grpSpPr>
            <a:xfrm>
              <a:off x="5273040" y="2755023"/>
              <a:ext cx="1645920" cy="1546836"/>
              <a:chOff x="8412658" y="2617108"/>
              <a:chExt cx="1929294" cy="1813150"/>
            </a:xfrm>
          </p:grpSpPr>
          <p:grpSp>
            <p:nvGrpSpPr>
              <p:cNvPr id="69" name="Group 68">
                <a:extLst>
                  <a:ext uri="{FF2B5EF4-FFF2-40B4-BE49-F238E27FC236}">
                    <a16:creationId xmlns:a16="http://schemas.microsoft.com/office/drawing/2014/main" id="{BBA21703-B39B-7A44-A4EC-39AD3D88DB5A}"/>
                  </a:ext>
                </a:extLst>
              </p:cNvPr>
              <p:cNvGrpSpPr>
                <a:grpSpLocks noChangeAspect="1"/>
              </p:cNvGrpSpPr>
              <p:nvPr/>
            </p:nvGrpSpPr>
            <p:grpSpPr>
              <a:xfrm>
                <a:off x="8412658" y="2617108"/>
                <a:ext cx="1078992" cy="1082299"/>
                <a:chOff x="4726983" y="2457616"/>
                <a:chExt cx="2062421" cy="1993113"/>
              </a:xfrm>
            </p:grpSpPr>
            <p:sp>
              <p:nvSpPr>
                <p:cNvPr id="73" name="Rounded Rectangle 72" descr="An icon representing a computer chip">
                  <a:extLst>
                    <a:ext uri="{FF2B5EF4-FFF2-40B4-BE49-F238E27FC236}">
                      <a16:creationId xmlns:a16="http://schemas.microsoft.com/office/drawing/2014/main" id="{55A5DEB2-1DCF-943D-74DB-6D746DFF869B}"/>
                    </a:ext>
                  </a:extLst>
                </p:cNvPr>
                <p:cNvSpPr/>
                <p:nvPr/>
              </p:nvSpPr>
              <p:spPr>
                <a:xfrm>
                  <a:off x="4726983" y="2457616"/>
                  <a:ext cx="2062421" cy="199311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4" name="Graphic 73">
                  <a:extLst>
                    <a:ext uri="{FF2B5EF4-FFF2-40B4-BE49-F238E27FC236}">
                      <a16:creationId xmlns:a16="http://schemas.microsoft.com/office/drawing/2014/main" id="{03870AB6-CA32-B059-407B-BD602F6EAFB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75767" y="2671746"/>
                  <a:ext cx="1564852" cy="1564852"/>
                </a:xfrm>
                <a:prstGeom prst="rect">
                  <a:avLst/>
                </a:prstGeom>
              </p:spPr>
            </p:pic>
          </p:grpSp>
          <p:grpSp>
            <p:nvGrpSpPr>
              <p:cNvPr id="70" name="Group 69">
                <a:extLst>
                  <a:ext uri="{FF2B5EF4-FFF2-40B4-BE49-F238E27FC236}">
                    <a16:creationId xmlns:a16="http://schemas.microsoft.com/office/drawing/2014/main" id="{D7D2980F-C84D-AF3D-6ADF-C3F0A08F0CC4}"/>
                  </a:ext>
                </a:extLst>
              </p:cNvPr>
              <p:cNvGrpSpPr/>
              <p:nvPr/>
            </p:nvGrpSpPr>
            <p:grpSpPr>
              <a:xfrm>
                <a:off x="9262960" y="3347959"/>
                <a:ext cx="1078992" cy="1082299"/>
                <a:chOff x="9174826" y="3192427"/>
                <a:chExt cx="1078992" cy="1082299"/>
              </a:xfrm>
            </p:grpSpPr>
            <p:sp>
              <p:nvSpPr>
                <p:cNvPr id="71" name="Rounded Rectangle 70" descr="An icon of a stopwatch">
                  <a:extLst>
                    <a:ext uri="{FF2B5EF4-FFF2-40B4-BE49-F238E27FC236}">
                      <a16:creationId xmlns:a16="http://schemas.microsoft.com/office/drawing/2014/main" id="{A798E7C2-8A92-2DB7-AE52-AE76CF44E701}"/>
                    </a:ext>
                  </a:extLst>
                </p:cNvPr>
                <p:cNvSpPr/>
                <p:nvPr/>
              </p:nvSpPr>
              <p:spPr>
                <a:xfrm>
                  <a:off x="9174826" y="3192427"/>
                  <a:ext cx="1078992" cy="1082299"/>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2" name="Graphic 71" descr="Stopwatch with solid fill">
                  <a:extLst>
                    <a:ext uri="{FF2B5EF4-FFF2-40B4-BE49-F238E27FC236}">
                      <a16:creationId xmlns:a16="http://schemas.microsoft.com/office/drawing/2014/main" id="{93F459F7-B56D-22F7-A1FD-84205026F49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02842" y="3322096"/>
                  <a:ext cx="822960" cy="822960"/>
                </a:xfrm>
                <a:prstGeom prst="rect">
                  <a:avLst/>
                </a:prstGeom>
              </p:spPr>
            </p:pic>
          </p:grpSp>
        </p:grpSp>
      </p:grpSp>
      <p:grpSp>
        <p:nvGrpSpPr>
          <p:cNvPr id="77" name="Group 76" descr="Image depecting that the last step in our general overview is requesting a job">
            <a:extLst>
              <a:ext uri="{FF2B5EF4-FFF2-40B4-BE49-F238E27FC236}">
                <a16:creationId xmlns:a16="http://schemas.microsoft.com/office/drawing/2014/main" id="{D97BD453-9DA4-AA8A-7447-27BFF0E61756}"/>
              </a:ext>
            </a:extLst>
          </p:cNvPr>
          <p:cNvGrpSpPr/>
          <p:nvPr/>
        </p:nvGrpSpPr>
        <p:grpSpPr>
          <a:xfrm>
            <a:off x="8747203" y="1764792"/>
            <a:ext cx="2358559" cy="3334132"/>
            <a:chOff x="8747203" y="1764792"/>
            <a:chExt cx="2358559" cy="3334132"/>
          </a:xfrm>
        </p:grpSpPr>
        <p:pic>
          <p:nvPicPr>
            <p:cNvPr id="78" name="Picture 2" descr="The logo of the Slurm workload manager">
              <a:extLst>
                <a:ext uri="{FF2B5EF4-FFF2-40B4-BE49-F238E27FC236}">
                  <a16:creationId xmlns:a16="http://schemas.microsoft.com/office/drawing/2014/main" id="{1AFA54A4-1BB1-CD47-53CF-92663F9A6851}"/>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2089"/>
            <a:stretch/>
          </p:blipFill>
          <p:spPr bwMode="auto">
            <a:xfrm>
              <a:off x="9087422" y="2803512"/>
              <a:ext cx="1698054" cy="1366560"/>
            </a:xfrm>
            <a:prstGeom prst="rect">
              <a:avLst/>
            </a:prstGeom>
            <a:noFill/>
            <a:extLst>
              <a:ext uri="{909E8E84-426E-40DD-AFC4-6F175D3DCCD1}">
                <a14:hiddenFill xmlns:a14="http://schemas.microsoft.com/office/drawing/2010/main">
                  <a:solidFill>
                    <a:srgbClr val="FFFFFF"/>
                  </a:solidFill>
                </a14:hiddenFill>
              </a:ext>
            </a:extLst>
          </p:spPr>
        </p:pic>
        <p:sp>
          <p:nvSpPr>
            <p:cNvPr id="79" name="TextBox 78">
              <a:extLst>
                <a:ext uri="{FF2B5EF4-FFF2-40B4-BE49-F238E27FC236}">
                  <a16:creationId xmlns:a16="http://schemas.microsoft.com/office/drawing/2014/main" id="{3627E9CC-A114-83B1-8F08-102FD0D064C5}"/>
                </a:ext>
              </a:extLst>
            </p:cNvPr>
            <p:cNvSpPr txBox="1"/>
            <p:nvPr/>
          </p:nvSpPr>
          <p:spPr>
            <a:xfrm>
              <a:off x="8758419" y="4432982"/>
              <a:ext cx="2338627" cy="461665"/>
            </a:xfrm>
            <a:prstGeom prst="rect">
              <a:avLst/>
            </a:prstGeom>
            <a:noFill/>
          </p:spPr>
          <p:txBody>
            <a:bodyPr wrap="square" rtlCol="0">
              <a:spAutoFit/>
            </a:bodyPr>
            <a:lstStyle/>
            <a:p>
              <a:pPr algn="ctr"/>
              <a:r>
                <a:rPr lang="en-US" sz="2400" b="1" dirty="0"/>
                <a:t>Job Request</a:t>
              </a:r>
            </a:p>
          </p:txBody>
        </p:sp>
        <p:sp>
          <p:nvSpPr>
            <p:cNvPr id="80" name="Rectangle 79">
              <a:extLst>
                <a:ext uri="{FF2B5EF4-FFF2-40B4-BE49-F238E27FC236}">
                  <a16:creationId xmlns:a16="http://schemas.microsoft.com/office/drawing/2014/main" id="{FED6B569-9DED-B3C5-0202-50EE8DE297DF}"/>
                </a:ext>
              </a:extLst>
            </p:cNvPr>
            <p:cNvSpPr/>
            <p:nvPr/>
          </p:nvSpPr>
          <p:spPr>
            <a:xfrm>
              <a:off x="8767136" y="1764792"/>
              <a:ext cx="2338626" cy="3334132"/>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1" name="Group 80">
              <a:extLst>
                <a:ext uri="{FF2B5EF4-FFF2-40B4-BE49-F238E27FC236}">
                  <a16:creationId xmlns:a16="http://schemas.microsoft.com/office/drawing/2014/main" id="{53857755-72D3-5380-2768-9B81F38B1C76}"/>
                </a:ext>
              </a:extLst>
            </p:cNvPr>
            <p:cNvGrpSpPr/>
            <p:nvPr/>
          </p:nvGrpSpPr>
          <p:grpSpPr>
            <a:xfrm>
              <a:off x="8747203" y="1891582"/>
              <a:ext cx="2351516" cy="707886"/>
              <a:chOff x="540307" y="1873650"/>
              <a:chExt cx="2351516" cy="707886"/>
            </a:xfrm>
          </p:grpSpPr>
          <p:sp>
            <p:nvSpPr>
              <p:cNvPr id="82" name="TextBox 81">
                <a:extLst>
                  <a:ext uri="{FF2B5EF4-FFF2-40B4-BE49-F238E27FC236}">
                    <a16:creationId xmlns:a16="http://schemas.microsoft.com/office/drawing/2014/main" id="{0C0BECDE-40B2-2A1C-8393-D4F86F5F6B19}"/>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3</a:t>
                </a:r>
              </a:p>
            </p:txBody>
          </p:sp>
          <p:sp>
            <p:nvSpPr>
              <p:cNvPr id="83" name="Oval 82">
                <a:extLst>
                  <a:ext uri="{FF2B5EF4-FFF2-40B4-BE49-F238E27FC236}">
                    <a16:creationId xmlns:a16="http://schemas.microsoft.com/office/drawing/2014/main" id="{0B87EEED-EB23-6061-9944-97C9BDB1BDB9}"/>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7" name="Down Arrow 6" descr="Arrow indicating that we are switching to the resources section now">
            <a:extLst>
              <a:ext uri="{FF2B5EF4-FFF2-40B4-BE49-F238E27FC236}">
                <a16:creationId xmlns:a16="http://schemas.microsoft.com/office/drawing/2014/main" id="{8608F1A0-B9A3-6A6F-DC5C-ED59C872F653}"/>
              </a:ext>
            </a:extLst>
          </p:cNvPr>
          <p:cNvSpPr/>
          <p:nvPr/>
        </p:nvSpPr>
        <p:spPr>
          <a:xfrm rot="10800000">
            <a:off x="5536006" y="5245515"/>
            <a:ext cx="1133856"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lide Number Placeholder 4">
            <a:extLst>
              <a:ext uri="{FF2B5EF4-FFF2-40B4-BE49-F238E27FC236}">
                <a16:creationId xmlns:a16="http://schemas.microsoft.com/office/drawing/2014/main" id="{02BF2681-0074-923B-B3BD-4A160FBAF86E}"/>
              </a:ext>
            </a:extLst>
          </p:cNvPr>
          <p:cNvSpPr>
            <a:spLocks noGrp="1"/>
          </p:cNvSpPr>
          <p:nvPr>
            <p:ph type="sldNum" sz="quarter" idx="12"/>
          </p:nvPr>
        </p:nvSpPr>
        <p:spPr/>
        <p:txBody>
          <a:bodyPr/>
          <a:lstStyle/>
          <a:p>
            <a:fld id="{ABDA560F-461C-6043-9BC4-489BA92F7161}" type="slidenum">
              <a:rPr lang="en-US" smtClean="0"/>
              <a:t>16</a:t>
            </a:fld>
            <a:endParaRPr lang="en-US"/>
          </a:p>
        </p:txBody>
      </p:sp>
    </p:spTree>
    <p:extLst>
      <p:ext uri="{BB962C8B-B14F-4D97-AF65-F5344CB8AC3E}">
        <p14:creationId xmlns:p14="http://schemas.microsoft.com/office/powerpoint/2010/main" val="9660352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56D56-E9CD-895A-05DC-627099CBB9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C924CA-76FB-0A00-2616-338923B9270D}"/>
              </a:ext>
            </a:extLst>
          </p:cNvPr>
          <p:cNvSpPr>
            <a:spLocks noGrp="1"/>
          </p:cNvSpPr>
          <p:nvPr>
            <p:ph type="title"/>
          </p:nvPr>
        </p:nvSpPr>
        <p:spPr/>
        <p:txBody>
          <a:bodyPr/>
          <a:lstStyle/>
          <a:p>
            <a:r>
              <a:rPr lang="en-US" dirty="0"/>
              <a:t>Common Resource Requests</a:t>
            </a:r>
          </a:p>
        </p:txBody>
      </p:sp>
      <p:grpSp>
        <p:nvGrpSpPr>
          <p:cNvPr id="3" name="Group 2" descr="Picture showing that one common resource request is a partition &#10;">
            <a:extLst>
              <a:ext uri="{FF2B5EF4-FFF2-40B4-BE49-F238E27FC236}">
                <a16:creationId xmlns:a16="http://schemas.microsoft.com/office/drawing/2014/main" id="{C6F05D52-5A96-F0C5-887C-F75B7E612303}"/>
              </a:ext>
            </a:extLst>
          </p:cNvPr>
          <p:cNvGrpSpPr/>
          <p:nvPr/>
        </p:nvGrpSpPr>
        <p:grpSpPr>
          <a:xfrm>
            <a:off x="591024" y="1960061"/>
            <a:ext cx="2468880" cy="2949023"/>
            <a:chOff x="591024" y="1960061"/>
            <a:chExt cx="2468880" cy="2949023"/>
          </a:xfrm>
        </p:grpSpPr>
        <p:sp>
          <p:nvSpPr>
            <p:cNvPr id="6" name="Rounded Rectangle 5" descr="An icon representing computer servers">
              <a:extLst>
                <a:ext uri="{FF2B5EF4-FFF2-40B4-BE49-F238E27FC236}">
                  <a16:creationId xmlns:a16="http://schemas.microsoft.com/office/drawing/2014/main" id="{4502DE34-8143-2807-6667-9AEE077E56E8}"/>
                </a:ext>
              </a:extLst>
            </p:cNvPr>
            <p:cNvSpPr/>
            <p:nvPr/>
          </p:nvSpPr>
          <p:spPr>
            <a:xfrm>
              <a:off x="591024" y="1960061"/>
              <a:ext cx="2468880" cy="294902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TextBox 13">
              <a:extLst>
                <a:ext uri="{FF2B5EF4-FFF2-40B4-BE49-F238E27FC236}">
                  <a16:creationId xmlns:a16="http://schemas.microsoft.com/office/drawing/2014/main" id="{88C7A1AC-92E1-72AB-3B92-482B39BB1F8A}"/>
                </a:ext>
              </a:extLst>
            </p:cNvPr>
            <p:cNvSpPr txBox="1"/>
            <p:nvPr/>
          </p:nvSpPr>
          <p:spPr>
            <a:xfrm>
              <a:off x="868240" y="3598703"/>
              <a:ext cx="1914448" cy="523220"/>
            </a:xfrm>
            <a:prstGeom prst="rect">
              <a:avLst/>
            </a:prstGeom>
            <a:noFill/>
          </p:spPr>
          <p:txBody>
            <a:bodyPr wrap="square" rtlCol="0">
              <a:spAutoFit/>
            </a:bodyPr>
            <a:lstStyle/>
            <a:p>
              <a:pPr algn="ctr"/>
              <a:r>
                <a:rPr lang="en-US" sz="2800" b="1" dirty="0"/>
                <a:t>Partition</a:t>
              </a:r>
            </a:p>
          </p:txBody>
        </p:sp>
        <p:grpSp>
          <p:nvGrpSpPr>
            <p:cNvPr id="15" name="Group 14">
              <a:extLst>
                <a:ext uri="{FF2B5EF4-FFF2-40B4-BE49-F238E27FC236}">
                  <a16:creationId xmlns:a16="http://schemas.microsoft.com/office/drawing/2014/main" id="{DA0A0A28-9E7B-3F5E-A656-79D568ECCC25}"/>
                </a:ext>
              </a:extLst>
            </p:cNvPr>
            <p:cNvGrpSpPr/>
            <p:nvPr/>
          </p:nvGrpSpPr>
          <p:grpSpPr>
            <a:xfrm>
              <a:off x="828128" y="2316334"/>
              <a:ext cx="1994672" cy="1046573"/>
              <a:chOff x="838200" y="2198126"/>
              <a:chExt cx="1994672" cy="1046573"/>
            </a:xfrm>
          </p:grpSpPr>
          <p:sp>
            <p:nvSpPr>
              <p:cNvPr id="16" name="Freeform 15">
                <a:extLst>
                  <a:ext uri="{FF2B5EF4-FFF2-40B4-BE49-F238E27FC236}">
                    <a16:creationId xmlns:a16="http://schemas.microsoft.com/office/drawing/2014/main" id="{F3D66CCE-E844-D09F-5D73-C3869EF02239}"/>
                  </a:ext>
                </a:extLst>
              </p:cNvPr>
              <p:cNvSpPr/>
              <p:nvPr/>
            </p:nvSpPr>
            <p:spPr>
              <a:xfrm>
                <a:off x="838200" y="2198128"/>
                <a:ext cx="520540" cy="1046571"/>
              </a:xfrm>
              <a:custGeom>
                <a:avLst/>
                <a:gdLst>
                  <a:gd name="connsiteX0" fmla="*/ 621413 w 724981"/>
                  <a:gd name="connsiteY0" fmla="*/ 258922 h 1449962"/>
                  <a:gd name="connsiteX1" fmla="*/ 103569 w 724981"/>
                  <a:gd name="connsiteY1" fmla="*/ 258922 h 1449962"/>
                  <a:gd name="connsiteX2" fmla="*/ 103569 w 724981"/>
                  <a:gd name="connsiteY2" fmla="*/ 103569 h 1449962"/>
                  <a:gd name="connsiteX3" fmla="*/ 621413 w 724981"/>
                  <a:gd name="connsiteY3" fmla="*/ 103569 h 1449962"/>
                  <a:gd name="connsiteX4" fmla="*/ 621413 w 724981"/>
                  <a:gd name="connsiteY4" fmla="*/ 258922 h 1449962"/>
                  <a:gd name="connsiteX5" fmla="*/ 621413 w 724981"/>
                  <a:gd name="connsiteY5" fmla="*/ 517844 h 1449962"/>
                  <a:gd name="connsiteX6" fmla="*/ 103569 w 724981"/>
                  <a:gd name="connsiteY6" fmla="*/ 517844 h 1449962"/>
                  <a:gd name="connsiteX7" fmla="*/ 103569 w 724981"/>
                  <a:gd name="connsiteY7" fmla="*/ 362491 h 1449962"/>
                  <a:gd name="connsiteX8" fmla="*/ 621413 w 724981"/>
                  <a:gd name="connsiteY8" fmla="*/ 362491 h 1449962"/>
                  <a:gd name="connsiteX9" fmla="*/ 621413 w 724981"/>
                  <a:gd name="connsiteY9" fmla="*/ 517844 h 1449962"/>
                  <a:gd name="connsiteX10" fmla="*/ 362491 w 724981"/>
                  <a:gd name="connsiteY10" fmla="*/ 1294609 h 1449962"/>
                  <a:gd name="connsiteX11" fmla="*/ 284814 w 724981"/>
                  <a:gd name="connsiteY11" fmla="*/ 1216933 h 1449962"/>
                  <a:gd name="connsiteX12" fmla="*/ 362491 w 724981"/>
                  <a:gd name="connsiteY12" fmla="*/ 1139256 h 1449962"/>
                  <a:gd name="connsiteX13" fmla="*/ 440167 w 724981"/>
                  <a:gd name="connsiteY13" fmla="*/ 1216933 h 1449962"/>
                  <a:gd name="connsiteX14" fmla="*/ 362491 w 724981"/>
                  <a:gd name="connsiteY14" fmla="*/ 1294609 h 1449962"/>
                  <a:gd name="connsiteX15" fmla="*/ 621413 w 724981"/>
                  <a:gd name="connsiteY15" fmla="*/ 0 h 1449962"/>
                  <a:gd name="connsiteX16" fmla="*/ 103569 w 724981"/>
                  <a:gd name="connsiteY16" fmla="*/ 0 h 1449962"/>
                  <a:gd name="connsiteX17" fmla="*/ 0 w 724981"/>
                  <a:gd name="connsiteY17" fmla="*/ 103569 h 1449962"/>
                  <a:gd name="connsiteX18" fmla="*/ 0 w 724981"/>
                  <a:gd name="connsiteY18" fmla="*/ 1346394 h 1449962"/>
                  <a:gd name="connsiteX19" fmla="*/ 103569 w 724981"/>
                  <a:gd name="connsiteY19" fmla="*/ 1449963 h 1449962"/>
                  <a:gd name="connsiteX20" fmla="*/ 621413 w 724981"/>
                  <a:gd name="connsiteY20" fmla="*/ 1449963 h 1449962"/>
                  <a:gd name="connsiteX21" fmla="*/ 724981 w 724981"/>
                  <a:gd name="connsiteY21" fmla="*/ 1346394 h 1449962"/>
                  <a:gd name="connsiteX22" fmla="*/ 724981 w 724981"/>
                  <a:gd name="connsiteY22" fmla="*/ 103569 h 1449962"/>
                  <a:gd name="connsiteX23" fmla="*/ 621413 w 724981"/>
                  <a:gd name="connsiteY23" fmla="*/ 0 h 1449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24981" h="1449962">
                    <a:moveTo>
                      <a:pt x="621413" y="258922"/>
                    </a:moveTo>
                    <a:lnTo>
                      <a:pt x="103569" y="258922"/>
                    </a:lnTo>
                    <a:lnTo>
                      <a:pt x="103569" y="103569"/>
                    </a:lnTo>
                    <a:lnTo>
                      <a:pt x="621413" y="103569"/>
                    </a:lnTo>
                    <a:lnTo>
                      <a:pt x="621413" y="258922"/>
                    </a:lnTo>
                    <a:close/>
                    <a:moveTo>
                      <a:pt x="621413" y="517844"/>
                    </a:moveTo>
                    <a:lnTo>
                      <a:pt x="103569" y="517844"/>
                    </a:lnTo>
                    <a:lnTo>
                      <a:pt x="103569" y="362491"/>
                    </a:lnTo>
                    <a:lnTo>
                      <a:pt x="621413" y="362491"/>
                    </a:lnTo>
                    <a:lnTo>
                      <a:pt x="621413" y="517844"/>
                    </a:lnTo>
                    <a:close/>
                    <a:moveTo>
                      <a:pt x="362491" y="1294609"/>
                    </a:moveTo>
                    <a:cubicBezTo>
                      <a:pt x="318474" y="1294609"/>
                      <a:pt x="284814" y="1260950"/>
                      <a:pt x="284814" y="1216933"/>
                    </a:cubicBezTo>
                    <a:cubicBezTo>
                      <a:pt x="284814" y="1172916"/>
                      <a:pt x="318474" y="1139256"/>
                      <a:pt x="362491" y="1139256"/>
                    </a:cubicBezTo>
                    <a:cubicBezTo>
                      <a:pt x="406507" y="1139256"/>
                      <a:pt x="440167" y="1172916"/>
                      <a:pt x="440167" y="1216933"/>
                    </a:cubicBezTo>
                    <a:cubicBezTo>
                      <a:pt x="440167" y="1260950"/>
                      <a:pt x="406507" y="1294609"/>
                      <a:pt x="362491" y="1294609"/>
                    </a:cubicBezTo>
                    <a:close/>
                    <a:moveTo>
                      <a:pt x="621413" y="0"/>
                    </a:moveTo>
                    <a:lnTo>
                      <a:pt x="103569" y="0"/>
                    </a:lnTo>
                    <a:cubicBezTo>
                      <a:pt x="46606" y="0"/>
                      <a:pt x="0" y="46606"/>
                      <a:pt x="0" y="103569"/>
                    </a:cubicBezTo>
                    <a:lnTo>
                      <a:pt x="0" y="1346394"/>
                    </a:lnTo>
                    <a:cubicBezTo>
                      <a:pt x="0" y="1403357"/>
                      <a:pt x="46606" y="1449963"/>
                      <a:pt x="103569" y="1449963"/>
                    </a:cubicBezTo>
                    <a:lnTo>
                      <a:pt x="621413" y="1449963"/>
                    </a:lnTo>
                    <a:cubicBezTo>
                      <a:pt x="678375" y="1449963"/>
                      <a:pt x="724981" y="1403357"/>
                      <a:pt x="724981" y="1346394"/>
                    </a:cubicBezTo>
                    <a:lnTo>
                      <a:pt x="724981" y="103569"/>
                    </a:lnTo>
                    <a:cubicBezTo>
                      <a:pt x="724981" y="46606"/>
                      <a:pt x="678375" y="0"/>
                      <a:pt x="621413" y="0"/>
                    </a:cubicBezTo>
                    <a:close/>
                  </a:path>
                </a:pathLst>
              </a:custGeom>
              <a:solidFill>
                <a:srgbClr val="000000"/>
              </a:solidFill>
              <a:ln w="25797" cap="flat">
                <a:noFill/>
                <a:prstDash val="solid"/>
                <a:miter/>
              </a:ln>
            </p:spPr>
            <p:txBody>
              <a:bodyPr rtlCol="0" anchor="ctr"/>
              <a:lstStyle/>
              <a:p>
                <a:endParaRPr lang="en-US"/>
              </a:p>
            </p:txBody>
          </p:sp>
          <p:sp>
            <p:nvSpPr>
              <p:cNvPr id="17" name="Freeform 16">
                <a:extLst>
                  <a:ext uri="{FF2B5EF4-FFF2-40B4-BE49-F238E27FC236}">
                    <a16:creationId xmlns:a16="http://schemas.microsoft.com/office/drawing/2014/main" id="{C3363C6F-E5A9-8E18-E581-4FC10ACE4658}"/>
                  </a:ext>
                </a:extLst>
              </p:cNvPr>
              <p:cNvSpPr/>
              <p:nvPr/>
            </p:nvSpPr>
            <p:spPr>
              <a:xfrm>
                <a:off x="1575266" y="2198127"/>
                <a:ext cx="520540" cy="1046571"/>
              </a:xfrm>
              <a:custGeom>
                <a:avLst/>
                <a:gdLst>
                  <a:gd name="connsiteX0" fmla="*/ 621413 w 724981"/>
                  <a:gd name="connsiteY0" fmla="*/ 258922 h 1449962"/>
                  <a:gd name="connsiteX1" fmla="*/ 103569 w 724981"/>
                  <a:gd name="connsiteY1" fmla="*/ 258922 h 1449962"/>
                  <a:gd name="connsiteX2" fmla="*/ 103569 w 724981"/>
                  <a:gd name="connsiteY2" fmla="*/ 103569 h 1449962"/>
                  <a:gd name="connsiteX3" fmla="*/ 621413 w 724981"/>
                  <a:gd name="connsiteY3" fmla="*/ 103569 h 1449962"/>
                  <a:gd name="connsiteX4" fmla="*/ 621413 w 724981"/>
                  <a:gd name="connsiteY4" fmla="*/ 258922 h 1449962"/>
                  <a:gd name="connsiteX5" fmla="*/ 621413 w 724981"/>
                  <a:gd name="connsiteY5" fmla="*/ 517844 h 1449962"/>
                  <a:gd name="connsiteX6" fmla="*/ 103569 w 724981"/>
                  <a:gd name="connsiteY6" fmla="*/ 517844 h 1449962"/>
                  <a:gd name="connsiteX7" fmla="*/ 103569 w 724981"/>
                  <a:gd name="connsiteY7" fmla="*/ 362491 h 1449962"/>
                  <a:gd name="connsiteX8" fmla="*/ 621413 w 724981"/>
                  <a:gd name="connsiteY8" fmla="*/ 362491 h 1449962"/>
                  <a:gd name="connsiteX9" fmla="*/ 621413 w 724981"/>
                  <a:gd name="connsiteY9" fmla="*/ 517844 h 1449962"/>
                  <a:gd name="connsiteX10" fmla="*/ 362491 w 724981"/>
                  <a:gd name="connsiteY10" fmla="*/ 1294609 h 1449962"/>
                  <a:gd name="connsiteX11" fmla="*/ 284814 w 724981"/>
                  <a:gd name="connsiteY11" fmla="*/ 1216933 h 1449962"/>
                  <a:gd name="connsiteX12" fmla="*/ 362491 w 724981"/>
                  <a:gd name="connsiteY12" fmla="*/ 1139256 h 1449962"/>
                  <a:gd name="connsiteX13" fmla="*/ 440167 w 724981"/>
                  <a:gd name="connsiteY13" fmla="*/ 1216933 h 1449962"/>
                  <a:gd name="connsiteX14" fmla="*/ 362491 w 724981"/>
                  <a:gd name="connsiteY14" fmla="*/ 1294609 h 1449962"/>
                  <a:gd name="connsiteX15" fmla="*/ 621413 w 724981"/>
                  <a:gd name="connsiteY15" fmla="*/ 0 h 1449962"/>
                  <a:gd name="connsiteX16" fmla="*/ 103569 w 724981"/>
                  <a:gd name="connsiteY16" fmla="*/ 0 h 1449962"/>
                  <a:gd name="connsiteX17" fmla="*/ 0 w 724981"/>
                  <a:gd name="connsiteY17" fmla="*/ 103569 h 1449962"/>
                  <a:gd name="connsiteX18" fmla="*/ 0 w 724981"/>
                  <a:gd name="connsiteY18" fmla="*/ 1346394 h 1449962"/>
                  <a:gd name="connsiteX19" fmla="*/ 103569 w 724981"/>
                  <a:gd name="connsiteY19" fmla="*/ 1449963 h 1449962"/>
                  <a:gd name="connsiteX20" fmla="*/ 621413 w 724981"/>
                  <a:gd name="connsiteY20" fmla="*/ 1449963 h 1449962"/>
                  <a:gd name="connsiteX21" fmla="*/ 724981 w 724981"/>
                  <a:gd name="connsiteY21" fmla="*/ 1346394 h 1449962"/>
                  <a:gd name="connsiteX22" fmla="*/ 724981 w 724981"/>
                  <a:gd name="connsiteY22" fmla="*/ 103569 h 1449962"/>
                  <a:gd name="connsiteX23" fmla="*/ 621413 w 724981"/>
                  <a:gd name="connsiteY23" fmla="*/ 0 h 1449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24981" h="1449962">
                    <a:moveTo>
                      <a:pt x="621413" y="258922"/>
                    </a:moveTo>
                    <a:lnTo>
                      <a:pt x="103569" y="258922"/>
                    </a:lnTo>
                    <a:lnTo>
                      <a:pt x="103569" y="103569"/>
                    </a:lnTo>
                    <a:lnTo>
                      <a:pt x="621413" y="103569"/>
                    </a:lnTo>
                    <a:lnTo>
                      <a:pt x="621413" y="258922"/>
                    </a:lnTo>
                    <a:close/>
                    <a:moveTo>
                      <a:pt x="621413" y="517844"/>
                    </a:moveTo>
                    <a:lnTo>
                      <a:pt x="103569" y="517844"/>
                    </a:lnTo>
                    <a:lnTo>
                      <a:pt x="103569" y="362491"/>
                    </a:lnTo>
                    <a:lnTo>
                      <a:pt x="621413" y="362491"/>
                    </a:lnTo>
                    <a:lnTo>
                      <a:pt x="621413" y="517844"/>
                    </a:lnTo>
                    <a:close/>
                    <a:moveTo>
                      <a:pt x="362491" y="1294609"/>
                    </a:moveTo>
                    <a:cubicBezTo>
                      <a:pt x="318474" y="1294609"/>
                      <a:pt x="284814" y="1260950"/>
                      <a:pt x="284814" y="1216933"/>
                    </a:cubicBezTo>
                    <a:cubicBezTo>
                      <a:pt x="284814" y="1172916"/>
                      <a:pt x="318474" y="1139256"/>
                      <a:pt x="362491" y="1139256"/>
                    </a:cubicBezTo>
                    <a:cubicBezTo>
                      <a:pt x="406507" y="1139256"/>
                      <a:pt x="440167" y="1172916"/>
                      <a:pt x="440167" y="1216933"/>
                    </a:cubicBezTo>
                    <a:cubicBezTo>
                      <a:pt x="440167" y="1260950"/>
                      <a:pt x="406507" y="1294609"/>
                      <a:pt x="362491" y="1294609"/>
                    </a:cubicBezTo>
                    <a:close/>
                    <a:moveTo>
                      <a:pt x="621413" y="0"/>
                    </a:moveTo>
                    <a:lnTo>
                      <a:pt x="103569" y="0"/>
                    </a:lnTo>
                    <a:cubicBezTo>
                      <a:pt x="46606" y="0"/>
                      <a:pt x="0" y="46606"/>
                      <a:pt x="0" y="103569"/>
                    </a:cubicBezTo>
                    <a:lnTo>
                      <a:pt x="0" y="1346394"/>
                    </a:lnTo>
                    <a:cubicBezTo>
                      <a:pt x="0" y="1403357"/>
                      <a:pt x="46606" y="1449963"/>
                      <a:pt x="103569" y="1449963"/>
                    </a:cubicBezTo>
                    <a:lnTo>
                      <a:pt x="621413" y="1449963"/>
                    </a:lnTo>
                    <a:cubicBezTo>
                      <a:pt x="678375" y="1449963"/>
                      <a:pt x="724981" y="1403357"/>
                      <a:pt x="724981" y="1346394"/>
                    </a:cubicBezTo>
                    <a:lnTo>
                      <a:pt x="724981" y="103569"/>
                    </a:lnTo>
                    <a:cubicBezTo>
                      <a:pt x="724981" y="46606"/>
                      <a:pt x="678375" y="0"/>
                      <a:pt x="621413" y="0"/>
                    </a:cubicBezTo>
                    <a:close/>
                  </a:path>
                </a:pathLst>
              </a:custGeom>
              <a:solidFill>
                <a:srgbClr val="000000"/>
              </a:solidFill>
              <a:ln w="25797"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BA9F34C0-0568-CAA5-0575-85C93F66B669}"/>
                  </a:ext>
                </a:extLst>
              </p:cNvPr>
              <p:cNvSpPr/>
              <p:nvPr/>
            </p:nvSpPr>
            <p:spPr>
              <a:xfrm>
                <a:off x="2312332" y="2198126"/>
                <a:ext cx="520540" cy="1046571"/>
              </a:xfrm>
              <a:custGeom>
                <a:avLst/>
                <a:gdLst>
                  <a:gd name="connsiteX0" fmla="*/ 621413 w 724981"/>
                  <a:gd name="connsiteY0" fmla="*/ 258922 h 1449962"/>
                  <a:gd name="connsiteX1" fmla="*/ 103569 w 724981"/>
                  <a:gd name="connsiteY1" fmla="*/ 258922 h 1449962"/>
                  <a:gd name="connsiteX2" fmla="*/ 103569 w 724981"/>
                  <a:gd name="connsiteY2" fmla="*/ 103569 h 1449962"/>
                  <a:gd name="connsiteX3" fmla="*/ 621413 w 724981"/>
                  <a:gd name="connsiteY3" fmla="*/ 103569 h 1449962"/>
                  <a:gd name="connsiteX4" fmla="*/ 621413 w 724981"/>
                  <a:gd name="connsiteY4" fmla="*/ 258922 h 1449962"/>
                  <a:gd name="connsiteX5" fmla="*/ 621413 w 724981"/>
                  <a:gd name="connsiteY5" fmla="*/ 517844 h 1449962"/>
                  <a:gd name="connsiteX6" fmla="*/ 103569 w 724981"/>
                  <a:gd name="connsiteY6" fmla="*/ 517844 h 1449962"/>
                  <a:gd name="connsiteX7" fmla="*/ 103569 w 724981"/>
                  <a:gd name="connsiteY7" fmla="*/ 362491 h 1449962"/>
                  <a:gd name="connsiteX8" fmla="*/ 621413 w 724981"/>
                  <a:gd name="connsiteY8" fmla="*/ 362491 h 1449962"/>
                  <a:gd name="connsiteX9" fmla="*/ 621413 w 724981"/>
                  <a:gd name="connsiteY9" fmla="*/ 517844 h 1449962"/>
                  <a:gd name="connsiteX10" fmla="*/ 362491 w 724981"/>
                  <a:gd name="connsiteY10" fmla="*/ 1294609 h 1449962"/>
                  <a:gd name="connsiteX11" fmla="*/ 284814 w 724981"/>
                  <a:gd name="connsiteY11" fmla="*/ 1216933 h 1449962"/>
                  <a:gd name="connsiteX12" fmla="*/ 362491 w 724981"/>
                  <a:gd name="connsiteY12" fmla="*/ 1139256 h 1449962"/>
                  <a:gd name="connsiteX13" fmla="*/ 440167 w 724981"/>
                  <a:gd name="connsiteY13" fmla="*/ 1216933 h 1449962"/>
                  <a:gd name="connsiteX14" fmla="*/ 362491 w 724981"/>
                  <a:gd name="connsiteY14" fmla="*/ 1294609 h 1449962"/>
                  <a:gd name="connsiteX15" fmla="*/ 621413 w 724981"/>
                  <a:gd name="connsiteY15" fmla="*/ 0 h 1449962"/>
                  <a:gd name="connsiteX16" fmla="*/ 103569 w 724981"/>
                  <a:gd name="connsiteY16" fmla="*/ 0 h 1449962"/>
                  <a:gd name="connsiteX17" fmla="*/ 0 w 724981"/>
                  <a:gd name="connsiteY17" fmla="*/ 103569 h 1449962"/>
                  <a:gd name="connsiteX18" fmla="*/ 0 w 724981"/>
                  <a:gd name="connsiteY18" fmla="*/ 1346394 h 1449962"/>
                  <a:gd name="connsiteX19" fmla="*/ 103569 w 724981"/>
                  <a:gd name="connsiteY19" fmla="*/ 1449963 h 1449962"/>
                  <a:gd name="connsiteX20" fmla="*/ 621413 w 724981"/>
                  <a:gd name="connsiteY20" fmla="*/ 1449963 h 1449962"/>
                  <a:gd name="connsiteX21" fmla="*/ 724981 w 724981"/>
                  <a:gd name="connsiteY21" fmla="*/ 1346394 h 1449962"/>
                  <a:gd name="connsiteX22" fmla="*/ 724981 w 724981"/>
                  <a:gd name="connsiteY22" fmla="*/ 103569 h 1449962"/>
                  <a:gd name="connsiteX23" fmla="*/ 621413 w 724981"/>
                  <a:gd name="connsiteY23" fmla="*/ 0 h 1449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24981" h="1449962">
                    <a:moveTo>
                      <a:pt x="621413" y="258922"/>
                    </a:moveTo>
                    <a:lnTo>
                      <a:pt x="103569" y="258922"/>
                    </a:lnTo>
                    <a:lnTo>
                      <a:pt x="103569" y="103569"/>
                    </a:lnTo>
                    <a:lnTo>
                      <a:pt x="621413" y="103569"/>
                    </a:lnTo>
                    <a:lnTo>
                      <a:pt x="621413" y="258922"/>
                    </a:lnTo>
                    <a:close/>
                    <a:moveTo>
                      <a:pt x="621413" y="517844"/>
                    </a:moveTo>
                    <a:lnTo>
                      <a:pt x="103569" y="517844"/>
                    </a:lnTo>
                    <a:lnTo>
                      <a:pt x="103569" y="362491"/>
                    </a:lnTo>
                    <a:lnTo>
                      <a:pt x="621413" y="362491"/>
                    </a:lnTo>
                    <a:lnTo>
                      <a:pt x="621413" y="517844"/>
                    </a:lnTo>
                    <a:close/>
                    <a:moveTo>
                      <a:pt x="362491" y="1294609"/>
                    </a:moveTo>
                    <a:cubicBezTo>
                      <a:pt x="318474" y="1294609"/>
                      <a:pt x="284814" y="1260950"/>
                      <a:pt x="284814" y="1216933"/>
                    </a:cubicBezTo>
                    <a:cubicBezTo>
                      <a:pt x="284814" y="1172916"/>
                      <a:pt x="318474" y="1139256"/>
                      <a:pt x="362491" y="1139256"/>
                    </a:cubicBezTo>
                    <a:cubicBezTo>
                      <a:pt x="406507" y="1139256"/>
                      <a:pt x="440167" y="1172916"/>
                      <a:pt x="440167" y="1216933"/>
                    </a:cubicBezTo>
                    <a:cubicBezTo>
                      <a:pt x="440167" y="1260950"/>
                      <a:pt x="406507" y="1294609"/>
                      <a:pt x="362491" y="1294609"/>
                    </a:cubicBezTo>
                    <a:close/>
                    <a:moveTo>
                      <a:pt x="621413" y="0"/>
                    </a:moveTo>
                    <a:lnTo>
                      <a:pt x="103569" y="0"/>
                    </a:lnTo>
                    <a:cubicBezTo>
                      <a:pt x="46606" y="0"/>
                      <a:pt x="0" y="46606"/>
                      <a:pt x="0" y="103569"/>
                    </a:cubicBezTo>
                    <a:lnTo>
                      <a:pt x="0" y="1346394"/>
                    </a:lnTo>
                    <a:cubicBezTo>
                      <a:pt x="0" y="1403357"/>
                      <a:pt x="46606" y="1449963"/>
                      <a:pt x="103569" y="1449963"/>
                    </a:cubicBezTo>
                    <a:lnTo>
                      <a:pt x="621413" y="1449963"/>
                    </a:lnTo>
                    <a:cubicBezTo>
                      <a:pt x="678375" y="1449963"/>
                      <a:pt x="724981" y="1403357"/>
                      <a:pt x="724981" y="1346394"/>
                    </a:cubicBezTo>
                    <a:lnTo>
                      <a:pt x="724981" y="103569"/>
                    </a:lnTo>
                    <a:cubicBezTo>
                      <a:pt x="724981" y="46606"/>
                      <a:pt x="678375" y="0"/>
                      <a:pt x="621413" y="0"/>
                    </a:cubicBezTo>
                    <a:close/>
                  </a:path>
                </a:pathLst>
              </a:custGeom>
              <a:solidFill>
                <a:srgbClr val="000000"/>
              </a:solidFill>
              <a:ln w="25797" cap="flat">
                <a:noFill/>
                <a:prstDash val="solid"/>
                <a:miter/>
              </a:ln>
            </p:spPr>
            <p:txBody>
              <a:bodyPr rtlCol="0" anchor="ctr"/>
              <a:lstStyle/>
              <a:p>
                <a:endParaRPr lang="en-US"/>
              </a:p>
            </p:txBody>
          </p:sp>
          <p:sp>
            <p:nvSpPr>
              <p:cNvPr id="19" name="Rectangle 18">
                <a:extLst>
                  <a:ext uri="{FF2B5EF4-FFF2-40B4-BE49-F238E27FC236}">
                    <a16:creationId xmlns:a16="http://schemas.microsoft.com/office/drawing/2014/main" id="{50539A2C-B86F-C62E-D368-EBCB0B9A5962}"/>
                  </a:ext>
                </a:extLst>
              </p:cNvPr>
              <p:cNvSpPr/>
              <p:nvPr/>
            </p:nvSpPr>
            <p:spPr>
              <a:xfrm>
                <a:off x="1121609" y="2746249"/>
                <a:ext cx="1463888" cy="154205"/>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1" name="Group 20" descr="Picture showing that one common resource request is a Quality of Service">
            <a:extLst>
              <a:ext uri="{FF2B5EF4-FFF2-40B4-BE49-F238E27FC236}">
                <a16:creationId xmlns:a16="http://schemas.microsoft.com/office/drawing/2014/main" id="{DDBBB75D-DA3B-0F46-D0DE-5C1AA47F8E05}"/>
              </a:ext>
            </a:extLst>
          </p:cNvPr>
          <p:cNvGrpSpPr/>
          <p:nvPr/>
        </p:nvGrpSpPr>
        <p:grpSpPr>
          <a:xfrm>
            <a:off x="3471280" y="1974661"/>
            <a:ext cx="2468880" cy="2960167"/>
            <a:chOff x="9231793" y="1948917"/>
            <a:chExt cx="2468880" cy="2960167"/>
          </a:xfrm>
        </p:grpSpPr>
        <p:sp>
          <p:nvSpPr>
            <p:cNvPr id="7" name="Rounded Rectangle 6">
              <a:extLst>
                <a:ext uri="{FF2B5EF4-FFF2-40B4-BE49-F238E27FC236}">
                  <a16:creationId xmlns:a16="http://schemas.microsoft.com/office/drawing/2014/main" id="{0ADCCDA8-0A94-F8F6-F3FC-A631B161CA2C}"/>
                </a:ext>
              </a:extLst>
            </p:cNvPr>
            <p:cNvSpPr/>
            <p:nvPr/>
          </p:nvSpPr>
          <p:spPr>
            <a:xfrm>
              <a:off x="9231793" y="1948917"/>
              <a:ext cx="2468880" cy="2960167"/>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B77B193-DF7D-30A3-4D34-7863BCD83F48}"/>
                </a:ext>
              </a:extLst>
            </p:cNvPr>
            <p:cNvSpPr txBox="1"/>
            <p:nvPr/>
          </p:nvSpPr>
          <p:spPr>
            <a:xfrm>
              <a:off x="9509009" y="3606035"/>
              <a:ext cx="1914448" cy="954107"/>
            </a:xfrm>
            <a:prstGeom prst="rect">
              <a:avLst/>
            </a:prstGeom>
            <a:noFill/>
          </p:spPr>
          <p:txBody>
            <a:bodyPr wrap="square" rtlCol="0">
              <a:spAutoFit/>
            </a:bodyPr>
            <a:lstStyle/>
            <a:p>
              <a:pPr algn="ctr"/>
              <a:r>
                <a:rPr lang="en-US" sz="2800" b="1" dirty="0"/>
                <a:t>Quality of Service</a:t>
              </a:r>
            </a:p>
          </p:txBody>
        </p:sp>
        <p:grpSp>
          <p:nvGrpSpPr>
            <p:cNvPr id="27" name="Group 26" descr="An icon of two horizontal arrows pointing inward towards the same vertical line">
              <a:extLst>
                <a:ext uri="{FF2B5EF4-FFF2-40B4-BE49-F238E27FC236}">
                  <a16:creationId xmlns:a16="http://schemas.microsoft.com/office/drawing/2014/main" id="{52A1F7A9-D0C2-258F-4B03-C59FDC23181D}"/>
                </a:ext>
              </a:extLst>
            </p:cNvPr>
            <p:cNvGrpSpPr/>
            <p:nvPr/>
          </p:nvGrpSpPr>
          <p:grpSpPr>
            <a:xfrm>
              <a:off x="9631316" y="2329377"/>
              <a:ext cx="1669833" cy="1188720"/>
              <a:chOff x="9673851" y="2181479"/>
              <a:chExt cx="1669833" cy="1188720"/>
            </a:xfrm>
          </p:grpSpPr>
          <p:sp>
            <p:nvSpPr>
              <p:cNvPr id="24" name="Left Arrow 23">
                <a:extLst>
                  <a:ext uri="{FF2B5EF4-FFF2-40B4-BE49-F238E27FC236}">
                    <a16:creationId xmlns:a16="http://schemas.microsoft.com/office/drawing/2014/main" id="{FBC70599-7D57-88E4-CB56-C07C15716015}"/>
                  </a:ext>
                </a:extLst>
              </p:cNvPr>
              <p:cNvSpPr/>
              <p:nvPr/>
            </p:nvSpPr>
            <p:spPr>
              <a:xfrm>
                <a:off x="10687262" y="2272919"/>
                <a:ext cx="656422" cy="1005840"/>
              </a:xfrm>
              <a:prstGeom prst="lef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 Arrow 24">
                <a:extLst>
                  <a:ext uri="{FF2B5EF4-FFF2-40B4-BE49-F238E27FC236}">
                    <a16:creationId xmlns:a16="http://schemas.microsoft.com/office/drawing/2014/main" id="{66EF8CCF-69AF-BE63-A2E6-3D2F62B1461E}"/>
                  </a:ext>
                </a:extLst>
              </p:cNvPr>
              <p:cNvSpPr/>
              <p:nvPr/>
            </p:nvSpPr>
            <p:spPr>
              <a:xfrm flipH="1">
                <a:off x="9673851" y="2272919"/>
                <a:ext cx="656422" cy="1005840"/>
              </a:xfrm>
              <a:prstGeom prst="lef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a:extLst>
                  <a:ext uri="{FF2B5EF4-FFF2-40B4-BE49-F238E27FC236}">
                    <a16:creationId xmlns:a16="http://schemas.microsoft.com/office/drawing/2014/main" id="{DB789D6E-E1AB-4E95-2605-B345A32A13C1}"/>
                  </a:ext>
                </a:extLst>
              </p:cNvPr>
              <p:cNvSpPr/>
              <p:nvPr/>
            </p:nvSpPr>
            <p:spPr>
              <a:xfrm>
                <a:off x="10424366" y="2181479"/>
                <a:ext cx="168802" cy="1188720"/>
              </a:xfrm>
              <a:prstGeom prst="round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4" name="Group 3" descr="Picture showing that one common resources request are cores, GPUs, and nodes">
            <a:extLst>
              <a:ext uri="{FF2B5EF4-FFF2-40B4-BE49-F238E27FC236}">
                <a16:creationId xmlns:a16="http://schemas.microsoft.com/office/drawing/2014/main" id="{8489ABE8-DED3-5EDA-A99D-D33F7839AA09}"/>
              </a:ext>
            </a:extLst>
          </p:cNvPr>
          <p:cNvGrpSpPr/>
          <p:nvPr/>
        </p:nvGrpSpPr>
        <p:grpSpPr>
          <a:xfrm>
            <a:off x="6339683" y="1985805"/>
            <a:ext cx="2468880" cy="2949023"/>
            <a:chOff x="3471280" y="1960061"/>
            <a:chExt cx="2468880" cy="2949023"/>
          </a:xfrm>
        </p:grpSpPr>
        <p:sp>
          <p:nvSpPr>
            <p:cNvPr id="8" name="Rounded Rectangle 7">
              <a:extLst>
                <a:ext uri="{FF2B5EF4-FFF2-40B4-BE49-F238E27FC236}">
                  <a16:creationId xmlns:a16="http://schemas.microsoft.com/office/drawing/2014/main" id="{A19298AC-3C10-E8D7-5FCC-82E88F54205D}"/>
                </a:ext>
              </a:extLst>
            </p:cNvPr>
            <p:cNvSpPr/>
            <p:nvPr/>
          </p:nvSpPr>
          <p:spPr>
            <a:xfrm>
              <a:off x="3471280" y="1960061"/>
              <a:ext cx="2468880" cy="294902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descr="An icon representing a computer chip">
              <a:extLst>
                <a:ext uri="{FF2B5EF4-FFF2-40B4-BE49-F238E27FC236}">
                  <a16:creationId xmlns:a16="http://schemas.microsoft.com/office/drawing/2014/main" id="{2C96318A-1E33-64EC-EF5D-42AD6650226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74200" y="2110541"/>
              <a:ext cx="1463040" cy="1463040"/>
            </a:xfrm>
            <a:prstGeom prst="rect">
              <a:avLst/>
            </a:prstGeom>
          </p:spPr>
        </p:pic>
        <p:sp>
          <p:nvSpPr>
            <p:cNvPr id="11" name="TextBox 10">
              <a:extLst>
                <a:ext uri="{FF2B5EF4-FFF2-40B4-BE49-F238E27FC236}">
                  <a16:creationId xmlns:a16="http://schemas.microsoft.com/office/drawing/2014/main" id="{DE85307A-16A3-FDDA-CCD5-CC778A6F25FC}"/>
                </a:ext>
              </a:extLst>
            </p:cNvPr>
            <p:cNvSpPr txBox="1"/>
            <p:nvPr/>
          </p:nvSpPr>
          <p:spPr>
            <a:xfrm>
              <a:off x="3471280" y="3642524"/>
              <a:ext cx="2468879" cy="954107"/>
            </a:xfrm>
            <a:prstGeom prst="rect">
              <a:avLst/>
            </a:prstGeom>
            <a:noFill/>
          </p:spPr>
          <p:txBody>
            <a:bodyPr wrap="square" rtlCol="0">
              <a:spAutoFit/>
            </a:bodyPr>
            <a:lstStyle/>
            <a:p>
              <a:pPr algn="ctr"/>
              <a:r>
                <a:rPr lang="en-US" sz="2800" b="1" dirty="0"/>
                <a:t>Cores, GPUs,</a:t>
              </a:r>
            </a:p>
            <a:p>
              <a:pPr algn="ctr"/>
              <a:r>
                <a:rPr lang="en-US" sz="2800" b="1" dirty="0"/>
                <a:t>and Nodes</a:t>
              </a:r>
            </a:p>
          </p:txBody>
        </p:sp>
      </p:grpSp>
      <p:grpSp>
        <p:nvGrpSpPr>
          <p:cNvPr id="20" name="Group 19" descr="Picture showing that one common resource request is wall time">
            <a:extLst>
              <a:ext uri="{FF2B5EF4-FFF2-40B4-BE49-F238E27FC236}">
                <a16:creationId xmlns:a16="http://schemas.microsoft.com/office/drawing/2014/main" id="{CBD37F0E-BA1F-18A7-CFC5-F988BBBA9FFC}"/>
              </a:ext>
            </a:extLst>
          </p:cNvPr>
          <p:cNvGrpSpPr/>
          <p:nvPr/>
        </p:nvGrpSpPr>
        <p:grpSpPr>
          <a:xfrm>
            <a:off x="9311483" y="1972317"/>
            <a:ext cx="2468880" cy="2960167"/>
            <a:chOff x="6351536" y="1948917"/>
            <a:chExt cx="2468880" cy="2960167"/>
          </a:xfrm>
        </p:grpSpPr>
        <p:sp>
          <p:nvSpPr>
            <p:cNvPr id="9" name="Rounded Rectangle 8">
              <a:extLst>
                <a:ext uri="{FF2B5EF4-FFF2-40B4-BE49-F238E27FC236}">
                  <a16:creationId xmlns:a16="http://schemas.microsoft.com/office/drawing/2014/main" id="{A84EA2F3-8F34-6D92-21AB-E3F22027A1EB}"/>
                </a:ext>
              </a:extLst>
            </p:cNvPr>
            <p:cNvSpPr/>
            <p:nvPr/>
          </p:nvSpPr>
          <p:spPr>
            <a:xfrm>
              <a:off x="6351536" y="1948917"/>
              <a:ext cx="2468880" cy="2960167"/>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13B31BE7-3F1F-2CC6-AEF0-B6C250D5F50A}"/>
                </a:ext>
              </a:extLst>
            </p:cNvPr>
            <p:cNvSpPr txBox="1"/>
            <p:nvPr/>
          </p:nvSpPr>
          <p:spPr>
            <a:xfrm>
              <a:off x="6628752" y="3598702"/>
              <a:ext cx="1914448" cy="523220"/>
            </a:xfrm>
            <a:prstGeom prst="rect">
              <a:avLst/>
            </a:prstGeom>
            <a:noFill/>
          </p:spPr>
          <p:txBody>
            <a:bodyPr wrap="square" rtlCol="0">
              <a:spAutoFit/>
            </a:bodyPr>
            <a:lstStyle/>
            <a:p>
              <a:pPr algn="ctr"/>
              <a:r>
                <a:rPr lang="en-US" sz="2800" b="1" dirty="0"/>
                <a:t>Wall Time</a:t>
              </a:r>
            </a:p>
          </p:txBody>
        </p:sp>
        <p:pic>
          <p:nvPicPr>
            <p:cNvPr id="23" name="Graphic 22" descr="An icon representing a stopwatch">
              <a:extLst>
                <a:ext uri="{FF2B5EF4-FFF2-40B4-BE49-F238E27FC236}">
                  <a16:creationId xmlns:a16="http://schemas.microsoft.com/office/drawing/2014/main" id="{F63B2A87-3EC2-C978-9BEE-84289FA4EF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4456" y="2108099"/>
              <a:ext cx="1463040" cy="1463040"/>
            </a:xfrm>
            <a:prstGeom prst="rect">
              <a:avLst/>
            </a:prstGeom>
          </p:spPr>
        </p:pic>
      </p:grpSp>
      <p:sp>
        <p:nvSpPr>
          <p:cNvPr id="5" name="Slide Number Placeholder 4">
            <a:extLst>
              <a:ext uri="{FF2B5EF4-FFF2-40B4-BE49-F238E27FC236}">
                <a16:creationId xmlns:a16="http://schemas.microsoft.com/office/drawing/2014/main" id="{2137CEDD-410C-FE3C-8DFF-847969FEF7C8}"/>
              </a:ext>
            </a:extLst>
          </p:cNvPr>
          <p:cNvSpPr>
            <a:spLocks noGrp="1"/>
          </p:cNvSpPr>
          <p:nvPr>
            <p:ph type="sldNum" sz="quarter" idx="12"/>
          </p:nvPr>
        </p:nvSpPr>
        <p:spPr/>
        <p:txBody>
          <a:bodyPr/>
          <a:lstStyle/>
          <a:p>
            <a:fld id="{ABDA560F-461C-6043-9BC4-489BA92F7161}" type="slidenum">
              <a:rPr lang="en-US" smtClean="0"/>
              <a:t>17</a:t>
            </a:fld>
            <a:endParaRPr lang="en-US"/>
          </a:p>
        </p:txBody>
      </p:sp>
    </p:spTree>
    <p:extLst>
      <p:ext uri="{BB962C8B-B14F-4D97-AF65-F5344CB8AC3E}">
        <p14:creationId xmlns:p14="http://schemas.microsoft.com/office/powerpoint/2010/main" val="28624313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5B02276A-EFC9-E7C2-56F0-15CCD49C1F09}"/>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7D534403-D252-E56D-64B7-44E21E45E86C}"/>
              </a:ext>
            </a:extLst>
          </p:cNvPr>
          <p:cNvSpPr txBox="1">
            <a:spLocks noGrp="1"/>
          </p:cNvSpPr>
          <p:nvPr>
            <p:ph type="title"/>
          </p:nvPr>
        </p:nvSpPr>
        <p:spPr>
          <a:xfrm>
            <a:off x="838200" y="1365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a:t>
            </a:r>
            <a:endParaRPr dirty="0"/>
          </a:p>
        </p:txBody>
      </p:sp>
      <p:sp>
        <p:nvSpPr>
          <p:cNvPr id="7" name="TextBox 6">
            <a:extLst>
              <a:ext uri="{FF2B5EF4-FFF2-40B4-BE49-F238E27FC236}">
                <a16:creationId xmlns:a16="http://schemas.microsoft.com/office/drawing/2014/main" id="{240960BD-3184-C968-F3A0-05BF3BE46FC3}"/>
              </a:ext>
            </a:extLst>
          </p:cNvPr>
          <p:cNvSpPr txBox="1"/>
          <p:nvPr/>
        </p:nvSpPr>
        <p:spPr>
          <a:xfrm>
            <a:off x="418170" y="2113086"/>
            <a:ext cx="5767756" cy="3323987"/>
          </a:xfrm>
          <a:prstGeom prst="rect">
            <a:avLst/>
          </a:prstGeom>
          <a:noFill/>
        </p:spPr>
        <p:txBody>
          <a:bodyPr wrap="square" rtlCol="0">
            <a:spAutoFit/>
          </a:bodyPr>
          <a:lstStyle/>
          <a:p>
            <a:pPr marL="342900" indent="-342900">
              <a:buFont typeface="Arial" panose="020B0604020202020204" pitchFamily="34" charset="0"/>
              <a:buChar char="•"/>
            </a:pPr>
            <a:r>
              <a:rPr lang="en-US" sz="2400" dirty="0"/>
              <a:t>Partitions are a collection of compute nodes with common characteristics </a:t>
            </a:r>
          </a:p>
          <a:p>
            <a:pPr marL="342900" indent="-342900">
              <a:buFont typeface="Arial" panose="020B0604020202020204" pitchFamily="34" charset="0"/>
              <a:buChar char="•"/>
            </a:pPr>
            <a:r>
              <a:rPr lang="en-US" sz="2400" dirty="0"/>
              <a:t>Compute nodes can be thought of as a desktop without a monitor</a:t>
            </a:r>
          </a:p>
          <a:p>
            <a:pPr marL="342900" indent="-342900">
              <a:buFont typeface="Arial" panose="020B0604020202020204" pitchFamily="34" charset="0"/>
              <a:buChar char="•"/>
            </a:pPr>
            <a:r>
              <a:rPr lang="en-US" sz="2400" dirty="0"/>
              <a:t>For in-depth information on partitions see: </a:t>
            </a:r>
            <a:r>
              <a:rPr lang="en-US" sz="2400" dirty="0" err="1">
                <a:solidFill>
                  <a:srgbClr val="0563C1"/>
                </a:solidFill>
                <a:cs typeface="Arial"/>
              </a:rPr>
              <a:t>curc.readthedocs.io</a:t>
            </a:r>
            <a:r>
              <a:rPr lang="en-US" sz="2400" dirty="0">
                <a:solidFill>
                  <a:srgbClr val="0563C1"/>
                </a:solidFill>
                <a:cs typeface="Arial"/>
              </a:rPr>
              <a:t>/</a:t>
            </a:r>
            <a:r>
              <a:rPr lang="en-US" sz="2400" dirty="0" err="1">
                <a:solidFill>
                  <a:srgbClr val="0563C1"/>
                </a:solidFill>
                <a:cs typeface="Arial"/>
              </a:rPr>
              <a:t>en</a:t>
            </a:r>
            <a:r>
              <a:rPr lang="en-US" sz="2400" dirty="0">
                <a:solidFill>
                  <a:srgbClr val="0563C1"/>
                </a:solidFill>
                <a:cs typeface="Arial"/>
              </a:rPr>
              <a:t>/latest/clusters/alpine/</a:t>
            </a:r>
            <a:r>
              <a:rPr lang="en-US" sz="2400" dirty="0" err="1">
                <a:solidFill>
                  <a:srgbClr val="0563C1"/>
                </a:solidFill>
                <a:cs typeface="Arial"/>
              </a:rPr>
              <a:t>alpine-hardware.html#partitions</a:t>
            </a:r>
            <a:endParaRPr lang="en-US" sz="2400" dirty="0">
              <a:solidFill>
                <a:srgbClr val="0563C1"/>
              </a:solidFill>
              <a:cs typeface="Arial"/>
            </a:endParaRPr>
          </a:p>
          <a:p>
            <a:endParaRPr lang="en-US" dirty="0"/>
          </a:p>
        </p:txBody>
      </p:sp>
      <p:pic>
        <p:nvPicPr>
          <p:cNvPr id="2" name="Picture 4" descr="Supermicro Data Center Server, Blade, Data Storage, AI System">
            <a:extLst>
              <a:ext uri="{FF2B5EF4-FFF2-40B4-BE49-F238E27FC236}">
                <a16:creationId xmlns:a16="http://schemas.microsoft.com/office/drawing/2014/main" id="{AE45C49E-CFDF-4306-581F-E7ACE68299E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5968" r="1"/>
          <a:stretch/>
        </p:blipFill>
        <p:spPr bwMode="auto">
          <a:xfrm>
            <a:off x="6870102" y="1658302"/>
            <a:ext cx="4691854" cy="4046913"/>
          </a:xfrm>
          <a:prstGeom prst="rect">
            <a:avLst/>
          </a:prstGeom>
          <a:noFill/>
          <a:extLst>
            <a:ext uri="{909E8E84-426E-40DD-AFC4-6F175D3DCCD1}">
              <a14:hiddenFill xmlns:a14="http://schemas.microsoft.com/office/drawing/2010/main">
                <a:solidFill>
                  <a:srgbClr val="FFFFFF"/>
                </a:solidFill>
              </a14:hiddenFill>
            </a:ext>
          </a:extLst>
        </p:spPr>
      </p:pic>
      <p:grpSp>
        <p:nvGrpSpPr>
          <p:cNvPr id="6" name="Group 5" descr="Image representing the idea that Alpine partitions are largely composed of compute nodes">
            <a:extLst>
              <a:ext uri="{FF2B5EF4-FFF2-40B4-BE49-F238E27FC236}">
                <a16:creationId xmlns:a16="http://schemas.microsoft.com/office/drawing/2014/main" id="{DD647B26-5158-ED42-CDA4-27A3D335058F}"/>
              </a:ext>
            </a:extLst>
          </p:cNvPr>
          <p:cNvGrpSpPr/>
          <p:nvPr/>
        </p:nvGrpSpPr>
        <p:grpSpPr>
          <a:xfrm>
            <a:off x="7889814" y="2417736"/>
            <a:ext cx="2124371" cy="2346859"/>
            <a:chOff x="4726983" y="2457616"/>
            <a:chExt cx="2124371" cy="2346859"/>
          </a:xfrm>
        </p:grpSpPr>
        <p:sp>
          <p:nvSpPr>
            <p:cNvPr id="5" name="Rounded Rectangle 4">
              <a:extLst>
                <a:ext uri="{FF2B5EF4-FFF2-40B4-BE49-F238E27FC236}">
                  <a16:creationId xmlns:a16="http://schemas.microsoft.com/office/drawing/2014/main" id="{C5A1E32A-FBBF-CBF4-94B4-DF3636D17AFA}"/>
                </a:ext>
              </a:extLst>
            </p:cNvPr>
            <p:cNvSpPr/>
            <p:nvPr/>
          </p:nvSpPr>
          <p:spPr>
            <a:xfrm>
              <a:off x="4726983" y="2457616"/>
              <a:ext cx="2124371" cy="2346859"/>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Graphic 2">
              <a:extLst>
                <a:ext uri="{FF2B5EF4-FFF2-40B4-BE49-F238E27FC236}">
                  <a16:creationId xmlns:a16="http://schemas.microsoft.com/office/drawing/2014/main" id="{8972347B-25BA-10DB-0E6E-398291FF4D9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06742" y="2646573"/>
              <a:ext cx="1564852" cy="1564852"/>
            </a:xfrm>
            <a:prstGeom prst="rect">
              <a:avLst/>
            </a:prstGeom>
          </p:spPr>
        </p:pic>
        <p:sp>
          <p:nvSpPr>
            <p:cNvPr id="4" name="TextBox 3">
              <a:extLst>
                <a:ext uri="{FF2B5EF4-FFF2-40B4-BE49-F238E27FC236}">
                  <a16:creationId xmlns:a16="http://schemas.microsoft.com/office/drawing/2014/main" id="{FA3E7AB5-FB90-9A16-0C8D-3BCFE2EBFFA7}"/>
                </a:ext>
              </a:extLst>
            </p:cNvPr>
            <p:cNvSpPr txBox="1"/>
            <p:nvPr/>
          </p:nvSpPr>
          <p:spPr>
            <a:xfrm>
              <a:off x="5006742" y="4211425"/>
              <a:ext cx="1564852" cy="523220"/>
            </a:xfrm>
            <a:prstGeom prst="rect">
              <a:avLst/>
            </a:prstGeom>
            <a:noFill/>
          </p:spPr>
          <p:txBody>
            <a:bodyPr wrap="none" rtlCol="0">
              <a:spAutoFit/>
            </a:bodyPr>
            <a:lstStyle/>
            <a:p>
              <a:pPr algn="ctr"/>
              <a:r>
                <a:rPr lang="en-US" sz="2800" b="1">
                  <a:latin typeface="Consolas" panose="020B0609020204030204" pitchFamily="49" charset="0"/>
                  <a:cs typeface="Consolas" panose="020B0609020204030204" pitchFamily="49" charset="0"/>
                </a:rPr>
                <a:t>COMPUTE</a:t>
              </a:r>
            </a:p>
          </p:txBody>
        </p:sp>
      </p:grpSp>
      <p:sp>
        <p:nvSpPr>
          <p:cNvPr id="337" name="Google Shape;337;p32">
            <a:extLst>
              <a:ext uri="{FF2B5EF4-FFF2-40B4-BE49-F238E27FC236}">
                <a16:creationId xmlns:a16="http://schemas.microsoft.com/office/drawing/2014/main" id="{9C3F2E95-0E07-2372-59C3-B43352347A6C}"/>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18</a:t>
            </a:fld>
            <a:endParaRPr/>
          </a:p>
        </p:txBody>
      </p:sp>
    </p:spTree>
    <p:extLst>
      <p:ext uri="{BB962C8B-B14F-4D97-AF65-F5344CB8AC3E}">
        <p14:creationId xmlns:p14="http://schemas.microsoft.com/office/powerpoint/2010/main" val="6514581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81F2AE31-C903-A075-45AE-C9FAEB5B7807}"/>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4B98FC8C-FF06-0B8F-D96A-382401CBC886}"/>
              </a:ext>
            </a:extLst>
          </p:cNvPr>
          <p:cNvSpPr txBox="1">
            <a:spLocks noGrp="1"/>
          </p:cNvSpPr>
          <p:nvPr>
            <p:ph type="title"/>
          </p:nvPr>
        </p:nvSpPr>
        <p:spPr>
          <a:xfrm>
            <a:off x="838200" y="1365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 - </a:t>
            </a:r>
            <a:r>
              <a:rPr lang="en-US" dirty="0" err="1"/>
              <a:t>acpu</a:t>
            </a:r>
            <a:endParaRPr dirty="0"/>
          </a:p>
        </p:txBody>
      </p:sp>
      <p:sp>
        <p:nvSpPr>
          <p:cNvPr id="13" name="TextBox 12">
            <a:extLst>
              <a:ext uri="{FF2B5EF4-FFF2-40B4-BE49-F238E27FC236}">
                <a16:creationId xmlns:a16="http://schemas.microsoft.com/office/drawing/2014/main" id="{A18754FF-9970-1B20-3829-DC5CA731B804}"/>
              </a:ext>
            </a:extLst>
          </p:cNvPr>
          <p:cNvSpPr txBox="1"/>
          <p:nvPr/>
        </p:nvSpPr>
        <p:spPr>
          <a:xfrm>
            <a:off x="457200" y="2092446"/>
            <a:ext cx="2590800" cy="969496"/>
          </a:xfrm>
          <a:prstGeom prst="rect">
            <a:avLst/>
          </a:prstGeom>
          <a:noFill/>
        </p:spPr>
        <p:txBody>
          <a:bodyPr wrap="square" rtlCol="0">
            <a:spAutoFit/>
          </a:bodyPr>
          <a:lstStyle/>
          <a:p>
            <a:pPr algn="ctr">
              <a:spcAft>
                <a:spcPts val="600"/>
              </a:spcAft>
            </a:pPr>
            <a:r>
              <a:rPr lang="en-US" sz="2800" b="1" dirty="0" err="1"/>
              <a:t>acpu</a:t>
            </a:r>
            <a:endParaRPr lang="en-US" sz="2800" b="1" dirty="0"/>
          </a:p>
          <a:p>
            <a:pPr algn="ctr"/>
            <a:r>
              <a:rPr lang="en-US" sz="2400" dirty="0"/>
              <a:t>General CPU</a:t>
            </a:r>
          </a:p>
        </p:txBody>
      </p:sp>
      <p:sp>
        <p:nvSpPr>
          <p:cNvPr id="14" name="Rounded Rectangle 13">
            <a:extLst>
              <a:ext uri="{FF2B5EF4-FFF2-40B4-BE49-F238E27FC236}">
                <a16:creationId xmlns:a16="http://schemas.microsoft.com/office/drawing/2014/main" id="{98588F9C-8692-06CC-DB20-8C929554192B}"/>
              </a:ext>
              <a:ext uri="{C183D7F6-B498-43B3-948B-1728B52AA6E4}">
                <adec:decorative xmlns:adec="http://schemas.microsoft.com/office/drawing/2017/decorative" val="1"/>
              </a:ext>
            </a:extLst>
          </p:cNvPr>
          <p:cNvSpPr/>
          <p:nvPr/>
        </p:nvSpPr>
        <p:spPr>
          <a:xfrm>
            <a:off x="457200" y="1845674"/>
            <a:ext cx="2590800" cy="1463040"/>
          </a:xfrm>
          <a:prstGeom prst="round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4" descr="Supermicro Data Center Server, Blade, Data Storage, AI System">
            <a:extLst>
              <a:ext uri="{FF2B5EF4-FFF2-40B4-BE49-F238E27FC236}">
                <a16:creationId xmlns:a16="http://schemas.microsoft.com/office/drawing/2014/main" id="{D76C4C27-CF16-32EF-2B02-DC875A46C7CA}"/>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5968" r="1"/>
          <a:stretch/>
        </p:blipFill>
        <p:spPr bwMode="auto">
          <a:xfrm>
            <a:off x="3750073" y="1405543"/>
            <a:ext cx="4691854" cy="404691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4" descr="Supermicro Data Center Server, Blade, Data Storage, AI System">
            <a:extLst>
              <a:ext uri="{FF2B5EF4-FFF2-40B4-BE49-F238E27FC236}">
                <a16:creationId xmlns:a16="http://schemas.microsoft.com/office/drawing/2014/main" id="{534216B3-960E-27F8-DB59-CBB6C56DE92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5968" r="55669"/>
          <a:stretch/>
        </p:blipFill>
        <p:spPr bwMode="auto">
          <a:xfrm>
            <a:off x="3750073" y="1405542"/>
            <a:ext cx="612771" cy="4046913"/>
          </a:xfrm>
          <a:prstGeom prst="rect">
            <a:avLst/>
          </a:prstGeom>
          <a:noFill/>
          <a:extLst>
            <a:ext uri="{909E8E84-426E-40DD-AFC4-6F175D3DCCD1}">
              <a14:hiddenFill xmlns:a14="http://schemas.microsoft.com/office/drawing/2010/main">
                <a:solidFill>
                  <a:srgbClr val="FFFFFF"/>
                </a:solidFill>
              </a14:hiddenFill>
            </a:ext>
          </a:extLst>
        </p:spPr>
      </p:pic>
      <p:sp>
        <p:nvSpPr>
          <p:cNvPr id="337" name="Google Shape;337;p32">
            <a:extLst>
              <a:ext uri="{FF2B5EF4-FFF2-40B4-BE49-F238E27FC236}">
                <a16:creationId xmlns:a16="http://schemas.microsoft.com/office/drawing/2014/main" id="{2BC4644A-1F59-1D3E-58BF-5166C03C3F11}"/>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19</a:t>
            </a:fld>
            <a:endParaRPr/>
          </a:p>
        </p:txBody>
      </p:sp>
    </p:spTree>
    <p:extLst>
      <p:ext uri="{BB962C8B-B14F-4D97-AF65-F5344CB8AC3E}">
        <p14:creationId xmlns:p14="http://schemas.microsoft.com/office/powerpoint/2010/main" val="13072389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A50FCCDE-C33A-5A78-D620-566B793C4042}"/>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6BC7BDC2-8F23-2E3F-A086-6D562460F284}"/>
              </a:ext>
            </a:extLst>
          </p:cNvPr>
          <p:cNvSpPr txBox="1">
            <a:spLocks noGrp="1"/>
          </p:cNvSpPr>
          <p:nvPr>
            <p:ph type="title"/>
          </p:nvPr>
        </p:nvSpPr>
        <p:spPr>
          <a:xfrm>
            <a:off x="838200" y="1365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 - </a:t>
            </a:r>
            <a:r>
              <a:rPr lang="en-US" dirty="0" err="1"/>
              <a:t>amem</a:t>
            </a:r>
            <a:endParaRPr dirty="0"/>
          </a:p>
        </p:txBody>
      </p:sp>
      <p:sp>
        <p:nvSpPr>
          <p:cNvPr id="13" name="TextBox 12">
            <a:extLst>
              <a:ext uri="{FF2B5EF4-FFF2-40B4-BE49-F238E27FC236}">
                <a16:creationId xmlns:a16="http://schemas.microsoft.com/office/drawing/2014/main" id="{175B12A5-AE6B-359E-D1DB-AD85914D07AF}"/>
              </a:ext>
            </a:extLst>
          </p:cNvPr>
          <p:cNvSpPr txBox="1"/>
          <p:nvPr/>
        </p:nvSpPr>
        <p:spPr>
          <a:xfrm>
            <a:off x="457200" y="2092446"/>
            <a:ext cx="2590800" cy="969496"/>
          </a:xfrm>
          <a:prstGeom prst="rect">
            <a:avLst/>
          </a:prstGeom>
          <a:noFill/>
        </p:spPr>
        <p:txBody>
          <a:bodyPr wrap="square" rtlCol="0">
            <a:spAutoFit/>
          </a:bodyPr>
          <a:lstStyle/>
          <a:p>
            <a:pPr algn="ctr">
              <a:spcAft>
                <a:spcPts val="600"/>
              </a:spcAft>
            </a:pPr>
            <a:r>
              <a:rPr lang="en-US" sz="2800" b="1" dirty="0" err="1"/>
              <a:t>acpu</a:t>
            </a:r>
            <a:endParaRPr lang="en-US" sz="2800" b="1" dirty="0"/>
          </a:p>
          <a:p>
            <a:pPr algn="ctr"/>
            <a:r>
              <a:rPr lang="en-US" sz="2400" dirty="0"/>
              <a:t>General CPU</a:t>
            </a:r>
          </a:p>
        </p:txBody>
      </p:sp>
      <p:sp>
        <p:nvSpPr>
          <p:cNvPr id="16" name="TextBox 15">
            <a:extLst>
              <a:ext uri="{FF2B5EF4-FFF2-40B4-BE49-F238E27FC236}">
                <a16:creationId xmlns:a16="http://schemas.microsoft.com/office/drawing/2014/main" id="{7112EE2A-F148-A6F1-A41B-ED2B6A15E60D}"/>
              </a:ext>
            </a:extLst>
          </p:cNvPr>
          <p:cNvSpPr txBox="1"/>
          <p:nvPr/>
        </p:nvSpPr>
        <p:spPr>
          <a:xfrm>
            <a:off x="457200" y="3692138"/>
            <a:ext cx="2590800" cy="1338828"/>
          </a:xfrm>
          <a:prstGeom prst="rect">
            <a:avLst/>
          </a:prstGeom>
          <a:noFill/>
        </p:spPr>
        <p:txBody>
          <a:bodyPr wrap="square" rtlCol="0">
            <a:spAutoFit/>
          </a:bodyPr>
          <a:lstStyle/>
          <a:p>
            <a:pPr algn="ctr">
              <a:spcAft>
                <a:spcPts val="600"/>
              </a:spcAft>
            </a:pPr>
            <a:r>
              <a:rPr lang="en-US" sz="2800" b="1" dirty="0" err="1"/>
              <a:t>amem</a:t>
            </a:r>
            <a:endParaRPr lang="en-US" sz="2800" b="1" dirty="0"/>
          </a:p>
          <a:p>
            <a:pPr algn="ctr"/>
            <a:r>
              <a:rPr lang="en-US" sz="2400" dirty="0"/>
              <a:t>High Memory CPU</a:t>
            </a:r>
          </a:p>
        </p:txBody>
      </p:sp>
      <p:sp>
        <p:nvSpPr>
          <p:cNvPr id="14" name="Rounded Rectangle 13">
            <a:extLst>
              <a:ext uri="{FF2B5EF4-FFF2-40B4-BE49-F238E27FC236}">
                <a16:creationId xmlns:a16="http://schemas.microsoft.com/office/drawing/2014/main" id="{94D11255-D11F-B19F-2577-DDA92EB5F4DF}"/>
              </a:ext>
              <a:ext uri="{C183D7F6-B498-43B3-948B-1728B52AA6E4}">
                <adec:decorative xmlns:adec="http://schemas.microsoft.com/office/drawing/2017/decorative" val="1"/>
              </a:ext>
            </a:extLst>
          </p:cNvPr>
          <p:cNvSpPr/>
          <p:nvPr/>
        </p:nvSpPr>
        <p:spPr>
          <a:xfrm>
            <a:off x="457200" y="1845674"/>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4" descr="Supermicro Data Center Server, Blade, Data Storage, AI System">
            <a:extLst>
              <a:ext uri="{FF2B5EF4-FFF2-40B4-BE49-F238E27FC236}">
                <a16:creationId xmlns:a16="http://schemas.microsoft.com/office/drawing/2014/main" id="{183031EF-805D-5644-5589-4AC8E2F29DB4}"/>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5968" r="1"/>
          <a:stretch/>
        </p:blipFill>
        <p:spPr bwMode="auto">
          <a:xfrm>
            <a:off x="3750073" y="1405543"/>
            <a:ext cx="4691854" cy="404691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Supermicro Data Center Server, Blade, Data Storage, AI System">
            <a:extLst>
              <a:ext uri="{FF2B5EF4-FFF2-40B4-BE49-F238E27FC236}">
                <a16:creationId xmlns:a16="http://schemas.microsoft.com/office/drawing/2014/main" id="{2AC8105C-28B0-043F-7305-E318EA85015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020" r="46078"/>
          <a:stretch/>
        </p:blipFill>
        <p:spPr bwMode="auto">
          <a:xfrm>
            <a:off x="4362844" y="1405541"/>
            <a:ext cx="725556" cy="4046913"/>
          </a:xfrm>
          <a:prstGeom prst="rect">
            <a:avLst/>
          </a:prstGeom>
          <a:noFill/>
          <a:extLst>
            <a:ext uri="{909E8E84-426E-40DD-AFC4-6F175D3DCCD1}">
              <a14:hiddenFill xmlns:a14="http://schemas.microsoft.com/office/drawing/2010/main">
                <a:solidFill>
                  <a:srgbClr val="FFFFFF"/>
                </a:solidFill>
              </a14:hiddenFill>
            </a:ext>
          </a:extLst>
        </p:spPr>
      </p:pic>
      <p:sp>
        <p:nvSpPr>
          <p:cNvPr id="15" name="Rounded Rectangle 14">
            <a:extLst>
              <a:ext uri="{FF2B5EF4-FFF2-40B4-BE49-F238E27FC236}">
                <a16:creationId xmlns:a16="http://schemas.microsoft.com/office/drawing/2014/main" id="{42F3AB29-CED6-F8D1-8E74-4FF6094098A9}"/>
              </a:ext>
              <a:ext uri="{C183D7F6-B498-43B3-948B-1728B52AA6E4}">
                <adec:decorative xmlns:adec="http://schemas.microsoft.com/office/drawing/2017/decorative" val="1"/>
              </a:ext>
            </a:extLst>
          </p:cNvPr>
          <p:cNvSpPr/>
          <p:nvPr/>
        </p:nvSpPr>
        <p:spPr>
          <a:xfrm>
            <a:off x="457200" y="3605991"/>
            <a:ext cx="2590800" cy="1463040"/>
          </a:xfrm>
          <a:prstGeom prst="round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 name="Google Shape;337;p32">
            <a:extLst>
              <a:ext uri="{FF2B5EF4-FFF2-40B4-BE49-F238E27FC236}">
                <a16:creationId xmlns:a16="http://schemas.microsoft.com/office/drawing/2014/main" id="{2AA80F52-4811-9F38-571E-FB21B2CF1C41}"/>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20</a:t>
            </a:fld>
            <a:endParaRPr/>
          </a:p>
        </p:txBody>
      </p:sp>
    </p:spTree>
    <p:extLst>
      <p:ext uri="{BB962C8B-B14F-4D97-AF65-F5344CB8AC3E}">
        <p14:creationId xmlns:p14="http://schemas.microsoft.com/office/powerpoint/2010/main" val="2040874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DEDF127B-CF79-2CE4-041D-EB50B103D817}"/>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A2C910E0-1C77-E540-47C6-C28109A768DB}"/>
              </a:ext>
            </a:extLst>
          </p:cNvPr>
          <p:cNvSpPr txBox="1">
            <a:spLocks noGrp="1"/>
          </p:cNvSpPr>
          <p:nvPr>
            <p:ph type="title"/>
          </p:nvPr>
        </p:nvSpPr>
        <p:spPr>
          <a:xfrm>
            <a:off x="335280" y="-72216"/>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 – NVIDIA GPUs</a:t>
            </a:r>
            <a:endParaRPr dirty="0"/>
          </a:p>
        </p:txBody>
      </p:sp>
      <p:sp>
        <p:nvSpPr>
          <p:cNvPr id="13" name="TextBox 12">
            <a:extLst>
              <a:ext uri="{FF2B5EF4-FFF2-40B4-BE49-F238E27FC236}">
                <a16:creationId xmlns:a16="http://schemas.microsoft.com/office/drawing/2014/main" id="{ECF03BA3-F1DC-A196-7B02-13163CF5624E}"/>
              </a:ext>
            </a:extLst>
          </p:cNvPr>
          <p:cNvSpPr txBox="1"/>
          <p:nvPr/>
        </p:nvSpPr>
        <p:spPr>
          <a:xfrm>
            <a:off x="457200" y="2092446"/>
            <a:ext cx="2590800" cy="969496"/>
          </a:xfrm>
          <a:prstGeom prst="rect">
            <a:avLst/>
          </a:prstGeom>
          <a:noFill/>
        </p:spPr>
        <p:txBody>
          <a:bodyPr wrap="square" rtlCol="0">
            <a:spAutoFit/>
          </a:bodyPr>
          <a:lstStyle/>
          <a:p>
            <a:pPr algn="ctr">
              <a:spcAft>
                <a:spcPts val="600"/>
              </a:spcAft>
            </a:pPr>
            <a:r>
              <a:rPr lang="en-US" sz="2800" b="1" dirty="0" err="1"/>
              <a:t>acpu</a:t>
            </a:r>
            <a:endParaRPr lang="en-US" sz="2800" b="1" dirty="0"/>
          </a:p>
          <a:p>
            <a:pPr algn="ctr"/>
            <a:r>
              <a:rPr lang="en-US" sz="2400" dirty="0"/>
              <a:t>General CPU</a:t>
            </a:r>
          </a:p>
        </p:txBody>
      </p:sp>
      <p:sp>
        <p:nvSpPr>
          <p:cNvPr id="14" name="Rounded Rectangle 13">
            <a:extLst>
              <a:ext uri="{FF2B5EF4-FFF2-40B4-BE49-F238E27FC236}">
                <a16:creationId xmlns:a16="http://schemas.microsoft.com/office/drawing/2014/main" id="{CEEFB6CF-8B26-3C6C-BF5E-2EAEDC815DA2}"/>
              </a:ext>
              <a:ext uri="{C183D7F6-B498-43B3-948B-1728B52AA6E4}">
                <adec:decorative xmlns:adec="http://schemas.microsoft.com/office/drawing/2017/decorative" val="1"/>
              </a:ext>
            </a:extLst>
          </p:cNvPr>
          <p:cNvSpPr/>
          <p:nvPr/>
        </p:nvSpPr>
        <p:spPr>
          <a:xfrm>
            <a:off x="457200" y="1845674"/>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4">
            <a:extLst>
              <a:ext uri="{FF2B5EF4-FFF2-40B4-BE49-F238E27FC236}">
                <a16:creationId xmlns:a16="http://schemas.microsoft.com/office/drawing/2014/main" id="{2C29DF53-653E-1BAC-A40A-E5FB3DF100E2}"/>
              </a:ext>
              <a:ext uri="{C183D7F6-B498-43B3-948B-1728B52AA6E4}">
                <adec:decorative xmlns:adec="http://schemas.microsoft.com/office/drawing/2017/decorative" val="1"/>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5968" r="1"/>
          <a:stretch/>
        </p:blipFill>
        <p:spPr bwMode="auto">
          <a:xfrm>
            <a:off x="3750073" y="1405543"/>
            <a:ext cx="4691854" cy="404691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a:extLst>
              <a:ext uri="{FF2B5EF4-FFF2-40B4-BE49-F238E27FC236}">
                <a16:creationId xmlns:a16="http://schemas.microsoft.com/office/drawing/2014/main" id="{1FBE6356-92C3-F795-FEFA-FD85AA9BDB8A}"/>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4047" r="24103"/>
          <a:stretch/>
        </p:blipFill>
        <p:spPr bwMode="auto">
          <a:xfrm>
            <a:off x="5815179" y="1405542"/>
            <a:ext cx="868310" cy="4046913"/>
          </a:xfrm>
          <a:prstGeom prst="rect">
            <a:avLst/>
          </a:prstGeom>
          <a:noFill/>
          <a:extLst>
            <a:ext uri="{909E8E84-426E-40DD-AFC4-6F175D3DCCD1}">
              <a14:hiddenFill xmlns:a14="http://schemas.microsoft.com/office/drawing/2010/main">
                <a:solidFill>
                  <a:srgbClr val="FFFFFF"/>
                </a:solidFill>
              </a14:hiddenFill>
            </a:ext>
          </a:extLst>
        </p:spPr>
      </p:pic>
      <p:sp>
        <p:nvSpPr>
          <p:cNvPr id="6" name="Rounded Rectangle 5">
            <a:extLst>
              <a:ext uri="{FF2B5EF4-FFF2-40B4-BE49-F238E27FC236}">
                <a16:creationId xmlns:a16="http://schemas.microsoft.com/office/drawing/2014/main" id="{6E85C647-92DD-4626-7035-1B19163D11F9}"/>
              </a:ext>
              <a:ext uri="{C183D7F6-B498-43B3-948B-1728B52AA6E4}">
                <adec:decorative xmlns:adec="http://schemas.microsoft.com/office/drawing/2017/decorative" val="1"/>
              </a:ext>
            </a:extLst>
          </p:cNvPr>
          <p:cNvSpPr/>
          <p:nvPr/>
        </p:nvSpPr>
        <p:spPr>
          <a:xfrm>
            <a:off x="9036424" y="1137958"/>
            <a:ext cx="2590800" cy="2849639"/>
          </a:xfrm>
          <a:prstGeom prst="round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7D2688E-8D37-CF30-0CEA-ABA4D5FE26BF}"/>
              </a:ext>
            </a:extLst>
          </p:cNvPr>
          <p:cNvSpPr txBox="1"/>
          <p:nvPr/>
        </p:nvSpPr>
        <p:spPr>
          <a:xfrm>
            <a:off x="457200" y="3692138"/>
            <a:ext cx="2590800" cy="1338828"/>
          </a:xfrm>
          <a:prstGeom prst="rect">
            <a:avLst/>
          </a:prstGeom>
          <a:noFill/>
        </p:spPr>
        <p:txBody>
          <a:bodyPr wrap="square" rtlCol="0">
            <a:spAutoFit/>
          </a:bodyPr>
          <a:lstStyle/>
          <a:p>
            <a:pPr algn="ctr">
              <a:spcAft>
                <a:spcPts val="600"/>
              </a:spcAft>
            </a:pPr>
            <a:r>
              <a:rPr lang="en-US" sz="2800" b="1" dirty="0" err="1"/>
              <a:t>amem</a:t>
            </a:r>
            <a:endParaRPr lang="en-US" sz="2800" b="1" dirty="0"/>
          </a:p>
          <a:p>
            <a:pPr algn="ctr"/>
            <a:r>
              <a:rPr lang="en-US" sz="2400" dirty="0"/>
              <a:t>High Memory CPU</a:t>
            </a:r>
          </a:p>
        </p:txBody>
      </p:sp>
      <p:sp>
        <p:nvSpPr>
          <p:cNvPr id="5" name="TextBox 4">
            <a:extLst>
              <a:ext uri="{FF2B5EF4-FFF2-40B4-BE49-F238E27FC236}">
                <a16:creationId xmlns:a16="http://schemas.microsoft.com/office/drawing/2014/main" id="{CDAA7216-D6BA-9BD2-32C3-7B5DC8A50E05}"/>
              </a:ext>
            </a:extLst>
          </p:cNvPr>
          <p:cNvSpPr txBox="1"/>
          <p:nvPr/>
        </p:nvSpPr>
        <p:spPr>
          <a:xfrm>
            <a:off x="9036424" y="1137958"/>
            <a:ext cx="2590800" cy="2693045"/>
          </a:xfrm>
          <a:prstGeom prst="rect">
            <a:avLst/>
          </a:prstGeom>
          <a:noFill/>
        </p:spPr>
        <p:txBody>
          <a:bodyPr wrap="square" rtlCol="0">
            <a:spAutoFit/>
          </a:bodyPr>
          <a:lstStyle/>
          <a:p>
            <a:pPr algn="ctr">
              <a:spcAft>
                <a:spcPts val="600"/>
              </a:spcAft>
            </a:pPr>
            <a:r>
              <a:rPr lang="en-US" sz="2800" b="1" dirty="0"/>
              <a:t>aa100</a:t>
            </a:r>
          </a:p>
          <a:p>
            <a:pPr algn="ctr">
              <a:spcAft>
                <a:spcPts val="600"/>
              </a:spcAft>
            </a:pPr>
            <a:r>
              <a:rPr lang="en-US" sz="2800" b="1" dirty="0"/>
              <a:t>al40</a:t>
            </a:r>
          </a:p>
          <a:p>
            <a:pPr algn="ctr">
              <a:spcAft>
                <a:spcPts val="600"/>
              </a:spcAft>
            </a:pPr>
            <a:r>
              <a:rPr lang="en-US" sz="2800" b="1" dirty="0"/>
              <a:t>ah200</a:t>
            </a:r>
          </a:p>
          <a:p>
            <a:pPr algn="ctr">
              <a:spcAft>
                <a:spcPts val="600"/>
              </a:spcAft>
            </a:pPr>
            <a:r>
              <a:rPr lang="en-US" sz="2800" b="1" dirty="0"/>
              <a:t>artxpro6000</a:t>
            </a:r>
          </a:p>
          <a:p>
            <a:pPr algn="ctr">
              <a:spcAft>
                <a:spcPts val="600"/>
              </a:spcAft>
            </a:pPr>
            <a:endParaRPr lang="en-US" sz="800" b="1" dirty="0"/>
          </a:p>
          <a:p>
            <a:pPr algn="ctr"/>
            <a:r>
              <a:rPr lang="en-US" sz="2400" dirty="0"/>
              <a:t>Nvidia GPUs</a:t>
            </a:r>
          </a:p>
        </p:txBody>
      </p:sp>
      <p:sp>
        <p:nvSpPr>
          <p:cNvPr id="7" name="Rounded Rectangle 6">
            <a:extLst>
              <a:ext uri="{FF2B5EF4-FFF2-40B4-BE49-F238E27FC236}">
                <a16:creationId xmlns:a16="http://schemas.microsoft.com/office/drawing/2014/main" id="{171053FE-8757-D3C8-0C37-AC96CACD2DCD}"/>
              </a:ext>
              <a:ext uri="{C183D7F6-B498-43B3-948B-1728B52AA6E4}">
                <adec:decorative xmlns:adec="http://schemas.microsoft.com/office/drawing/2017/decorative" val="1"/>
              </a:ext>
            </a:extLst>
          </p:cNvPr>
          <p:cNvSpPr/>
          <p:nvPr/>
        </p:nvSpPr>
        <p:spPr>
          <a:xfrm>
            <a:off x="457200" y="3605991"/>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 name="Google Shape;337;p32">
            <a:extLst>
              <a:ext uri="{FF2B5EF4-FFF2-40B4-BE49-F238E27FC236}">
                <a16:creationId xmlns:a16="http://schemas.microsoft.com/office/drawing/2014/main" id="{3AB5A099-FD35-ECC0-75B4-0C79F54F982D}"/>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21</a:t>
            </a:fld>
            <a:endParaRPr/>
          </a:p>
        </p:txBody>
      </p:sp>
    </p:spTree>
    <p:extLst>
      <p:ext uri="{BB962C8B-B14F-4D97-AF65-F5344CB8AC3E}">
        <p14:creationId xmlns:p14="http://schemas.microsoft.com/office/powerpoint/2010/main" val="4588271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69A8D0B7-E62C-9A89-6ED2-CF369D8E4EC0}"/>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781FE0DD-2F2F-B38E-5996-41801CDCD735}"/>
              </a:ext>
            </a:extLst>
          </p:cNvPr>
          <p:cNvSpPr txBox="1">
            <a:spLocks noGrp="1"/>
          </p:cNvSpPr>
          <p:nvPr>
            <p:ph type="title"/>
          </p:nvPr>
        </p:nvSpPr>
        <p:spPr>
          <a:xfrm>
            <a:off x="457200" y="-121365"/>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 – AMD GPUs</a:t>
            </a:r>
            <a:endParaRPr dirty="0"/>
          </a:p>
        </p:txBody>
      </p:sp>
      <p:sp>
        <p:nvSpPr>
          <p:cNvPr id="13" name="TextBox 12">
            <a:extLst>
              <a:ext uri="{FF2B5EF4-FFF2-40B4-BE49-F238E27FC236}">
                <a16:creationId xmlns:a16="http://schemas.microsoft.com/office/drawing/2014/main" id="{8A159802-B800-F03E-CB1E-52C845AB7B46}"/>
              </a:ext>
            </a:extLst>
          </p:cNvPr>
          <p:cNvSpPr txBox="1"/>
          <p:nvPr/>
        </p:nvSpPr>
        <p:spPr>
          <a:xfrm>
            <a:off x="457200" y="2092446"/>
            <a:ext cx="2590800" cy="1169551"/>
          </a:xfrm>
          <a:prstGeom prst="rect">
            <a:avLst/>
          </a:prstGeom>
          <a:noFill/>
        </p:spPr>
        <p:txBody>
          <a:bodyPr wrap="square" rtlCol="0">
            <a:spAutoFit/>
          </a:bodyPr>
          <a:lstStyle/>
          <a:p>
            <a:pPr algn="ctr">
              <a:spcAft>
                <a:spcPts val="600"/>
              </a:spcAft>
            </a:pPr>
            <a:r>
              <a:rPr lang="en-US" sz="2800" b="1" dirty="0" err="1"/>
              <a:t>acpu</a:t>
            </a:r>
            <a:endParaRPr lang="en-US" sz="2800" b="1" dirty="0"/>
          </a:p>
          <a:p>
            <a:pPr algn="ctr">
              <a:spcAft>
                <a:spcPts val="600"/>
              </a:spcAft>
            </a:pPr>
            <a:endParaRPr lang="en-US" sz="800" b="1" dirty="0"/>
          </a:p>
          <a:p>
            <a:pPr algn="ctr"/>
            <a:r>
              <a:rPr lang="en-US" sz="2400" dirty="0"/>
              <a:t>General CPU</a:t>
            </a:r>
          </a:p>
        </p:txBody>
      </p:sp>
      <p:sp>
        <p:nvSpPr>
          <p:cNvPr id="14" name="Rounded Rectangle 13">
            <a:extLst>
              <a:ext uri="{FF2B5EF4-FFF2-40B4-BE49-F238E27FC236}">
                <a16:creationId xmlns:a16="http://schemas.microsoft.com/office/drawing/2014/main" id="{F4AF8A3E-2720-16D0-C499-2353D3163FDD}"/>
              </a:ext>
              <a:ext uri="{C183D7F6-B498-43B3-948B-1728B52AA6E4}">
                <adec:decorative xmlns:adec="http://schemas.microsoft.com/office/drawing/2017/decorative" val="1"/>
              </a:ext>
            </a:extLst>
          </p:cNvPr>
          <p:cNvSpPr/>
          <p:nvPr/>
        </p:nvSpPr>
        <p:spPr>
          <a:xfrm>
            <a:off x="457200" y="1845674"/>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4">
            <a:extLst>
              <a:ext uri="{FF2B5EF4-FFF2-40B4-BE49-F238E27FC236}">
                <a16:creationId xmlns:a16="http://schemas.microsoft.com/office/drawing/2014/main" id="{E16FB7C0-0E1D-A232-FF0F-589BB28EC0EC}"/>
              </a:ext>
              <a:ext uri="{C183D7F6-B498-43B3-948B-1728B52AA6E4}">
                <adec:decorative xmlns:adec="http://schemas.microsoft.com/office/drawing/2017/decorative" val="1"/>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5968" r="1"/>
          <a:stretch/>
        </p:blipFill>
        <p:spPr bwMode="auto">
          <a:xfrm>
            <a:off x="3715215" y="1405543"/>
            <a:ext cx="4691854" cy="404691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EB08938C-C5B3-8D2A-89C4-52115E7E99BF}"/>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5862" r="2"/>
          <a:stretch/>
        </p:blipFill>
        <p:spPr bwMode="auto">
          <a:xfrm>
            <a:off x="6638445" y="1405543"/>
            <a:ext cx="1768624" cy="4046913"/>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BF99D89E-03FF-3F17-B5E0-EF5494B79C58}"/>
              </a:ext>
              <a:ext uri="{C183D7F6-B498-43B3-948B-1728B52AA6E4}">
                <adec:decorative xmlns:adec="http://schemas.microsoft.com/office/drawing/2017/decorative" val="1"/>
              </a:ext>
            </a:extLst>
          </p:cNvPr>
          <p:cNvSpPr/>
          <p:nvPr/>
        </p:nvSpPr>
        <p:spPr>
          <a:xfrm>
            <a:off x="9036424" y="1137958"/>
            <a:ext cx="2590800" cy="2849639"/>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B2FC800-929A-9CC5-C62A-B71794F7B253}"/>
              </a:ext>
            </a:extLst>
          </p:cNvPr>
          <p:cNvSpPr txBox="1"/>
          <p:nvPr/>
        </p:nvSpPr>
        <p:spPr>
          <a:xfrm>
            <a:off x="457200" y="3692138"/>
            <a:ext cx="2590800" cy="1338828"/>
          </a:xfrm>
          <a:prstGeom prst="rect">
            <a:avLst/>
          </a:prstGeom>
          <a:noFill/>
        </p:spPr>
        <p:txBody>
          <a:bodyPr wrap="square" rtlCol="0">
            <a:spAutoFit/>
          </a:bodyPr>
          <a:lstStyle/>
          <a:p>
            <a:pPr algn="ctr">
              <a:spcAft>
                <a:spcPts val="600"/>
              </a:spcAft>
            </a:pPr>
            <a:r>
              <a:rPr lang="en-US" sz="2800" b="1" dirty="0" err="1"/>
              <a:t>amem</a:t>
            </a:r>
            <a:endParaRPr lang="en-US" sz="2800" b="1" dirty="0"/>
          </a:p>
          <a:p>
            <a:pPr algn="ctr"/>
            <a:r>
              <a:rPr lang="en-US" sz="2400" dirty="0"/>
              <a:t>High Memory CPU</a:t>
            </a:r>
          </a:p>
        </p:txBody>
      </p:sp>
      <p:sp>
        <p:nvSpPr>
          <p:cNvPr id="20" name="TextBox 19">
            <a:extLst>
              <a:ext uri="{FF2B5EF4-FFF2-40B4-BE49-F238E27FC236}">
                <a16:creationId xmlns:a16="http://schemas.microsoft.com/office/drawing/2014/main" id="{FAF8C06C-F808-2A89-69FF-0B0CECD94420}"/>
              </a:ext>
            </a:extLst>
          </p:cNvPr>
          <p:cNvSpPr txBox="1"/>
          <p:nvPr/>
        </p:nvSpPr>
        <p:spPr>
          <a:xfrm>
            <a:off x="9036424" y="1137958"/>
            <a:ext cx="2590800" cy="2693045"/>
          </a:xfrm>
          <a:prstGeom prst="rect">
            <a:avLst/>
          </a:prstGeom>
          <a:noFill/>
        </p:spPr>
        <p:txBody>
          <a:bodyPr wrap="square" rtlCol="0">
            <a:spAutoFit/>
          </a:bodyPr>
          <a:lstStyle/>
          <a:p>
            <a:pPr algn="ctr">
              <a:spcAft>
                <a:spcPts val="600"/>
              </a:spcAft>
            </a:pPr>
            <a:r>
              <a:rPr lang="en-US" sz="2800" b="1" dirty="0"/>
              <a:t>aa100</a:t>
            </a:r>
          </a:p>
          <a:p>
            <a:pPr algn="ctr">
              <a:spcAft>
                <a:spcPts val="600"/>
              </a:spcAft>
            </a:pPr>
            <a:r>
              <a:rPr lang="en-US" sz="2800" b="1" dirty="0"/>
              <a:t>al40</a:t>
            </a:r>
          </a:p>
          <a:p>
            <a:pPr algn="ctr">
              <a:spcAft>
                <a:spcPts val="600"/>
              </a:spcAft>
            </a:pPr>
            <a:r>
              <a:rPr lang="en-US" sz="2800" b="1" dirty="0"/>
              <a:t>ah200</a:t>
            </a:r>
          </a:p>
          <a:p>
            <a:pPr algn="ctr">
              <a:spcAft>
                <a:spcPts val="600"/>
              </a:spcAft>
            </a:pPr>
            <a:r>
              <a:rPr lang="en-US" sz="2800" b="1" dirty="0"/>
              <a:t>artxpro6000</a:t>
            </a:r>
          </a:p>
          <a:p>
            <a:pPr algn="ctr">
              <a:spcAft>
                <a:spcPts val="600"/>
              </a:spcAft>
            </a:pPr>
            <a:endParaRPr lang="en-US" sz="800" b="1" dirty="0"/>
          </a:p>
          <a:p>
            <a:pPr algn="ctr"/>
            <a:r>
              <a:rPr lang="en-US" sz="2400" dirty="0"/>
              <a:t>Nvidia GPUs</a:t>
            </a:r>
          </a:p>
        </p:txBody>
      </p:sp>
      <p:sp>
        <p:nvSpPr>
          <p:cNvPr id="8" name="Rounded Rectangle 7">
            <a:extLst>
              <a:ext uri="{FF2B5EF4-FFF2-40B4-BE49-F238E27FC236}">
                <a16:creationId xmlns:a16="http://schemas.microsoft.com/office/drawing/2014/main" id="{EFE4D590-5236-5369-0694-9D7225B56114}"/>
              </a:ext>
              <a:ext uri="{C183D7F6-B498-43B3-948B-1728B52AA6E4}">
                <adec:decorative xmlns:adec="http://schemas.microsoft.com/office/drawing/2017/decorative" val="1"/>
              </a:ext>
            </a:extLst>
          </p:cNvPr>
          <p:cNvSpPr/>
          <p:nvPr/>
        </p:nvSpPr>
        <p:spPr>
          <a:xfrm>
            <a:off x="457200" y="3605991"/>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2A03D932-8DC9-50A2-F9AC-801EFA96CC08}"/>
              </a:ext>
              <a:ext uri="{C183D7F6-B498-43B3-948B-1728B52AA6E4}">
                <adec:decorative xmlns:adec="http://schemas.microsoft.com/office/drawing/2017/decorative" val="1"/>
              </a:ext>
            </a:extLst>
          </p:cNvPr>
          <p:cNvSpPr/>
          <p:nvPr/>
        </p:nvSpPr>
        <p:spPr>
          <a:xfrm>
            <a:off x="9036424" y="4257002"/>
            <a:ext cx="2590800" cy="1463040"/>
          </a:xfrm>
          <a:prstGeom prst="round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A2E2EE0-5C2F-FCC9-6F4E-DEBD550F2BFF}"/>
              </a:ext>
            </a:extLst>
          </p:cNvPr>
          <p:cNvSpPr txBox="1"/>
          <p:nvPr/>
        </p:nvSpPr>
        <p:spPr>
          <a:xfrm>
            <a:off x="9036424" y="4503774"/>
            <a:ext cx="2590800" cy="1169551"/>
          </a:xfrm>
          <a:prstGeom prst="rect">
            <a:avLst/>
          </a:prstGeom>
          <a:noFill/>
        </p:spPr>
        <p:txBody>
          <a:bodyPr wrap="square" rtlCol="0">
            <a:spAutoFit/>
          </a:bodyPr>
          <a:lstStyle/>
          <a:p>
            <a:pPr algn="ctr">
              <a:spcAft>
                <a:spcPts val="600"/>
              </a:spcAft>
            </a:pPr>
            <a:r>
              <a:rPr lang="en-US" sz="2800" b="1" dirty="0"/>
              <a:t>ami100</a:t>
            </a:r>
          </a:p>
          <a:p>
            <a:pPr algn="ctr">
              <a:spcAft>
                <a:spcPts val="600"/>
              </a:spcAft>
            </a:pPr>
            <a:endParaRPr lang="en-US" sz="800" b="1" dirty="0"/>
          </a:p>
          <a:p>
            <a:pPr algn="ctr"/>
            <a:r>
              <a:rPr lang="en-US" sz="2400" dirty="0"/>
              <a:t>AMD GPUs</a:t>
            </a:r>
          </a:p>
        </p:txBody>
      </p:sp>
      <p:sp>
        <p:nvSpPr>
          <p:cNvPr id="337" name="Google Shape;337;p32">
            <a:extLst>
              <a:ext uri="{FF2B5EF4-FFF2-40B4-BE49-F238E27FC236}">
                <a16:creationId xmlns:a16="http://schemas.microsoft.com/office/drawing/2014/main" id="{B1E5D66B-D824-5714-CCCF-038F4345FA4B}"/>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22</a:t>
            </a:fld>
            <a:endParaRPr/>
          </a:p>
        </p:txBody>
      </p:sp>
    </p:spTree>
    <p:extLst>
      <p:ext uri="{BB962C8B-B14F-4D97-AF65-F5344CB8AC3E}">
        <p14:creationId xmlns:p14="http://schemas.microsoft.com/office/powerpoint/2010/main" val="8772260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BBDCE-2DDB-FCB0-B97F-3E51A17E94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71BD7D-8C6B-C869-725A-56A552C7D963}"/>
              </a:ext>
            </a:extLst>
          </p:cNvPr>
          <p:cNvSpPr>
            <a:spLocks noGrp="1"/>
          </p:cNvSpPr>
          <p:nvPr>
            <p:ph type="title"/>
          </p:nvPr>
        </p:nvSpPr>
        <p:spPr>
          <a:xfrm>
            <a:off x="838200" y="0"/>
            <a:ext cx="10515600" cy="1325563"/>
          </a:xfrm>
        </p:spPr>
        <p:txBody>
          <a:bodyPr/>
          <a:lstStyle/>
          <a:p>
            <a:r>
              <a:rPr lang="en-US" dirty="0">
                <a:sym typeface="Helvetica Neue Light"/>
              </a:rPr>
              <a:t>Alpine Testing Resources</a:t>
            </a:r>
            <a:endParaRPr lang="en-US" dirty="0"/>
          </a:p>
        </p:txBody>
      </p:sp>
      <p:sp>
        <p:nvSpPr>
          <p:cNvPr id="3" name="Content Placeholder 2">
            <a:extLst>
              <a:ext uri="{FF2B5EF4-FFF2-40B4-BE49-F238E27FC236}">
                <a16:creationId xmlns:a16="http://schemas.microsoft.com/office/drawing/2014/main" id="{04B4D015-7FE1-32C8-51E1-16EF984649EB}"/>
              </a:ext>
            </a:extLst>
          </p:cNvPr>
          <p:cNvSpPr>
            <a:spLocks noGrp="1"/>
          </p:cNvSpPr>
          <p:nvPr>
            <p:ph idx="1"/>
          </p:nvPr>
        </p:nvSpPr>
        <p:spPr>
          <a:xfrm>
            <a:off x="741091" y="1475759"/>
            <a:ext cx="10709817" cy="4352612"/>
          </a:xfrm>
        </p:spPr>
        <p:txBody>
          <a:bodyPr>
            <a:normAutofit lnSpcReduction="10000"/>
          </a:bodyPr>
          <a:lstStyle/>
          <a:p>
            <a:r>
              <a:rPr lang="en-US" sz="2400" dirty="0"/>
              <a:t>For several of the different types of hardware, we provide testing resources. These resources enable quicker access. </a:t>
            </a:r>
          </a:p>
          <a:p>
            <a:pPr lvl="1"/>
            <a:r>
              <a:rPr lang="en-US" sz="2200" dirty="0"/>
              <a:t>There are restrictions on the amount of resources you can request</a:t>
            </a:r>
          </a:p>
          <a:p>
            <a:r>
              <a:rPr lang="en-US" sz="2400" dirty="0"/>
              <a:t>Access to testing resources is enabled through a combination of partition and QoS selection</a:t>
            </a:r>
          </a:p>
          <a:p>
            <a:r>
              <a:rPr lang="en-US" sz="2400" dirty="0"/>
              <a:t>Available testing resources:</a:t>
            </a:r>
          </a:p>
          <a:p>
            <a:pPr lvl="1"/>
            <a:r>
              <a:rPr lang="en-US" sz="2200" dirty="0"/>
              <a:t>Standard CPUs</a:t>
            </a:r>
          </a:p>
          <a:p>
            <a:pPr lvl="1"/>
            <a:r>
              <a:rPr lang="en-US" sz="2200" dirty="0"/>
              <a:t>Compute nodes for verifying parallel applications</a:t>
            </a:r>
          </a:p>
          <a:p>
            <a:pPr lvl="1"/>
            <a:r>
              <a:rPr lang="en-US" sz="2200" dirty="0"/>
              <a:t>NVIDIA A100 and AMD MI100 GPUs</a:t>
            </a:r>
          </a:p>
          <a:p>
            <a:pPr lvl="1"/>
            <a:endParaRPr lang="en-US" sz="2200" dirty="0"/>
          </a:p>
          <a:p>
            <a:pPr marL="0" indent="0">
              <a:buNone/>
            </a:pPr>
            <a:r>
              <a:rPr lang="en-US" sz="2400" dirty="0"/>
              <a:t>For more information see: </a:t>
            </a:r>
            <a:r>
              <a:rPr lang="en-US" sz="2400" dirty="0" err="1">
                <a:solidFill>
                  <a:srgbClr val="0563C1"/>
                </a:solidFill>
                <a:cs typeface="Arial"/>
              </a:rPr>
              <a:t>curc.readthedocs.io</a:t>
            </a:r>
            <a:r>
              <a:rPr lang="en-US" sz="2400" dirty="0">
                <a:solidFill>
                  <a:srgbClr val="0563C1"/>
                </a:solidFill>
                <a:cs typeface="Arial"/>
              </a:rPr>
              <a:t>/</a:t>
            </a:r>
            <a:r>
              <a:rPr lang="en-US" sz="2400" dirty="0" err="1">
                <a:solidFill>
                  <a:srgbClr val="0563C1"/>
                </a:solidFill>
                <a:cs typeface="Arial"/>
              </a:rPr>
              <a:t>en</a:t>
            </a:r>
            <a:r>
              <a:rPr lang="en-US" sz="2400" dirty="0">
                <a:solidFill>
                  <a:srgbClr val="0563C1"/>
                </a:solidFill>
                <a:cs typeface="Arial"/>
              </a:rPr>
              <a:t>/latest/clusters/alpine/</a:t>
            </a:r>
            <a:r>
              <a:rPr lang="en-US" sz="2400" dirty="0" err="1">
                <a:solidFill>
                  <a:srgbClr val="0563C1"/>
                </a:solidFill>
                <a:cs typeface="Arial"/>
              </a:rPr>
              <a:t>alpine-hardware.html#special-purpose-resources</a:t>
            </a:r>
            <a:endParaRPr lang="en-US" sz="2400" dirty="0">
              <a:solidFill>
                <a:srgbClr val="0563C1"/>
              </a:solidFill>
              <a:cs typeface="Arial"/>
            </a:endParaRPr>
          </a:p>
        </p:txBody>
      </p:sp>
      <p:sp>
        <p:nvSpPr>
          <p:cNvPr id="5" name="Slide Number Placeholder 4">
            <a:extLst>
              <a:ext uri="{FF2B5EF4-FFF2-40B4-BE49-F238E27FC236}">
                <a16:creationId xmlns:a16="http://schemas.microsoft.com/office/drawing/2014/main" id="{47542292-AE93-4C7C-B4A7-CB94AB224F06}"/>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23</a:t>
            </a:fld>
            <a:endParaRPr lang="en-US"/>
          </a:p>
        </p:txBody>
      </p:sp>
    </p:spTree>
    <p:extLst>
      <p:ext uri="{BB962C8B-B14F-4D97-AF65-F5344CB8AC3E}">
        <p14:creationId xmlns:p14="http://schemas.microsoft.com/office/powerpoint/2010/main" val="467849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0595E-DAE0-1FDA-14E2-05C6077BF5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7812F8-AA17-772E-6677-CA2417C80F13}"/>
              </a:ext>
            </a:extLst>
          </p:cNvPr>
          <p:cNvSpPr>
            <a:spLocks noGrp="1"/>
          </p:cNvSpPr>
          <p:nvPr>
            <p:ph type="title"/>
          </p:nvPr>
        </p:nvSpPr>
        <p:spPr>
          <a:xfrm>
            <a:off x="838200" y="71876"/>
            <a:ext cx="10515600" cy="1325563"/>
          </a:xfrm>
        </p:spPr>
        <p:txBody>
          <a:bodyPr/>
          <a:lstStyle/>
          <a:p>
            <a:r>
              <a:rPr lang="en-US" dirty="0">
                <a:sym typeface="Helvetica Neue Light"/>
              </a:rPr>
              <a:t>Quality of Service (QoS)</a:t>
            </a:r>
            <a:endParaRPr lang="en-US" dirty="0"/>
          </a:p>
        </p:txBody>
      </p:sp>
      <p:sp>
        <p:nvSpPr>
          <p:cNvPr id="3" name="Content Placeholder 2">
            <a:extLst>
              <a:ext uri="{FF2B5EF4-FFF2-40B4-BE49-F238E27FC236}">
                <a16:creationId xmlns:a16="http://schemas.microsoft.com/office/drawing/2014/main" id="{37F5FA2D-5A9C-64E5-1818-836200581501}"/>
              </a:ext>
            </a:extLst>
          </p:cNvPr>
          <p:cNvSpPr>
            <a:spLocks noGrp="1"/>
          </p:cNvSpPr>
          <p:nvPr>
            <p:ph idx="1"/>
          </p:nvPr>
        </p:nvSpPr>
        <p:spPr>
          <a:xfrm>
            <a:off x="838200" y="1623016"/>
            <a:ext cx="10515600" cy="4336082"/>
          </a:xfrm>
        </p:spPr>
        <p:txBody>
          <a:bodyPr>
            <a:normAutofit/>
          </a:bodyPr>
          <a:lstStyle/>
          <a:p>
            <a:r>
              <a:rPr lang="en-US" dirty="0">
                <a:solidFill>
                  <a:srgbClr val="2F2B20"/>
                </a:solidFill>
                <a:latin typeface="Arial"/>
                <a:ea typeface="Arial"/>
                <a:cs typeface="Arial"/>
                <a:sym typeface="Arial"/>
              </a:rPr>
              <a:t>A QoS enables us to specify additional constraints for a given partition</a:t>
            </a:r>
          </a:p>
          <a:p>
            <a:r>
              <a:rPr lang="en-US" dirty="0">
                <a:solidFill>
                  <a:srgbClr val="2F2B20"/>
                </a:solidFill>
                <a:latin typeface="Arial"/>
                <a:cs typeface="Arial"/>
                <a:sym typeface="Arial"/>
              </a:rPr>
              <a:t>On Alpine, a QoS can be used to run:</a:t>
            </a:r>
          </a:p>
          <a:p>
            <a:pPr lvl="1"/>
            <a:r>
              <a:rPr lang="en-US" dirty="0">
                <a:solidFill>
                  <a:srgbClr val="2F2B20"/>
                </a:solidFill>
                <a:latin typeface="Arial"/>
                <a:cs typeface="Arial"/>
                <a:sym typeface="Arial"/>
              </a:rPr>
              <a:t>Long jobs (&gt; 24 hours)</a:t>
            </a:r>
          </a:p>
          <a:p>
            <a:pPr lvl="1"/>
            <a:r>
              <a:rPr lang="en-US" dirty="0">
                <a:solidFill>
                  <a:srgbClr val="2F2B20"/>
                </a:solidFill>
                <a:latin typeface="Arial"/>
                <a:cs typeface="Arial"/>
                <a:sym typeface="Arial"/>
              </a:rPr>
              <a:t>Specify testing/compile resources</a:t>
            </a:r>
          </a:p>
          <a:p>
            <a:r>
              <a:rPr lang="en-US" dirty="0">
                <a:solidFill>
                  <a:srgbClr val="2F2B20"/>
                </a:solidFill>
                <a:latin typeface="Arial"/>
                <a:cs typeface="Arial"/>
                <a:sym typeface="Arial"/>
              </a:rPr>
              <a:t>A QoS can also set limits on the number of active jobs and resources consumed, which enables us to</a:t>
            </a:r>
          </a:p>
          <a:p>
            <a:pPr lvl="1"/>
            <a:r>
              <a:rPr lang="en-US" dirty="0">
                <a:solidFill>
                  <a:srgbClr val="2F2B20"/>
                </a:solidFill>
                <a:latin typeface="Arial"/>
                <a:cs typeface="Arial"/>
                <a:sym typeface="Arial"/>
              </a:rPr>
              <a:t>Provide more resources to 24-hour jobs and less to longer jobs</a:t>
            </a:r>
          </a:p>
          <a:p>
            <a:pPr lvl="1"/>
            <a:r>
              <a:rPr lang="en-US" dirty="0">
                <a:solidFill>
                  <a:srgbClr val="2F2B20"/>
                </a:solidFill>
                <a:latin typeface="Arial"/>
                <a:cs typeface="Arial"/>
                <a:sym typeface="Arial"/>
              </a:rPr>
              <a:t>Limits the number of Jobs per user to provide a more equitable system</a:t>
            </a:r>
          </a:p>
          <a:p>
            <a:pPr lvl="1"/>
            <a:endParaRPr lang="en-US" dirty="0">
              <a:solidFill>
                <a:srgbClr val="2F2B20"/>
              </a:solidFill>
              <a:latin typeface="Arial"/>
              <a:cs typeface="Arial"/>
              <a:sym typeface="Arial"/>
            </a:endParaRPr>
          </a:p>
        </p:txBody>
      </p:sp>
      <p:sp>
        <p:nvSpPr>
          <p:cNvPr id="5" name="Slide Number Placeholder 4">
            <a:extLst>
              <a:ext uri="{FF2B5EF4-FFF2-40B4-BE49-F238E27FC236}">
                <a16:creationId xmlns:a16="http://schemas.microsoft.com/office/drawing/2014/main" id="{0FC1E9F5-4FCC-4A61-BE94-0E8FBFCCF4CB}"/>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24</a:t>
            </a:fld>
            <a:endParaRPr lang="en-US"/>
          </a:p>
        </p:txBody>
      </p:sp>
    </p:spTree>
    <p:extLst>
      <p:ext uri="{BB962C8B-B14F-4D97-AF65-F5344CB8AC3E}">
        <p14:creationId xmlns:p14="http://schemas.microsoft.com/office/powerpoint/2010/main" val="5613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FC074-960F-146F-3D25-AB73FC2E07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AF283B-6EC3-CDE0-A3BE-03BD7178CAE1}"/>
              </a:ext>
            </a:extLst>
          </p:cNvPr>
          <p:cNvSpPr>
            <a:spLocks noGrp="1"/>
          </p:cNvSpPr>
          <p:nvPr>
            <p:ph type="title"/>
          </p:nvPr>
        </p:nvSpPr>
        <p:spPr>
          <a:xfrm>
            <a:off x="838200" y="0"/>
            <a:ext cx="10515600" cy="1325563"/>
          </a:xfrm>
        </p:spPr>
        <p:txBody>
          <a:bodyPr/>
          <a:lstStyle/>
          <a:p>
            <a:r>
              <a:rPr lang="en-US" dirty="0">
                <a:sym typeface="Helvetica Neue Light"/>
              </a:rPr>
              <a:t>Quality of Service (QoS) Examples</a:t>
            </a:r>
            <a:endParaRPr lang="en-US" dirty="0"/>
          </a:p>
        </p:txBody>
      </p:sp>
      <p:graphicFrame>
        <p:nvGraphicFramePr>
          <p:cNvPr id="6" name="Google Shape;457;p47">
            <a:extLst>
              <a:ext uri="{FF2B5EF4-FFF2-40B4-BE49-F238E27FC236}">
                <a16:creationId xmlns:a16="http://schemas.microsoft.com/office/drawing/2014/main" id="{9593BE08-AFAB-F86D-0EB3-B8E8213F8C92}"/>
              </a:ext>
            </a:extLst>
          </p:cNvPr>
          <p:cNvGraphicFramePr/>
          <p:nvPr>
            <p:extLst>
              <p:ext uri="{D42A27DB-BD31-4B8C-83A1-F6EECF244321}">
                <p14:modId xmlns:p14="http://schemas.microsoft.com/office/powerpoint/2010/main" val="3549760401"/>
              </p:ext>
            </p:extLst>
          </p:nvPr>
        </p:nvGraphicFramePr>
        <p:xfrm>
          <a:off x="737461" y="1498178"/>
          <a:ext cx="10832022" cy="3260400"/>
        </p:xfrm>
        <a:graphic>
          <a:graphicData uri="http://schemas.openxmlformats.org/drawingml/2006/table">
            <a:tbl>
              <a:tblPr firstRow="1">
                <a:noFill/>
              </a:tblPr>
              <a:tblGrid>
                <a:gridCol w="1404417">
                  <a:extLst>
                    <a:ext uri="{9D8B030D-6E8A-4147-A177-3AD203B41FA5}">
                      <a16:colId xmlns:a16="http://schemas.microsoft.com/office/drawing/2014/main" val="20000"/>
                    </a:ext>
                  </a:extLst>
                </a:gridCol>
                <a:gridCol w="2991803">
                  <a:extLst>
                    <a:ext uri="{9D8B030D-6E8A-4147-A177-3AD203B41FA5}">
                      <a16:colId xmlns:a16="http://schemas.microsoft.com/office/drawing/2014/main" val="20001"/>
                    </a:ext>
                  </a:extLst>
                </a:gridCol>
                <a:gridCol w="1910898">
                  <a:extLst>
                    <a:ext uri="{9D8B030D-6E8A-4147-A177-3AD203B41FA5}">
                      <a16:colId xmlns:a16="http://schemas.microsoft.com/office/drawing/2014/main" val="20002"/>
                    </a:ext>
                  </a:extLst>
                </a:gridCol>
                <a:gridCol w="2079440">
                  <a:extLst>
                    <a:ext uri="{9D8B030D-6E8A-4147-A177-3AD203B41FA5}">
                      <a16:colId xmlns:a16="http://schemas.microsoft.com/office/drawing/2014/main" val="20003"/>
                    </a:ext>
                  </a:extLst>
                </a:gridCol>
                <a:gridCol w="2445464">
                  <a:extLst>
                    <a:ext uri="{9D8B030D-6E8A-4147-A177-3AD203B41FA5}">
                      <a16:colId xmlns:a16="http://schemas.microsoft.com/office/drawing/2014/main" val="20004"/>
                    </a:ext>
                  </a:extLst>
                </a:gridCol>
              </a:tblGrid>
              <a:tr h="356165">
                <a:tc>
                  <a:txBody>
                    <a:bodyPr/>
                    <a:lstStyle/>
                    <a:p>
                      <a:pPr marL="0" marR="0" lvl="0" indent="0" algn="l" rtl="0">
                        <a:spcBef>
                          <a:spcPts val="0"/>
                        </a:spcBef>
                        <a:spcAft>
                          <a:spcPts val="0"/>
                        </a:spcAft>
                        <a:buNone/>
                      </a:pPr>
                      <a:r>
                        <a:rPr lang="en-US" sz="1800" b="1" i="0" u="none" strike="noStrike" cap="none" dirty="0">
                          <a:solidFill>
                            <a:srgbClr val="000000"/>
                          </a:solidFill>
                          <a:latin typeface="Arial"/>
                          <a:ea typeface="Arial"/>
                          <a:cs typeface="Arial"/>
                          <a:sym typeface="Arial"/>
                        </a:rPr>
                        <a:t>QoS</a:t>
                      </a:r>
                      <a:endParaRPr sz="1800" b="1"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a:solidFill>
                            <a:srgbClr val="000000"/>
                          </a:solidFill>
                          <a:latin typeface="Arial"/>
                          <a:ea typeface="Arial"/>
                          <a:cs typeface="Arial"/>
                          <a:sym typeface="Arial"/>
                        </a:rPr>
                        <a:t>Description</a:t>
                      </a:r>
                      <a:endParaRPr sz="1800" b="1" u="none" strike="noStrike" cap="none">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a:solidFill>
                            <a:srgbClr val="000000"/>
                          </a:solidFill>
                          <a:latin typeface="Arial"/>
                          <a:ea typeface="Arial"/>
                          <a:cs typeface="Arial"/>
                          <a:sym typeface="Arial"/>
                        </a:rPr>
                        <a:t>Max wall time</a:t>
                      </a:r>
                      <a:endParaRPr sz="1800" b="1" u="none" strike="noStrike" cap="none">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a:solidFill>
                            <a:srgbClr val="000000"/>
                          </a:solidFill>
                          <a:latin typeface="Arial"/>
                          <a:ea typeface="Arial"/>
                          <a:cs typeface="Arial"/>
                          <a:sym typeface="Arial"/>
                        </a:rPr>
                        <a:t>Max jobs/user</a:t>
                      </a:r>
                      <a:endParaRPr sz="1800" b="1" u="none" strike="noStrike" cap="none">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dirty="0">
                          <a:solidFill>
                            <a:srgbClr val="000000"/>
                          </a:solidFill>
                          <a:latin typeface="Arial"/>
                          <a:ea typeface="Arial"/>
                          <a:cs typeface="Arial"/>
                          <a:sym typeface="Arial"/>
                        </a:rPr>
                        <a:t>Max hardware/user</a:t>
                      </a:r>
                      <a:endParaRPr sz="1800" b="1"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356165">
                <a:tc>
                  <a:txBody>
                    <a:bodyPr/>
                    <a:lstStyle/>
                    <a:p>
                      <a:pPr marL="0" marR="0" lvl="0" indent="0" algn="l" rtl="0">
                        <a:spcBef>
                          <a:spcPts val="0"/>
                        </a:spcBef>
                        <a:spcAft>
                          <a:spcPts val="0"/>
                        </a:spcAft>
                        <a:buNone/>
                      </a:pPr>
                      <a:r>
                        <a:rPr lang="en-US" sz="1800" b="0" i="0" u="none" strike="noStrike" cap="none" dirty="0" err="1">
                          <a:solidFill>
                            <a:srgbClr val="000000"/>
                          </a:solidFill>
                          <a:latin typeface="Arial"/>
                          <a:ea typeface="Arial"/>
                          <a:cs typeface="Arial"/>
                          <a:sym typeface="Arial"/>
                        </a:rPr>
                        <a:t>cpu</a:t>
                      </a:r>
                      <a:r>
                        <a:rPr lang="en-US" sz="1800" b="0" i="0" u="none" strike="noStrike" cap="none" dirty="0">
                          <a:solidFill>
                            <a:srgbClr val="000000"/>
                          </a:solidFill>
                          <a:latin typeface="Arial"/>
                          <a:ea typeface="Arial"/>
                          <a:cs typeface="Arial"/>
                          <a:sym typeface="Arial"/>
                        </a:rPr>
                        <a:t>-normal</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24-hour QoS for </a:t>
                      </a:r>
                      <a:r>
                        <a:rPr lang="en-US" sz="1800" b="0" i="0" u="none" strike="noStrike" cap="none" dirty="0" err="1">
                          <a:solidFill>
                            <a:srgbClr val="000000"/>
                          </a:solidFill>
                          <a:latin typeface="Arial"/>
                          <a:ea typeface="Arial"/>
                          <a:cs typeface="Arial"/>
                          <a:sym typeface="Arial"/>
                        </a:rPr>
                        <a:t>acpu</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24 hours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1000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128 nodes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627172">
                <a:tc>
                  <a:txBody>
                    <a:bodyPr/>
                    <a:lstStyle/>
                    <a:p>
                      <a:pPr marL="0" marR="0" lvl="0" indent="0" algn="l" rtl="0">
                        <a:spcBef>
                          <a:spcPts val="0"/>
                        </a:spcBef>
                        <a:spcAft>
                          <a:spcPts val="0"/>
                        </a:spcAft>
                        <a:buNone/>
                      </a:pPr>
                      <a:r>
                        <a:rPr lang="en-US" sz="1800" b="0" i="0" u="none" strike="noStrike" cap="none" dirty="0" err="1">
                          <a:solidFill>
                            <a:srgbClr val="000000"/>
                          </a:solidFill>
                          <a:latin typeface="Arial"/>
                          <a:ea typeface="Arial"/>
                          <a:cs typeface="Arial"/>
                          <a:sym typeface="Arial"/>
                        </a:rPr>
                        <a:t>cpu</a:t>
                      </a:r>
                      <a:r>
                        <a:rPr lang="en-US" sz="1800" b="0" i="0" u="none" strike="noStrike" cap="none" dirty="0">
                          <a:solidFill>
                            <a:srgbClr val="000000"/>
                          </a:solidFill>
                          <a:latin typeface="Arial"/>
                          <a:ea typeface="Arial"/>
                          <a:cs typeface="Arial"/>
                          <a:sym typeface="Arial"/>
                        </a:rPr>
                        <a:t>-long</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For </a:t>
                      </a:r>
                      <a:r>
                        <a:rPr lang="en-US" sz="1800" b="0" i="0" u="none" strike="noStrike" cap="none" dirty="0" err="1">
                          <a:solidFill>
                            <a:srgbClr val="000000"/>
                          </a:solidFill>
                          <a:latin typeface="Arial"/>
                          <a:ea typeface="Arial"/>
                          <a:cs typeface="Arial"/>
                          <a:sym typeface="Arial"/>
                        </a:rPr>
                        <a:t>acpu</a:t>
                      </a:r>
                      <a:r>
                        <a:rPr lang="en-US" sz="1800" b="0" i="0" u="none" strike="noStrike" cap="none" dirty="0">
                          <a:solidFill>
                            <a:srgbClr val="000000"/>
                          </a:solidFill>
                          <a:latin typeface="Arial"/>
                          <a:ea typeface="Arial"/>
                          <a:cs typeface="Arial"/>
                          <a:sym typeface="Arial"/>
                        </a:rPr>
                        <a:t> jobs needing longer wall times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7 days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200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20 nodes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456728">
                <a:tc>
                  <a:txBody>
                    <a:bodyPr/>
                    <a:lstStyle/>
                    <a:p>
                      <a:pPr marL="0" marR="0" lvl="0" indent="0" algn="l" rtl="0">
                        <a:spcBef>
                          <a:spcPts val="0"/>
                        </a:spcBef>
                        <a:spcAft>
                          <a:spcPts val="0"/>
                        </a:spcAft>
                        <a:buNone/>
                      </a:pPr>
                      <a:r>
                        <a:rPr lang="en-US" sz="1800" u="none" strike="noStrike" cap="none" dirty="0" err="1">
                          <a:latin typeface="Arial"/>
                          <a:ea typeface="Arial"/>
                          <a:cs typeface="Arial"/>
                          <a:sym typeface="Arial"/>
                        </a:rPr>
                        <a:t>gpu</a:t>
                      </a:r>
                      <a:r>
                        <a:rPr lang="en-US" sz="1800" u="none" strike="noStrike" cap="none" dirty="0">
                          <a:latin typeface="Arial"/>
                          <a:ea typeface="Arial"/>
                          <a:cs typeface="Arial"/>
                          <a:sym typeface="Arial"/>
                        </a:rPr>
                        <a:t>-normal</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24-hour QoS for GPU partitions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24 hours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1000</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Constraints set per GPU type</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12279699"/>
                  </a:ext>
                </a:extLst>
              </a:tr>
              <a:tr h="627172">
                <a:tc>
                  <a:txBody>
                    <a:bodyPr/>
                    <a:lstStyle/>
                    <a:p>
                      <a:pPr marL="0" marR="0" lvl="0" indent="0" algn="l" rtl="0">
                        <a:spcBef>
                          <a:spcPts val="0"/>
                        </a:spcBef>
                        <a:spcAft>
                          <a:spcPts val="0"/>
                        </a:spcAft>
                        <a:buNone/>
                      </a:pPr>
                      <a:r>
                        <a:rPr lang="en-US" sz="1800" u="none" strike="noStrike" cap="none" dirty="0" err="1">
                          <a:latin typeface="Arial"/>
                          <a:ea typeface="Arial"/>
                          <a:cs typeface="Arial"/>
                          <a:sym typeface="Arial"/>
                        </a:rPr>
                        <a:t>gpu</a:t>
                      </a:r>
                      <a:r>
                        <a:rPr lang="en-US" sz="1800" u="none" strike="noStrike" cap="none" dirty="0">
                          <a:latin typeface="Arial"/>
                          <a:ea typeface="Arial"/>
                          <a:cs typeface="Arial"/>
                          <a:sym typeface="Arial"/>
                        </a:rPr>
                        <a:t>-long</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For GPU jobs needing longer wait times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7 days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200</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Constraints set per GPU type</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3058480231"/>
                  </a:ext>
                </a:extLst>
              </a:tr>
              <a:tr h="627172">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compile</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For jobs submitted to the </a:t>
                      </a:r>
                      <a:r>
                        <a:rPr lang="en-US" sz="1800" u="none" strike="noStrike" cap="none" dirty="0" err="1">
                          <a:latin typeface="Arial"/>
                          <a:ea typeface="Arial"/>
                          <a:cs typeface="Arial"/>
                          <a:sym typeface="Arial"/>
                        </a:rPr>
                        <a:t>acompile</a:t>
                      </a:r>
                      <a:r>
                        <a:rPr lang="en-US" sz="1800" u="none" strike="noStrike" cap="none" dirty="0">
                          <a:latin typeface="Arial"/>
                          <a:ea typeface="Arial"/>
                          <a:cs typeface="Arial"/>
                          <a:sym typeface="Arial"/>
                        </a:rPr>
                        <a:t> partition</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12 H</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4</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8 CPUs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4022593831"/>
                  </a:ext>
                </a:extLst>
              </a:tr>
            </a:tbl>
          </a:graphicData>
        </a:graphic>
      </p:graphicFrame>
      <p:sp>
        <p:nvSpPr>
          <p:cNvPr id="8" name="TextBox 7">
            <a:extLst>
              <a:ext uri="{FF2B5EF4-FFF2-40B4-BE49-F238E27FC236}">
                <a16:creationId xmlns:a16="http://schemas.microsoft.com/office/drawing/2014/main" id="{9C8D26B0-F834-5C75-AD94-55CB0712C166}"/>
              </a:ext>
            </a:extLst>
          </p:cNvPr>
          <p:cNvSpPr txBox="1"/>
          <p:nvPr/>
        </p:nvSpPr>
        <p:spPr>
          <a:xfrm>
            <a:off x="658677" y="5266209"/>
            <a:ext cx="10399363" cy="646331"/>
          </a:xfrm>
          <a:prstGeom prst="rect">
            <a:avLst/>
          </a:prstGeom>
          <a:noFill/>
        </p:spPr>
        <p:txBody>
          <a:bodyPr wrap="square" rtlCol="0">
            <a:spAutoFit/>
          </a:bodyPr>
          <a:lstStyle/>
          <a:p>
            <a:r>
              <a:rPr lang="en-US" dirty="0"/>
              <a:t>For all available QoS, see </a:t>
            </a:r>
            <a:r>
              <a:rPr lang="en-US" dirty="0" err="1">
                <a:solidFill>
                  <a:srgbClr val="0563C1"/>
                </a:solidFill>
                <a:cs typeface="Arial"/>
              </a:rPr>
              <a:t>curc.readthedocs.io</a:t>
            </a:r>
            <a:r>
              <a:rPr lang="en-US" dirty="0">
                <a:solidFill>
                  <a:srgbClr val="0563C1"/>
                </a:solidFill>
                <a:cs typeface="Arial"/>
              </a:rPr>
              <a:t>/</a:t>
            </a:r>
            <a:r>
              <a:rPr lang="en-US" dirty="0" err="1">
                <a:solidFill>
                  <a:srgbClr val="0563C1"/>
                </a:solidFill>
                <a:cs typeface="Arial"/>
              </a:rPr>
              <a:t>en</a:t>
            </a:r>
            <a:r>
              <a:rPr lang="en-US" dirty="0">
                <a:solidFill>
                  <a:srgbClr val="0563C1"/>
                </a:solidFill>
                <a:cs typeface="Arial"/>
              </a:rPr>
              <a:t>/latest/clusters/alpine/</a:t>
            </a:r>
            <a:r>
              <a:rPr lang="en-US" dirty="0" err="1">
                <a:solidFill>
                  <a:srgbClr val="0563C1"/>
                </a:solidFill>
                <a:cs typeface="Arial"/>
              </a:rPr>
              <a:t>alpine-hardware.html#quality-of-service-qos</a:t>
            </a:r>
            <a:endParaRPr lang="en-US" dirty="0">
              <a:solidFill>
                <a:srgbClr val="0563C1"/>
              </a:solidFill>
              <a:cs typeface="Arial"/>
            </a:endParaRPr>
          </a:p>
        </p:txBody>
      </p:sp>
      <p:sp>
        <p:nvSpPr>
          <p:cNvPr id="5" name="Slide Number Placeholder 4">
            <a:extLst>
              <a:ext uri="{FF2B5EF4-FFF2-40B4-BE49-F238E27FC236}">
                <a16:creationId xmlns:a16="http://schemas.microsoft.com/office/drawing/2014/main" id="{9F10FB29-0864-2E0C-BE4B-BDBFA7843029}"/>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25</a:t>
            </a:fld>
            <a:endParaRPr lang="en-US"/>
          </a:p>
        </p:txBody>
      </p:sp>
    </p:spTree>
    <p:extLst>
      <p:ext uri="{BB962C8B-B14F-4D97-AF65-F5344CB8AC3E}">
        <p14:creationId xmlns:p14="http://schemas.microsoft.com/office/powerpoint/2010/main" val="1033794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6F0E6-2B0E-23CB-E1AC-52D70C869E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0E5D6-97FC-8E2F-6E6C-BCEB284F8819}"/>
              </a:ext>
            </a:extLst>
          </p:cNvPr>
          <p:cNvSpPr>
            <a:spLocks noGrp="1"/>
          </p:cNvSpPr>
          <p:nvPr>
            <p:ph type="title"/>
          </p:nvPr>
        </p:nvSpPr>
        <p:spPr>
          <a:xfrm>
            <a:off x="838200" y="71876"/>
            <a:ext cx="10515600" cy="1325563"/>
          </a:xfrm>
        </p:spPr>
        <p:txBody>
          <a:bodyPr/>
          <a:lstStyle/>
          <a:p>
            <a:r>
              <a:rPr lang="en-US" dirty="0">
                <a:sym typeface="Helvetica Neue Light"/>
              </a:rPr>
              <a:t>Selecting Hardware</a:t>
            </a:r>
            <a:endParaRPr lang="en-US" dirty="0"/>
          </a:p>
        </p:txBody>
      </p:sp>
      <p:sp>
        <p:nvSpPr>
          <p:cNvPr id="3" name="Content Placeholder 2">
            <a:extLst>
              <a:ext uri="{FF2B5EF4-FFF2-40B4-BE49-F238E27FC236}">
                <a16:creationId xmlns:a16="http://schemas.microsoft.com/office/drawing/2014/main" id="{931C63A0-7AAD-CE14-BE42-A4A9FA0B630C}"/>
              </a:ext>
            </a:extLst>
          </p:cNvPr>
          <p:cNvSpPr>
            <a:spLocks noGrp="1"/>
          </p:cNvSpPr>
          <p:nvPr>
            <p:ph idx="1"/>
          </p:nvPr>
        </p:nvSpPr>
        <p:spPr>
          <a:xfrm>
            <a:off x="838200" y="1825625"/>
            <a:ext cx="10848278" cy="3389556"/>
          </a:xfrm>
        </p:spPr>
        <p:txBody>
          <a:bodyPr>
            <a:normAutofit/>
          </a:bodyPr>
          <a:lstStyle/>
          <a:p>
            <a:r>
              <a:rPr lang="en-US" dirty="0">
                <a:solidFill>
                  <a:srgbClr val="2F2B20"/>
                </a:solidFill>
                <a:latin typeface="Arial"/>
                <a:cs typeface="Arial"/>
                <a:sym typeface="Arial"/>
              </a:rPr>
              <a:t>Once a partition and QoS are selected, we need to say how much of the hardware we would like to use</a:t>
            </a:r>
          </a:p>
          <a:p>
            <a:r>
              <a:rPr lang="en-US" dirty="0">
                <a:solidFill>
                  <a:srgbClr val="2F2B20"/>
                </a:solidFill>
                <a:latin typeface="Arial"/>
                <a:cs typeface="Arial"/>
                <a:sym typeface="Arial"/>
              </a:rPr>
              <a:t>The most common selections are </a:t>
            </a:r>
          </a:p>
          <a:p>
            <a:pPr lvl="1"/>
            <a:r>
              <a:rPr lang="en-US" dirty="0">
                <a:solidFill>
                  <a:srgbClr val="2F2B20"/>
                </a:solidFill>
                <a:latin typeface="Arial"/>
                <a:cs typeface="Arial"/>
                <a:sym typeface="Arial"/>
              </a:rPr>
              <a:t>The number of cores (often called “</a:t>
            </a:r>
            <a:r>
              <a:rPr lang="en-US" dirty="0" err="1">
                <a:solidFill>
                  <a:srgbClr val="2F2B20"/>
                </a:solidFill>
                <a:latin typeface="Arial"/>
                <a:cs typeface="Arial"/>
                <a:sym typeface="Arial"/>
              </a:rPr>
              <a:t>ntasks</a:t>
            </a:r>
            <a:r>
              <a:rPr lang="en-US" dirty="0">
                <a:solidFill>
                  <a:srgbClr val="2F2B20"/>
                </a:solidFill>
                <a:latin typeface="Arial"/>
                <a:cs typeface="Arial"/>
                <a:sym typeface="Arial"/>
              </a:rPr>
              <a:t>”)</a:t>
            </a:r>
          </a:p>
          <a:p>
            <a:pPr lvl="2"/>
            <a:r>
              <a:rPr lang="en-US" dirty="0">
                <a:solidFill>
                  <a:srgbClr val="2F2B20"/>
                </a:solidFill>
                <a:latin typeface="Arial"/>
                <a:cs typeface="Arial"/>
                <a:sym typeface="Arial"/>
              </a:rPr>
              <a:t>On our system the default behavior is each task corresponds to 1 core</a:t>
            </a:r>
          </a:p>
          <a:p>
            <a:pPr lvl="1"/>
            <a:r>
              <a:rPr lang="en-US" dirty="0">
                <a:solidFill>
                  <a:srgbClr val="2F2B20"/>
                </a:solidFill>
                <a:latin typeface="Arial"/>
                <a:cs typeface="Arial"/>
                <a:sym typeface="Arial"/>
              </a:rPr>
              <a:t>The number computes nodes (often referred to as “nodes”)</a:t>
            </a:r>
          </a:p>
          <a:p>
            <a:pPr lvl="1"/>
            <a:r>
              <a:rPr lang="en-US" dirty="0">
                <a:solidFill>
                  <a:srgbClr val="2F2B20"/>
                </a:solidFill>
                <a:latin typeface="Arial"/>
                <a:cs typeface="Arial"/>
                <a:sym typeface="Arial"/>
              </a:rPr>
              <a:t>The type of GPU</a:t>
            </a:r>
          </a:p>
        </p:txBody>
      </p:sp>
      <p:sp>
        <p:nvSpPr>
          <p:cNvPr id="5" name="Slide Number Placeholder 4">
            <a:extLst>
              <a:ext uri="{FF2B5EF4-FFF2-40B4-BE49-F238E27FC236}">
                <a16:creationId xmlns:a16="http://schemas.microsoft.com/office/drawing/2014/main" id="{C35D81AB-A51F-7B41-E6AC-60B107901AE9}"/>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26</a:t>
            </a:fld>
            <a:endParaRPr lang="en-US"/>
          </a:p>
        </p:txBody>
      </p:sp>
    </p:spTree>
    <p:extLst>
      <p:ext uri="{BB962C8B-B14F-4D97-AF65-F5344CB8AC3E}">
        <p14:creationId xmlns:p14="http://schemas.microsoft.com/office/powerpoint/2010/main" val="18673340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1EABC-E222-1436-FA78-0243A98587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63C058-48E2-EF87-1665-7FC5E12F3181}"/>
              </a:ext>
            </a:extLst>
          </p:cNvPr>
          <p:cNvSpPr>
            <a:spLocks noGrp="1"/>
          </p:cNvSpPr>
          <p:nvPr>
            <p:ph type="title"/>
          </p:nvPr>
        </p:nvSpPr>
        <p:spPr>
          <a:xfrm>
            <a:off x="838200" y="0"/>
            <a:ext cx="10515600" cy="1325563"/>
          </a:xfrm>
        </p:spPr>
        <p:txBody>
          <a:bodyPr/>
          <a:lstStyle/>
          <a:p>
            <a:r>
              <a:rPr lang="en-US" dirty="0">
                <a:sym typeface="Helvetica Neue Light"/>
              </a:rPr>
              <a:t>GRES Type</a:t>
            </a:r>
            <a:endParaRPr lang="en-US" dirty="0"/>
          </a:p>
        </p:txBody>
      </p:sp>
      <p:sp>
        <p:nvSpPr>
          <p:cNvPr id="3" name="Content Placeholder 2">
            <a:extLst>
              <a:ext uri="{FF2B5EF4-FFF2-40B4-BE49-F238E27FC236}">
                <a16:creationId xmlns:a16="http://schemas.microsoft.com/office/drawing/2014/main" id="{033184BE-D895-9FD0-54E5-D060BBDFDB36}"/>
              </a:ext>
            </a:extLst>
          </p:cNvPr>
          <p:cNvSpPr>
            <a:spLocks noGrp="1"/>
          </p:cNvSpPr>
          <p:nvPr>
            <p:ph idx="1"/>
          </p:nvPr>
        </p:nvSpPr>
        <p:spPr>
          <a:xfrm>
            <a:off x="838200" y="1397438"/>
            <a:ext cx="10848278" cy="4615903"/>
          </a:xfrm>
        </p:spPr>
        <p:txBody>
          <a:bodyPr>
            <a:normAutofit/>
          </a:bodyPr>
          <a:lstStyle/>
          <a:p>
            <a:r>
              <a:rPr lang="en-US" dirty="0">
                <a:solidFill>
                  <a:srgbClr val="2F2B20"/>
                </a:solidFill>
                <a:latin typeface="Arial"/>
                <a:cs typeface="Arial"/>
                <a:sym typeface="Arial"/>
              </a:rPr>
              <a:t>On Alpine we utilize </a:t>
            </a:r>
            <a:r>
              <a:rPr lang="en-US" u="sng" dirty="0">
                <a:solidFill>
                  <a:srgbClr val="2F2B20"/>
                </a:solidFill>
                <a:latin typeface="Arial"/>
                <a:cs typeface="Arial"/>
                <a:sym typeface="Arial"/>
              </a:rPr>
              <a:t>general resources</a:t>
            </a:r>
            <a:r>
              <a:rPr lang="en-US" dirty="0">
                <a:solidFill>
                  <a:srgbClr val="2F2B20"/>
                </a:solidFill>
                <a:latin typeface="Arial"/>
                <a:cs typeface="Arial"/>
                <a:sym typeface="Arial"/>
              </a:rPr>
              <a:t> (GRES) to select the GPU type you would like within a given GPU partition</a:t>
            </a:r>
          </a:p>
          <a:p>
            <a:r>
              <a:rPr lang="en-US" dirty="0">
                <a:solidFill>
                  <a:srgbClr val="2F2B20"/>
                </a:solidFill>
                <a:latin typeface="Arial"/>
                <a:cs typeface="Arial"/>
                <a:sym typeface="Arial"/>
              </a:rPr>
              <a:t>Within several of our GPU partitions, we have GPUs with different amounts of Video Random Access Memory (VRAM)</a:t>
            </a:r>
          </a:p>
          <a:p>
            <a:pPr lvl="1"/>
            <a:r>
              <a:rPr lang="en-US" dirty="0">
                <a:solidFill>
                  <a:srgbClr val="2F2B20"/>
                </a:solidFill>
                <a:latin typeface="Arial"/>
                <a:cs typeface="Arial"/>
                <a:sym typeface="Arial"/>
              </a:rPr>
              <a:t>VRAM is the amount of memory a GPU has for calculations</a:t>
            </a:r>
          </a:p>
          <a:p>
            <a:r>
              <a:rPr lang="en-US" dirty="0">
                <a:solidFill>
                  <a:srgbClr val="2F2B20"/>
                </a:solidFill>
                <a:latin typeface="Arial"/>
                <a:cs typeface="Arial"/>
                <a:sym typeface="Arial"/>
              </a:rPr>
              <a:t>Multi-Instance GPU (MIG) allows us to split up full GPUs with respect to their compute power and memory </a:t>
            </a:r>
          </a:p>
          <a:p>
            <a:pPr lvl="1"/>
            <a:r>
              <a:rPr lang="en-US" dirty="0">
                <a:solidFill>
                  <a:srgbClr val="2F2B20"/>
                </a:solidFill>
                <a:latin typeface="Arial"/>
                <a:cs typeface="Arial"/>
                <a:sym typeface="Arial"/>
              </a:rPr>
              <a:t>MIG is fantastic and works flawlessly with most code</a:t>
            </a:r>
          </a:p>
          <a:p>
            <a:pPr lvl="1"/>
            <a:r>
              <a:rPr lang="en-US" dirty="0">
                <a:solidFill>
                  <a:srgbClr val="2F2B20"/>
                </a:solidFill>
                <a:latin typeface="Arial"/>
                <a:cs typeface="Arial"/>
                <a:sym typeface="Arial"/>
              </a:rPr>
              <a:t>MIG limitations: </a:t>
            </a:r>
            <a:r>
              <a:rPr lang="en-US" dirty="0" err="1">
                <a:solidFill>
                  <a:srgbClr val="0563C1"/>
                </a:solidFill>
                <a:cs typeface="Arial"/>
                <a:sym typeface="Arial"/>
              </a:rPr>
              <a:t>docs.nvidia.com</a:t>
            </a:r>
            <a:r>
              <a:rPr lang="en-US" dirty="0">
                <a:solidFill>
                  <a:srgbClr val="0563C1"/>
                </a:solidFill>
                <a:cs typeface="Arial"/>
                <a:sym typeface="Arial"/>
              </a:rPr>
              <a:t>/datacenter/tesla/</a:t>
            </a:r>
            <a:r>
              <a:rPr lang="en-US" dirty="0" err="1">
                <a:solidFill>
                  <a:srgbClr val="0563C1"/>
                </a:solidFill>
                <a:cs typeface="Arial"/>
                <a:sym typeface="Arial"/>
              </a:rPr>
              <a:t>mig</a:t>
            </a:r>
            <a:r>
              <a:rPr lang="en-US" dirty="0">
                <a:solidFill>
                  <a:srgbClr val="0563C1"/>
                </a:solidFill>
                <a:cs typeface="Arial"/>
                <a:sym typeface="Arial"/>
              </a:rPr>
              <a:t>-user-guide/latest/</a:t>
            </a:r>
            <a:r>
              <a:rPr lang="en-US" dirty="0" err="1">
                <a:solidFill>
                  <a:srgbClr val="0563C1"/>
                </a:solidFill>
                <a:cs typeface="Arial"/>
                <a:sym typeface="Arial"/>
              </a:rPr>
              <a:t>deployment-considerations.html#application-considerations</a:t>
            </a:r>
            <a:endParaRPr lang="en-US" dirty="0">
              <a:solidFill>
                <a:srgbClr val="0563C1"/>
              </a:solidFill>
              <a:cs typeface="Arial"/>
              <a:sym typeface="Arial"/>
            </a:endParaRPr>
          </a:p>
        </p:txBody>
      </p:sp>
      <p:sp>
        <p:nvSpPr>
          <p:cNvPr id="5" name="Slide Number Placeholder 4">
            <a:extLst>
              <a:ext uri="{FF2B5EF4-FFF2-40B4-BE49-F238E27FC236}">
                <a16:creationId xmlns:a16="http://schemas.microsoft.com/office/drawing/2014/main" id="{5C723D85-F8DA-F3C1-0456-B7943E3C47A9}"/>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27</a:t>
            </a:fld>
            <a:endParaRPr lang="en-US"/>
          </a:p>
        </p:txBody>
      </p:sp>
    </p:spTree>
    <p:extLst>
      <p:ext uri="{BB962C8B-B14F-4D97-AF65-F5344CB8AC3E}">
        <p14:creationId xmlns:p14="http://schemas.microsoft.com/office/powerpoint/2010/main" val="5373423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ED7E6-1B97-90C6-FED6-04A0F3F619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9B759F-1029-4FA2-343C-73DF438ED404}"/>
              </a:ext>
            </a:extLst>
          </p:cNvPr>
          <p:cNvSpPr>
            <a:spLocks noGrp="1"/>
          </p:cNvSpPr>
          <p:nvPr>
            <p:ph type="title"/>
          </p:nvPr>
        </p:nvSpPr>
        <p:spPr>
          <a:xfrm>
            <a:off x="838200" y="0"/>
            <a:ext cx="10515600" cy="1325563"/>
          </a:xfrm>
        </p:spPr>
        <p:txBody>
          <a:bodyPr/>
          <a:lstStyle/>
          <a:p>
            <a:r>
              <a:rPr lang="en-US" dirty="0">
                <a:sym typeface="Helvetica Neue Light"/>
              </a:rPr>
              <a:t>GRES Type Examples</a:t>
            </a:r>
            <a:endParaRPr lang="en-US" dirty="0"/>
          </a:p>
        </p:txBody>
      </p:sp>
      <p:graphicFrame>
        <p:nvGraphicFramePr>
          <p:cNvPr id="4" name="Google Shape;457;p47">
            <a:extLst>
              <a:ext uri="{FF2B5EF4-FFF2-40B4-BE49-F238E27FC236}">
                <a16:creationId xmlns:a16="http://schemas.microsoft.com/office/drawing/2014/main" id="{71F6A077-04AB-0E99-01D8-36EBA8ADDE2E}"/>
              </a:ext>
            </a:extLst>
          </p:cNvPr>
          <p:cNvGraphicFramePr/>
          <p:nvPr>
            <p:extLst>
              <p:ext uri="{D42A27DB-BD31-4B8C-83A1-F6EECF244321}">
                <p14:modId xmlns:p14="http://schemas.microsoft.com/office/powerpoint/2010/main" val="3756071782"/>
              </p:ext>
            </p:extLst>
          </p:nvPr>
        </p:nvGraphicFramePr>
        <p:xfrm>
          <a:off x="1728062" y="1255821"/>
          <a:ext cx="8159857" cy="3695887"/>
        </p:xfrm>
        <a:graphic>
          <a:graphicData uri="http://schemas.openxmlformats.org/drawingml/2006/table">
            <a:tbl>
              <a:tblPr firstRow="1">
                <a:noFill/>
              </a:tblPr>
              <a:tblGrid>
                <a:gridCol w="3022169">
                  <a:extLst>
                    <a:ext uri="{9D8B030D-6E8A-4147-A177-3AD203B41FA5}">
                      <a16:colId xmlns:a16="http://schemas.microsoft.com/office/drawing/2014/main" val="20000"/>
                    </a:ext>
                  </a:extLst>
                </a:gridCol>
                <a:gridCol w="5137688">
                  <a:extLst>
                    <a:ext uri="{9D8B030D-6E8A-4147-A177-3AD203B41FA5}">
                      <a16:colId xmlns:a16="http://schemas.microsoft.com/office/drawing/2014/main" val="20001"/>
                    </a:ext>
                  </a:extLst>
                </a:gridCol>
              </a:tblGrid>
              <a:tr h="356165">
                <a:tc>
                  <a:txBody>
                    <a:bodyPr/>
                    <a:lstStyle/>
                    <a:p>
                      <a:pPr marL="0" marR="0" lvl="0" indent="0" algn="l" rtl="0">
                        <a:spcBef>
                          <a:spcPts val="0"/>
                        </a:spcBef>
                        <a:spcAft>
                          <a:spcPts val="0"/>
                        </a:spcAft>
                        <a:buNone/>
                      </a:pPr>
                      <a:r>
                        <a:rPr lang="en-US" sz="1800" b="1" i="0" u="none" strike="noStrike" cap="none" dirty="0">
                          <a:solidFill>
                            <a:srgbClr val="000000"/>
                          </a:solidFill>
                          <a:latin typeface="Arial"/>
                          <a:ea typeface="Arial"/>
                          <a:cs typeface="Arial"/>
                          <a:sym typeface="Arial"/>
                        </a:rPr>
                        <a:t>GRES type</a:t>
                      </a:r>
                      <a:endParaRPr sz="1800" b="1"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a:solidFill>
                            <a:srgbClr val="000000"/>
                          </a:solidFill>
                          <a:latin typeface="Arial"/>
                          <a:ea typeface="Arial"/>
                          <a:cs typeface="Arial"/>
                          <a:sym typeface="Arial"/>
                        </a:rPr>
                        <a:t>Description</a:t>
                      </a:r>
                      <a:endParaRPr sz="1800" b="1" u="none" strike="noStrike" cap="none">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63826">
                <a:tc>
                  <a:txBody>
                    <a:bodyPr/>
                    <a:lstStyle/>
                    <a:p>
                      <a:pPr marL="0" marR="0" lvl="0" indent="0" algn="l" rtl="0">
                        <a:spcBef>
                          <a:spcPts val="0"/>
                        </a:spcBef>
                        <a:spcAft>
                          <a:spcPts val="0"/>
                        </a:spcAft>
                        <a:buNone/>
                      </a:pPr>
                      <a:r>
                        <a:rPr lang="en-US" sz="1800" b="0" i="0" kern="1200" dirty="0">
                          <a:solidFill>
                            <a:schemeClr val="tx1"/>
                          </a:solidFill>
                          <a:effectLst/>
                          <a:latin typeface="+mn-lt"/>
                          <a:ea typeface="+mn-ea"/>
                          <a:cs typeface="+mn-cs"/>
                        </a:rPr>
                        <a:t>rtx_pro_6000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A full NVIDIA RTX Pro 6000 with 96 GB of VRAM</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748355">
                <a:tc>
                  <a:txBody>
                    <a:bodyPr/>
                    <a:lstStyle/>
                    <a:p>
                      <a:pPr marL="0" marR="0" lvl="0" indent="0" algn="l" rtl="0">
                        <a:spcBef>
                          <a:spcPts val="0"/>
                        </a:spcBef>
                        <a:spcAft>
                          <a:spcPts val="0"/>
                        </a:spcAft>
                        <a:buNone/>
                      </a:pPr>
                      <a:r>
                        <a:rPr lang="en-US" sz="1800" b="0" i="0" kern="1200" dirty="0">
                          <a:solidFill>
                            <a:schemeClr val="tx1"/>
                          </a:solidFill>
                          <a:effectLst/>
                          <a:latin typeface="+mn-lt"/>
                          <a:ea typeface="+mn-ea"/>
                          <a:cs typeface="+mn-cs"/>
                        </a:rPr>
                        <a:t>rtx_pro_6000_2g.48gb</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mn-lt"/>
                          <a:ea typeface="Arial"/>
                          <a:cs typeface="Arial"/>
                          <a:sym typeface="Arial"/>
                        </a:rPr>
                        <a:t>An NVIDIA RTX </a:t>
                      </a:r>
                      <a:r>
                        <a:rPr lang="en-US" sz="1800" b="0" i="0" u="none" strike="noStrike" cap="none" dirty="0">
                          <a:solidFill>
                            <a:srgbClr val="000000"/>
                          </a:solidFill>
                          <a:latin typeface="Arial"/>
                          <a:ea typeface="Arial"/>
                          <a:cs typeface="Arial"/>
                          <a:sym typeface="Arial"/>
                        </a:rPr>
                        <a:t>Pro 6000 with 48 GB of VRAM made possible by MIG</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774834">
                <a:tc>
                  <a:txBody>
                    <a:bodyPr/>
                    <a:lstStyle/>
                    <a:p>
                      <a:pPr marL="0" marR="0" lvl="0" indent="0" algn="l" rtl="0">
                        <a:spcBef>
                          <a:spcPts val="0"/>
                        </a:spcBef>
                        <a:spcAft>
                          <a:spcPts val="0"/>
                        </a:spcAft>
                        <a:buNone/>
                      </a:pPr>
                      <a:r>
                        <a:rPr lang="en-US" sz="1800" b="0" i="0" kern="1200" dirty="0">
                          <a:solidFill>
                            <a:schemeClr val="tx1"/>
                          </a:solidFill>
                          <a:effectLst/>
                          <a:latin typeface="+mn-lt"/>
                          <a:ea typeface="+mn-ea"/>
                          <a:cs typeface="+mn-cs"/>
                        </a:rPr>
                        <a:t>rtx_pro_6000_1g.24gb</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An </a:t>
                      </a:r>
                      <a:r>
                        <a:rPr lang="en-US" sz="1800" b="0" i="0" u="none" strike="noStrike" cap="none" dirty="0">
                          <a:solidFill>
                            <a:srgbClr val="000000"/>
                          </a:solidFill>
                          <a:latin typeface="+mn-lt"/>
                          <a:ea typeface="Arial"/>
                          <a:cs typeface="Arial"/>
                          <a:sym typeface="Arial"/>
                        </a:rPr>
                        <a:t>NVIDIA </a:t>
                      </a:r>
                      <a:r>
                        <a:rPr lang="en-US" sz="1800" u="none" strike="noStrike" cap="none" dirty="0">
                          <a:latin typeface="Arial"/>
                          <a:ea typeface="Arial"/>
                          <a:cs typeface="Arial"/>
                          <a:sym typeface="Arial"/>
                        </a:rPr>
                        <a:t>RTX Pro 6000 with 24 GB of VRAM made possible by MIG</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12279699"/>
                  </a:ext>
                </a:extLst>
              </a:tr>
              <a:tr h="449451">
                <a:tc>
                  <a:txBody>
                    <a:bodyPr/>
                    <a:lstStyle/>
                    <a:p>
                      <a:pPr marL="0" marR="0" lvl="0" indent="0" algn="l" rtl="0">
                        <a:spcBef>
                          <a:spcPts val="0"/>
                        </a:spcBef>
                        <a:spcAft>
                          <a:spcPts val="0"/>
                        </a:spcAft>
                        <a:buNone/>
                      </a:pPr>
                      <a:r>
                        <a:rPr lang="en-US" sz="1800" b="0" i="0" kern="1200" dirty="0">
                          <a:solidFill>
                            <a:schemeClr val="tx1"/>
                          </a:solidFill>
                          <a:effectLst/>
                          <a:latin typeface="+mn-lt"/>
                          <a:ea typeface="+mn-ea"/>
                          <a:cs typeface="+mn-cs"/>
                        </a:rPr>
                        <a:t>a100-40gb</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A full </a:t>
                      </a:r>
                      <a:r>
                        <a:rPr lang="en-US" sz="1800" b="0" i="0" u="none" strike="noStrike" cap="none" dirty="0">
                          <a:solidFill>
                            <a:srgbClr val="000000"/>
                          </a:solidFill>
                          <a:latin typeface="+mn-lt"/>
                          <a:ea typeface="Arial"/>
                          <a:cs typeface="Arial"/>
                          <a:sym typeface="Arial"/>
                        </a:rPr>
                        <a:t>NVIDIA </a:t>
                      </a:r>
                      <a:r>
                        <a:rPr lang="en-US" sz="1800" u="none" strike="noStrike" cap="none" dirty="0">
                          <a:latin typeface="Arial"/>
                          <a:ea typeface="Arial"/>
                          <a:cs typeface="Arial"/>
                          <a:sym typeface="Arial"/>
                        </a:rPr>
                        <a:t>A100 GPU with 40 GB of VRAM</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3058480231"/>
                  </a:ext>
                </a:extLst>
              </a:tr>
              <a:tr h="457200">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h200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A full </a:t>
                      </a:r>
                      <a:r>
                        <a:rPr lang="en-US" sz="1800" b="0" i="0" u="none" strike="noStrike" cap="none" dirty="0">
                          <a:solidFill>
                            <a:srgbClr val="000000"/>
                          </a:solidFill>
                          <a:latin typeface="+mn-lt"/>
                          <a:ea typeface="Arial"/>
                          <a:cs typeface="Arial"/>
                          <a:sym typeface="Arial"/>
                        </a:rPr>
                        <a:t>NVIDIA </a:t>
                      </a:r>
                      <a:r>
                        <a:rPr lang="en-US" sz="1800" u="none" strike="noStrike" cap="none" dirty="0">
                          <a:latin typeface="Arial"/>
                          <a:ea typeface="Arial"/>
                          <a:cs typeface="Arial"/>
                          <a:sym typeface="Arial"/>
                        </a:rPr>
                        <a:t>H200 with 141 GB of VRAM</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4022593831"/>
                  </a:ext>
                </a:extLst>
              </a:tr>
              <a:tr h="441701">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mi100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A full AMD MI100 GPU with 34 GB of VRAM</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2539342244"/>
                  </a:ext>
                </a:extLst>
              </a:tr>
            </a:tbl>
          </a:graphicData>
        </a:graphic>
      </p:graphicFrame>
      <p:sp>
        <p:nvSpPr>
          <p:cNvPr id="6" name="TextBox 5">
            <a:extLst>
              <a:ext uri="{FF2B5EF4-FFF2-40B4-BE49-F238E27FC236}">
                <a16:creationId xmlns:a16="http://schemas.microsoft.com/office/drawing/2014/main" id="{8C373CFD-3687-63C0-F0F4-B93D78762FB3}"/>
              </a:ext>
            </a:extLst>
          </p:cNvPr>
          <p:cNvSpPr txBox="1"/>
          <p:nvPr/>
        </p:nvSpPr>
        <p:spPr>
          <a:xfrm>
            <a:off x="705173" y="5279013"/>
            <a:ext cx="10453607" cy="646331"/>
          </a:xfrm>
          <a:prstGeom prst="rect">
            <a:avLst/>
          </a:prstGeom>
          <a:noFill/>
        </p:spPr>
        <p:txBody>
          <a:bodyPr wrap="square" rtlCol="0">
            <a:spAutoFit/>
          </a:bodyPr>
          <a:lstStyle/>
          <a:p>
            <a:r>
              <a:rPr lang="en-US" dirty="0"/>
              <a:t>For a full list of GRES types and associated constraints, see </a:t>
            </a:r>
            <a:r>
              <a:rPr lang="en-US" dirty="0" err="1">
                <a:solidFill>
                  <a:srgbClr val="0563C1"/>
                </a:solidFill>
                <a:cs typeface="Arial"/>
              </a:rPr>
              <a:t>curc.readthedocs.io</a:t>
            </a:r>
            <a:r>
              <a:rPr lang="en-US" dirty="0">
                <a:solidFill>
                  <a:srgbClr val="0563C1"/>
                </a:solidFill>
                <a:cs typeface="Arial"/>
              </a:rPr>
              <a:t>/</a:t>
            </a:r>
            <a:r>
              <a:rPr lang="en-US" dirty="0" err="1">
                <a:solidFill>
                  <a:srgbClr val="0563C1"/>
                </a:solidFill>
                <a:cs typeface="Arial"/>
              </a:rPr>
              <a:t>en</a:t>
            </a:r>
            <a:r>
              <a:rPr lang="en-US" dirty="0">
                <a:solidFill>
                  <a:srgbClr val="0563C1"/>
                </a:solidFill>
                <a:cs typeface="Arial"/>
              </a:rPr>
              <a:t>/latest/clusters/alpine/</a:t>
            </a:r>
            <a:r>
              <a:rPr lang="en-US" dirty="0" err="1">
                <a:solidFill>
                  <a:srgbClr val="0563C1"/>
                </a:solidFill>
                <a:cs typeface="Arial"/>
              </a:rPr>
              <a:t>alpine-hardware.html#general-resources-gres</a:t>
            </a:r>
            <a:endParaRPr lang="en-US" dirty="0">
              <a:solidFill>
                <a:srgbClr val="0563C1"/>
              </a:solidFill>
              <a:cs typeface="Arial"/>
            </a:endParaRPr>
          </a:p>
        </p:txBody>
      </p:sp>
      <p:sp>
        <p:nvSpPr>
          <p:cNvPr id="5" name="Slide Number Placeholder 4">
            <a:extLst>
              <a:ext uri="{FF2B5EF4-FFF2-40B4-BE49-F238E27FC236}">
                <a16:creationId xmlns:a16="http://schemas.microsoft.com/office/drawing/2014/main" id="{24E40B05-257D-2B08-6038-6A0E3AE67A6F}"/>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28</a:t>
            </a:fld>
            <a:endParaRPr lang="en-US"/>
          </a:p>
        </p:txBody>
      </p:sp>
    </p:spTree>
    <p:extLst>
      <p:ext uri="{BB962C8B-B14F-4D97-AF65-F5344CB8AC3E}">
        <p14:creationId xmlns:p14="http://schemas.microsoft.com/office/powerpoint/2010/main" val="22430341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65C23-DD0E-8418-7104-BEBD21012B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36AB93-A076-6924-5EBE-142FDD8B100F}"/>
              </a:ext>
            </a:extLst>
          </p:cNvPr>
          <p:cNvSpPr>
            <a:spLocks noGrp="1"/>
          </p:cNvSpPr>
          <p:nvPr>
            <p:ph type="title"/>
          </p:nvPr>
        </p:nvSpPr>
        <p:spPr>
          <a:xfrm>
            <a:off x="838200" y="71876"/>
            <a:ext cx="10515600" cy="1325563"/>
          </a:xfrm>
        </p:spPr>
        <p:txBody>
          <a:bodyPr/>
          <a:lstStyle/>
          <a:p>
            <a:r>
              <a:rPr lang="en-US" dirty="0" err="1">
                <a:sym typeface="Helvetica Neue Light"/>
              </a:rPr>
              <a:t>Walltime</a:t>
            </a:r>
            <a:endParaRPr lang="en-US" dirty="0"/>
          </a:p>
        </p:txBody>
      </p:sp>
      <p:sp>
        <p:nvSpPr>
          <p:cNvPr id="3" name="Content Placeholder 2">
            <a:extLst>
              <a:ext uri="{FF2B5EF4-FFF2-40B4-BE49-F238E27FC236}">
                <a16:creationId xmlns:a16="http://schemas.microsoft.com/office/drawing/2014/main" id="{3467B6D3-2A13-7853-77B6-7186F5718ADF}"/>
              </a:ext>
            </a:extLst>
          </p:cNvPr>
          <p:cNvSpPr>
            <a:spLocks noGrp="1"/>
          </p:cNvSpPr>
          <p:nvPr>
            <p:ph idx="1"/>
          </p:nvPr>
        </p:nvSpPr>
        <p:spPr>
          <a:xfrm>
            <a:off x="838200" y="1825625"/>
            <a:ext cx="10848278" cy="4055982"/>
          </a:xfrm>
        </p:spPr>
        <p:txBody>
          <a:bodyPr>
            <a:normAutofit/>
          </a:bodyPr>
          <a:lstStyle/>
          <a:p>
            <a:r>
              <a:rPr lang="en-US" dirty="0" err="1">
                <a:solidFill>
                  <a:srgbClr val="2F2B20"/>
                </a:solidFill>
                <a:latin typeface="Arial"/>
                <a:cs typeface="Arial"/>
                <a:sym typeface="Arial"/>
              </a:rPr>
              <a:t>Walltime</a:t>
            </a:r>
            <a:r>
              <a:rPr lang="en-US" dirty="0">
                <a:solidFill>
                  <a:srgbClr val="2F2B20"/>
                </a:solidFill>
                <a:latin typeface="Arial"/>
                <a:cs typeface="Arial"/>
                <a:sym typeface="Arial"/>
              </a:rPr>
              <a:t> or “run time” is how long you want to run on the selected resources </a:t>
            </a:r>
          </a:p>
          <a:p>
            <a:r>
              <a:rPr lang="en-US" dirty="0">
                <a:solidFill>
                  <a:srgbClr val="2F2B20"/>
                </a:solidFill>
                <a:latin typeface="Arial"/>
                <a:cs typeface="Arial"/>
                <a:sym typeface="Arial"/>
              </a:rPr>
              <a:t>How long do I specify? </a:t>
            </a:r>
          </a:p>
          <a:p>
            <a:pPr lvl="1"/>
            <a:r>
              <a:rPr lang="en-US" dirty="0">
                <a:solidFill>
                  <a:srgbClr val="2F2B20"/>
                </a:solidFill>
                <a:latin typeface="Arial"/>
                <a:cs typeface="Arial"/>
                <a:sym typeface="Arial"/>
              </a:rPr>
              <a:t>We often recommend people do a smaller version of their workflow to get a sense of the runtime and then scale it up</a:t>
            </a:r>
          </a:p>
          <a:p>
            <a:r>
              <a:rPr lang="en-US" dirty="0">
                <a:solidFill>
                  <a:srgbClr val="2F2B20"/>
                </a:solidFill>
                <a:latin typeface="Arial"/>
                <a:cs typeface="Arial"/>
                <a:sym typeface="Arial"/>
              </a:rPr>
              <a:t>Downsides to requesting too much time</a:t>
            </a:r>
          </a:p>
          <a:p>
            <a:pPr lvl="1"/>
            <a:r>
              <a:rPr lang="en-US" dirty="0">
                <a:solidFill>
                  <a:srgbClr val="2F2B20"/>
                </a:solidFill>
                <a:latin typeface="Arial"/>
                <a:cs typeface="Arial"/>
                <a:sym typeface="Arial"/>
              </a:rPr>
              <a:t>Increase in wait times</a:t>
            </a:r>
          </a:p>
          <a:p>
            <a:pPr lvl="1"/>
            <a:r>
              <a:rPr lang="en-US" dirty="0">
                <a:solidFill>
                  <a:srgbClr val="2F2B20"/>
                </a:solidFill>
                <a:latin typeface="Arial"/>
                <a:cs typeface="Arial"/>
                <a:sym typeface="Arial"/>
              </a:rPr>
              <a:t>If you do not use the resources, you are making the </a:t>
            </a:r>
            <a:r>
              <a:rPr lang="en-US" dirty="0" err="1">
                <a:solidFill>
                  <a:srgbClr val="2F2B20"/>
                </a:solidFill>
                <a:latin typeface="Arial"/>
                <a:cs typeface="Arial"/>
                <a:sym typeface="Arial"/>
              </a:rPr>
              <a:t>Slurm</a:t>
            </a:r>
            <a:r>
              <a:rPr lang="en-US" dirty="0">
                <a:solidFill>
                  <a:srgbClr val="2F2B20"/>
                </a:solidFill>
                <a:latin typeface="Arial"/>
                <a:cs typeface="Arial"/>
                <a:sym typeface="Arial"/>
              </a:rPr>
              <a:t> algorithm inefficient, which can impact overall system utilization</a:t>
            </a:r>
          </a:p>
        </p:txBody>
      </p:sp>
      <p:sp>
        <p:nvSpPr>
          <p:cNvPr id="5" name="Slide Number Placeholder 4">
            <a:extLst>
              <a:ext uri="{FF2B5EF4-FFF2-40B4-BE49-F238E27FC236}">
                <a16:creationId xmlns:a16="http://schemas.microsoft.com/office/drawing/2014/main" id="{8F61AEA4-442A-4969-E885-6D61604CA60E}"/>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29</a:t>
            </a:fld>
            <a:endParaRPr lang="en-US"/>
          </a:p>
        </p:txBody>
      </p:sp>
    </p:spTree>
    <p:extLst>
      <p:ext uri="{BB962C8B-B14F-4D97-AF65-F5344CB8AC3E}">
        <p14:creationId xmlns:p14="http://schemas.microsoft.com/office/powerpoint/2010/main" val="40398256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C0266-CD00-C38A-47A9-FF9BB2FC40C3}"/>
            </a:ext>
          </a:extLst>
        </p:cNvPr>
        <p:cNvGrpSpPr/>
        <p:nvPr/>
      </p:nvGrpSpPr>
      <p:grpSpPr>
        <a:xfrm>
          <a:off x="0" y="0"/>
          <a:ext cx="0" cy="0"/>
          <a:chOff x="0" y="0"/>
          <a:chExt cx="0" cy="0"/>
        </a:xfrm>
      </p:grpSpPr>
      <p:sp>
        <p:nvSpPr>
          <p:cNvPr id="21" name="Google Shape;225;p30">
            <a:extLst>
              <a:ext uri="{FF2B5EF4-FFF2-40B4-BE49-F238E27FC236}">
                <a16:creationId xmlns:a16="http://schemas.microsoft.com/office/drawing/2014/main" id="{A0605272-BE98-92AD-D034-42553F6B3005}"/>
              </a:ext>
            </a:extLst>
          </p:cNvPr>
          <p:cNvSpPr txBox="1">
            <a:spLocks noGrp="1"/>
          </p:cNvSpPr>
          <p:nvPr>
            <p:ph type="title"/>
          </p:nvPr>
        </p:nvSpPr>
        <p:spPr>
          <a:xfrm>
            <a:off x="824711" y="18996"/>
            <a:ext cx="10515600" cy="1325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5000"/>
              <a:buFont typeface="Helvetica Neue Light"/>
              <a:buNone/>
            </a:pPr>
            <a:r>
              <a:rPr lang="en-US" dirty="0">
                <a:sym typeface="Helvetica Neue Light"/>
              </a:rPr>
              <a:t>Requesting a Job</a:t>
            </a:r>
            <a:endParaRPr dirty="0"/>
          </a:p>
        </p:txBody>
      </p:sp>
      <p:grpSp>
        <p:nvGrpSpPr>
          <p:cNvPr id="2" name="Group 1" descr="Image depecting that the first step in our general overview is login nodes">
            <a:extLst>
              <a:ext uri="{FF2B5EF4-FFF2-40B4-BE49-F238E27FC236}">
                <a16:creationId xmlns:a16="http://schemas.microsoft.com/office/drawing/2014/main" id="{E31269F4-B174-20A1-7A41-C5677C8CCD91}"/>
              </a:ext>
            </a:extLst>
          </p:cNvPr>
          <p:cNvGrpSpPr/>
          <p:nvPr/>
        </p:nvGrpSpPr>
        <p:grpSpPr>
          <a:xfrm>
            <a:off x="1069178" y="1759077"/>
            <a:ext cx="3636619" cy="3339847"/>
            <a:chOff x="1069178" y="1759077"/>
            <a:chExt cx="3636619" cy="3339847"/>
          </a:xfrm>
        </p:grpSpPr>
        <p:pic>
          <p:nvPicPr>
            <p:cNvPr id="6" name="Google Shape;210;p30">
              <a:extLst>
                <a:ext uri="{FF2B5EF4-FFF2-40B4-BE49-F238E27FC236}">
                  <a16:creationId xmlns:a16="http://schemas.microsoft.com/office/drawing/2014/main" id="{373E3C83-26A9-3FBB-B8DD-6D2C20181DC7}"/>
                </a:ext>
              </a:extLst>
            </p:cNvPr>
            <p:cNvPicPr preferRelativeResize="0">
              <a:picLocks noChangeAspect="1"/>
            </p:cNvPicPr>
            <p:nvPr/>
          </p:nvPicPr>
          <p:blipFill>
            <a:blip r:embed="rId3">
              <a:alphaModFix/>
            </a:blip>
            <a:stretch>
              <a:fillRect/>
            </a:stretch>
          </p:blipFill>
          <p:spPr>
            <a:xfrm>
              <a:off x="1069178" y="2240351"/>
              <a:ext cx="2377292" cy="2377297"/>
            </a:xfrm>
            <a:prstGeom prst="rect">
              <a:avLst/>
            </a:prstGeom>
            <a:noFill/>
            <a:ln>
              <a:noFill/>
            </a:ln>
          </p:spPr>
        </p:pic>
        <p:sp>
          <p:nvSpPr>
            <p:cNvPr id="22" name="Right Arrow Callout 21">
              <a:extLst>
                <a:ext uri="{FF2B5EF4-FFF2-40B4-BE49-F238E27FC236}">
                  <a16:creationId xmlns:a16="http://schemas.microsoft.com/office/drawing/2014/main" id="{5D2D3EC1-DD41-4553-F79A-64FD0394784C}"/>
                </a:ext>
              </a:extLst>
            </p:cNvPr>
            <p:cNvSpPr/>
            <p:nvPr/>
          </p:nvSpPr>
          <p:spPr>
            <a:xfrm>
              <a:off x="1094954"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74D8C8E6-8DC6-2CBB-DC0F-41B24154F8F8}"/>
                </a:ext>
              </a:extLst>
            </p:cNvPr>
            <p:cNvGrpSpPr/>
            <p:nvPr/>
          </p:nvGrpSpPr>
          <p:grpSpPr>
            <a:xfrm>
              <a:off x="1082066" y="1873651"/>
              <a:ext cx="2351516" cy="707886"/>
              <a:chOff x="540307" y="1873650"/>
              <a:chExt cx="2351516" cy="707886"/>
            </a:xfrm>
          </p:grpSpPr>
          <p:sp>
            <p:nvSpPr>
              <p:cNvPr id="28" name="TextBox 27">
                <a:extLst>
                  <a:ext uri="{FF2B5EF4-FFF2-40B4-BE49-F238E27FC236}">
                    <a16:creationId xmlns:a16="http://schemas.microsoft.com/office/drawing/2014/main" id="{B9207507-3388-FCA2-E225-B5E7E3AD8330}"/>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1</a:t>
                </a:r>
              </a:p>
            </p:txBody>
          </p:sp>
          <p:sp>
            <p:nvSpPr>
              <p:cNvPr id="29" name="Oval 28">
                <a:extLst>
                  <a:ext uri="{FF2B5EF4-FFF2-40B4-BE49-F238E27FC236}">
                    <a16:creationId xmlns:a16="http://schemas.microsoft.com/office/drawing/2014/main" id="{CFBEEDCF-C443-C59B-487C-44943C244A48}"/>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TextBox 23">
              <a:extLst>
                <a:ext uri="{FF2B5EF4-FFF2-40B4-BE49-F238E27FC236}">
                  <a16:creationId xmlns:a16="http://schemas.microsoft.com/office/drawing/2014/main" id="{1C44E4AC-7709-FCD6-326F-366C4A061098}"/>
                </a:ext>
              </a:extLst>
            </p:cNvPr>
            <p:cNvSpPr txBox="1"/>
            <p:nvPr/>
          </p:nvSpPr>
          <p:spPr>
            <a:xfrm>
              <a:off x="1094954" y="4432982"/>
              <a:ext cx="2338627" cy="461665"/>
            </a:xfrm>
            <a:prstGeom prst="rect">
              <a:avLst/>
            </a:prstGeom>
            <a:noFill/>
          </p:spPr>
          <p:txBody>
            <a:bodyPr wrap="square" rtlCol="0">
              <a:spAutoFit/>
            </a:bodyPr>
            <a:lstStyle/>
            <a:p>
              <a:pPr algn="ctr"/>
              <a:r>
                <a:rPr lang="en-US" sz="2400" b="1" dirty="0"/>
                <a:t>Login Node</a:t>
              </a:r>
            </a:p>
          </p:txBody>
        </p:sp>
      </p:grpSp>
      <p:grpSp>
        <p:nvGrpSpPr>
          <p:cNvPr id="30" name="Group 29" descr="Image depecting that the second step in our general overview is requesting resources">
            <a:extLst>
              <a:ext uri="{FF2B5EF4-FFF2-40B4-BE49-F238E27FC236}">
                <a16:creationId xmlns:a16="http://schemas.microsoft.com/office/drawing/2014/main" id="{1B2A90E9-CEC0-8715-834D-99D46FA0F75A}"/>
              </a:ext>
            </a:extLst>
          </p:cNvPr>
          <p:cNvGrpSpPr/>
          <p:nvPr/>
        </p:nvGrpSpPr>
        <p:grpSpPr>
          <a:xfrm>
            <a:off x="4913198" y="1759077"/>
            <a:ext cx="3631266" cy="3339847"/>
            <a:chOff x="4913198" y="1759077"/>
            <a:chExt cx="3631266" cy="3339847"/>
          </a:xfrm>
        </p:grpSpPr>
        <p:sp>
          <p:nvSpPr>
            <p:cNvPr id="31" name="Right Arrow Callout 30">
              <a:extLst>
                <a:ext uri="{FF2B5EF4-FFF2-40B4-BE49-F238E27FC236}">
                  <a16:creationId xmlns:a16="http://schemas.microsoft.com/office/drawing/2014/main" id="{5B80FFA6-D070-6584-1DEC-0A50F31BE156}"/>
                </a:ext>
              </a:extLst>
            </p:cNvPr>
            <p:cNvSpPr/>
            <p:nvPr/>
          </p:nvSpPr>
          <p:spPr>
            <a:xfrm>
              <a:off x="4933621"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1CDA2C9C-DE45-D3CB-58C5-1E1F7FC4E8DD}"/>
                </a:ext>
              </a:extLst>
            </p:cNvPr>
            <p:cNvGrpSpPr/>
            <p:nvPr/>
          </p:nvGrpSpPr>
          <p:grpSpPr>
            <a:xfrm>
              <a:off x="4920733" y="1873651"/>
              <a:ext cx="2351516" cy="707886"/>
              <a:chOff x="540307" y="1873650"/>
              <a:chExt cx="2351516" cy="707886"/>
            </a:xfrm>
          </p:grpSpPr>
          <p:sp>
            <p:nvSpPr>
              <p:cNvPr id="45" name="TextBox 44">
                <a:extLst>
                  <a:ext uri="{FF2B5EF4-FFF2-40B4-BE49-F238E27FC236}">
                    <a16:creationId xmlns:a16="http://schemas.microsoft.com/office/drawing/2014/main" id="{898F5A04-9F2A-6D16-F430-3AF731AB6E44}"/>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2</a:t>
                </a:r>
              </a:p>
            </p:txBody>
          </p:sp>
          <p:sp>
            <p:nvSpPr>
              <p:cNvPr id="46" name="Oval 45">
                <a:extLst>
                  <a:ext uri="{FF2B5EF4-FFF2-40B4-BE49-F238E27FC236}">
                    <a16:creationId xmlns:a16="http://schemas.microsoft.com/office/drawing/2014/main" id="{C43F49B3-16D6-6DF8-330C-EBC919174D34}"/>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TextBox 33">
              <a:extLst>
                <a:ext uri="{FF2B5EF4-FFF2-40B4-BE49-F238E27FC236}">
                  <a16:creationId xmlns:a16="http://schemas.microsoft.com/office/drawing/2014/main" id="{2C61B9EB-9DA6-0CA4-3563-FD508CE387EA}"/>
                </a:ext>
              </a:extLst>
            </p:cNvPr>
            <p:cNvSpPr txBox="1"/>
            <p:nvPr/>
          </p:nvSpPr>
          <p:spPr>
            <a:xfrm>
              <a:off x="4913198" y="4436192"/>
              <a:ext cx="2338627" cy="461665"/>
            </a:xfrm>
            <a:prstGeom prst="rect">
              <a:avLst/>
            </a:prstGeom>
            <a:noFill/>
          </p:spPr>
          <p:txBody>
            <a:bodyPr wrap="square" rtlCol="0">
              <a:spAutoFit/>
            </a:bodyPr>
            <a:lstStyle/>
            <a:p>
              <a:pPr algn="ctr"/>
              <a:r>
                <a:rPr lang="en-US" sz="2400" b="1" dirty="0"/>
                <a:t>Resources</a:t>
              </a:r>
            </a:p>
          </p:txBody>
        </p:sp>
        <p:grpSp>
          <p:nvGrpSpPr>
            <p:cNvPr id="35" name="Group 34">
              <a:extLst>
                <a:ext uri="{FF2B5EF4-FFF2-40B4-BE49-F238E27FC236}">
                  <a16:creationId xmlns:a16="http://schemas.microsoft.com/office/drawing/2014/main" id="{21A61C13-E856-434C-D13E-A657ACAD66DC}"/>
                </a:ext>
              </a:extLst>
            </p:cNvPr>
            <p:cNvGrpSpPr>
              <a:grpSpLocks noChangeAspect="1"/>
            </p:cNvGrpSpPr>
            <p:nvPr/>
          </p:nvGrpSpPr>
          <p:grpSpPr>
            <a:xfrm>
              <a:off x="5273040" y="2755023"/>
              <a:ext cx="1645920" cy="1546836"/>
              <a:chOff x="8412658" y="2617108"/>
              <a:chExt cx="1929294" cy="1813150"/>
            </a:xfrm>
          </p:grpSpPr>
          <p:grpSp>
            <p:nvGrpSpPr>
              <p:cNvPr id="36" name="Group 35">
                <a:extLst>
                  <a:ext uri="{FF2B5EF4-FFF2-40B4-BE49-F238E27FC236}">
                    <a16:creationId xmlns:a16="http://schemas.microsoft.com/office/drawing/2014/main" id="{0E10331C-3663-5247-C506-E02ADF3DCE21}"/>
                  </a:ext>
                </a:extLst>
              </p:cNvPr>
              <p:cNvGrpSpPr>
                <a:grpSpLocks noChangeAspect="1"/>
              </p:cNvGrpSpPr>
              <p:nvPr/>
            </p:nvGrpSpPr>
            <p:grpSpPr>
              <a:xfrm>
                <a:off x="8412658" y="2617108"/>
                <a:ext cx="1078992" cy="1082299"/>
                <a:chOff x="4726983" y="2457616"/>
                <a:chExt cx="2062421" cy="1993113"/>
              </a:xfrm>
            </p:grpSpPr>
            <p:sp>
              <p:nvSpPr>
                <p:cNvPr id="40" name="Rounded Rectangle 39" descr="An icon representing a computer chip">
                  <a:extLst>
                    <a:ext uri="{FF2B5EF4-FFF2-40B4-BE49-F238E27FC236}">
                      <a16:creationId xmlns:a16="http://schemas.microsoft.com/office/drawing/2014/main" id="{C515DA35-6CEC-C1FB-6BC1-F169FA10A770}"/>
                    </a:ext>
                  </a:extLst>
                </p:cNvPr>
                <p:cNvSpPr/>
                <p:nvPr/>
              </p:nvSpPr>
              <p:spPr>
                <a:xfrm>
                  <a:off x="4726983" y="2457616"/>
                  <a:ext cx="2062421" cy="199311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2" name="Graphic 41">
                  <a:extLst>
                    <a:ext uri="{FF2B5EF4-FFF2-40B4-BE49-F238E27FC236}">
                      <a16:creationId xmlns:a16="http://schemas.microsoft.com/office/drawing/2014/main" id="{653333DD-807A-7C69-EF7F-4A1F684013D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75767" y="2671746"/>
                  <a:ext cx="1564852" cy="1564852"/>
                </a:xfrm>
                <a:prstGeom prst="rect">
                  <a:avLst/>
                </a:prstGeom>
              </p:spPr>
            </p:pic>
          </p:grpSp>
          <p:grpSp>
            <p:nvGrpSpPr>
              <p:cNvPr id="37" name="Group 36">
                <a:extLst>
                  <a:ext uri="{FF2B5EF4-FFF2-40B4-BE49-F238E27FC236}">
                    <a16:creationId xmlns:a16="http://schemas.microsoft.com/office/drawing/2014/main" id="{1EFC89B8-1D74-7383-B11A-65CAAD9CC100}"/>
                  </a:ext>
                </a:extLst>
              </p:cNvPr>
              <p:cNvGrpSpPr/>
              <p:nvPr/>
            </p:nvGrpSpPr>
            <p:grpSpPr>
              <a:xfrm>
                <a:off x="9262960" y="3347959"/>
                <a:ext cx="1078992" cy="1082299"/>
                <a:chOff x="9174826" y="3192427"/>
                <a:chExt cx="1078992" cy="1082299"/>
              </a:xfrm>
            </p:grpSpPr>
            <p:sp>
              <p:nvSpPr>
                <p:cNvPr id="38" name="Rounded Rectangle 37" descr="An icon of a stopwatch">
                  <a:extLst>
                    <a:ext uri="{FF2B5EF4-FFF2-40B4-BE49-F238E27FC236}">
                      <a16:creationId xmlns:a16="http://schemas.microsoft.com/office/drawing/2014/main" id="{6497CCA5-5DB7-0116-1576-D66D77AF0580}"/>
                    </a:ext>
                  </a:extLst>
                </p:cNvPr>
                <p:cNvSpPr/>
                <p:nvPr/>
              </p:nvSpPr>
              <p:spPr>
                <a:xfrm>
                  <a:off x="9174826" y="3192427"/>
                  <a:ext cx="1078992" cy="1082299"/>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9" name="Graphic 38" descr="Stopwatch with solid fill">
                  <a:extLst>
                    <a:ext uri="{FF2B5EF4-FFF2-40B4-BE49-F238E27FC236}">
                      <a16:creationId xmlns:a16="http://schemas.microsoft.com/office/drawing/2014/main" id="{BB74B99F-DCA4-1710-7BF7-5937F97B5E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02842" y="3322096"/>
                  <a:ext cx="822960" cy="822960"/>
                </a:xfrm>
                <a:prstGeom prst="rect">
                  <a:avLst/>
                </a:prstGeom>
              </p:spPr>
            </p:pic>
          </p:grpSp>
        </p:grpSp>
      </p:grpSp>
      <p:grpSp>
        <p:nvGrpSpPr>
          <p:cNvPr id="47" name="Group 46" descr="Image depecting that the last step in our general overview is requesting a job">
            <a:extLst>
              <a:ext uri="{FF2B5EF4-FFF2-40B4-BE49-F238E27FC236}">
                <a16:creationId xmlns:a16="http://schemas.microsoft.com/office/drawing/2014/main" id="{54083359-E32E-5596-4346-C0966CF9E332}"/>
              </a:ext>
            </a:extLst>
          </p:cNvPr>
          <p:cNvGrpSpPr/>
          <p:nvPr/>
        </p:nvGrpSpPr>
        <p:grpSpPr>
          <a:xfrm>
            <a:off x="8747203" y="1764792"/>
            <a:ext cx="2358559" cy="3334132"/>
            <a:chOff x="8747203" y="1764792"/>
            <a:chExt cx="2358559" cy="3334132"/>
          </a:xfrm>
        </p:grpSpPr>
        <p:pic>
          <p:nvPicPr>
            <p:cNvPr id="48" name="Picture 2" descr="The logo of the Slurm workload manager">
              <a:extLst>
                <a:ext uri="{FF2B5EF4-FFF2-40B4-BE49-F238E27FC236}">
                  <a16:creationId xmlns:a16="http://schemas.microsoft.com/office/drawing/2014/main" id="{685BE21F-A6A5-1EB0-24BE-5FAAF9DE206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2089"/>
            <a:stretch/>
          </p:blipFill>
          <p:spPr bwMode="auto">
            <a:xfrm>
              <a:off x="9087422" y="2803512"/>
              <a:ext cx="1698054" cy="1366560"/>
            </a:xfrm>
            <a:prstGeom prst="rect">
              <a:avLst/>
            </a:prstGeom>
            <a:noFill/>
            <a:extLst>
              <a:ext uri="{909E8E84-426E-40DD-AFC4-6F175D3DCCD1}">
                <a14:hiddenFill xmlns:a14="http://schemas.microsoft.com/office/drawing/2010/main">
                  <a:solidFill>
                    <a:srgbClr val="FFFFFF"/>
                  </a:solidFill>
                </a14:hiddenFill>
              </a:ext>
            </a:extLst>
          </p:spPr>
        </p:pic>
        <p:sp>
          <p:nvSpPr>
            <p:cNvPr id="49" name="TextBox 48">
              <a:extLst>
                <a:ext uri="{FF2B5EF4-FFF2-40B4-BE49-F238E27FC236}">
                  <a16:creationId xmlns:a16="http://schemas.microsoft.com/office/drawing/2014/main" id="{04D7014D-EABE-1D9B-A96A-EC5F3690F43B}"/>
                </a:ext>
              </a:extLst>
            </p:cNvPr>
            <p:cNvSpPr txBox="1"/>
            <p:nvPr/>
          </p:nvSpPr>
          <p:spPr>
            <a:xfrm>
              <a:off x="8758419" y="4432982"/>
              <a:ext cx="2338627" cy="461665"/>
            </a:xfrm>
            <a:prstGeom prst="rect">
              <a:avLst/>
            </a:prstGeom>
            <a:noFill/>
          </p:spPr>
          <p:txBody>
            <a:bodyPr wrap="square" rtlCol="0">
              <a:spAutoFit/>
            </a:bodyPr>
            <a:lstStyle/>
            <a:p>
              <a:pPr algn="ctr"/>
              <a:r>
                <a:rPr lang="en-US" sz="2400" b="1" dirty="0"/>
                <a:t>Job Request</a:t>
              </a:r>
            </a:p>
          </p:txBody>
        </p:sp>
        <p:sp>
          <p:nvSpPr>
            <p:cNvPr id="50" name="Rectangle 49">
              <a:extLst>
                <a:ext uri="{FF2B5EF4-FFF2-40B4-BE49-F238E27FC236}">
                  <a16:creationId xmlns:a16="http://schemas.microsoft.com/office/drawing/2014/main" id="{970A47A5-128D-6781-1460-8AB4F76DD812}"/>
                </a:ext>
              </a:extLst>
            </p:cNvPr>
            <p:cNvSpPr/>
            <p:nvPr/>
          </p:nvSpPr>
          <p:spPr>
            <a:xfrm>
              <a:off x="8767136" y="1764792"/>
              <a:ext cx="2338626" cy="3334132"/>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 name="Group 50">
              <a:extLst>
                <a:ext uri="{FF2B5EF4-FFF2-40B4-BE49-F238E27FC236}">
                  <a16:creationId xmlns:a16="http://schemas.microsoft.com/office/drawing/2014/main" id="{7130825B-C351-E2DC-CCA3-0DDFBB5D58D1}"/>
                </a:ext>
              </a:extLst>
            </p:cNvPr>
            <p:cNvGrpSpPr/>
            <p:nvPr/>
          </p:nvGrpSpPr>
          <p:grpSpPr>
            <a:xfrm>
              <a:off x="8747203" y="1891582"/>
              <a:ext cx="2351516" cy="707886"/>
              <a:chOff x="540307" y="1873650"/>
              <a:chExt cx="2351516" cy="707886"/>
            </a:xfrm>
          </p:grpSpPr>
          <p:sp>
            <p:nvSpPr>
              <p:cNvPr id="57" name="TextBox 56">
                <a:extLst>
                  <a:ext uri="{FF2B5EF4-FFF2-40B4-BE49-F238E27FC236}">
                    <a16:creationId xmlns:a16="http://schemas.microsoft.com/office/drawing/2014/main" id="{FCC54265-04DC-AF6E-8656-BFAE8E04A757}"/>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3</a:t>
                </a:r>
              </a:p>
            </p:txBody>
          </p:sp>
          <p:sp>
            <p:nvSpPr>
              <p:cNvPr id="58" name="Oval 57">
                <a:extLst>
                  <a:ext uri="{FF2B5EF4-FFF2-40B4-BE49-F238E27FC236}">
                    <a16:creationId xmlns:a16="http://schemas.microsoft.com/office/drawing/2014/main" id="{A1754262-E500-A944-7EED-90C34BFA56BD}"/>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7" name="Down Arrow 6" descr="Arrow indicating that we are moving on to the job request portion of the slides">
            <a:extLst>
              <a:ext uri="{FF2B5EF4-FFF2-40B4-BE49-F238E27FC236}">
                <a16:creationId xmlns:a16="http://schemas.microsoft.com/office/drawing/2014/main" id="{0D76E484-48E7-79A3-60D1-85A73CF1247B}"/>
              </a:ext>
            </a:extLst>
          </p:cNvPr>
          <p:cNvSpPr/>
          <p:nvPr/>
        </p:nvSpPr>
        <p:spPr>
          <a:xfrm rot="10800000">
            <a:off x="9369521" y="5340571"/>
            <a:ext cx="1133856"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lide Number Placeholder 4">
            <a:extLst>
              <a:ext uri="{FF2B5EF4-FFF2-40B4-BE49-F238E27FC236}">
                <a16:creationId xmlns:a16="http://schemas.microsoft.com/office/drawing/2014/main" id="{E8832731-D078-1A8A-478F-25675808A4CC}"/>
              </a:ext>
            </a:extLst>
          </p:cNvPr>
          <p:cNvSpPr>
            <a:spLocks noGrp="1"/>
          </p:cNvSpPr>
          <p:nvPr>
            <p:ph type="sldNum" sz="quarter" idx="12"/>
          </p:nvPr>
        </p:nvSpPr>
        <p:spPr/>
        <p:txBody>
          <a:bodyPr/>
          <a:lstStyle/>
          <a:p>
            <a:fld id="{ABDA560F-461C-6043-9BC4-489BA92F7161}" type="slidenum">
              <a:rPr lang="en-US" smtClean="0"/>
              <a:t>30</a:t>
            </a:fld>
            <a:endParaRPr lang="en-US"/>
          </a:p>
        </p:txBody>
      </p:sp>
    </p:spTree>
    <p:extLst>
      <p:ext uri="{BB962C8B-B14F-4D97-AF65-F5344CB8AC3E}">
        <p14:creationId xmlns:p14="http://schemas.microsoft.com/office/powerpoint/2010/main" val="32905150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60617-0666-E878-70B5-A1BD416EB6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2DEF42-BA73-9A05-DD77-EB61AC2E7242}"/>
              </a:ext>
            </a:extLst>
          </p:cNvPr>
          <p:cNvSpPr>
            <a:spLocks noGrp="1"/>
          </p:cNvSpPr>
          <p:nvPr>
            <p:ph type="title"/>
          </p:nvPr>
        </p:nvSpPr>
        <p:spPr>
          <a:xfrm>
            <a:off x="838200" y="66091"/>
            <a:ext cx="10515600" cy="1325563"/>
          </a:xfrm>
        </p:spPr>
        <p:txBody>
          <a:bodyPr/>
          <a:lstStyle/>
          <a:p>
            <a:r>
              <a:rPr lang="en-US" dirty="0"/>
              <a:t>Planned Maintenance </a:t>
            </a:r>
          </a:p>
        </p:txBody>
      </p:sp>
      <p:sp>
        <p:nvSpPr>
          <p:cNvPr id="3" name="TextBox 2">
            <a:extLst>
              <a:ext uri="{FF2B5EF4-FFF2-40B4-BE49-F238E27FC236}">
                <a16:creationId xmlns:a16="http://schemas.microsoft.com/office/drawing/2014/main" id="{66A78ED3-706B-AB70-FC82-4FDAEF170EA4}"/>
              </a:ext>
            </a:extLst>
          </p:cNvPr>
          <p:cNvSpPr txBox="1"/>
          <p:nvPr/>
        </p:nvSpPr>
        <p:spPr>
          <a:xfrm>
            <a:off x="1100569" y="1859339"/>
            <a:ext cx="9678502" cy="3139321"/>
          </a:xfrm>
          <a:prstGeom prst="rect">
            <a:avLst/>
          </a:prstGeom>
          <a:noFill/>
        </p:spPr>
        <p:txBody>
          <a:bodyPr wrap="square" rtlCol="0">
            <a:spAutoFit/>
          </a:bodyPr>
          <a:lstStyle/>
          <a:p>
            <a:r>
              <a:rPr lang="en-US" sz="2200" dirty="0"/>
              <a:t>On every first Wednesday of the month (like today!) we perform a planned maintenance (PM). During this PM we do not allow you to run jobs on the system. Additionally, getting on the system may not be possible. </a:t>
            </a:r>
          </a:p>
          <a:p>
            <a:endParaRPr lang="en-US" sz="2200" dirty="0"/>
          </a:p>
          <a:p>
            <a:r>
              <a:rPr lang="en-US" sz="2200" dirty="0"/>
              <a:t>Common items completed during PMs:</a:t>
            </a:r>
          </a:p>
          <a:p>
            <a:pPr marL="285750" indent="-285750">
              <a:buFont typeface="Arial" panose="020B0604020202020204" pitchFamily="34" charset="0"/>
              <a:buChar char="•"/>
            </a:pPr>
            <a:r>
              <a:rPr lang="en-US" sz="2200" dirty="0"/>
              <a:t>Patching and updating the system </a:t>
            </a:r>
          </a:p>
          <a:p>
            <a:pPr marL="285750" indent="-285750">
              <a:buFont typeface="Arial" panose="020B0604020202020204" pitchFamily="34" charset="0"/>
              <a:buChar char="•"/>
            </a:pPr>
            <a:r>
              <a:rPr lang="en-US" sz="2200" dirty="0"/>
              <a:t>Improving the efficiency of the system </a:t>
            </a:r>
          </a:p>
          <a:p>
            <a:pPr marL="285750" indent="-285750">
              <a:buFont typeface="Arial" panose="020B0604020202020204" pitchFamily="34" charset="0"/>
              <a:buChar char="•"/>
            </a:pPr>
            <a:r>
              <a:rPr lang="en-US" sz="2200" dirty="0"/>
              <a:t>Rolling out system configuration changes </a:t>
            </a:r>
          </a:p>
          <a:p>
            <a:pPr marL="285750" indent="-285750">
              <a:buFont typeface="Arial" panose="020B0604020202020204" pitchFamily="34" charset="0"/>
              <a:buChar char="•"/>
            </a:pPr>
            <a:r>
              <a:rPr lang="en-US" sz="2200" dirty="0"/>
              <a:t>Introduction of new features</a:t>
            </a:r>
          </a:p>
        </p:txBody>
      </p:sp>
      <p:sp>
        <p:nvSpPr>
          <p:cNvPr id="5" name="Slide Number Placeholder 4">
            <a:extLst>
              <a:ext uri="{FF2B5EF4-FFF2-40B4-BE49-F238E27FC236}">
                <a16:creationId xmlns:a16="http://schemas.microsoft.com/office/drawing/2014/main" id="{1A25307E-1328-FFDA-4BAC-FF718AC89975}"/>
              </a:ext>
            </a:extLst>
          </p:cNvPr>
          <p:cNvSpPr>
            <a:spLocks noGrp="1"/>
          </p:cNvSpPr>
          <p:nvPr>
            <p:ph type="sldNum" sz="quarter" idx="12"/>
          </p:nvPr>
        </p:nvSpPr>
        <p:spPr/>
        <p:txBody>
          <a:bodyPr/>
          <a:lstStyle/>
          <a:p>
            <a:fld id="{ABDA560F-461C-6043-9BC4-489BA92F7161}" type="slidenum">
              <a:rPr lang="en-US" smtClean="0"/>
              <a:t>31</a:t>
            </a:fld>
            <a:endParaRPr lang="en-US"/>
          </a:p>
        </p:txBody>
      </p:sp>
    </p:spTree>
    <p:extLst>
      <p:ext uri="{BB962C8B-B14F-4D97-AF65-F5344CB8AC3E}">
        <p14:creationId xmlns:p14="http://schemas.microsoft.com/office/powerpoint/2010/main" val="943182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6F7EE-8529-C957-850C-D05C9D459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D93C40-5499-1E66-0CA5-1A0705CA07EF}"/>
              </a:ext>
            </a:extLst>
          </p:cNvPr>
          <p:cNvSpPr>
            <a:spLocks noGrp="1"/>
          </p:cNvSpPr>
          <p:nvPr>
            <p:ph type="title"/>
          </p:nvPr>
        </p:nvSpPr>
        <p:spPr>
          <a:xfrm>
            <a:off x="838200" y="66091"/>
            <a:ext cx="10515600" cy="1325563"/>
          </a:xfrm>
        </p:spPr>
        <p:txBody>
          <a:bodyPr/>
          <a:lstStyle/>
          <a:p>
            <a:r>
              <a:rPr lang="en-US" dirty="0"/>
              <a:t>Batch vs Interactive Jobs</a:t>
            </a:r>
          </a:p>
        </p:txBody>
      </p:sp>
      <p:grpSp>
        <p:nvGrpSpPr>
          <p:cNvPr id="18" name="Group 17" descr="Image showing depicting the two types of jobs, batch and interactive">
            <a:extLst>
              <a:ext uri="{FF2B5EF4-FFF2-40B4-BE49-F238E27FC236}">
                <a16:creationId xmlns:a16="http://schemas.microsoft.com/office/drawing/2014/main" id="{A28E736A-7947-EE7A-4678-F4E31408E72D}"/>
              </a:ext>
            </a:extLst>
          </p:cNvPr>
          <p:cNvGrpSpPr/>
          <p:nvPr/>
        </p:nvGrpSpPr>
        <p:grpSpPr>
          <a:xfrm>
            <a:off x="3372129" y="2268586"/>
            <a:ext cx="5343664" cy="2960167"/>
            <a:chOff x="3424168" y="1948917"/>
            <a:chExt cx="5343664" cy="2960167"/>
          </a:xfrm>
        </p:grpSpPr>
        <p:grpSp>
          <p:nvGrpSpPr>
            <p:cNvPr id="16" name="Group 15">
              <a:extLst>
                <a:ext uri="{FF2B5EF4-FFF2-40B4-BE49-F238E27FC236}">
                  <a16:creationId xmlns:a16="http://schemas.microsoft.com/office/drawing/2014/main" id="{60D7A3ED-821E-BB6F-5641-85D5CE360CD5}"/>
                </a:ext>
              </a:extLst>
            </p:cNvPr>
            <p:cNvGrpSpPr/>
            <p:nvPr/>
          </p:nvGrpSpPr>
          <p:grpSpPr>
            <a:xfrm>
              <a:off x="3424168" y="1948917"/>
              <a:ext cx="5343664" cy="2960167"/>
              <a:chOff x="6357009" y="1948917"/>
              <a:chExt cx="5343664" cy="2960167"/>
            </a:xfrm>
          </p:grpSpPr>
          <p:sp>
            <p:nvSpPr>
              <p:cNvPr id="6" name="Rounded Rectangle 5">
                <a:extLst>
                  <a:ext uri="{FF2B5EF4-FFF2-40B4-BE49-F238E27FC236}">
                    <a16:creationId xmlns:a16="http://schemas.microsoft.com/office/drawing/2014/main" id="{4EB19255-9CD8-81CF-BB4B-54900D426E23}"/>
                  </a:ext>
                </a:extLst>
              </p:cNvPr>
              <p:cNvSpPr/>
              <p:nvPr/>
            </p:nvSpPr>
            <p:spPr>
              <a:xfrm>
                <a:off x="6357009" y="1948917"/>
                <a:ext cx="2468880" cy="294902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ounded Rectangle 6">
                <a:extLst>
                  <a:ext uri="{FF2B5EF4-FFF2-40B4-BE49-F238E27FC236}">
                    <a16:creationId xmlns:a16="http://schemas.microsoft.com/office/drawing/2014/main" id="{018631C2-A132-3700-E80E-19088F61F609}"/>
                  </a:ext>
                </a:extLst>
              </p:cNvPr>
              <p:cNvSpPr/>
              <p:nvPr/>
            </p:nvSpPr>
            <p:spPr>
              <a:xfrm>
                <a:off x="9231793" y="1948917"/>
                <a:ext cx="2468880" cy="2960167"/>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DB6E1F-94E0-76DF-9754-C5A29B1FAE7B}"/>
                  </a:ext>
                </a:extLst>
              </p:cNvPr>
              <p:cNvSpPr txBox="1"/>
              <p:nvPr/>
            </p:nvSpPr>
            <p:spPr>
              <a:xfrm>
                <a:off x="9420249" y="3598703"/>
                <a:ext cx="2091967" cy="954107"/>
              </a:xfrm>
              <a:prstGeom prst="rect">
                <a:avLst/>
              </a:prstGeom>
              <a:noFill/>
            </p:spPr>
            <p:txBody>
              <a:bodyPr wrap="square" rtlCol="0">
                <a:spAutoFit/>
              </a:bodyPr>
              <a:lstStyle/>
              <a:p>
                <a:pPr algn="ctr"/>
                <a:r>
                  <a:rPr lang="en-US" sz="2800" b="1" dirty="0"/>
                  <a:t>Interactive</a:t>
                </a:r>
              </a:p>
              <a:p>
                <a:pPr algn="ctr"/>
                <a:r>
                  <a:rPr lang="en-US" sz="2800" b="1" dirty="0"/>
                  <a:t>Job</a:t>
                </a:r>
              </a:p>
            </p:txBody>
          </p:sp>
          <p:sp>
            <p:nvSpPr>
              <p:cNvPr id="9" name="TextBox 8">
                <a:extLst>
                  <a:ext uri="{FF2B5EF4-FFF2-40B4-BE49-F238E27FC236}">
                    <a16:creationId xmlns:a16="http://schemas.microsoft.com/office/drawing/2014/main" id="{4294AB67-EDF1-F066-79B3-E5790D516265}"/>
                  </a:ext>
                </a:extLst>
              </p:cNvPr>
              <p:cNvSpPr txBox="1"/>
              <p:nvPr/>
            </p:nvSpPr>
            <p:spPr>
              <a:xfrm>
                <a:off x="6634225" y="3587559"/>
                <a:ext cx="1914448" cy="954107"/>
              </a:xfrm>
              <a:prstGeom prst="rect">
                <a:avLst/>
              </a:prstGeom>
              <a:noFill/>
            </p:spPr>
            <p:txBody>
              <a:bodyPr wrap="square" rtlCol="0">
                <a:spAutoFit/>
              </a:bodyPr>
              <a:lstStyle/>
              <a:p>
                <a:pPr algn="ctr"/>
                <a:r>
                  <a:rPr lang="en-US" sz="2800" b="1" dirty="0"/>
                  <a:t>Batch</a:t>
                </a:r>
              </a:p>
              <a:p>
                <a:pPr algn="ctr"/>
                <a:r>
                  <a:rPr lang="en-US" sz="2800" b="1" dirty="0"/>
                  <a:t>Job</a:t>
                </a:r>
              </a:p>
            </p:txBody>
          </p:sp>
          <p:pic>
            <p:nvPicPr>
              <p:cNvPr id="15" name="Graphic 14" descr="An icon of a person programming on a laptop">
                <a:extLst>
                  <a:ext uri="{FF2B5EF4-FFF2-40B4-BE49-F238E27FC236}">
                    <a16:creationId xmlns:a16="http://schemas.microsoft.com/office/drawing/2014/main" id="{54DD9B6F-D7A1-07A2-97A8-39C87AB71C6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6153" y="2206872"/>
                <a:ext cx="1280160" cy="1280160"/>
              </a:xfrm>
              <a:prstGeom prst="rect">
                <a:avLst/>
              </a:prstGeom>
            </p:spPr>
          </p:pic>
        </p:grpSp>
        <p:pic>
          <p:nvPicPr>
            <p:cNvPr id="17" name="Graphic 16" descr="An icon representing a file or document">
              <a:extLst>
                <a:ext uri="{FF2B5EF4-FFF2-40B4-BE49-F238E27FC236}">
                  <a16:creationId xmlns:a16="http://schemas.microsoft.com/office/drawing/2014/main" id="{D40FBE46-BFB3-A198-58EE-83F3CC9576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18528" y="2206872"/>
              <a:ext cx="1280160" cy="1280160"/>
            </a:xfrm>
            <a:prstGeom prst="rect">
              <a:avLst/>
            </a:prstGeom>
          </p:spPr>
        </p:pic>
      </p:grpSp>
      <p:sp>
        <p:nvSpPr>
          <p:cNvPr id="5" name="Slide Number Placeholder 4">
            <a:extLst>
              <a:ext uri="{FF2B5EF4-FFF2-40B4-BE49-F238E27FC236}">
                <a16:creationId xmlns:a16="http://schemas.microsoft.com/office/drawing/2014/main" id="{533C2F5F-B807-D784-081F-3B32B3A76231}"/>
              </a:ext>
            </a:extLst>
          </p:cNvPr>
          <p:cNvSpPr>
            <a:spLocks noGrp="1"/>
          </p:cNvSpPr>
          <p:nvPr>
            <p:ph type="sldNum" sz="quarter" idx="12"/>
          </p:nvPr>
        </p:nvSpPr>
        <p:spPr/>
        <p:txBody>
          <a:bodyPr/>
          <a:lstStyle/>
          <a:p>
            <a:fld id="{ABDA560F-461C-6043-9BC4-489BA92F7161}" type="slidenum">
              <a:rPr lang="en-US" smtClean="0"/>
              <a:t>32</a:t>
            </a:fld>
            <a:endParaRPr lang="en-US"/>
          </a:p>
        </p:txBody>
      </p:sp>
    </p:spTree>
    <p:extLst>
      <p:ext uri="{BB962C8B-B14F-4D97-AF65-F5344CB8AC3E}">
        <p14:creationId xmlns:p14="http://schemas.microsoft.com/office/powerpoint/2010/main" val="30604068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7DFA3-5110-BFBC-7E61-7CC123894D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491FB9-57BC-89B2-4E6B-8B32E1A038B5}"/>
              </a:ext>
            </a:extLst>
          </p:cNvPr>
          <p:cNvSpPr>
            <a:spLocks noGrp="1"/>
          </p:cNvSpPr>
          <p:nvPr>
            <p:ph type="title"/>
          </p:nvPr>
        </p:nvSpPr>
        <p:spPr>
          <a:xfrm>
            <a:off x="838200" y="56416"/>
            <a:ext cx="10515600" cy="1325563"/>
          </a:xfrm>
        </p:spPr>
        <p:txBody>
          <a:bodyPr/>
          <a:lstStyle/>
          <a:p>
            <a:r>
              <a:rPr lang="en-US" dirty="0"/>
              <a:t>Batch Jobs</a:t>
            </a:r>
          </a:p>
        </p:txBody>
      </p:sp>
      <p:sp>
        <p:nvSpPr>
          <p:cNvPr id="17" name="TextBox 16">
            <a:extLst>
              <a:ext uri="{FF2B5EF4-FFF2-40B4-BE49-F238E27FC236}">
                <a16:creationId xmlns:a16="http://schemas.microsoft.com/office/drawing/2014/main" id="{6A44EAFD-E4A2-3B20-2AF6-224D103A3C3D}"/>
              </a:ext>
            </a:extLst>
          </p:cNvPr>
          <p:cNvSpPr txBox="1"/>
          <p:nvPr/>
        </p:nvSpPr>
        <p:spPr>
          <a:xfrm>
            <a:off x="241568" y="1444125"/>
            <a:ext cx="3088372" cy="4431983"/>
          </a:xfrm>
          <a:prstGeom prst="rect">
            <a:avLst/>
          </a:prstGeom>
          <a:noFill/>
        </p:spPr>
        <p:txBody>
          <a:bodyPr wrap="square" rtlCol="0">
            <a:spAutoFit/>
          </a:bodyPr>
          <a:lstStyle/>
          <a:p>
            <a:pPr marL="234950" indent="-234950">
              <a:spcAft>
                <a:spcPts val="1200"/>
              </a:spcAft>
              <a:buFont typeface="Arial" panose="020B0604020202020204" pitchFamily="34" charset="0"/>
              <a:buChar char="•"/>
            </a:pPr>
            <a:r>
              <a:rPr lang="en-US" sz="2800" dirty="0"/>
              <a:t>Runs a job script</a:t>
            </a:r>
          </a:p>
          <a:p>
            <a:pPr marL="234950" indent="-234950">
              <a:spcAft>
                <a:spcPts val="1200"/>
              </a:spcAft>
              <a:buFont typeface="Arial" panose="020B0604020202020204" pitchFamily="34" charset="0"/>
              <a:buChar char="•"/>
            </a:pPr>
            <a:r>
              <a:rPr lang="en-US" sz="2800" dirty="0"/>
              <a:t>No need for user input</a:t>
            </a:r>
          </a:p>
          <a:p>
            <a:pPr marL="234950" indent="-234950">
              <a:spcAft>
                <a:spcPts val="1200"/>
              </a:spcAft>
              <a:buFont typeface="Arial" panose="020B0604020202020204" pitchFamily="34" charset="0"/>
              <a:buChar char="•"/>
            </a:pPr>
            <a:r>
              <a:rPr lang="en-US" sz="2800" dirty="0"/>
              <a:t>Best for tested workflows and long/big jobs</a:t>
            </a:r>
          </a:p>
          <a:p>
            <a:pPr marL="234950" indent="-234950">
              <a:spcAft>
                <a:spcPts val="1200"/>
              </a:spcAft>
              <a:buFont typeface="Arial" panose="020B0604020202020204" pitchFamily="34" charset="0"/>
              <a:buChar char="•"/>
            </a:pPr>
            <a:r>
              <a:rPr lang="en-US" sz="2800" dirty="0"/>
              <a:t>Runs when resources are available</a:t>
            </a:r>
          </a:p>
        </p:txBody>
      </p:sp>
      <p:grpSp>
        <p:nvGrpSpPr>
          <p:cNvPr id="3" name="Group 2" descr="Same image depicting the two types of jobs, batch and interative, however, now the batch job one is highlighted. This indicates we are now talking about the batch job">
            <a:extLst>
              <a:ext uri="{FF2B5EF4-FFF2-40B4-BE49-F238E27FC236}">
                <a16:creationId xmlns:a16="http://schemas.microsoft.com/office/drawing/2014/main" id="{8BFF9413-AF66-3B44-0DBA-46F85CADD4D4}"/>
              </a:ext>
            </a:extLst>
          </p:cNvPr>
          <p:cNvGrpSpPr/>
          <p:nvPr/>
        </p:nvGrpSpPr>
        <p:grpSpPr>
          <a:xfrm>
            <a:off x="3424168" y="1948917"/>
            <a:ext cx="5343664" cy="2960167"/>
            <a:chOff x="3424168" y="1948917"/>
            <a:chExt cx="5343664" cy="2960167"/>
          </a:xfrm>
        </p:grpSpPr>
        <p:grpSp>
          <p:nvGrpSpPr>
            <p:cNvPr id="18" name="Group 17">
              <a:extLst>
                <a:ext uri="{FF2B5EF4-FFF2-40B4-BE49-F238E27FC236}">
                  <a16:creationId xmlns:a16="http://schemas.microsoft.com/office/drawing/2014/main" id="{A07040C0-DE5D-8B66-F16C-AA887D18049D}"/>
                </a:ext>
              </a:extLst>
            </p:cNvPr>
            <p:cNvGrpSpPr/>
            <p:nvPr/>
          </p:nvGrpSpPr>
          <p:grpSpPr>
            <a:xfrm>
              <a:off x="3424168" y="1948917"/>
              <a:ext cx="5343664" cy="2960167"/>
              <a:chOff x="6357009" y="1948917"/>
              <a:chExt cx="5343664" cy="2960167"/>
            </a:xfrm>
          </p:grpSpPr>
          <p:sp>
            <p:nvSpPr>
              <p:cNvPr id="20" name="Rounded Rectangle 19">
                <a:extLst>
                  <a:ext uri="{FF2B5EF4-FFF2-40B4-BE49-F238E27FC236}">
                    <a16:creationId xmlns:a16="http://schemas.microsoft.com/office/drawing/2014/main" id="{A929CAED-116B-4FF4-F439-FF1FEF2DAA0C}"/>
                  </a:ext>
                </a:extLst>
              </p:cNvPr>
              <p:cNvSpPr/>
              <p:nvPr/>
            </p:nvSpPr>
            <p:spPr>
              <a:xfrm>
                <a:off x="6357009" y="1948917"/>
                <a:ext cx="2468880" cy="294902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ounded Rectangle 20">
                <a:extLst>
                  <a:ext uri="{FF2B5EF4-FFF2-40B4-BE49-F238E27FC236}">
                    <a16:creationId xmlns:a16="http://schemas.microsoft.com/office/drawing/2014/main" id="{D9828C0A-A937-7C55-98A2-35DBEBA65963}"/>
                  </a:ext>
                </a:extLst>
              </p:cNvPr>
              <p:cNvSpPr/>
              <p:nvPr/>
            </p:nvSpPr>
            <p:spPr>
              <a:xfrm>
                <a:off x="9231793" y="1948917"/>
                <a:ext cx="2468880" cy="2960167"/>
              </a:xfrm>
              <a:prstGeom prst="roundRect">
                <a:avLst/>
              </a:prstGeom>
              <a:solidFill>
                <a:schemeClr val="bg1"/>
              </a:solid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C276ED2-0A65-F281-EF55-EDBBF58593E6}"/>
                  </a:ext>
                </a:extLst>
              </p:cNvPr>
              <p:cNvSpPr txBox="1"/>
              <p:nvPr/>
            </p:nvSpPr>
            <p:spPr>
              <a:xfrm>
                <a:off x="9420249" y="3598703"/>
                <a:ext cx="2091967" cy="954107"/>
              </a:xfrm>
              <a:prstGeom prst="rect">
                <a:avLst/>
              </a:prstGeom>
              <a:noFill/>
            </p:spPr>
            <p:txBody>
              <a:bodyPr wrap="square" rtlCol="0">
                <a:spAutoFit/>
              </a:bodyPr>
              <a:lstStyle/>
              <a:p>
                <a:pPr algn="ctr"/>
                <a:r>
                  <a:rPr lang="en-US" sz="2800" b="1" dirty="0"/>
                  <a:t>Interactive</a:t>
                </a:r>
              </a:p>
              <a:p>
                <a:pPr algn="ctr"/>
                <a:r>
                  <a:rPr lang="en-US" sz="2800" b="1" dirty="0"/>
                  <a:t>Job</a:t>
                </a:r>
              </a:p>
            </p:txBody>
          </p:sp>
          <p:sp>
            <p:nvSpPr>
              <p:cNvPr id="23" name="TextBox 22">
                <a:extLst>
                  <a:ext uri="{FF2B5EF4-FFF2-40B4-BE49-F238E27FC236}">
                    <a16:creationId xmlns:a16="http://schemas.microsoft.com/office/drawing/2014/main" id="{0D2086C8-A33B-E2DC-8C8B-FCFCC8A8E1BC}"/>
                  </a:ext>
                </a:extLst>
              </p:cNvPr>
              <p:cNvSpPr txBox="1"/>
              <p:nvPr/>
            </p:nvSpPr>
            <p:spPr>
              <a:xfrm>
                <a:off x="6634225" y="3587559"/>
                <a:ext cx="1914448" cy="954107"/>
              </a:xfrm>
              <a:prstGeom prst="rect">
                <a:avLst/>
              </a:prstGeom>
              <a:noFill/>
            </p:spPr>
            <p:txBody>
              <a:bodyPr wrap="square" rtlCol="0">
                <a:spAutoFit/>
              </a:bodyPr>
              <a:lstStyle/>
              <a:p>
                <a:pPr algn="ctr"/>
                <a:r>
                  <a:rPr lang="en-US" sz="2800" b="1" dirty="0"/>
                  <a:t>Batch</a:t>
                </a:r>
              </a:p>
              <a:p>
                <a:pPr algn="ctr"/>
                <a:r>
                  <a:rPr lang="en-US" sz="2800" b="1" dirty="0"/>
                  <a:t>Job</a:t>
                </a:r>
              </a:p>
            </p:txBody>
          </p:sp>
          <p:pic>
            <p:nvPicPr>
              <p:cNvPr id="24" name="Graphic 23" descr="An icon of a person programming on a laptop">
                <a:extLst>
                  <a:ext uri="{FF2B5EF4-FFF2-40B4-BE49-F238E27FC236}">
                    <a16:creationId xmlns:a16="http://schemas.microsoft.com/office/drawing/2014/main" id="{76ABB1BB-7A37-0718-43EC-81E099C6597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6153" y="2206872"/>
                <a:ext cx="1280160" cy="1280160"/>
              </a:xfrm>
              <a:prstGeom prst="rect">
                <a:avLst/>
              </a:prstGeom>
            </p:spPr>
          </p:pic>
        </p:grpSp>
        <p:pic>
          <p:nvPicPr>
            <p:cNvPr id="19" name="Graphic 18" descr="An icon representing a file or document">
              <a:extLst>
                <a:ext uri="{FF2B5EF4-FFF2-40B4-BE49-F238E27FC236}">
                  <a16:creationId xmlns:a16="http://schemas.microsoft.com/office/drawing/2014/main" id="{D7C34AFB-86A2-793E-CDD0-E8E43D59E0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18528" y="2206872"/>
              <a:ext cx="1280160" cy="1280160"/>
            </a:xfrm>
            <a:prstGeom prst="rect">
              <a:avLst/>
            </a:prstGeom>
          </p:spPr>
        </p:pic>
      </p:grpSp>
      <p:sp>
        <p:nvSpPr>
          <p:cNvPr id="5" name="Slide Number Placeholder 4">
            <a:extLst>
              <a:ext uri="{FF2B5EF4-FFF2-40B4-BE49-F238E27FC236}">
                <a16:creationId xmlns:a16="http://schemas.microsoft.com/office/drawing/2014/main" id="{A13EFA4B-17AF-5B22-E346-078C64D81E8E}"/>
              </a:ext>
            </a:extLst>
          </p:cNvPr>
          <p:cNvSpPr>
            <a:spLocks noGrp="1"/>
          </p:cNvSpPr>
          <p:nvPr>
            <p:ph type="sldNum" sz="quarter" idx="12"/>
          </p:nvPr>
        </p:nvSpPr>
        <p:spPr/>
        <p:txBody>
          <a:bodyPr/>
          <a:lstStyle/>
          <a:p>
            <a:fld id="{ABDA560F-461C-6043-9BC4-489BA92F7161}" type="slidenum">
              <a:rPr lang="en-US" smtClean="0"/>
              <a:t>33</a:t>
            </a:fld>
            <a:endParaRPr lang="en-US"/>
          </a:p>
        </p:txBody>
      </p:sp>
    </p:spTree>
    <p:extLst>
      <p:ext uri="{BB962C8B-B14F-4D97-AF65-F5344CB8AC3E}">
        <p14:creationId xmlns:p14="http://schemas.microsoft.com/office/powerpoint/2010/main" val="23886892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B1FC0-3AD8-06A5-88C3-49CEDC6DDC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450087-ACDB-90AE-3696-BAC8254D10E2}"/>
              </a:ext>
            </a:extLst>
          </p:cNvPr>
          <p:cNvSpPr>
            <a:spLocks noGrp="1"/>
          </p:cNvSpPr>
          <p:nvPr>
            <p:ph type="title"/>
          </p:nvPr>
        </p:nvSpPr>
        <p:spPr>
          <a:xfrm>
            <a:off x="838200" y="56416"/>
            <a:ext cx="10515600" cy="1325563"/>
          </a:xfrm>
        </p:spPr>
        <p:txBody>
          <a:bodyPr/>
          <a:lstStyle/>
          <a:p>
            <a:r>
              <a:rPr lang="en-US" dirty="0"/>
              <a:t>Interactive Jobs</a:t>
            </a:r>
          </a:p>
        </p:txBody>
      </p:sp>
      <p:grpSp>
        <p:nvGrpSpPr>
          <p:cNvPr id="3" name="Group 2" descr="Same image depicting the two types of jobs, batch and interative, however, now the interactive job one is highlighted. This indicates we are now talking about the interactive job">
            <a:extLst>
              <a:ext uri="{FF2B5EF4-FFF2-40B4-BE49-F238E27FC236}">
                <a16:creationId xmlns:a16="http://schemas.microsoft.com/office/drawing/2014/main" id="{502A463C-C1C7-DBC6-2C46-4CC480B9271B}"/>
              </a:ext>
            </a:extLst>
          </p:cNvPr>
          <p:cNvGrpSpPr/>
          <p:nvPr/>
        </p:nvGrpSpPr>
        <p:grpSpPr>
          <a:xfrm>
            <a:off x="3424168" y="1948917"/>
            <a:ext cx="5343664" cy="2960167"/>
            <a:chOff x="3424168" y="1948917"/>
            <a:chExt cx="5343664" cy="2960167"/>
          </a:xfrm>
        </p:grpSpPr>
        <p:grpSp>
          <p:nvGrpSpPr>
            <p:cNvPr id="19" name="Group 18">
              <a:extLst>
                <a:ext uri="{FF2B5EF4-FFF2-40B4-BE49-F238E27FC236}">
                  <a16:creationId xmlns:a16="http://schemas.microsoft.com/office/drawing/2014/main" id="{929CA036-2B62-5E9C-C26C-21970ADF69DB}"/>
                </a:ext>
              </a:extLst>
            </p:cNvPr>
            <p:cNvGrpSpPr/>
            <p:nvPr/>
          </p:nvGrpSpPr>
          <p:grpSpPr>
            <a:xfrm>
              <a:off x="3424168" y="1948917"/>
              <a:ext cx="5343664" cy="2960167"/>
              <a:chOff x="6357009" y="1948917"/>
              <a:chExt cx="5343664" cy="2960167"/>
            </a:xfrm>
          </p:grpSpPr>
          <p:sp>
            <p:nvSpPr>
              <p:cNvPr id="21" name="Rounded Rectangle 20">
                <a:extLst>
                  <a:ext uri="{FF2B5EF4-FFF2-40B4-BE49-F238E27FC236}">
                    <a16:creationId xmlns:a16="http://schemas.microsoft.com/office/drawing/2014/main" id="{EBDE617D-2D77-E7B3-D147-B231AFC59D2D}"/>
                  </a:ext>
                </a:extLst>
              </p:cNvPr>
              <p:cNvSpPr/>
              <p:nvPr/>
            </p:nvSpPr>
            <p:spPr>
              <a:xfrm>
                <a:off x="6357009" y="1948917"/>
                <a:ext cx="2468880" cy="2949023"/>
              </a:xfrm>
              <a:prstGeom prst="roundRect">
                <a:avLst/>
              </a:prstGeom>
              <a:solidFill>
                <a:schemeClr val="bg1"/>
              </a:solid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ounded Rectangle 21">
                <a:extLst>
                  <a:ext uri="{FF2B5EF4-FFF2-40B4-BE49-F238E27FC236}">
                    <a16:creationId xmlns:a16="http://schemas.microsoft.com/office/drawing/2014/main" id="{849BE665-6220-CB9B-9A9B-10BA60715703}"/>
                  </a:ext>
                </a:extLst>
              </p:cNvPr>
              <p:cNvSpPr/>
              <p:nvPr/>
            </p:nvSpPr>
            <p:spPr>
              <a:xfrm>
                <a:off x="9231793" y="1948917"/>
                <a:ext cx="2468880" cy="2960167"/>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DD3C5999-F21A-59DF-5638-6C324A840743}"/>
                  </a:ext>
                </a:extLst>
              </p:cNvPr>
              <p:cNvSpPr txBox="1"/>
              <p:nvPr/>
            </p:nvSpPr>
            <p:spPr>
              <a:xfrm>
                <a:off x="9420249" y="3598703"/>
                <a:ext cx="2091967" cy="954107"/>
              </a:xfrm>
              <a:prstGeom prst="rect">
                <a:avLst/>
              </a:prstGeom>
              <a:noFill/>
            </p:spPr>
            <p:txBody>
              <a:bodyPr wrap="square" rtlCol="0">
                <a:spAutoFit/>
              </a:bodyPr>
              <a:lstStyle/>
              <a:p>
                <a:pPr algn="ctr"/>
                <a:r>
                  <a:rPr lang="en-US" sz="2800" b="1" dirty="0"/>
                  <a:t>Interactive</a:t>
                </a:r>
              </a:p>
              <a:p>
                <a:pPr algn="ctr"/>
                <a:r>
                  <a:rPr lang="en-US" sz="2800" b="1" dirty="0"/>
                  <a:t>Job</a:t>
                </a:r>
              </a:p>
            </p:txBody>
          </p:sp>
          <p:sp>
            <p:nvSpPr>
              <p:cNvPr id="24" name="TextBox 23">
                <a:extLst>
                  <a:ext uri="{FF2B5EF4-FFF2-40B4-BE49-F238E27FC236}">
                    <a16:creationId xmlns:a16="http://schemas.microsoft.com/office/drawing/2014/main" id="{0398E922-3457-38FC-F6D6-85B33CC84168}"/>
                  </a:ext>
                </a:extLst>
              </p:cNvPr>
              <p:cNvSpPr txBox="1"/>
              <p:nvPr/>
            </p:nvSpPr>
            <p:spPr>
              <a:xfrm>
                <a:off x="6634225" y="3587559"/>
                <a:ext cx="1914448" cy="954107"/>
              </a:xfrm>
              <a:prstGeom prst="rect">
                <a:avLst/>
              </a:prstGeom>
              <a:noFill/>
            </p:spPr>
            <p:txBody>
              <a:bodyPr wrap="square" rtlCol="0">
                <a:spAutoFit/>
              </a:bodyPr>
              <a:lstStyle/>
              <a:p>
                <a:pPr algn="ctr"/>
                <a:r>
                  <a:rPr lang="en-US" sz="2800" b="1" dirty="0"/>
                  <a:t>Batch</a:t>
                </a:r>
              </a:p>
              <a:p>
                <a:pPr algn="ctr"/>
                <a:r>
                  <a:rPr lang="en-US" sz="2800" b="1" dirty="0"/>
                  <a:t>Job</a:t>
                </a:r>
              </a:p>
            </p:txBody>
          </p:sp>
          <p:pic>
            <p:nvPicPr>
              <p:cNvPr id="25" name="Graphic 24" descr="An icon of a person programming on a laptop">
                <a:extLst>
                  <a:ext uri="{FF2B5EF4-FFF2-40B4-BE49-F238E27FC236}">
                    <a16:creationId xmlns:a16="http://schemas.microsoft.com/office/drawing/2014/main" id="{07393C4B-8E86-71F2-D05F-280A12AE11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6153" y="2206872"/>
                <a:ext cx="1280160" cy="1280160"/>
              </a:xfrm>
              <a:prstGeom prst="rect">
                <a:avLst/>
              </a:prstGeom>
            </p:spPr>
          </p:pic>
        </p:grpSp>
        <p:pic>
          <p:nvPicPr>
            <p:cNvPr id="20" name="Graphic 19" descr="An icon representing a file or a document">
              <a:extLst>
                <a:ext uri="{FF2B5EF4-FFF2-40B4-BE49-F238E27FC236}">
                  <a16:creationId xmlns:a16="http://schemas.microsoft.com/office/drawing/2014/main" id="{A143587B-8A7E-CE44-6249-3A3D243069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18528" y="2206872"/>
              <a:ext cx="1280160" cy="1280160"/>
            </a:xfrm>
            <a:prstGeom prst="rect">
              <a:avLst/>
            </a:prstGeom>
          </p:spPr>
        </p:pic>
      </p:grpSp>
      <p:sp>
        <p:nvSpPr>
          <p:cNvPr id="18" name="TextBox 17">
            <a:extLst>
              <a:ext uri="{FF2B5EF4-FFF2-40B4-BE49-F238E27FC236}">
                <a16:creationId xmlns:a16="http://schemas.microsoft.com/office/drawing/2014/main" id="{B5928697-2372-B16C-61ED-73DACE02410A}"/>
              </a:ext>
            </a:extLst>
          </p:cNvPr>
          <p:cNvSpPr txBox="1"/>
          <p:nvPr/>
        </p:nvSpPr>
        <p:spPr>
          <a:xfrm>
            <a:off x="8956904" y="1994314"/>
            <a:ext cx="3088372" cy="2985433"/>
          </a:xfrm>
          <a:prstGeom prst="rect">
            <a:avLst/>
          </a:prstGeom>
          <a:noFill/>
        </p:spPr>
        <p:txBody>
          <a:bodyPr wrap="square" rtlCol="0">
            <a:spAutoFit/>
          </a:bodyPr>
          <a:lstStyle/>
          <a:p>
            <a:pPr marL="234950" indent="-234950">
              <a:spcAft>
                <a:spcPts val="1200"/>
              </a:spcAft>
              <a:buFont typeface="Arial" panose="020B0604020202020204" pitchFamily="34" charset="0"/>
              <a:buChar char="•"/>
            </a:pPr>
            <a:r>
              <a:rPr lang="en-US" sz="2800" dirty="0"/>
              <a:t>Terminal or GUI</a:t>
            </a:r>
          </a:p>
          <a:p>
            <a:pPr marL="234950" indent="-234950">
              <a:spcAft>
                <a:spcPts val="1200"/>
              </a:spcAft>
              <a:buFont typeface="Arial" panose="020B0604020202020204" pitchFamily="34" charset="0"/>
              <a:buChar char="•"/>
            </a:pPr>
            <a:r>
              <a:rPr lang="en-US" sz="2800" dirty="0"/>
              <a:t>Requires active user input</a:t>
            </a:r>
          </a:p>
          <a:p>
            <a:pPr marL="234950" indent="-234950">
              <a:spcAft>
                <a:spcPts val="1200"/>
              </a:spcAft>
              <a:buFont typeface="Arial" panose="020B0604020202020204" pitchFamily="34" charset="0"/>
              <a:buChar char="•"/>
            </a:pPr>
            <a:r>
              <a:rPr lang="en-US" sz="2800" dirty="0"/>
              <a:t>Best for development and exploration</a:t>
            </a:r>
          </a:p>
        </p:txBody>
      </p:sp>
      <p:sp>
        <p:nvSpPr>
          <p:cNvPr id="5" name="Slide Number Placeholder 4">
            <a:extLst>
              <a:ext uri="{FF2B5EF4-FFF2-40B4-BE49-F238E27FC236}">
                <a16:creationId xmlns:a16="http://schemas.microsoft.com/office/drawing/2014/main" id="{89D01677-1C2C-5558-7AE4-0A49C88F5F32}"/>
              </a:ext>
            </a:extLst>
          </p:cNvPr>
          <p:cNvSpPr>
            <a:spLocks noGrp="1"/>
          </p:cNvSpPr>
          <p:nvPr>
            <p:ph type="sldNum" sz="quarter" idx="12"/>
          </p:nvPr>
        </p:nvSpPr>
        <p:spPr/>
        <p:txBody>
          <a:bodyPr/>
          <a:lstStyle/>
          <a:p>
            <a:fld id="{ABDA560F-461C-6043-9BC4-489BA92F7161}" type="slidenum">
              <a:rPr lang="en-US" smtClean="0"/>
              <a:t>34</a:t>
            </a:fld>
            <a:endParaRPr lang="en-US"/>
          </a:p>
        </p:txBody>
      </p:sp>
    </p:spTree>
    <p:extLst>
      <p:ext uri="{BB962C8B-B14F-4D97-AF65-F5344CB8AC3E}">
        <p14:creationId xmlns:p14="http://schemas.microsoft.com/office/powerpoint/2010/main" val="27729642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F5C-843C-1042-FD0A-C057E07CA4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E42C17-DD7D-9248-BD8C-574C2CD70B49}"/>
              </a:ext>
            </a:extLst>
          </p:cNvPr>
          <p:cNvSpPr>
            <a:spLocks noGrp="1"/>
          </p:cNvSpPr>
          <p:nvPr>
            <p:ph type="title"/>
          </p:nvPr>
        </p:nvSpPr>
        <p:spPr>
          <a:xfrm>
            <a:off x="838200" y="66091"/>
            <a:ext cx="10515600" cy="1325563"/>
          </a:xfrm>
        </p:spPr>
        <p:txBody>
          <a:bodyPr/>
          <a:lstStyle/>
          <a:p>
            <a:r>
              <a:rPr lang="en-US" dirty="0" err="1"/>
              <a:t>Slurm</a:t>
            </a:r>
            <a:r>
              <a:rPr lang="en-US" dirty="0"/>
              <a:t> Directives</a:t>
            </a:r>
          </a:p>
        </p:txBody>
      </p:sp>
      <p:sp>
        <p:nvSpPr>
          <p:cNvPr id="5" name="Slide Number Placeholder 4">
            <a:extLst>
              <a:ext uri="{FF2B5EF4-FFF2-40B4-BE49-F238E27FC236}">
                <a16:creationId xmlns:a16="http://schemas.microsoft.com/office/drawing/2014/main" id="{ACD81A90-4F9D-573E-6096-B83BA10286BB}"/>
              </a:ext>
            </a:extLst>
          </p:cNvPr>
          <p:cNvSpPr>
            <a:spLocks noGrp="1"/>
          </p:cNvSpPr>
          <p:nvPr>
            <p:ph type="sldNum" sz="quarter" idx="12"/>
          </p:nvPr>
        </p:nvSpPr>
        <p:spPr/>
        <p:txBody>
          <a:bodyPr/>
          <a:lstStyle/>
          <a:p>
            <a:fld id="{ABDA560F-461C-6043-9BC4-489BA92F7161}" type="slidenum">
              <a:rPr lang="en-US" smtClean="0"/>
              <a:t>35</a:t>
            </a:fld>
            <a:endParaRPr lang="en-US"/>
          </a:p>
        </p:txBody>
      </p:sp>
      <p:sp>
        <p:nvSpPr>
          <p:cNvPr id="3" name="TextBox 2">
            <a:extLst>
              <a:ext uri="{FF2B5EF4-FFF2-40B4-BE49-F238E27FC236}">
                <a16:creationId xmlns:a16="http://schemas.microsoft.com/office/drawing/2014/main" id="{DB3B7597-FB95-7F32-8231-A0B2E11461B2}"/>
              </a:ext>
            </a:extLst>
          </p:cNvPr>
          <p:cNvSpPr txBox="1"/>
          <p:nvPr/>
        </p:nvSpPr>
        <p:spPr>
          <a:xfrm>
            <a:off x="944137" y="1813929"/>
            <a:ext cx="9238250" cy="3077766"/>
          </a:xfrm>
          <a:prstGeom prst="rect">
            <a:avLst/>
          </a:prstGeom>
          <a:noFill/>
        </p:spPr>
        <p:txBody>
          <a:bodyPr wrap="square" rtlCol="0">
            <a:spAutoFit/>
          </a:bodyPr>
          <a:lstStyle/>
          <a:p>
            <a:r>
              <a:rPr lang="en-US" sz="2200" dirty="0" err="1"/>
              <a:t>Slurm</a:t>
            </a:r>
            <a:r>
              <a:rPr lang="en-US" sz="2200" dirty="0"/>
              <a:t> is a popular resource manager for High-Performance Computing systems it</a:t>
            </a:r>
          </a:p>
          <a:p>
            <a:pPr marL="342900" indent="-342900">
              <a:buFont typeface="Arial" panose="020B0604020202020204" pitchFamily="34" charset="0"/>
              <a:buChar char="•"/>
            </a:pPr>
            <a:r>
              <a:rPr lang="en-US" sz="2200" dirty="0"/>
              <a:t>Grabs the resources you are requesting</a:t>
            </a:r>
          </a:p>
          <a:p>
            <a:pPr marL="342900" indent="-342900">
              <a:buFont typeface="Arial" panose="020B0604020202020204" pitchFamily="34" charset="0"/>
              <a:buChar char="•"/>
            </a:pPr>
            <a:r>
              <a:rPr lang="en-US" sz="2200" dirty="0"/>
              <a:t>Determines when your job will run using an equitable algorithm based on user and system usage</a:t>
            </a:r>
          </a:p>
          <a:p>
            <a:endParaRPr lang="en-US" sz="2200" dirty="0"/>
          </a:p>
          <a:p>
            <a:r>
              <a:rPr lang="en-US" sz="2200" dirty="0" err="1"/>
              <a:t>Slurm</a:t>
            </a:r>
            <a:r>
              <a:rPr lang="en-US" sz="2200" dirty="0"/>
              <a:t> directives are how we tell </a:t>
            </a:r>
            <a:r>
              <a:rPr lang="en-US" sz="2200" dirty="0" err="1"/>
              <a:t>Slurm</a:t>
            </a:r>
            <a:r>
              <a:rPr lang="en-US" sz="2200" dirty="0"/>
              <a:t> what resources we would like </a:t>
            </a:r>
          </a:p>
          <a:p>
            <a:pPr marL="342900" indent="-342900">
              <a:buFont typeface="Arial" panose="020B0604020202020204" pitchFamily="34" charset="0"/>
              <a:buChar char="•"/>
            </a:pPr>
            <a:r>
              <a:rPr lang="en-US" sz="2200" dirty="0"/>
              <a:t>Used for both interactive and batch jobs</a:t>
            </a:r>
          </a:p>
          <a:p>
            <a:endParaRPr lang="en-US" dirty="0"/>
          </a:p>
        </p:txBody>
      </p:sp>
    </p:spTree>
    <p:extLst>
      <p:ext uri="{BB962C8B-B14F-4D97-AF65-F5344CB8AC3E}">
        <p14:creationId xmlns:p14="http://schemas.microsoft.com/office/powerpoint/2010/main" val="34889710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749CF7-32EF-DAC5-7DD8-74D583CFA5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EEE945-C7E1-16E3-0841-5FD73FA4F47F}"/>
              </a:ext>
            </a:extLst>
          </p:cNvPr>
          <p:cNvSpPr>
            <a:spLocks noGrp="1"/>
          </p:cNvSpPr>
          <p:nvPr>
            <p:ph type="title"/>
          </p:nvPr>
        </p:nvSpPr>
        <p:spPr>
          <a:xfrm>
            <a:off x="838200" y="0"/>
            <a:ext cx="10515600" cy="1325563"/>
          </a:xfrm>
        </p:spPr>
        <p:txBody>
          <a:bodyPr/>
          <a:lstStyle/>
          <a:p>
            <a:r>
              <a:rPr lang="en-US" dirty="0"/>
              <a:t>Common </a:t>
            </a:r>
            <a:r>
              <a:rPr lang="en-US" dirty="0" err="1"/>
              <a:t>Slurm</a:t>
            </a:r>
            <a:r>
              <a:rPr lang="en-US" dirty="0"/>
              <a:t> Directives</a:t>
            </a:r>
          </a:p>
        </p:txBody>
      </p:sp>
      <p:grpSp>
        <p:nvGrpSpPr>
          <p:cNvPr id="18" name="Group 17" descr="The red stars are next to the partition, QoS, number of cores, and walltime bullets, indicating that they must be specified. There are orange stars next to the number of nodes and number of GPUs, indicating that they must be specified for certain jobs">
            <a:extLst>
              <a:ext uri="{FF2B5EF4-FFF2-40B4-BE49-F238E27FC236}">
                <a16:creationId xmlns:a16="http://schemas.microsoft.com/office/drawing/2014/main" id="{68EC8B88-FF18-FDE5-C8D6-EEE1A880BBAB}"/>
              </a:ext>
            </a:extLst>
          </p:cNvPr>
          <p:cNvGrpSpPr/>
          <p:nvPr/>
        </p:nvGrpSpPr>
        <p:grpSpPr>
          <a:xfrm>
            <a:off x="515794" y="1360357"/>
            <a:ext cx="10123792" cy="4137286"/>
            <a:chOff x="1135727" y="1325563"/>
            <a:chExt cx="10123792" cy="4137286"/>
          </a:xfrm>
        </p:grpSpPr>
        <p:sp>
          <p:nvSpPr>
            <p:cNvPr id="3" name="5-Point Star 2" descr="Red star marking partition as a required directive">
              <a:extLst>
                <a:ext uri="{FF2B5EF4-FFF2-40B4-BE49-F238E27FC236}">
                  <a16:creationId xmlns:a16="http://schemas.microsoft.com/office/drawing/2014/main" id="{2B55D852-E469-8741-F5D6-AC99016B0802}"/>
                </a:ext>
              </a:extLst>
            </p:cNvPr>
            <p:cNvSpPr/>
            <p:nvPr/>
          </p:nvSpPr>
          <p:spPr>
            <a:xfrm>
              <a:off x="1139127" y="1421489"/>
              <a:ext cx="229073"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AF732FF-E7A0-5065-1B9F-259E000DF213}"/>
                </a:ext>
              </a:extLst>
            </p:cNvPr>
            <p:cNvSpPr txBox="1"/>
            <p:nvPr/>
          </p:nvSpPr>
          <p:spPr>
            <a:xfrm>
              <a:off x="1368201" y="1325563"/>
              <a:ext cx="9891318" cy="4137286"/>
            </a:xfrm>
            <a:prstGeom prst="rect">
              <a:avLst/>
            </a:prstGeom>
            <a:noFill/>
          </p:spPr>
          <p:txBody>
            <a:bodyPr wrap="square" rtlCol="0">
              <a:spAutoFit/>
            </a:bodyPr>
            <a:lstStyle/>
            <a:p>
              <a:pPr marL="240665" marR="0" lvl="0" indent="-205740" algn="l" rtl="0">
                <a:lnSpc>
                  <a:spcPct val="122511"/>
                </a:lnSpc>
                <a:spcBef>
                  <a:spcPts val="0"/>
                </a:spcBef>
                <a:spcAft>
                  <a:spcPts val="0"/>
                </a:spcAft>
                <a:buClr>
                  <a:srgbClr val="A9A57C"/>
                </a:buClr>
                <a:buSzPts val="1800"/>
                <a:buFont typeface="Arial"/>
                <a:buChar char="•"/>
              </a:pPr>
              <a:r>
                <a:rPr lang="en-US" sz="1800" b="1" dirty="0">
                  <a:solidFill>
                    <a:srgbClr val="2F2B20"/>
                  </a:solidFill>
                  <a:latin typeface="Arial"/>
                  <a:ea typeface="Arial"/>
                  <a:cs typeface="Arial"/>
                  <a:sym typeface="Arial"/>
                </a:rPr>
                <a:t>Partition</a:t>
              </a:r>
            </a:p>
            <a:p>
              <a:pPr marL="697865" lvl="1" indent="-205740">
                <a:lnSpc>
                  <a:spcPct val="122511"/>
                </a:lnSpc>
                <a:buClr>
                  <a:srgbClr val="A9A57C"/>
                </a:buClr>
                <a:buSzPts val="1800"/>
                <a:buFont typeface="Arial"/>
                <a:buChar char="•"/>
              </a:pPr>
              <a:r>
                <a:rPr lang="en-US" sz="1800" dirty="0">
                  <a:solidFill>
                    <a:srgbClr val="0070C0"/>
                  </a:solidFill>
                  <a:latin typeface="Consolas"/>
                  <a:ea typeface="Consolas"/>
                  <a:cs typeface="Consolas"/>
                  <a:sym typeface="Consolas"/>
                </a:rPr>
                <a:t>--partition=</a:t>
              </a:r>
              <a:r>
                <a:rPr lang="en-US" sz="1800" dirty="0">
                  <a:solidFill>
                    <a:schemeClr val="accent2"/>
                  </a:solidFill>
                  <a:latin typeface="Consolas"/>
                  <a:ea typeface="Consolas"/>
                  <a:cs typeface="Consolas"/>
                  <a:sym typeface="Consolas"/>
                </a:rPr>
                <a:t>&lt;</a:t>
              </a:r>
              <a:r>
                <a:rPr lang="en-US" sz="1800" dirty="0" err="1">
                  <a:solidFill>
                    <a:schemeClr val="accent2"/>
                  </a:solidFill>
                  <a:latin typeface="Consolas"/>
                  <a:ea typeface="Consolas"/>
                  <a:cs typeface="Consolas"/>
                  <a:sym typeface="Consolas"/>
                </a:rPr>
                <a:t>partition_name</a:t>
              </a:r>
              <a:r>
                <a:rPr lang="en-US" sz="1800" dirty="0">
                  <a:solidFill>
                    <a:schemeClr val="accent2"/>
                  </a:solidFill>
                  <a:latin typeface="Consolas"/>
                  <a:ea typeface="Consolas"/>
                  <a:cs typeface="Consolas"/>
                  <a:sym typeface="Consolas"/>
                </a:rPr>
                <a:t>&gt;</a:t>
              </a:r>
            </a:p>
            <a:p>
              <a:pPr marL="240665" indent="-205740">
                <a:lnSpc>
                  <a:spcPct val="122511"/>
                </a:lnSpc>
                <a:buClr>
                  <a:srgbClr val="A9A57C"/>
                </a:buClr>
                <a:buSzPts val="1800"/>
                <a:buFont typeface="Arial"/>
                <a:buChar char="•"/>
              </a:pPr>
              <a:r>
                <a:rPr lang="en-US" sz="1800" b="1" dirty="0">
                  <a:solidFill>
                    <a:srgbClr val="2F2B20"/>
                  </a:solidFill>
                </a:rPr>
                <a:t>Quality of service (QoS)</a:t>
              </a:r>
            </a:p>
            <a:p>
              <a:pPr marL="697865" lvl="1" indent="-205740">
                <a:lnSpc>
                  <a:spcPct val="122511"/>
                </a:lnSpc>
                <a:buClr>
                  <a:srgbClr val="A9A57C"/>
                </a:buClr>
                <a:buSzPts val="1800"/>
                <a:buFont typeface="Arial"/>
                <a:buChar char="•"/>
              </a:pPr>
              <a:r>
                <a:rPr lang="en-US" b="1" dirty="0">
                  <a:solidFill>
                    <a:srgbClr val="2F2B20"/>
                  </a:solidFill>
                </a:rPr>
                <a:t> </a:t>
              </a:r>
              <a:r>
                <a:rPr lang="en-US" sz="1800" dirty="0">
                  <a:solidFill>
                    <a:srgbClr val="0070C0"/>
                  </a:solidFill>
                  <a:latin typeface="Consolas"/>
                  <a:ea typeface="Consolas"/>
                  <a:cs typeface="Consolas"/>
                  <a:sym typeface="Consolas"/>
                </a:rPr>
                <a:t>--</a:t>
              </a:r>
              <a:r>
                <a:rPr lang="en-US" sz="1800" dirty="0" err="1">
                  <a:solidFill>
                    <a:srgbClr val="0070C0"/>
                  </a:solidFill>
                  <a:latin typeface="Consolas"/>
                  <a:ea typeface="Consolas"/>
                  <a:cs typeface="Consolas"/>
                  <a:sym typeface="Consolas"/>
                </a:rPr>
                <a:t>qos</a:t>
              </a:r>
              <a:r>
                <a:rPr lang="en-US" sz="1800" dirty="0">
                  <a:solidFill>
                    <a:srgbClr val="0070C0"/>
                  </a:solidFill>
                  <a:latin typeface="Consolas"/>
                  <a:ea typeface="Consolas"/>
                  <a:cs typeface="Consolas"/>
                  <a:sym typeface="Consolas"/>
                </a:rPr>
                <a:t>=</a:t>
              </a:r>
              <a:r>
                <a:rPr lang="en-US" sz="1800" dirty="0">
                  <a:solidFill>
                    <a:schemeClr val="accent2"/>
                  </a:solidFill>
                  <a:latin typeface="Consolas"/>
                  <a:ea typeface="Consolas"/>
                  <a:cs typeface="Consolas"/>
                  <a:sym typeface="Consolas"/>
                </a:rPr>
                <a:t>&lt;</a:t>
              </a:r>
              <a:r>
                <a:rPr lang="en-US" sz="1800" dirty="0" err="1">
                  <a:solidFill>
                    <a:schemeClr val="accent2"/>
                  </a:solidFill>
                  <a:latin typeface="Consolas"/>
                  <a:ea typeface="Consolas"/>
                  <a:cs typeface="Consolas"/>
                  <a:sym typeface="Consolas"/>
                </a:rPr>
                <a:t>qos</a:t>
              </a:r>
              <a:r>
                <a:rPr lang="en-US" sz="1800" dirty="0">
                  <a:solidFill>
                    <a:schemeClr val="accent2"/>
                  </a:solidFill>
                  <a:latin typeface="Consolas"/>
                  <a:ea typeface="Consolas"/>
                  <a:cs typeface="Consolas"/>
                  <a:sym typeface="Consolas"/>
                </a:rPr>
                <a:t>&gt;</a:t>
              </a:r>
            </a:p>
            <a:p>
              <a:pPr marL="240665" indent="-205740">
                <a:lnSpc>
                  <a:spcPct val="122511"/>
                </a:lnSpc>
                <a:buClr>
                  <a:srgbClr val="A9A57C"/>
                </a:buClr>
                <a:buSzPts val="1800"/>
                <a:buFont typeface="Arial"/>
                <a:buChar char="•"/>
              </a:pPr>
              <a:r>
                <a:rPr lang="en-US" sz="1800" b="1" dirty="0">
                  <a:solidFill>
                    <a:srgbClr val="2F2B20"/>
                  </a:solidFill>
                </a:rPr>
                <a:t>Number of nodes to run on </a:t>
              </a:r>
            </a:p>
            <a:p>
              <a:pPr marL="697865" lvl="1" indent="-205740">
                <a:lnSpc>
                  <a:spcPct val="122511"/>
                </a:lnSpc>
                <a:buClr>
                  <a:srgbClr val="A9A57C"/>
                </a:buClr>
                <a:buSzPts val="1800"/>
                <a:buFont typeface="Arial"/>
                <a:buChar char="•"/>
              </a:pPr>
              <a:r>
                <a:rPr lang="en-US" sz="1800" dirty="0">
                  <a:solidFill>
                    <a:srgbClr val="0070C0"/>
                  </a:solidFill>
                  <a:latin typeface="Consolas"/>
                  <a:ea typeface="Consolas"/>
                  <a:cs typeface="Consolas"/>
                  <a:sym typeface="Consolas"/>
                </a:rPr>
                <a:t>--nodes=</a:t>
              </a:r>
              <a:r>
                <a:rPr lang="en-US" sz="1800" dirty="0">
                  <a:solidFill>
                    <a:schemeClr val="accent2"/>
                  </a:solidFill>
                  <a:latin typeface="Consolas"/>
                  <a:ea typeface="Consolas"/>
                  <a:cs typeface="Consolas"/>
                  <a:sym typeface="Consolas"/>
                </a:rPr>
                <a:t>&lt;nodes&gt;</a:t>
              </a:r>
              <a:endParaRPr lang="en-US" b="1" dirty="0">
                <a:solidFill>
                  <a:schemeClr val="dk1"/>
                </a:solidFill>
              </a:endParaRPr>
            </a:p>
            <a:p>
              <a:pPr marL="240665" indent="-205740">
                <a:lnSpc>
                  <a:spcPct val="122511"/>
                </a:lnSpc>
                <a:buClr>
                  <a:srgbClr val="A9A57C"/>
                </a:buClr>
                <a:buSzPts val="1800"/>
                <a:buFont typeface="Arial"/>
                <a:buChar char="•"/>
              </a:pPr>
              <a:r>
                <a:rPr lang="en-US" sz="1800" b="1" dirty="0">
                  <a:solidFill>
                    <a:srgbClr val="2F2B20"/>
                  </a:solidFill>
                </a:rPr>
                <a:t>Number of cores to run on </a:t>
              </a:r>
            </a:p>
            <a:p>
              <a:pPr marL="697865" lvl="1" indent="-205740">
                <a:lnSpc>
                  <a:spcPct val="122511"/>
                </a:lnSpc>
                <a:buClr>
                  <a:srgbClr val="A9A57C"/>
                </a:buClr>
                <a:buSzPts val="1800"/>
                <a:buFont typeface="Arial"/>
                <a:buChar char="•"/>
              </a:pPr>
              <a:r>
                <a:rPr lang="en-US" sz="1800" dirty="0">
                  <a:solidFill>
                    <a:srgbClr val="0070C0"/>
                  </a:solidFill>
                  <a:latin typeface="Consolas"/>
                  <a:ea typeface="Consolas"/>
                  <a:cs typeface="Consolas"/>
                  <a:sym typeface="Consolas"/>
                </a:rPr>
                <a:t>--</a:t>
              </a:r>
              <a:r>
                <a:rPr lang="en-US" sz="1800" dirty="0" err="1">
                  <a:solidFill>
                    <a:srgbClr val="0070C0"/>
                  </a:solidFill>
                  <a:latin typeface="Consolas"/>
                  <a:ea typeface="Consolas"/>
                  <a:cs typeface="Consolas"/>
                  <a:sym typeface="Consolas"/>
                </a:rPr>
                <a:t>ntasks</a:t>
              </a:r>
              <a:r>
                <a:rPr lang="en-US" sz="1800" dirty="0">
                  <a:solidFill>
                    <a:srgbClr val="0070C0"/>
                  </a:solidFill>
                  <a:latin typeface="Consolas"/>
                  <a:ea typeface="Consolas"/>
                  <a:cs typeface="Consolas"/>
                  <a:sym typeface="Consolas"/>
                </a:rPr>
                <a:t>=</a:t>
              </a:r>
              <a:r>
                <a:rPr lang="en-US" sz="1800" dirty="0">
                  <a:solidFill>
                    <a:schemeClr val="accent2"/>
                  </a:solidFill>
                  <a:latin typeface="Consolas"/>
                  <a:ea typeface="Consolas"/>
                  <a:cs typeface="Consolas"/>
                  <a:sym typeface="Consolas"/>
                </a:rPr>
                <a:t>&lt;number-of-tasks&gt;</a:t>
              </a:r>
            </a:p>
            <a:p>
              <a:pPr marL="240665" lvl="0" indent="-202692">
                <a:lnSpc>
                  <a:spcPct val="119836"/>
                </a:lnSpc>
                <a:spcBef>
                  <a:spcPts val="26"/>
                </a:spcBef>
                <a:buClr>
                  <a:srgbClr val="A9A57C"/>
                </a:buClr>
                <a:buSzPts val="1800"/>
                <a:buFont typeface="Arial"/>
                <a:buChar char="•"/>
              </a:pPr>
              <a:r>
                <a:rPr lang="en-US" b="1" dirty="0">
                  <a:solidFill>
                    <a:srgbClr val="2F2B20"/>
                  </a:solidFill>
                  <a:ea typeface="Arial"/>
                  <a:cs typeface="Arial"/>
                  <a:sym typeface="Arial"/>
                </a:rPr>
                <a:t>Wall time</a:t>
              </a:r>
            </a:p>
            <a:p>
              <a:pPr marL="697865" lvl="1" indent="-202692">
                <a:lnSpc>
                  <a:spcPct val="119836"/>
                </a:lnSpc>
                <a:spcBef>
                  <a:spcPts val="26"/>
                </a:spcBef>
                <a:buClr>
                  <a:srgbClr val="A9A57C"/>
                </a:buClr>
                <a:buSzPts val="1800"/>
                <a:buFont typeface="Arial"/>
                <a:buChar char="•"/>
              </a:pPr>
              <a:r>
                <a:rPr lang="en-US" dirty="0">
                  <a:solidFill>
                    <a:srgbClr val="0070C0"/>
                  </a:solidFill>
                  <a:latin typeface="Consolas"/>
                  <a:ea typeface="Consolas"/>
                  <a:cs typeface="Consolas"/>
                  <a:sym typeface="Consolas"/>
                </a:rPr>
                <a:t>--time=</a:t>
              </a:r>
              <a:r>
                <a:rPr lang="en-US" dirty="0">
                  <a:solidFill>
                    <a:schemeClr val="accent2"/>
                  </a:solidFill>
                  <a:latin typeface="Consolas"/>
                  <a:ea typeface="Consolas"/>
                  <a:cs typeface="Consolas"/>
                  <a:sym typeface="Consolas"/>
                </a:rPr>
                <a:t>&lt;wall time&gt;</a:t>
              </a:r>
              <a:endParaRPr lang="en-US" dirty="0">
                <a:solidFill>
                  <a:srgbClr val="2F2B20"/>
                </a:solidFill>
                <a:ea typeface="Arial"/>
                <a:cs typeface="Arial"/>
                <a:sym typeface="Arial"/>
              </a:endParaRPr>
            </a:p>
            <a:p>
              <a:pPr marL="240665" indent="-205740">
                <a:lnSpc>
                  <a:spcPct val="122511"/>
                </a:lnSpc>
                <a:buClr>
                  <a:srgbClr val="A9A57C"/>
                </a:buClr>
                <a:buSzPts val="1800"/>
                <a:buFont typeface="Arial"/>
                <a:buChar char="•"/>
              </a:pPr>
              <a:r>
                <a:rPr lang="en-US" b="1" dirty="0">
                  <a:solidFill>
                    <a:schemeClr val="dk1"/>
                  </a:solidFill>
                  <a:latin typeface="Arial"/>
                  <a:ea typeface="Arial"/>
                  <a:cs typeface="Arial"/>
                  <a:sym typeface="Arial"/>
                </a:rPr>
                <a:t>Number of GPUs and GRES type (“N” is # of GPUs)</a:t>
              </a:r>
            </a:p>
            <a:p>
              <a:pPr marL="697865" lvl="1" indent="-205740">
                <a:lnSpc>
                  <a:spcPct val="122511"/>
                </a:lnSpc>
                <a:buClr>
                  <a:srgbClr val="A9A57C"/>
                </a:buClr>
                <a:buSzPts val="1800"/>
                <a:buFont typeface="Arial"/>
                <a:buChar char="•"/>
              </a:pPr>
              <a:r>
                <a:rPr lang="en-US" dirty="0">
                  <a:solidFill>
                    <a:srgbClr val="0070C0"/>
                  </a:solidFill>
                  <a:latin typeface="Consolas"/>
                  <a:ea typeface="Consolas"/>
                  <a:cs typeface="Consolas"/>
                  <a:sym typeface="Consolas"/>
                </a:rPr>
                <a:t>--</a:t>
              </a:r>
              <a:r>
                <a:rPr lang="en-US" dirty="0" err="1">
                  <a:solidFill>
                    <a:srgbClr val="0070C0"/>
                  </a:solidFill>
                  <a:latin typeface="Consolas"/>
                  <a:ea typeface="Consolas"/>
                  <a:cs typeface="Consolas"/>
                  <a:sym typeface="Consolas"/>
                </a:rPr>
                <a:t>gres</a:t>
              </a:r>
              <a:r>
                <a:rPr lang="en-US" dirty="0">
                  <a:solidFill>
                    <a:srgbClr val="0070C0"/>
                  </a:solidFill>
                  <a:latin typeface="Consolas"/>
                  <a:ea typeface="Consolas"/>
                  <a:cs typeface="Consolas"/>
                  <a:sym typeface="Consolas"/>
                </a:rPr>
                <a:t>=</a:t>
              </a:r>
              <a:r>
                <a:rPr lang="en-US" dirty="0" err="1">
                  <a:solidFill>
                    <a:schemeClr val="accent2"/>
                  </a:solidFill>
                  <a:latin typeface="Consolas"/>
                  <a:ea typeface="Consolas"/>
                  <a:cs typeface="Consolas"/>
                  <a:sym typeface="Consolas"/>
                </a:rPr>
                <a:t>gpu</a:t>
              </a:r>
              <a:r>
                <a:rPr lang="en-US" dirty="0">
                  <a:solidFill>
                    <a:schemeClr val="accent2"/>
                  </a:solidFill>
                  <a:latin typeface="Consolas"/>
                  <a:ea typeface="Consolas"/>
                  <a:cs typeface="Consolas"/>
                  <a:sym typeface="Consolas"/>
                </a:rPr>
                <a:t>:&lt;GRES type&gt;:N</a:t>
              </a:r>
              <a:endParaRPr lang="en-US" dirty="0">
                <a:solidFill>
                  <a:srgbClr val="2F2B20"/>
                </a:solidFill>
                <a:ea typeface="Arial"/>
                <a:cs typeface="Arial"/>
                <a:sym typeface="Arial"/>
              </a:endParaRPr>
            </a:p>
          </p:txBody>
        </p:sp>
        <p:sp>
          <p:nvSpPr>
            <p:cNvPr id="7" name="5-Point Star 6" descr="Red star marking Quality of Service (qos) as a required directive">
              <a:extLst>
                <a:ext uri="{FF2B5EF4-FFF2-40B4-BE49-F238E27FC236}">
                  <a16:creationId xmlns:a16="http://schemas.microsoft.com/office/drawing/2014/main" id="{F437DEB5-E616-4C3E-3712-85C899B03EF2}"/>
                </a:ext>
              </a:extLst>
            </p:cNvPr>
            <p:cNvSpPr/>
            <p:nvPr/>
          </p:nvSpPr>
          <p:spPr>
            <a:xfrm>
              <a:off x="1139127" y="2110220"/>
              <a:ext cx="229073"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5-Point Star 12" descr="Red star marking Quality of Service (qos) as a required directive">
              <a:extLst>
                <a:ext uri="{FF2B5EF4-FFF2-40B4-BE49-F238E27FC236}">
                  <a16:creationId xmlns:a16="http://schemas.microsoft.com/office/drawing/2014/main" id="{B99A1470-3196-6D65-B621-DACA677555F9}"/>
                </a:ext>
              </a:extLst>
            </p:cNvPr>
            <p:cNvSpPr/>
            <p:nvPr/>
          </p:nvSpPr>
          <p:spPr>
            <a:xfrm>
              <a:off x="1139127" y="3451642"/>
              <a:ext cx="203640"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5-Point Star 13" descr="Red star marking Quality of Service (qos) as a required directive">
              <a:extLst>
                <a:ext uri="{FF2B5EF4-FFF2-40B4-BE49-F238E27FC236}">
                  <a16:creationId xmlns:a16="http://schemas.microsoft.com/office/drawing/2014/main" id="{57B15361-99D2-42BC-2360-7AAB590015DF}"/>
                </a:ext>
              </a:extLst>
            </p:cNvPr>
            <p:cNvSpPr/>
            <p:nvPr/>
          </p:nvSpPr>
          <p:spPr>
            <a:xfrm>
              <a:off x="1139127" y="4120108"/>
              <a:ext cx="203640"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5-Point Star 14" descr="Red star explaining that a red star indicates a required directive">
              <a:extLst>
                <a:ext uri="{FF2B5EF4-FFF2-40B4-BE49-F238E27FC236}">
                  <a16:creationId xmlns:a16="http://schemas.microsoft.com/office/drawing/2014/main" id="{EA483981-269E-F909-DBF6-5EBE436F93C5}"/>
                </a:ext>
              </a:extLst>
            </p:cNvPr>
            <p:cNvSpPr/>
            <p:nvPr/>
          </p:nvSpPr>
          <p:spPr>
            <a:xfrm>
              <a:off x="1139127" y="2783176"/>
              <a:ext cx="193431" cy="202224"/>
            </a:xfrm>
            <a:prstGeom prst="star5">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5-Point Star 15" descr="Red star explaining that a red star indicates a required directive">
              <a:extLst>
                <a:ext uri="{FF2B5EF4-FFF2-40B4-BE49-F238E27FC236}">
                  <a16:creationId xmlns:a16="http://schemas.microsoft.com/office/drawing/2014/main" id="{E70E61DF-B930-66EF-ECC9-403A177FBA70}"/>
                </a:ext>
              </a:extLst>
            </p:cNvPr>
            <p:cNvSpPr/>
            <p:nvPr/>
          </p:nvSpPr>
          <p:spPr>
            <a:xfrm>
              <a:off x="1135727" y="4788574"/>
              <a:ext cx="193431" cy="202224"/>
            </a:xfrm>
            <a:prstGeom prst="star5">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0" name="Group 9" descr="A legend indicating that the red star means the Slurm directive must be set">
            <a:extLst>
              <a:ext uri="{FF2B5EF4-FFF2-40B4-BE49-F238E27FC236}">
                <a16:creationId xmlns:a16="http://schemas.microsoft.com/office/drawing/2014/main" id="{2DC117E1-AC94-D86D-EEC7-9A6F6BA8BAB0}"/>
              </a:ext>
            </a:extLst>
          </p:cNvPr>
          <p:cNvGrpSpPr/>
          <p:nvPr/>
        </p:nvGrpSpPr>
        <p:grpSpPr>
          <a:xfrm>
            <a:off x="8052957" y="4566483"/>
            <a:ext cx="3703911" cy="369332"/>
            <a:chOff x="644768" y="5684019"/>
            <a:chExt cx="3703911" cy="369332"/>
          </a:xfrm>
        </p:grpSpPr>
        <p:sp>
          <p:nvSpPr>
            <p:cNvPr id="9" name="TextBox 8">
              <a:extLst>
                <a:ext uri="{FF2B5EF4-FFF2-40B4-BE49-F238E27FC236}">
                  <a16:creationId xmlns:a16="http://schemas.microsoft.com/office/drawing/2014/main" id="{60A11002-4267-A5C2-0CA3-3DB92675F027}"/>
                </a:ext>
              </a:extLst>
            </p:cNvPr>
            <p:cNvSpPr txBox="1"/>
            <p:nvPr/>
          </p:nvSpPr>
          <p:spPr>
            <a:xfrm>
              <a:off x="893887" y="5684019"/>
              <a:ext cx="3454792" cy="369332"/>
            </a:xfrm>
            <a:prstGeom prst="rect">
              <a:avLst/>
            </a:prstGeom>
            <a:noFill/>
          </p:spPr>
          <p:txBody>
            <a:bodyPr wrap="none" rtlCol="0">
              <a:spAutoFit/>
            </a:bodyPr>
            <a:lstStyle/>
            <a:p>
              <a:r>
                <a:rPr lang="en-US" dirty="0"/>
                <a:t>- Must be specified for every job</a:t>
              </a:r>
            </a:p>
          </p:txBody>
        </p:sp>
        <p:sp>
          <p:nvSpPr>
            <p:cNvPr id="8" name="5-Point Star 7" descr="Red star explaining that a red star indicates a required directive">
              <a:extLst>
                <a:ext uri="{FF2B5EF4-FFF2-40B4-BE49-F238E27FC236}">
                  <a16:creationId xmlns:a16="http://schemas.microsoft.com/office/drawing/2014/main" id="{26ACB300-0268-3693-7077-B6C4538447B1}"/>
                </a:ext>
              </a:extLst>
            </p:cNvPr>
            <p:cNvSpPr/>
            <p:nvPr/>
          </p:nvSpPr>
          <p:spPr>
            <a:xfrm>
              <a:off x="644768" y="5767573"/>
              <a:ext cx="193431"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descr="A legend indicating that the yellow star means the Slurm directive must be set for certain jobs">
            <a:extLst>
              <a:ext uri="{FF2B5EF4-FFF2-40B4-BE49-F238E27FC236}">
                <a16:creationId xmlns:a16="http://schemas.microsoft.com/office/drawing/2014/main" id="{2B7A41D9-D871-952F-2DE8-16464BB9ED58}"/>
              </a:ext>
            </a:extLst>
          </p:cNvPr>
          <p:cNvGrpSpPr/>
          <p:nvPr/>
        </p:nvGrpSpPr>
        <p:grpSpPr>
          <a:xfrm>
            <a:off x="8055688" y="5163105"/>
            <a:ext cx="3947567" cy="369332"/>
            <a:chOff x="644768" y="5684019"/>
            <a:chExt cx="3947567" cy="369332"/>
          </a:xfrm>
        </p:grpSpPr>
        <p:sp>
          <p:nvSpPr>
            <p:cNvPr id="20" name="TextBox 19">
              <a:extLst>
                <a:ext uri="{FF2B5EF4-FFF2-40B4-BE49-F238E27FC236}">
                  <a16:creationId xmlns:a16="http://schemas.microsoft.com/office/drawing/2014/main" id="{7B5A73F0-F3F0-8C3C-DB9C-E83B96BD98C0}"/>
                </a:ext>
              </a:extLst>
            </p:cNvPr>
            <p:cNvSpPr txBox="1"/>
            <p:nvPr/>
          </p:nvSpPr>
          <p:spPr>
            <a:xfrm>
              <a:off x="893887" y="5684019"/>
              <a:ext cx="3698448" cy="369332"/>
            </a:xfrm>
            <a:prstGeom prst="rect">
              <a:avLst/>
            </a:prstGeom>
            <a:noFill/>
          </p:spPr>
          <p:txBody>
            <a:bodyPr wrap="none" rtlCol="0">
              <a:spAutoFit/>
            </a:bodyPr>
            <a:lstStyle/>
            <a:p>
              <a:r>
                <a:rPr lang="en-US" dirty="0"/>
                <a:t>- Must be specified for certain jobs</a:t>
              </a:r>
            </a:p>
          </p:txBody>
        </p:sp>
        <p:sp>
          <p:nvSpPr>
            <p:cNvPr id="21" name="5-Point Star 20" descr="Red star explaining that a red star indicates a required directive">
              <a:extLst>
                <a:ext uri="{FF2B5EF4-FFF2-40B4-BE49-F238E27FC236}">
                  <a16:creationId xmlns:a16="http://schemas.microsoft.com/office/drawing/2014/main" id="{7A314545-F6A3-66C0-71B9-C586AF788205}"/>
                </a:ext>
              </a:extLst>
            </p:cNvPr>
            <p:cNvSpPr/>
            <p:nvPr/>
          </p:nvSpPr>
          <p:spPr>
            <a:xfrm>
              <a:off x="644768" y="5767573"/>
              <a:ext cx="193431" cy="202224"/>
            </a:xfrm>
            <a:prstGeom prst="star5">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Slide Number Placeholder 4">
            <a:extLst>
              <a:ext uri="{FF2B5EF4-FFF2-40B4-BE49-F238E27FC236}">
                <a16:creationId xmlns:a16="http://schemas.microsoft.com/office/drawing/2014/main" id="{80E95F16-BC11-4B54-3291-14BA3325C0AF}"/>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36</a:t>
            </a:fld>
            <a:endParaRPr lang="en-US"/>
          </a:p>
        </p:txBody>
      </p:sp>
    </p:spTree>
    <p:extLst>
      <p:ext uri="{BB962C8B-B14F-4D97-AF65-F5344CB8AC3E}">
        <p14:creationId xmlns:p14="http://schemas.microsoft.com/office/powerpoint/2010/main" val="27670243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BE79-5A03-F5D8-50D1-D4F6CC2A53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6CBD48-74F1-E6DA-23CB-A8AC715E16DC}"/>
              </a:ext>
            </a:extLst>
          </p:cNvPr>
          <p:cNvSpPr>
            <a:spLocks noGrp="1"/>
          </p:cNvSpPr>
          <p:nvPr>
            <p:ph type="title"/>
          </p:nvPr>
        </p:nvSpPr>
        <p:spPr>
          <a:xfrm>
            <a:off x="838200" y="122360"/>
            <a:ext cx="10515600" cy="1325563"/>
          </a:xfrm>
        </p:spPr>
        <p:txBody>
          <a:bodyPr/>
          <a:lstStyle/>
          <a:p>
            <a:r>
              <a:rPr lang="en-US" dirty="0"/>
              <a:t>Common </a:t>
            </a:r>
            <a:r>
              <a:rPr lang="en-US" dirty="0" err="1"/>
              <a:t>Slurm</a:t>
            </a:r>
            <a:r>
              <a:rPr lang="en-US" dirty="0"/>
              <a:t> Directives cont.</a:t>
            </a:r>
          </a:p>
        </p:txBody>
      </p:sp>
      <p:sp>
        <p:nvSpPr>
          <p:cNvPr id="6" name="Google Shape;434;p45">
            <a:extLst>
              <a:ext uri="{FF2B5EF4-FFF2-40B4-BE49-F238E27FC236}">
                <a16:creationId xmlns:a16="http://schemas.microsoft.com/office/drawing/2014/main" id="{AD369E8A-07F2-3C1C-8295-E231CFF93432}"/>
              </a:ext>
            </a:extLst>
          </p:cNvPr>
          <p:cNvSpPr txBox="1"/>
          <p:nvPr/>
        </p:nvSpPr>
        <p:spPr>
          <a:xfrm>
            <a:off x="838200" y="1787035"/>
            <a:ext cx="9429751" cy="3554794"/>
          </a:xfrm>
          <a:prstGeom prst="rect">
            <a:avLst/>
          </a:prstGeom>
          <a:noFill/>
          <a:ln>
            <a:noFill/>
          </a:ln>
        </p:spPr>
        <p:txBody>
          <a:bodyPr spcFirstLastPara="1" wrap="square" lIns="0" tIns="12675" rIns="0" bIns="0" anchor="t" anchorCtr="0">
            <a:spAutoFit/>
          </a:bodyPr>
          <a:lstStyle/>
          <a:p>
            <a:pPr marL="240665" marR="0" lvl="0" indent="-202692" algn="l" rtl="0">
              <a:lnSpc>
                <a:spcPct val="119836"/>
              </a:lnSpc>
              <a:spcBef>
                <a:spcPts val="0"/>
              </a:spcBef>
              <a:spcAft>
                <a:spcPts val="0"/>
              </a:spcAft>
              <a:buClr>
                <a:srgbClr val="A9A57C"/>
              </a:buClr>
              <a:buSzPts val="1800"/>
              <a:buFont typeface="Arial"/>
              <a:buChar char="•"/>
            </a:pPr>
            <a:r>
              <a:rPr lang="en-US" sz="1800" b="1" dirty="0">
                <a:solidFill>
                  <a:srgbClr val="2F2B20"/>
                </a:solidFill>
                <a:latin typeface="Arial"/>
                <a:ea typeface="Arial"/>
                <a:cs typeface="Arial"/>
                <a:sym typeface="Arial"/>
              </a:rPr>
              <a:t>Job name</a:t>
            </a:r>
          </a:p>
          <a:p>
            <a:pPr marL="697865" lvl="1" indent="-202692">
              <a:lnSpc>
                <a:spcPct val="119836"/>
              </a:lnSpc>
              <a:buClr>
                <a:srgbClr val="A9A57C"/>
              </a:buClr>
              <a:buSzPts val="1800"/>
              <a:buFont typeface="Arial"/>
              <a:buChar char="•"/>
            </a:pPr>
            <a:r>
              <a:rPr lang="en-US" sz="1800" dirty="0">
                <a:solidFill>
                  <a:srgbClr val="0070C0"/>
                </a:solidFill>
                <a:latin typeface="Consolas"/>
                <a:ea typeface="Consolas"/>
                <a:cs typeface="Consolas"/>
                <a:sym typeface="Consolas"/>
              </a:rPr>
              <a:t>--job-name=</a:t>
            </a:r>
            <a:r>
              <a:rPr lang="en-US" sz="1800" dirty="0">
                <a:solidFill>
                  <a:schemeClr val="accent2"/>
                </a:solidFill>
                <a:latin typeface="Consolas"/>
                <a:ea typeface="Consolas"/>
                <a:cs typeface="Consolas"/>
                <a:sym typeface="Consolas"/>
              </a:rPr>
              <a:t>&lt;jobname&gt;</a:t>
            </a:r>
            <a:endParaRPr dirty="0">
              <a:solidFill>
                <a:srgbClr val="000000"/>
              </a:solidFill>
              <a:latin typeface="Arial"/>
              <a:ea typeface="Arial"/>
              <a:cs typeface="Arial"/>
              <a:sym typeface="Arial"/>
            </a:endParaRPr>
          </a:p>
          <a:p>
            <a:pPr marL="240665" marR="0" lvl="0" indent="-205740" algn="l" rtl="0">
              <a:lnSpc>
                <a:spcPct val="122511"/>
              </a:lnSpc>
              <a:spcBef>
                <a:spcPts val="0"/>
              </a:spcBef>
              <a:spcAft>
                <a:spcPts val="0"/>
              </a:spcAft>
              <a:buClr>
                <a:srgbClr val="A9A57C"/>
              </a:buClr>
              <a:buSzPts val="1800"/>
              <a:buChar char="•"/>
            </a:pPr>
            <a:r>
              <a:rPr lang="en-US" sz="1800" b="1" dirty="0">
                <a:solidFill>
                  <a:srgbClr val="2F2B20"/>
                </a:solidFill>
              </a:rPr>
              <a:t>Output – Where all output that would be written to the terminal should go</a:t>
            </a:r>
          </a:p>
          <a:p>
            <a:pPr marL="697865" lvl="1" indent="-205740">
              <a:lnSpc>
                <a:spcPct val="122511"/>
              </a:lnSpc>
              <a:buClr>
                <a:srgbClr val="A9A57C"/>
              </a:buClr>
              <a:buSzPts val="1800"/>
              <a:buFontTx/>
              <a:buChar char="•"/>
            </a:pPr>
            <a:r>
              <a:rPr lang="en-US" sz="1800" dirty="0">
                <a:solidFill>
                  <a:srgbClr val="0070C0"/>
                </a:solidFill>
                <a:latin typeface="Consolas"/>
                <a:ea typeface="Consolas"/>
                <a:cs typeface="Consolas"/>
                <a:sym typeface="Consolas"/>
              </a:rPr>
              <a:t>--output=</a:t>
            </a:r>
            <a:r>
              <a:rPr lang="en-US" sz="1800" dirty="0">
                <a:solidFill>
                  <a:schemeClr val="accent2"/>
                </a:solidFill>
                <a:latin typeface="Consolas"/>
                <a:ea typeface="Consolas"/>
                <a:cs typeface="Consolas"/>
                <a:sym typeface="Consolas"/>
              </a:rPr>
              <a:t>&lt;name&gt;</a:t>
            </a:r>
          </a:p>
          <a:p>
            <a:pPr marL="240665" indent="-205740">
              <a:lnSpc>
                <a:spcPct val="122511"/>
              </a:lnSpc>
              <a:buClr>
                <a:srgbClr val="A9A57C"/>
              </a:buClr>
              <a:buSzPts val="1800"/>
              <a:buFont typeface="Arial"/>
              <a:buChar char="•"/>
            </a:pPr>
            <a:r>
              <a:rPr lang="en-US" b="1" dirty="0">
                <a:solidFill>
                  <a:srgbClr val="2F2B20"/>
                </a:solidFill>
              </a:rPr>
              <a:t>Allocation</a:t>
            </a:r>
            <a:r>
              <a:rPr lang="en-US" b="1" dirty="0">
                <a:solidFill>
                  <a:srgbClr val="2F2B20"/>
                </a:solidFill>
                <a:cs typeface="Arial"/>
                <a:sym typeface="Arial"/>
              </a:rPr>
              <a:t> – Account to “charge to”</a:t>
            </a:r>
            <a:endParaRPr lang="en-US" b="1" dirty="0">
              <a:solidFill>
                <a:schemeClr val="dk1"/>
              </a:solidFill>
              <a:ea typeface="Arial"/>
              <a:cs typeface="Arial"/>
              <a:sym typeface="Arial"/>
            </a:endParaRPr>
          </a:p>
          <a:p>
            <a:pPr marL="697865" lvl="1" indent="-205740">
              <a:lnSpc>
                <a:spcPct val="122511"/>
              </a:lnSpc>
              <a:buClr>
                <a:srgbClr val="A9A57C"/>
              </a:buClr>
              <a:buSzPts val="1800"/>
              <a:buFont typeface="Arial"/>
              <a:buChar char="•"/>
            </a:pPr>
            <a:r>
              <a:rPr lang="en-US" dirty="0">
                <a:solidFill>
                  <a:srgbClr val="0070C0"/>
                </a:solidFill>
                <a:latin typeface="Consolas"/>
                <a:ea typeface="Consolas"/>
                <a:cs typeface="Consolas"/>
                <a:sym typeface="Consolas"/>
              </a:rPr>
              <a:t>--account=</a:t>
            </a:r>
            <a:r>
              <a:rPr lang="en-US" dirty="0">
                <a:solidFill>
                  <a:schemeClr val="accent2"/>
                </a:solidFill>
                <a:latin typeface="Consolas"/>
                <a:ea typeface="Consolas"/>
                <a:cs typeface="Consolas"/>
                <a:sym typeface="Consolas"/>
              </a:rPr>
              <a:t>&lt;</a:t>
            </a:r>
            <a:r>
              <a:rPr lang="en-US" dirty="0" err="1">
                <a:solidFill>
                  <a:schemeClr val="accent2"/>
                </a:solidFill>
                <a:latin typeface="Consolas"/>
                <a:ea typeface="Consolas"/>
                <a:cs typeface="Consolas"/>
                <a:sym typeface="Consolas"/>
              </a:rPr>
              <a:t>account_name</a:t>
            </a:r>
            <a:r>
              <a:rPr lang="en-US" dirty="0">
                <a:solidFill>
                  <a:schemeClr val="accent2"/>
                </a:solidFill>
                <a:latin typeface="Consolas"/>
                <a:ea typeface="Consolas"/>
                <a:cs typeface="Consolas"/>
                <a:sym typeface="Consolas"/>
              </a:rPr>
              <a:t>&gt;</a:t>
            </a:r>
          </a:p>
          <a:p>
            <a:pPr marL="240665" indent="-205740">
              <a:lnSpc>
                <a:spcPct val="122511"/>
              </a:lnSpc>
              <a:buClr>
                <a:srgbClr val="A9A57C"/>
              </a:buClr>
              <a:buSzPts val="1800"/>
              <a:buFontTx/>
              <a:buChar char="•"/>
            </a:pPr>
            <a:r>
              <a:rPr lang="en-US" sz="2000" b="1" dirty="0">
                <a:solidFill>
                  <a:srgbClr val="2F2B20"/>
                </a:solidFill>
                <a:latin typeface="Arial"/>
                <a:ea typeface="Arial"/>
                <a:cs typeface="Arial"/>
                <a:sym typeface="Arial"/>
              </a:rPr>
              <a:t>Send an email when events happen in the job </a:t>
            </a:r>
          </a:p>
          <a:p>
            <a:pPr marL="697865" lvl="1" indent="-205740">
              <a:lnSpc>
                <a:spcPct val="122511"/>
              </a:lnSpc>
              <a:buClr>
                <a:srgbClr val="A9A57C"/>
              </a:buClr>
              <a:buSzPts val="1800"/>
              <a:buFontTx/>
              <a:buChar char="•"/>
            </a:pPr>
            <a:r>
              <a:rPr lang="en-US" sz="2000" dirty="0">
                <a:solidFill>
                  <a:srgbClr val="0070C0"/>
                </a:solidFill>
                <a:latin typeface="Consolas"/>
                <a:ea typeface="Consolas"/>
                <a:cs typeface="Consolas"/>
                <a:sym typeface="Consolas"/>
              </a:rPr>
              <a:t>--mail-type=</a:t>
            </a:r>
            <a:r>
              <a:rPr lang="en-US" sz="2000" dirty="0">
                <a:solidFill>
                  <a:schemeClr val="accent2"/>
                </a:solidFill>
                <a:latin typeface="Consolas"/>
                <a:ea typeface="Consolas"/>
                <a:cs typeface="Consolas"/>
                <a:sym typeface="Consolas"/>
              </a:rPr>
              <a:t>&lt;type&gt;</a:t>
            </a:r>
          </a:p>
          <a:p>
            <a:pPr marL="240665" indent="-205740">
              <a:lnSpc>
                <a:spcPct val="122511"/>
              </a:lnSpc>
              <a:buClr>
                <a:srgbClr val="A9A57C"/>
              </a:buClr>
              <a:buSzPts val="1800"/>
              <a:buFontTx/>
              <a:buChar char="•"/>
            </a:pPr>
            <a:r>
              <a:rPr lang="en-US" sz="2000" b="1" dirty="0">
                <a:solidFill>
                  <a:srgbClr val="2F2B20"/>
                </a:solidFill>
                <a:latin typeface="Arial"/>
                <a:ea typeface="Arial"/>
                <a:cs typeface="Arial"/>
                <a:sym typeface="Arial"/>
              </a:rPr>
              <a:t>Email address to send updates to</a:t>
            </a:r>
          </a:p>
          <a:p>
            <a:pPr marL="697865" lvl="1" indent="-205740">
              <a:lnSpc>
                <a:spcPct val="122511"/>
              </a:lnSpc>
              <a:buClr>
                <a:srgbClr val="A9A57C"/>
              </a:buClr>
              <a:buSzPts val="1800"/>
              <a:buFontTx/>
              <a:buChar char="•"/>
            </a:pPr>
            <a:r>
              <a:rPr lang="en-US" sz="2000" dirty="0">
                <a:solidFill>
                  <a:srgbClr val="0070C0"/>
                </a:solidFill>
                <a:latin typeface="Consolas"/>
                <a:ea typeface="Consolas"/>
                <a:cs typeface="Consolas"/>
                <a:sym typeface="Consolas"/>
              </a:rPr>
              <a:t>--mail-user=</a:t>
            </a:r>
            <a:r>
              <a:rPr lang="en-US" sz="2000" dirty="0">
                <a:solidFill>
                  <a:schemeClr val="accent2"/>
                </a:solidFill>
                <a:latin typeface="Consolas"/>
                <a:ea typeface="Consolas"/>
                <a:cs typeface="Consolas"/>
                <a:sym typeface="Consolas"/>
              </a:rPr>
              <a:t>&lt;user&gt;</a:t>
            </a:r>
          </a:p>
        </p:txBody>
      </p:sp>
      <p:sp>
        <p:nvSpPr>
          <p:cNvPr id="5" name="Slide Number Placeholder 4">
            <a:extLst>
              <a:ext uri="{FF2B5EF4-FFF2-40B4-BE49-F238E27FC236}">
                <a16:creationId xmlns:a16="http://schemas.microsoft.com/office/drawing/2014/main" id="{A5709A08-339A-78A1-2928-78C1BF0DD176}"/>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37</a:t>
            </a:fld>
            <a:endParaRPr lang="en-US"/>
          </a:p>
        </p:txBody>
      </p:sp>
    </p:spTree>
    <p:extLst>
      <p:ext uri="{BB962C8B-B14F-4D97-AF65-F5344CB8AC3E}">
        <p14:creationId xmlns:p14="http://schemas.microsoft.com/office/powerpoint/2010/main" val="17616715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42CE9-0675-EC06-F000-CC9AD35A2F54}"/>
              </a:ext>
            </a:extLst>
          </p:cNvPr>
          <p:cNvSpPr>
            <a:spLocks noGrp="1"/>
          </p:cNvSpPr>
          <p:nvPr>
            <p:ph type="title"/>
          </p:nvPr>
        </p:nvSpPr>
        <p:spPr>
          <a:xfrm>
            <a:off x="838200" y="67468"/>
            <a:ext cx="10515600" cy="1325563"/>
          </a:xfrm>
        </p:spPr>
        <p:txBody>
          <a:bodyPr/>
          <a:lstStyle/>
          <a:p>
            <a:r>
              <a:rPr lang="en-US" dirty="0">
                <a:sym typeface="Helvetica Neue Light"/>
              </a:rPr>
              <a:t>Starting an interactive job</a:t>
            </a:r>
            <a:endParaRPr lang="en-US" dirty="0"/>
          </a:p>
        </p:txBody>
      </p:sp>
      <p:sp>
        <p:nvSpPr>
          <p:cNvPr id="3" name="Content Placeholder 2">
            <a:extLst>
              <a:ext uri="{FF2B5EF4-FFF2-40B4-BE49-F238E27FC236}">
                <a16:creationId xmlns:a16="http://schemas.microsoft.com/office/drawing/2014/main" id="{4EA4FEDA-43EC-712B-B865-19D679DBF5C8}"/>
              </a:ext>
            </a:extLst>
          </p:cNvPr>
          <p:cNvSpPr>
            <a:spLocks noGrp="1"/>
          </p:cNvSpPr>
          <p:nvPr>
            <p:ph idx="1"/>
          </p:nvPr>
        </p:nvSpPr>
        <p:spPr>
          <a:xfrm>
            <a:off x="838200" y="1597025"/>
            <a:ext cx="10515600" cy="4351338"/>
          </a:xfrm>
        </p:spPr>
        <p:txBody>
          <a:bodyPr>
            <a:normAutofit lnSpcReduction="10000"/>
          </a:bodyPr>
          <a:lstStyle/>
          <a:p>
            <a:pPr marL="0" indent="0">
              <a:buNone/>
            </a:pPr>
            <a:r>
              <a:rPr lang="en-US" sz="2798" dirty="0" err="1">
                <a:solidFill>
                  <a:srgbClr val="0070C0"/>
                </a:solidFill>
              </a:rPr>
              <a:t>acompile</a:t>
            </a:r>
            <a:r>
              <a:rPr lang="en-US" sz="2798" dirty="0">
                <a:solidFill>
                  <a:srgbClr val="2F2B20"/>
                </a:solidFill>
              </a:rPr>
              <a:t> </a:t>
            </a:r>
          </a:p>
          <a:p>
            <a:pPr marL="522288" indent="-222250"/>
            <a:r>
              <a:rPr lang="en-US" sz="2398" dirty="0">
                <a:solidFill>
                  <a:srgbClr val="2F2B20"/>
                </a:solidFill>
              </a:rPr>
              <a:t>A custom CURC command</a:t>
            </a:r>
          </a:p>
          <a:p>
            <a:pPr marL="522288" indent="-222250"/>
            <a:r>
              <a:rPr lang="en-US" sz="2398" dirty="0">
                <a:solidFill>
                  <a:srgbClr val="2F2B20"/>
                </a:solidFill>
              </a:rPr>
              <a:t>Submits an interactive job to the </a:t>
            </a:r>
            <a:r>
              <a:rPr lang="en-US" sz="2398" dirty="0" err="1">
                <a:solidFill>
                  <a:srgbClr val="2F2B20"/>
                </a:solidFill>
              </a:rPr>
              <a:t>acompile</a:t>
            </a:r>
            <a:r>
              <a:rPr lang="en-US" sz="2398" dirty="0">
                <a:solidFill>
                  <a:srgbClr val="2F2B20"/>
                </a:solidFill>
              </a:rPr>
              <a:t> testing resources </a:t>
            </a:r>
          </a:p>
          <a:p>
            <a:pPr marL="522288" indent="-222250"/>
            <a:r>
              <a:rPr lang="en-US" sz="2398" dirty="0">
                <a:solidFill>
                  <a:srgbClr val="2F2B20"/>
                </a:solidFill>
              </a:rPr>
              <a:t>Limit of 4 CPUs for up to 12 hours </a:t>
            </a:r>
          </a:p>
          <a:p>
            <a:pPr marL="522288" indent="-222250"/>
            <a:r>
              <a:rPr lang="en-US" sz="2398" dirty="0">
                <a:solidFill>
                  <a:srgbClr val="2F2B20"/>
                </a:solidFill>
              </a:rPr>
              <a:t>Focused on compiling/building software and small workflows</a:t>
            </a:r>
          </a:p>
          <a:p>
            <a:pPr marL="0" indent="0">
              <a:buNone/>
            </a:pPr>
            <a:endParaRPr lang="en-US" sz="1000" dirty="0">
              <a:solidFill>
                <a:srgbClr val="0070C0"/>
              </a:solidFill>
              <a:latin typeface="Consolas"/>
              <a:ea typeface="Consolas"/>
              <a:cs typeface="Consolas"/>
              <a:sym typeface="Consolas"/>
            </a:endParaRPr>
          </a:p>
          <a:p>
            <a:pPr marL="0" indent="0">
              <a:buNone/>
            </a:pPr>
            <a:r>
              <a:rPr lang="en-US" sz="2800" dirty="0" err="1">
                <a:solidFill>
                  <a:srgbClr val="0070C0"/>
                </a:solidFill>
                <a:latin typeface="Consolas"/>
                <a:ea typeface="Consolas"/>
                <a:cs typeface="Consolas"/>
                <a:sym typeface="Consolas"/>
              </a:rPr>
              <a:t>sinteractive</a:t>
            </a:r>
            <a:endParaRPr lang="en-US" sz="2800" dirty="0">
              <a:solidFill>
                <a:srgbClr val="0070C0"/>
              </a:solidFill>
              <a:latin typeface="Consolas"/>
              <a:ea typeface="Consolas"/>
              <a:cs typeface="Consolas"/>
              <a:sym typeface="Consolas"/>
            </a:endParaRPr>
          </a:p>
          <a:p>
            <a:pPr marL="522288" indent="-222250"/>
            <a:r>
              <a:rPr lang="en-US" sz="2400" dirty="0"/>
              <a:t>Request any partition, more resources, and longer </a:t>
            </a:r>
            <a:r>
              <a:rPr lang="en-US" sz="2400" dirty="0" err="1"/>
              <a:t>walltime</a:t>
            </a:r>
            <a:endParaRPr lang="en-US" sz="2400" dirty="0"/>
          </a:p>
          <a:p>
            <a:pPr marL="522288" indent="-222250"/>
            <a:r>
              <a:rPr lang="en-US" sz="2400" dirty="0">
                <a:solidFill>
                  <a:srgbClr val="2F2B20"/>
                </a:solidFill>
              </a:rPr>
              <a:t>Subject to standard wait times (not immediate access)</a:t>
            </a:r>
          </a:p>
          <a:p>
            <a:pPr marL="522288" indent="-222250"/>
            <a:r>
              <a:rPr lang="en-US" sz="2400" dirty="0">
                <a:solidFill>
                  <a:srgbClr val="2F2B20"/>
                </a:solidFill>
              </a:rPr>
              <a:t>As the name implies, allows you to access a job interactively</a:t>
            </a:r>
          </a:p>
        </p:txBody>
      </p:sp>
      <p:sp>
        <p:nvSpPr>
          <p:cNvPr id="5" name="Slide Number Placeholder 4">
            <a:extLst>
              <a:ext uri="{FF2B5EF4-FFF2-40B4-BE49-F238E27FC236}">
                <a16:creationId xmlns:a16="http://schemas.microsoft.com/office/drawing/2014/main" id="{9B5C126B-89FC-72C8-59A3-0FCCDCDAA3BD}"/>
              </a:ext>
            </a:extLst>
          </p:cNvPr>
          <p:cNvSpPr>
            <a:spLocks noGrp="1"/>
          </p:cNvSpPr>
          <p:nvPr>
            <p:ph type="sldNum" sz="quarter" idx="12"/>
          </p:nvPr>
        </p:nvSpPr>
        <p:spPr/>
        <p:txBody>
          <a:bodyPr/>
          <a:lstStyle/>
          <a:p>
            <a:fld id="{ABDA560F-461C-6043-9BC4-489BA92F7161}" type="slidenum">
              <a:rPr lang="en-US" smtClean="0"/>
              <a:t>38</a:t>
            </a:fld>
            <a:endParaRPr lang="en-US"/>
          </a:p>
        </p:txBody>
      </p:sp>
    </p:spTree>
    <p:extLst>
      <p:ext uri="{BB962C8B-B14F-4D97-AF65-F5344CB8AC3E}">
        <p14:creationId xmlns:p14="http://schemas.microsoft.com/office/powerpoint/2010/main" val="42661516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50A83B-11EF-CA66-2994-83CD5298031F}"/>
              </a:ext>
            </a:extLst>
          </p:cNvPr>
          <p:cNvSpPr>
            <a:spLocks noGrp="1"/>
          </p:cNvSpPr>
          <p:nvPr>
            <p:ph type="title"/>
          </p:nvPr>
        </p:nvSpPr>
        <p:spPr>
          <a:xfrm>
            <a:off x="838200" y="0"/>
            <a:ext cx="10515600" cy="1325563"/>
          </a:xfrm>
        </p:spPr>
        <p:txBody>
          <a:bodyPr/>
          <a:lstStyle/>
          <a:p>
            <a:r>
              <a:rPr lang="en-US" dirty="0">
                <a:sym typeface="Helvetica Neue Light"/>
              </a:rPr>
              <a:t>Running an interactive job</a:t>
            </a:r>
            <a:endParaRPr lang="en-US" dirty="0"/>
          </a:p>
        </p:txBody>
      </p:sp>
      <p:sp>
        <p:nvSpPr>
          <p:cNvPr id="9" name="TextBox 8">
            <a:extLst>
              <a:ext uri="{FF2B5EF4-FFF2-40B4-BE49-F238E27FC236}">
                <a16:creationId xmlns:a16="http://schemas.microsoft.com/office/drawing/2014/main" id="{307DDB47-76F7-D5CD-E4B3-057E932070DD}"/>
              </a:ext>
            </a:extLst>
          </p:cNvPr>
          <p:cNvSpPr txBox="1"/>
          <p:nvPr/>
        </p:nvSpPr>
        <p:spPr>
          <a:xfrm>
            <a:off x="402183" y="1226650"/>
            <a:ext cx="10853587" cy="996170"/>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kumimoji="0" lang="en-US" sz="2800" b="0" i="0" u="none" strike="noStrike" kern="1200" cap="none" spc="0" normalizeH="0" baseline="0" noProof="0" dirty="0">
                <a:ln>
                  <a:noFill/>
                </a:ln>
                <a:solidFill>
                  <a:prstClr val="black"/>
                </a:solidFill>
                <a:effectLst/>
                <a:uLnTx/>
                <a:uFillTx/>
                <a:latin typeface="Arial" panose="020B0604020202020204"/>
                <a:ea typeface="+mn-ea"/>
                <a:cs typeface="+mn-cs"/>
              </a:rPr>
              <a:t>Here we will run a Python script using an interactive job</a:t>
            </a:r>
          </a:p>
          <a:p>
            <a:pPr marR="0" lvl="0" algn="l" defTabSz="914400" rtl="0" eaLnBrk="1" fontAlgn="auto" latinLnBrk="0" hangingPunct="1">
              <a:lnSpc>
                <a:spcPct val="90000"/>
              </a:lnSpc>
              <a:spcBef>
                <a:spcPts val="1000"/>
              </a:spcBef>
              <a:spcAft>
                <a:spcPts val="0"/>
              </a:spcAft>
              <a:buClrTx/>
              <a:buSzTx/>
              <a:tabLst/>
              <a:defRPr/>
            </a:pPr>
            <a:r>
              <a:rPr kumimoji="0" lang="en-US" sz="2800" b="0" i="0" u="none" strike="noStrike" kern="1200" cap="none" spc="0" normalizeH="0" baseline="0" noProof="0" dirty="0">
                <a:ln>
                  <a:noFill/>
                </a:ln>
                <a:solidFill>
                  <a:prstClr val="black"/>
                </a:solidFill>
                <a:effectLst/>
                <a:uLnTx/>
                <a:uFillTx/>
                <a:latin typeface="Arial" panose="020B0604020202020204"/>
                <a:ea typeface="+mn-ea"/>
                <a:cs typeface="+mn-cs"/>
              </a:rPr>
              <a:t>1. First request resources:</a:t>
            </a:r>
          </a:p>
        </p:txBody>
      </p:sp>
      <p:sp>
        <p:nvSpPr>
          <p:cNvPr id="6" name="Google Shape;676;p69">
            <a:extLst>
              <a:ext uri="{FF2B5EF4-FFF2-40B4-BE49-F238E27FC236}">
                <a16:creationId xmlns:a16="http://schemas.microsoft.com/office/drawing/2014/main" id="{3A5FD3D4-9009-92D0-8F81-15435F50C02D}"/>
              </a:ext>
            </a:extLst>
          </p:cNvPr>
          <p:cNvSpPr/>
          <p:nvPr/>
        </p:nvSpPr>
        <p:spPr>
          <a:xfrm>
            <a:off x="719253" y="2326180"/>
            <a:ext cx="11191875" cy="4002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b="1" dirty="0">
                <a:solidFill>
                  <a:srgbClr val="0070C0"/>
                </a:solidFill>
                <a:latin typeface="Consolas"/>
                <a:ea typeface="Consolas"/>
                <a:cs typeface="Consolas"/>
                <a:sym typeface="Consolas"/>
              </a:rPr>
              <a:t>[ralphie@login-ci3]$ </a:t>
            </a:r>
            <a:r>
              <a:rPr lang="en-US" sz="1600" b="1" dirty="0" err="1">
                <a:solidFill>
                  <a:srgbClr val="0070C0"/>
                </a:solidFill>
                <a:latin typeface="Consolas"/>
                <a:ea typeface="Consolas"/>
                <a:cs typeface="Consolas"/>
                <a:sym typeface="Consolas"/>
              </a:rPr>
              <a:t>sinteractive</a:t>
            </a:r>
            <a:r>
              <a:rPr lang="en-US" sz="1600" b="1" dirty="0">
                <a:solidFill>
                  <a:srgbClr val="0070C0"/>
                </a:solidFill>
                <a:latin typeface="Consolas"/>
                <a:ea typeface="Consolas"/>
                <a:cs typeface="Consolas"/>
                <a:sym typeface="Consolas"/>
              </a:rPr>
              <a:t> --partition=</a:t>
            </a:r>
            <a:r>
              <a:rPr lang="en-US" sz="1600" b="1" dirty="0" err="1">
                <a:solidFill>
                  <a:srgbClr val="0070C0"/>
                </a:solidFill>
                <a:latin typeface="Consolas"/>
                <a:ea typeface="Consolas"/>
                <a:cs typeface="Consolas"/>
                <a:sym typeface="Consolas"/>
              </a:rPr>
              <a:t>acpu</a:t>
            </a:r>
            <a:r>
              <a:rPr lang="en-US" sz="1600" b="1" dirty="0">
                <a:solidFill>
                  <a:srgbClr val="0070C0"/>
                </a:solidFill>
                <a:latin typeface="Consolas"/>
                <a:ea typeface="Consolas"/>
                <a:cs typeface="Consolas"/>
                <a:sym typeface="Consolas"/>
              </a:rPr>
              <a:t> --</a:t>
            </a:r>
            <a:r>
              <a:rPr lang="en-US" sz="1600" b="1" dirty="0" err="1">
                <a:solidFill>
                  <a:srgbClr val="0070C0"/>
                </a:solidFill>
                <a:latin typeface="Consolas"/>
                <a:ea typeface="Consolas"/>
                <a:cs typeface="Consolas"/>
                <a:sym typeface="Consolas"/>
              </a:rPr>
              <a:t>qos</a:t>
            </a:r>
            <a:r>
              <a:rPr lang="en-US" sz="1600" b="1" dirty="0">
                <a:solidFill>
                  <a:srgbClr val="0070C0"/>
                </a:solidFill>
                <a:latin typeface="Consolas"/>
                <a:ea typeface="Consolas"/>
                <a:cs typeface="Consolas"/>
                <a:sym typeface="Consolas"/>
              </a:rPr>
              <a:t>=</a:t>
            </a:r>
            <a:r>
              <a:rPr lang="en-US" sz="1600" b="1" dirty="0" err="1">
                <a:solidFill>
                  <a:srgbClr val="0070C0"/>
                </a:solidFill>
                <a:latin typeface="Consolas"/>
                <a:ea typeface="Consolas"/>
                <a:cs typeface="Consolas"/>
                <a:sym typeface="Consolas"/>
              </a:rPr>
              <a:t>cpu</a:t>
            </a:r>
            <a:r>
              <a:rPr lang="en-US" sz="1600" b="1" dirty="0">
                <a:solidFill>
                  <a:srgbClr val="0070C0"/>
                </a:solidFill>
                <a:latin typeface="Consolas"/>
                <a:ea typeface="Consolas"/>
                <a:cs typeface="Consolas"/>
                <a:sym typeface="Consolas"/>
              </a:rPr>
              <a:t>-normal --time=10 --</a:t>
            </a:r>
            <a:r>
              <a:rPr lang="en-US" sz="1600" b="1" dirty="0" err="1">
                <a:solidFill>
                  <a:srgbClr val="0070C0"/>
                </a:solidFill>
                <a:latin typeface="Consolas"/>
                <a:ea typeface="Consolas"/>
                <a:cs typeface="Consolas"/>
                <a:sym typeface="Consolas"/>
              </a:rPr>
              <a:t>ntasks</a:t>
            </a:r>
            <a:r>
              <a:rPr lang="en-US" sz="1600" b="1" dirty="0">
                <a:solidFill>
                  <a:srgbClr val="0070C0"/>
                </a:solidFill>
                <a:latin typeface="Consolas"/>
                <a:ea typeface="Consolas"/>
                <a:cs typeface="Consolas"/>
                <a:sym typeface="Consolas"/>
              </a:rPr>
              <a:t>=1 --nodes=1</a:t>
            </a:r>
            <a:endParaRPr sz="1600" b="1" dirty="0">
              <a:solidFill>
                <a:srgbClr val="0070C0"/>
              </a:solidFill>
              <a:latin typeface="Consolas"/>
              <a:ea typeface="Consolas"/>
              <a:cs typeface="Consolas"/>
              <a:sym typeface="Consolas"/>
            </a:endParaRPr>
          </a:p>
        </p:txBody>
      </p:sp>
      <p:sp>
        <p:nvSpPr>
          <p:cNvPr id="11" name="TextBox 10">
            <a:extLst>
              <a:ext uri="{FF2B5EF4-FFF2-40B4-BE49-F238E27FC236}">
                <a16:creationId xmlns:a16="http://schemas.microsoft.com/office/drawing/2014/main" id="{39E587D2-D737-8CFC-51C6-A737185D4751}"/>
              </a:ext>
            </a:extLst>
          </p:cNvPr>
          <p:cNvSpPr txBox="1"/>
          <p:nvPr/>
        </p:nvSpPr>
        <p:spPr>
          <a:xfrm>
            <a:off x="402183" y="2901863"/>
            <a:ext cx="11191875" cy="867930"/>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kumimoji="0" lang="en-US" sz="2800" b="0" i="0" u="none" strike="noStrike" kern="1200" cap="none" spc="0" normalizeH="0" baseline="0" noProof="0" dirty="0">
                <a:ln>
                  <a:noFill/>
                </a:ln>
                <a:solidFill>
                  <a:prstClr val="black"/>
                </a:solidFill>
                <a:effectLst/>
                <a:uLnTx/>
                <a:uFillTx/>
                <a:latin typeface="Arial" panose="020B0604020202020204"/>
                <a:ea typeface="+mn-ea"/>
                <a:cs typeface="+mn-cs"/>
              </a:rPr>
              <a:t>2. When the job starts you will be put on a compute node and you can execute your commands:</a:t>
            </a:r>
          </a:p>
        </p:txBody>
      </p:sp>
      <p:sp>
        <p:nvSpPr>
          <p:cNvPr id="7" name="Google Shape;677;p69">
            <a:extLst>
              <a:ext uri="{FF2B5EF4-FFF2-40B4-BE49-F238E27FC236}">
                <a16:creationId xmlns:a16="http://schemas.microsoft.com/office/drawing/2014/main" id="{508607B9-0D5C-B404-BA51-BC3402A6C455}"/>
              </a:ext>
            </a:extLst>
          </p:cNvPr>
          <p:cNvSpPr/>
          <p:nvPr/>
        </p:nvSpPr>
        <p:spPr>
          <a:xfrm>
            <a:off x="719253" y="3848798"/>
            <a:ext cx="7689900" cy="748481"/>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0070C0"/>
                </a:solidFill>
                <a:latin typeface="Consolas"/>
                <a:ea typeface="Consolas"/>
                <a:cs typeface="Consolas"/>
                <a:sym typeface="Consolas"/>
              </a:rPr>
              <a:t>[ralphie@c3cpu-e2-u1]$ module load anaconda  </a:t>
            </a:r>
            <a:endParaRPr b="1" dirty="0">
              <a:solidFill>
                <a:srgbClr val="0070C0"/>
              </a:solidFill>
            </a:endParaRPr>
          </a:p>
          <a:p>
            <a:pPr lvl="0"/>
            <a:r>
              <a:rPr lang="en-US" sz="2000" b="1" dirty="0">
                <a:solidFill>
                  <a:srgbClr val="0070C0"/>
                </a:solidFill>
                <a:latin typeface="Consolas"/>
                <a:ea typeface="Consolas"/>
                <a:cs typeface="Consolas"/>
                <a:sym typeface="Consolas"/>
              </a:rPr>
              <a:t>[ralphie@c3cpu-e2-u1]$ python </a:t>
            </a:r>
            <a:r>
              <a:rPr lang="en-US" sz="2000" b="1" dirty="0" err="1">
                <a:solidFill>
                  <a:srgbClr val="0070C0"/>
                </a:solidFill>
                <a:latin typeface="Consolas"/>
                <a:ea typeface="Consolas"/>
                <a:cs typeface="Consolas"/>
                <a:sym typeface="Consolas"/>
              </a:rPr>
              <a:t>my_very_cool_script.py</a:t>
            </a:r>
            <a:endParaRPr sz="2000" b="1" dirty="0">
              <a:solidFill>
                <a:srgbClr val="0070C0"/>
              </a:solidFill>
              <a:latin typeface="Consolas"/>
              <a:ea typeface="Consolas"/>
              <a:cs typeface="Consolas"/>
              <a:sym typeface="Consolas"/>
            </a:endParaRPr>
          </a:p>
        </p:txBody>
      </p:sp>
      <p:sp>
        <p:nvSpPr>
          <p:cNvPr id="3" name="Content Placeholder 2">
            <a:extLst>
              <a:ext uri="{FF2B5EF4-FFF2-40B4-BE49-F238E27FC236}">
                <a16:creationId xmlns:a16="http://schemas.microsoft.com/office/drawing/2014/main" id="{FAEA4B3B-750F-BC61-3BAB-ECDD9C58D120}"/>
              </a:ext>
            </a:extLst>
          </p:cNvPr>
          <p:cNvSpPr>
            <a:spLocks noGrp="1"/>
          </p:cNvSpPr>
          <p:nvPr>
            <p:ph idx="1"/>
          </p:nvPr>
        </p:nvSpPr>
        <p:spPr>
          <a:xfrm>
            <a:off x="402183" y="4796741"/>
            <a:ext cx="8030419" cy="532660"/>
          </a:xfrm>
        </p:spPr>
        <p:txBody>
          <a:bodyPr/>
          <a:lstStyle/>
          <a:p>
            <a:pPr marL="0" indent="0">
              <a:buNone/>
            </a:pPr>
            <a:r>
              <a:rPr lang="en-US" dirty="0"/>
              <a:t>3. To quit:</a:t>
            </a:r>
          </a:p>
        </p:txBody>
      </p:sp>
      <p:sp>
        <p:nvSpPr>
          <p:cNvPr id="8" name="Google Shape;678;p69">
            <a:extLst>
              <a:ext uri="{FF2B5EF4-FFF2-40B4-BE49-F238E27FC236}">
                <a16:creationId xmlns:a16="http://schemas.microsoft.com/office/drawing/2014/main" id="{A82BCC9A-F85C-03B7-2975-78EF4B73C029}"/>
              </a:ext>
            </a:extLst>
          </p:cNvPr>
          <p:cNvSpPr/>
          <p:nvPr/>
        </p:nvSpPr>
        <p:spPr>
          <a:xfrm>
            <a:off x="719253" y="5471102"/>
            <a:ext cx="7689900" cy="4002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lvl="0"/>
            <a:r>
              <a:rPr lang="en-US" sz="2000" b="1" dirty="0">
                <a:solidFill>
                  <a:srgbClr val="0070C0"/>
                </a:solidFill>
                <a:latin typeface="Consolas"/>
                <a:ea typeface="Consolas"/>
                <a:cs typeface="Consolas"/>
                <a:sym typeface="Consolas"/>
              </a:rPr>
              <a:t>[ralphie@c3cpu-e2-u1]$ exit</a:t>
            </a:r>
            <a:endParaRPr b="1" dirty="0">
              <a:solidFill>
                <a:srgbClr val="0070C0"/>
              </a:solidFill>
            </a:endParaRPr>
          </a:p>
        </p:txBody>
      </p:sp>
      <p:sp>
        <p:nvSpPr>
          <p:cNvPr id="5" name="Slide Number Placeholder 4">
            <a:extLst>
              <a:ext uri="{FF2B5EF4-FFF2-40B4-BE49-F238E27FC236}">
                <a16:creationId xmlns:a16="http://schemas.microsoft.com/office/drawing/2014/main" id="{96143048-956C-658F-9280-F986F073F30D}"/>
              </a:ext>
            </a:extLst>
          </p:cNvPr>
          <p:cNvSpPr>
            <a:spLocks noGrp="1"/>
          </p:cNvSpPr>
          <p:nvPr>
            <p:ph type="sldNum" sz="quarter" idx="12"/>
          </p:nvPr>
        </p:nvSpPr>
        <p:spPr/>
        <p:txBody>
          <a:bodyPr/>
          <a:lstStyle/>
          <a:p>
            <a:fld id="{ABDA560F-461C-6043-9BC4-489BA92F7161}" type="slidenum">
              <a:rPr lang="en-US" smtClean="0"/>
              <a:t>39</a:t>
            </a:fld>
            <a:endParaRPr lang="en-US"/>
          </a:p>
        </p:txBody>
      </p:sp>
    </p:spTree>
    <p:extLst>
      <p:ext uri="{BB962C8B-B14F-4D97-AF65-F5344CB8AC3E}">
        <p14:creationId xmlns:p14="http://schemas.microsoft.com/office/powerpoint/2010/main" val="1035990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46005-17DF-C163-F359-579D84C662A8}"/>
              </a:ext>
            </a:extLst>
          </p:cNvPr>
          <p:cNvSpPr>
            <a:spLocks noGrp="1"/>
          </p:cNvSpPr>
          <p:nvPr>
            <p:ph type="title"/>
          </p:nvPr>
        </p:nvSpPr>
        <p:spPr/>
        <p:txBody>
          <a:bodyPr/>
          <a:lstStyle/>
          <a:p>
            <a:r>
              <a:rPr lang="en-US" dirty="0">
                <a:sym typeface="Helvetica Neue Light"/>
              </a:rPr>
              <a:t>Submitting a Batch Job</a:t>
            </a:r>
            <a:endParaRPr lang="en-US" dirty="0"/>
          </a:p>
        </p:txBody>
      </p:sp>
      <p:sp>
        <p:nvSpPr>
          <p:cNvPr id="3" name="Content Placeholder 2">
            <a:extLst>
              <a:ext uri="{FF2B5EF4-FFF2-40B4-BE49-F238E27FC236}">
                <a16:creationId xmlns:a16="http://schemas.microsoft.com/office/drawing/2014/main" id="{F6E79D60-9D88-06D2-2DBF-7409090E2E92}"/>
              </a:ext>
            </a:extLst>
          </p:cNvPr>
          <p:cNvSpPr>
            <a:spLocks noGrp="1"/>
          </p:cNvSpPr>
          <p:nvPr>
            <p:ph idx="1"/>
          </p:nvPr>
        </p:nvSpPr>
        <p:spPr>
          <a:xfrm>
            <a:off x="838200" y="2190750"/>
            <a:ext cx="10515600" cy="3308350"/>
          </a:xfrm>
        </p:spPr>
        <p:txBody>
          <a:bodyPr/>
          <a:lstStyle/>
          <a:p>
            <a:pPr>
              <a:spcAft>
                <a:spcPts val="1200"/>
              </a:spcAft>
            </a:pPr>
            <a:r>
              <a:rPr lang="en-US" dirty="0">
                <a:solidFill>
                  <a:srgbClr val="2F2B20"/>
                </a:solidFill>
              </a:rPr>
              <a:t>Batch Jobs are jobs are run by submitting a job script to the scheduler </a:t>
            </a:r>
          </a:p>
          <a:p>
            <a:pPr>
              <a:spcAft>
                <a:spcPts val="1200"/>
              </a:spcAft>
            </a:pPr>
            <a:r>
              <a:rPr lang="en-US" dirty="0">
                <a:solidFill>
                  <a:srgbClr val="2F2B20"/>
                </a:solidFill>
              </a:rPr>
              <a:t>A job script is simply a script that includes </a:t>
            </a:r>
            <a:r>
              <a:rPr lang="en-US" b="1" dirty="0">
                <a:solidFill>
                  <a:srgbClr val="2F2B20"/>
                </a:solidFill>
              </a:rPr>
              <a:t>SLURM directives</a:t>
            </a:r>
            <a:r>
              <a:rPr lang="en-US" dirty="0">
                <a:solidFill>
                  <a:srgbClr val="2F2B20"/>
                </a:solidFill>
              </a:rPr>
              <a:t> (resource specifics) ahead of any commands.</a:t>
            </a:r>
          </a:p>
          <a:p>
            <a:endParaRPr lang="en-US" dirty="0"/>
          </a:p>
        </p:txBody>
      </p:sp>
      <p:sp>
        <p:nvSpPr>
          <p:cNvPr id="5" name="Slide Number Placeholder 4">
            <a:extLst>
              <a:ext uri="{FF2B5EF4-FFF2-40B4-BE49-F238E27FC236}">
                <a16:creationId xmlns:a16="http://schemas.microsoft.com/office/drawing/2014/main" id="{60E085E6-3FF9-B283-DB43-4334640E2A15}"/>
              </a:ext>
            </a:extLst>
          </p:cNvPr>
          <p:cNvSpPr>
            <a:spLocks noGrp="1"/>
          </p:cNvSpPr>
          <p:nvPr>
            <p:ph type="sldNum" sz="quarter" idx="12"/>
          </p:nvPr>
        </p:nvSpPr>
        <p:spPr/>
        <p:txBody>
          <a:bodyPr/>
          <a:lstStyle/>
          <a:p>
            <a:fld id="{ABDA560F-461C-6043-9BC4-489BA92F7161}" type="slidenum">
              <a:rPr lang="en-US" smtClean="0"/>
              <a:t>40</a:t>
            </a:fld>
            <a:endParaRPr lang="en-US"/>
          </a:p>
        </p:txBody>
      </p:sp>
    </p:spTree>
    <p:extLst>
      <p:ext uri="{BB962C8B-B14F-4D97-AF65-F5344CB8AC3E}">
        <p14:creationId xmlns:p14="http://schemas.microsoft.com/office/powerpoint/2010/main" val="34265037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85C88-55D5-AAC5-53EB-EE49AA2DBFDA}"/>
              </a:ext>
            </a:extLst>
          </p:cNvPr>
          <p:cNvSpPr>
            <a:spLocks noGrp="1"/>
          </p:cNvSpPr>
          <p:nvPr>
            <p:ph type="title"/>
          </p:nvPr>
        </p:nvSpPr>
        <p:spPr/>
        <p:txBody>
          <a:bodyPr/>
          <a:lstStyle/>
          <a:p>
            <a:r>
              <a:rPr lang="en-US" dirty="0">
                <a:sym typeface="Helvetica Neue Light"/>
              </a:rPr>
              <a:t>Anatomy of a Job Script </a:t>
            </a:r>
            <a:endParaRPr lang="en-US" dirty="0"/>
          </a:p>
        </p:txBody>
      </p:sp>
      <p:sp>
        <p:nvSpPr>
          <p:cNvPr id="5" name="Slide Number Placeholder 4">
            <a:extLst>
              <a:ext uri="{FF2B5EF4-FFF2-40B4-BE49-F238E27FC236}">
                <a16:creationId xmlns:a16="http://schemas.microsoft.com/office/drawing/2014/main" id="{B56EA042-C86E-8A83-DDA4-9FCEA90C050F}"/>
              </a:ext>
            </a:extLst>
          </p:cNvPr>
          <p:cNvSpPr>
            <a:spLocks noGrp="1"/>
          </p:cNvSpPr>
          <p:nvPr>
            <p:ph type="sldNum" sz="quarter" idx="12"/>
          </p:nvPr>
        </p:nvSpPr>
        <p:spPr/>
        <p:txBody>
          <a:bodyPr/>
          <a:lstStyle/>
          <a:p>
            <a:fld id="{ABDA560F-461C-6043-9BC4-489BA92F7161}" type="slidenum">
              <a:rPr lang="en-US" smtClean="0"/>
              <a:t>41</a:t>
            </a:fld>
            <a:endParaRPr lang="en-US"/>
          </a:p>
        </p:txBody>
      </p:sp>
      <p:sp>
        <p:nvSpPr>
          <p:cNvPr id="6" name="Google Shape;418;p43">
            <a:extLst>
              <a:ext uri="{FF2B5EF4-FFF2-40B4-BE49-F238E27FC236}">
                <a16:creationId xmlns:a16="http://schemas.microsoft.com/office/drawing/2014/main" id="{549AC956-14EB-7A28-3E05-7BC3C33B1571}"/>
              </a:ext>
            </a:extLst>
          </p:cNvPr>
          <p:cNvSpPr txBox="1"/>
          <p:nvPr/>
        </p:nvSpPr>
        <p:spPr>
          <a:xfrm>
            <a:off x="838200" y="1891183"/>
            <a:ext cx="10515600" cy="3706118"/>
          </a:xfrm>
          <a:prstGeom prst="rect">
            <a:avLst/>
          </a:prstGeom>
          <a:noFill/>
          <a:ln w="9525" cap="flat" cmpd="sng">
            <a:solidFill>
              <a:schemeClr val="accent5"/>
            </a:solidFill>
            <a:prstDash val="solid"/>
            <a:round/>
            <a:headEnd type="none" w="sm" len="sm"/>
            <a:tailEnd type="none" w="sm" len="sm"/>
          </a:ln>
        </p:spPr>
        <p:txBody>
          <a:bodyPr spcFirstLastPara="1" wrap="square" lIns="0" tIns="12675" rIns="0" bIns="0" anchor="t" anchorCtr="0">
            <a:spAutoFit/>
          </a:bodyPr>
          <a:lstStyle/>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#!/bin/bash</a:t>
            </a: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a:t>
            </a: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 Directives </a:t>
            </a: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#SBATCH --&lt;option&gt;=&lt;value&gt; </a:t>
            </a:r>
            <a:endParaRPr sz="2400" b="1" dirty="0"/>
          </a:p>
          <a:p>
            <a:pPr marL="0" marR="0" lvl="0" indent="0" algn="l" rtl="0">
              <a:spcBef>
                <a:spcPts val="0"/>
              </a:spcBef>
              <a:spcAft>
                <a:spcPts val="0"/>
              </a:spcAft>
              <a:buNone/>
            </a:pP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 Software</a:t>
            </a:r>
            <a:endParaRPr sz="2400" b="1" dirty="0"/>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module load &lt;software&gt;</a:t>
            </a:r>
            <a:endParaRPr sz="2400" b="1" dirty="0"/>
          </a:p>
          <a:p>
            <a:pPr marL="0" marR="0" lvl="0" indent="0" algn="l" rtl="0">
              <a:spcBef>
                <a:spcPts val="0"/>
              </a:spcBef>
              <a:spcAft>
                <a:spcPts val="0"/>
              </a:spcAft>
              <a:buNone/>
            </a:pP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 User scripting</a:t>
            </a:r>
            <a:endParaRPr sz="2400" b="1" dirty="0"/>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&lt;command&gt;</a:t>
            </a:r>
            <a:endParaRPr sz="2400" b="1" dirty="0"/>
          </a:p>
        </p:txBody>
      </p:sp>
    </p:spTree>
    <p:extLst>
      <p:ext uri="{BB962C8B-B14F-4D97-AF65-F5344CB8AC3E}">
        <p14:creationId xmlns:p14="http://schemas.microsoft.com/office/powerpoint/2010/main" val="34346835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8713F-2EF8-AEBD-6D37-EF3013CB26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AF6E75-A8BA-7D39-896B-E2BA149128ED}"/>
              </a:ext>
            </a:extLst>
          </p:cNvPr>
          <p:cNvSpPr>
            <a:spLocks noGrp="1"/>
          </p:cNvSpPr>
          <p:nvPr>
            <p:ph type="title"/>
          </p:nvPr>
        </p:nvSpPr>
        <p:spPr/>
        <p:txBody>
          <a:bodyPr>
            <a:normAutofit/>
          </a:bodyPr>
          <a:lstStyle/>
          <a:p>
            <a:r>
              <a:rPr lang="en-US" dirty="0"/>
              <a:t>Directives in a Job Script</a:t>
            </a:r>
          </a:p>
        </p:txBody>
      </p:sp>
      <p:sp>
        <p:nvSpPr>
          <p:cNvPr id="3" name="Content Placeholder 2">
            <a:extLst>
              <a:ext uri="{FF2B5EF4-FFF2-40B4-BE49-F238E27FC236}">
                <a16:creationId xmlns:a16="http://schemas.microsoft.com/office/drawing/2014/main" id="{0565C334-04C4-B977-D208-CBF8F7CADD23}"/>
              </a:ext>
            </a:extLst>
          </p:cNvPr>
          <p:cNvSpPr>
            <a:spLocks noGrp="1"/>
          </p:cNvSpPr>
          <p:nvPr>
            <p:ph idx="1"/>
          </p:nvPr>
        </p:nvSpPr>
        <p:spPr>
          <a:xfrm>
            <a:off x="2195512" y="3082924"/>
            <a:ext cx="7800975" cy="692151"/>
          </a:xfrm>
        </p:spPr>
        <p:txBody>
          <a:bodyPr>
            <a:normAutofit/>
          </a:bodyPr>
          <a:lstStyle/>
          <a:p>
            <a:pPr marL="0" indent="0" algn="ctr">
              <a:buNone/>
            </a:pPr>
            <a:r>
              <a:rPr lang="en-US" sz="3600" dirty="0">
                <a:solidFill>
                  <a:srgbClr val="0070C0"/>
                </a:solidFill>
                <a:latin typeface="Consolas"/>
                <a:ea typeface="Consolas"/>
                <a:cs typeface="Consolas"/>
                <a:sym typeface="Consolas"/>
              </a:rPr>
              <a:t>#SBATCH --&lt;option&gt;=</a:t>
            </a:r>
            <a:r>
              <a:rPr lang="en-US" sz="3600" dirty="0">
                <a:solidFill>
                  <a:schemeClr val="accent2"/>
                </a:solidFill>
                <a:latin typeface="Consolas"/>
                <a:ea typeface="Consolas"/>
                <a:cs typeface="Consolas"/>
                <a:sym typeface="Consolas"/>
              </a:rPr>
              <a:t>&lt;value&gt;</a:t>
            </a:r>
            <a:endParaRPr lang="en-US" sz="3600" dirty="0"/>
          </a:p>
        </p:txBody>
      </p:sp>
      <p:sp>
        <p:nvSpPr>
          <p:cNvPr id="5" name="Slide Number Placeholder 4">
            <a:extLst>
              <a:ext uri="{FF2B5EF4-FFF2-40B4-BE49-F238E27FC236}">
                <a16:creationId xmlns:a16="http://schemas.microsoft.com/office/drawing/2014/main" id="{2FC0B011-F9D7-5C76-072E-30EE9A5BE6BF}"/>
              </a:ext>
            </a:extLst>
          </p:cNvPr>
          <p:cNvSpPr>
            <a:spLocks noGrp="1"/>
          </p:cNvSpPr>
          <p:nvPr>
            <p:ph type="sldNum" sz="quarter" idx="12"/>
          </p:nvPr>
        </p:nvSpPr>
        <p:spPr/>
        <p:txBody>
          <a:bodyPr/>
          <a:lstStyle/>
          <a:p>
            <a:fld id="{ABDA560F-461C-6043-9BC4-489BA92F7161}" type="slidenum">
              <a:rPr lang="en-US" smtClean="0"/>
              <a:t>42</a:t>
            </a:fld>
            <a:endParaRPr lang="en-US"/>
          </a:p>
        </p:txBody>
      </p:sp>
    </p:spTree>
    <p:extLst>
      <p:ext uri="{BB962C8B-B14F-4D97-AF65-F5344CB8AC3E}">
        <p14:creationId xmlns:p14="http://schemas.microsoft.com/office/powerpoint/2010/main" val="369687807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F3C24-5FE4-F44A-9B79-1F0B71D2E7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52C6B0-3280-1E93-7B3D-78EE2046FC5D}"/>
              </a:ext>
            </a:extLst>
          </p:cNvPr>
          <p:cNvSpPr>
            <a:spLocks noGrp="1"/>
          </p:cNvSpPr>
          <p:nvPr>
            <p:ph type="title"/>
          </p:nvPr>
        </p:nvSpPr>
        <p:spPr/>
        <p:txBody>
          <a:bodyPr/>
          <a:lstStyle/>
          <a:p>
            <a:r>
              <a:rPr lang="en-US" dirty="0"/>
              <a:t>Creating a Job Script</a:t>
            </a:r>
          </a:p>
        </p:txBody>
      </p:sp>
      <p:pic>
        <p:nvPicPr>
          <p:cNvPr id="7" name="Graphic 6" descr="Programmer male with solid fill">
            <a:extLst>
              <a:ext uri="{FF2B5EF4-FFF2-40B4-BE49-F238E27FC236}">
                <a16:creationId xmlns:a16="http://schemas.microsoft.com/office/drawing/2014/main" id="{9689758E-1B00-4D06-E38E-2112E42DD64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10000" y="1316736"/>
            <a:ext cx="4572000" cy="4572000"/>
          </a:xfrm>
          <a:prstGeom prst="rect">
            <a:avLst/>
          </a:prstGeom>
        </p:spPr>
      </p:pic>
      <p:sp>
        <p:nvSpPr>
          <p:cNvPr id="5" name="Slide Number Placeholder 4">
            <a:extLst>
              <a:ext uri="{FF2B5EF4-FFF2-40B4-BE49-F238E27FC236}">
                <a16:creationId xmlns:a16="http://schemas.microsoft.com/office/drawing/2014/main" id="{AEE5A7FD-380B-179F-1602-A18E53F105D1}"/>
              </a:ext>
            </a:extLst>
          </p:cNvPr>
          <p:cNvSpPr>
            <a:spLocks noGrp="1"/>
          </p:cNvSpPr>
          <p:nvPr>
            <p:ph type="sldNum" sz="quarter" idx="12"/>
          </p:nvPr>
        </p:nvSpPr>
        <p:spPr/>
        <p:txBody>
          <a:bodyPr/>
          <a:lstStyle/>
          <a:p>
            <a:fld id="{ABDA560F-461C-6043-9BC4-489BA92F7161}" type="slidenum">
              <a:rPr lang="en-US" smtClean="0"/>
              <a:t>43</a:t>
            </a:fld>
            <a:endParaRPr lang="en-US"/>
          </a:p>
        </p:txBody>
      </p:sp>
    </p:spTree>
    <p:extLst>
      <p:ext uri="{BB962C8B-B14F-4D97-AF65-F5344CB8AC3E}">
        <p14:creationId xmlns:p14="http://schemas.microsoft.com/office/powerpoint/2010/main" val="241061883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8CB0E-A1F5-9F88-0F48-B1581C48E43B}"/>
              </a:ext>
            </a:extLst>
          </p:cNvPr>
          <p:cNvSpPr>
            <a:spLocks noGrp="1"/>
          </p:cNvSpPr>
          <p:nvPr>
            <p:ph type="title"/>
          </p:nvPr>
        </p:nvSpPr>
        <p:spPr>
          <a:xfrm>
            <a:off x="838200" y="0"/>
            <a:ext cx="10515600" cy="1325563"/>
          </a:xfrm>
        </p:spPr>
        <p:txBody>
          <a:bodyPr>
            <a:normAutofit/>
          </a:bodyPr>
          <a:lstStyle/>
          <a:p>
            <a:r>
              <a:rPr lang="en-US" dirty="0"/>
              <a:t>Example job script</a:t>
            </a:r>
          </a:p>
        </p:txBody>
      </p:sp>
      <p:sp>
        <p:nvSpPr>
          <p:cNvPr id="6" name="Google Shape;427;p44">
            <a:extLst>
              <a:ext uri="{FF2B5EF4-FFF2-40B4-BE49-F238E27FC236}">
                <a16:creationId xmlns:a16="http://schemas.microsoft.com/office/drawing/2014/main" id="{3C594338-B5E4-A7B3-5DB7-FF0FB0681EBC}"/>
              </a:ext>
            </a:extLst>
          </p:cNvPr>
          <p:cNvSpPr txBox="1"/>
          <p:nvPr/>
        </p:nvSpPr>
        <p:spPr>
          <a:xfrm>
            <a:off x="838200" y="1411637"/>
            <a:ext cx="10515600" cy="4321671"/>
          </a:xfrm>
          <a:prstGeom prst="rect">
            <a:avLst/>
          </a:prstGeom>
          <a:noFill/>
          <a:ln w="9525" cap="flat" cmpd="sng">
            <a:solidFill>
              <a:schemeClr val="accent5"/>
            </a:solidFill>
            <a:prstDash val="solid"/>
            <a:round/>
            <a:headEnd type="none" w="sm" len="sm"/>
            <a:tailEnd type="none" w="sm" len="sm"/>
          </a:ln>
        </p:spPr>
        <p:txBody>
          <a:bodyPr spcFirstLastPara="1" wrap="square" lIns="0" tIns="12675" rIns="0" bIns="0" anchor="t" anchorCtr="0">
            <a:spAutoFit/>
          </a:bodyPr>
          <a:lstStyle/>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#!/bin/bash</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 Directives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a:t>
            </a:r>
            <a:r>
              <a:rPr lang="en-US" sz="2000" b="1" dirty="0" err="1">
                <a:solidFill>
                  <a:srgbClr val="0070C0"/>
                </a:solidFill>
                <a:latin typeface="Consolas"/>
                <a:ea typeface="Consolas"/>
                <a:cs typeface="Consolas"/>
                <a:sym typeface="Consolas"/>
              </a:rPr>
              <a:t>ntasks</a:t>
            </a:r>
            <a:r>
              <a:rPr lang="en-US" sz="2000" b="1" dirty="0">
                <a:solidFill>
                  <a:srgbClr val="0070C0"/>
                </a:solidFill>
                <a:latin typeface="Consolas"/>
                <a:ea typeface="Consolas"/>
                <a:cs typeface="Consolas"/>
                <a:sym typeface="Consolas"/>
              </a:rPr>
              <a:t>=1                  	# Number of requested tasks/cores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--time=0:01:00              	# Max run time</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--partition=</a:t>
            </a:r>
            <a:r>
              <a:rPr lang="en-US" sz="2000" b="1" dirty="0" err="1">
                <a:solidFill>
                  <a:srgbClr val="0070C0"/>
                </a:solidFill>
                <a:latin typeface="Consolas"/>
                <a:ea typeface="Consolas"/>
                <a:cs typeface="Consolas"/>
                <a:sym typeface="Consolas"/>
              </a:rPr>
              <a:t>acpu</a:t>
            </a:r>
            <a:r>
              <a:rPr lang="en-US" sz="2000" b="1" dirty="0">
                <a:solidFill>
                  <a:srgbClr val="0070C0"/>
                </a:solidFill>
                <a:latin typeface="Consolas"/>
                <a:ea typeface="Consolas"/>
                <a:cs typeface="Consolas"/>
                <a:sym typeface="Consolas"/>
              </a:rPr>
              <a:t>      	       # Specify Alpine CPU node</a:t>
            </a: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a:t>
            </a:r>
            <a:r>
              <a:rPr lang="en-US" sz="2000" b="1" dirty="0" err="1">
                <a:solidFill>
                  <a:srgbClr val="0070C0"/>
                </a:solidFill>
                <a:latin typeface="Consolas"/>
                <a:ea typeface="Consolas"/>
                <a:cs typeface="Consolas"/>
                <a:sym typeface="Consolas"/>
              </a:rPr>
              <a:t>qos</a:t>
            </a:r>
            <a:r>
              <a:rPr lang="en-US" sz="2000" b="1" dirty="0">
                <a:solidFill>
                  <a:srgbClr val="0070C0"/>
                </a:solidFill>
                <a:latin typeface="Consolas"/>
                <a:ea typeface="Consolas"/>
                <a:cs typeface="Consolas"/>
                <a:sym typeface="Consolas"/>
              </a:rPr>
              <a:t>=</a:t>
            </a:r>
            <a:r>
              <a:rPr lang="en-US" sz="2000" b="1" dirty="0" err="1">
                <a:solidFill>
                  <a:srgbClr val="0070C0"/>
                </a:solidFill>
                <a:latin typeface="Consolas"/>
                <a:ea typeface="Consolas"/>
                <a:cs typeface="Consolas"/>
                <a:sym typeface="Consolas"/>
              </a:rPr>
              <a:t>cpu</a:t>
            </a:r>
            <a:r>
              <a:rPr lang="en-US" sz="2000" b="1" dirty="0">
                <a:solidFill>
                  <a:srgbClr val="0070C0"/>
                </a:solidFill>
                <a:latin typeface="Consolas"/>
                <a:ea typeface="Consolas"/>
                <a:cs typeface="Consolas"/>
                <a:sym typeface="Consolas"/>
              </a:rPr>
              <a:t>-normal                # Specify QoS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--output=test_%</a:t>
            </a:r>
            <a:r>
              <a:rPr lang="en-US" sz="2000" b="1" dirty="0" err="1">
                <a:solidFill>
                  <a:srgbClr val="0070C0"/>
                </a:solidFill>
                <a:latin typeface="Consolas"/>
                <a:ea typeface="Consolas"/>
                <a:cs typeface="Consolas"/>
                <a:sym typeface="Consolas"/>
              </a:rPr>
              <a:t>j.out</a:t>
            </a:r>
            <a:r>
              <a:rPr lang="en-US" sz="2000" b="1" dirty="0">
                <a:solidFill>
                  <a:srgbClr val="0070C0"/>
                </a:solidFill>
                <a:latin typeface="Consolas"/>
                <a:ea typeface="Consolas"/>
                <a:cs typeface="Consolas"/>
                <a:sym typeface="Consolas"/>
              </a:rPr>
              <a:t>        	# Rename standard output file</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 Software</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module purge                          # Purge all existing modules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 User commands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000" b="1" dirty="0">
                <a:solidFill>
                  <a:srgbClr val="0070C0"/>
                </a:solidFill>
                <a:latin typeface="Consolas"/>
                <a:ea typeface="Consolas"/>
                <a:cs typeface="Consolas"/>
                <a:sym typeface="Consolas"/>
              </a:rPr>
              <a:t>echo "This is a test submitted by $USER" </a:t>
            </a:r>
            <a:endParaRPr b="1" dirty="0"/>
          </a:p>
        </p:txBody>
      </p:sp>
      <p:sp>
        <p:nvSpPr>
          <p:cNvPr id="3" name="Slide Number Placeholder 4">
            <a:extLst>
              <a:ext uri="{FF2B5EF4-FFF2-40B4-BE49-F238E27FC236}">
                <a16:creationId xmlns:a16="http://schemas.microsoft.com/office/drawing/2014/main" id="{3C2D7056-BAA3-C8C6-4D0A-7F2F33224B3B}"/>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44</a:t>
            </a:fld>
            <a:endParaRPr lang="en-US"/>
          </a:p>
        </p:txBody>
      </p:sp>
    </p:spTree>
    <p:extLst>
      <p:ext uri="{BB962C8B-B14F-4D97-AF65-F5344CB8AC3E}">
        <p14:creationId xmlns:p14="http://schemas.microsoft.com/office/powerpoint/2010/main" val="18845746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EBD66B-C564-6FF8-F795-C4157D7B9C5E}"/>
              </a:ext>
            </a:extLst>
          </p:cNvPr>
          <p:cNvSpPr>
            <a:spLocks noGrp="1"/>
          </p:cNvSpPr>
          <p:nvPr>
            <p:ph type="title"/>
          </p:nvPr>
        </p:nvSpPr>
        <p:spPr/>
        <p:txBody>
          <a:bodyPr>
            <a:normAutofit/>
          </a:bodyPr>
          <a:lstStyle/>
          <a:p>
            <a:r>
              <a:rPr lang="en-US" dirty="0"/>
              <a:t>Submitting a Job script</a:t>
            </a:r>
          </a:p>
        </p:txBody>
      </p:sp>
      <p:sp>
        <p:nvSpPr>
          <p:cNvPr id="3" name="Content Placeholder 2">
            <a:extLst>
              <a:ext uri="{FF2B5EF4-FFF2-40B4-BE49-F238E27FC236}">
                <a16:creationId xmlns:a16="http://schemas.microsoft.com/office/drawing/2014/main" id="{B2707AB8-A2B1-B61F-443C-A12B8E2C9B51}"/>
              </a:ext>
            </a:extLst>
          </p:cNvPr>
          <p:cNvSpPr>
            <a:spLocks noGrp="1"/>
          </p:cNvSpPr>
          <p:nvPr>
            <p:ph idx="1"/>
          </p:nvPr>
        </p:nvSpPr>
        <p:spPr>
          <a:xfrm>
            <a:off x="838200" y="1825624"/>
            <a:ext cx="10515600" cy="4402897"/>
          </a:xfrm>
        </p:spPr>
        <p:txBody>
          <a:bodyPr>
            <a:normAutofit/>
          </a:bodyPr>
          <a:lstStyle/>
          <a:p>
            <a:pPr marL="0" indent="0">
              <a:buNone/>
            </a:pPr>
            <a:r>
              <a:rPr lang="en-US" sz="3200" dirty="0" err="1">
                <a:solidFill>
                  <a:srgbClr val="0070C0"/>
                </a:solidFill>
                <a:latin typeface="Consolas"/>
                <a:ea typeface="Consolas"/>
                <a:cs typeface="Consolas"/>
                <a:sym typeface="Consolas"/>
              </a:rPr>
              <a:t>sbatch</a:t>
            </a:r>
            <a:r>
              <a:rPr lang="en-US" sz="3200" dirty="0">
                <a:solidFill>
                  <a:srgbClr val="0070C0"/>
                </a:solidFill>
                <a:latin typeface="Consolas"/>
                <a:ea typeface="Consolas"/>
                <a:cs typeface="Consolas"/>
                <a:sym typeface="Consolas"/>
              </a:rPr>
              <a:t> &lt;</a:t>
            </a:r>
            <a:r>
              <a:rPr lang="en-US" sz="3200" dirty="0" err="1">
                <a:solidFill>
                  <a:srgbClr val="0070C0"/>
                </a:solidFill>
                <a:latin typeface="Consolas"/>
                <a:ea typeface="Consolas"/>
                <a:cs typeface="Consolas"/>
                <a:sym typeface="Consolas"/>
              </a:rPr>
              <a:t>job_file</a:t>
            </a:r>
            <a:r>
              <a:rPr lang="en-US" sz="3200" dirty="0">
                <a:solidFill>
                  <a:srgbClr val="0070C0"/>
                </a:solidFill>
                <a:latin typeface="Consolas"/>
                <a:ea typeface="Consolas"/>
                <a:cs typeface="Consolas"/>
                <a:sym typeface="Consolas"/>
              </a:rPr>
              <a:t>&gt; &lt;other-directives&gt;</a:t>
            </a:r>
            <a:endParaRPr lang="en-US" sz="3200" dirty="0"/>
          </a:p>
          <a:p>
            <a:r>
              <a:rPr lang="en-US" dirty="0"/>
              <a:t>Command to submit a job to the </a:t>
            </a:r>
            <a:r>
              <a:rPr lang="en-US" dirty="0" err="1"/>
              <a:t>Slurm</a:t>
            </a:r>
            <a:r>
              <a:rPr lang="en-US" dirty="0"/>
              <a:t> job scheduler</a:t>
            </a:r>
          </a:p>
          <a:p>
            <a:r>
              <a:rPr lang="en-US" dirty="0"/>
              <a:t>If we created the job script “</a:t>
            </a:r>
            <a:r>
              <a:rPr lang="en-US" dirty="0" err="1"/>
              <a:t>my_first_job.sh</a:t>
            </a:r>
            <a:r>
              <a:rPr lang="en-US" dirty="0"/>
              <a:t>” then we would submit it as follows:</a:t>
            </a:r>
          </a:p>
          <a:p>
            <a:pPr marL="915988" indent="0">
              <a:spcAft>
                <a:spcPts val="1800"/>
              </a:spcAft>
              <a:buNone/>
            </a:pPr>
            <a:r>
              <a:rPr lang="en-US" sz="2800" dirty="0" err="1">
                <a:solidFill>
                  <a:srgbClr val="0070C0"/>
                </a:solidFill>
                <a:latin typeface="Consolas"/>
                <a:ea typeface="Consolas"/>
                <a:cs typeface="Consolas"/>
                <a:sym typeface="Consolas"/>
              </a:rPr>
              <a:t>sbatch</a:t>
            </a:r>
            <a:r>
              <a:rPr lang="en-US" sz="2800" dirty="0">
                <a:solidFill>
                  <a:srgbClr val="0070C0"/>
                </a:solidFill>
                <a:latin typeface="Consolas"/>
                <a:ea typeface="Consolas"/>
                <a:cs typeface="Consolas"/>
                <a:sym typeface="Consolas"/>
              </a:rPr>
              <a:t> /path/to/</a:t>
            </a:r>
            <a:r>
              <a:rPr lang="en-US" sz="2800" dirty="0" err="1">
                <a:solidFill>
                  <a:srgbClr val="0070C0"/>
                </a:solidFill>
                <a:latin typeface="Consolas"/>
                <a:ea typeface="Consolas"/>
                <a:cs typeface="Consolas"/>
                <a:sym typeface="Consolas"/>
              </a:rPr>
              <a:t>my_first_job.sh</a:t>
            </a:r>
            <a:endParaRPr lang="en-US" dirty="0"/>
          </a:p>
          <a:p>
            <a:r>
              <a:rPr lang="en-US" dirty="0"/>
              <a:t>Modify </a:t>
            </a:r>
            <a:r>
              <a:rPr lang="en-US" dirty="0" err="1"/>
              <a:t>Slurm</a:t>
            </a:r>
            <a:r>
              <a:rPr lang="en-US" dirty="0"/>
              <a:t> directives in the batch script:</a:t>
            </a:r>
          </a:p>
          <a:p>
            <a:pPr marL="915988" indent="0">
              <a:buNone/>
            </a:pPr>
            <a:r>
              <a:rPr lang="en-US" sz="2800" dirty="0" err="1">
                <a:solidFill>
                  <a:srgbClr val="0070C0"/>
                </a:solidFill>
                <a:latin typeface="Consolas"/>
                <a:ea typeface="Consolas"/>
                <a:cs typeface="Consolas"/>
                <a:sym typeface="Consolas"/>
              </a:rPr>
              <a:t>sbatch</a:t>
            </a:r>
            <a:r>
              <a:rPr lang="en-US" sz="2800" dirty="0">
                <a:solidFill>
                  <a:srgbClr val="0070C0"/>
                </a:solidFill>
                <a:latin typeface="Consolas"/>
                <a:ea typeface="Consolas"/>
                <a:cs typeface="Consolas"/>
                <a:sym typeface="Consolas"/>
              </a:rPr>
              <a:t> /path/to/</a:t>
            </a:r>
            <a:r>
              <a:rPr lang="en-US" sz="2800" dirty="0" err="1">
                <a:solidFill>
                  <a:srgbClr val="0070C0"/>
                </a:solidFill>
                <a:latin typeface="Consolas"/>
                <a:ea typeface="Consolas"/>
                <a:cs typeface="Consolas"/>
                <a:sym typeface="Consolas"/>
              </a:rPr>
              <a:t>my_first_job.sh</a:t>
            </a:r>
            <a:r>
              <a:rPr lang="en-US" sz="2800" dirty="0">
                <a:solidFill>
                  <a:srgbClr val="0070C0"/>
                </a:solidFill>
                <a:latin typeface="Consolas"/>
                <a:ea typeface="Consolas"/>
                <a:cs typeface="Consolas"/>
                <a:sym typeface="Consolas"/>
              </a:rPr>
              <a:t> --</a:t>
            </a:r>
            <a:r>
              <a:rPr lang="en-US" sz="2800" dirty="0" err="1">
                <a:solidFill>
                  <a:srgbClr val="0070C0"/>
                </a:solidFill>
                <a:latin typeface="Consolas"/>
                <a:ea typeface="Consolas"/>
                <a:cs typeface="Consolas"/>
                <a:sym typeface="Consolas"/>
              </a:rPr>
              <a:t>ntasks</a:t>
            </a:r>
            <a:r>
              <a:rPr lang="en-US" sz="2800" dirty="0">
                <a:solidFill>
                  <a:srgbClr val="0070C0"/>
                </a:solidFill>
                <a:latin typeface="Consolas"/>
                <a:ea typeface="Consolas"/>
                <a:cs typeface="Consolas"/>
                <a:sym typeface="Consolas"/>
              </a:rPr>
              <a:t>=12</a:t>
            </a:r>
            <a:endParaRPr lang="en-US" sz="2800" dirty="0"/>
          </a:p>
          <a:p>
            <a:pPr marL="0" indent="0">
              <a:buNone/>
            </a:pPr>
            <a:endParaRPr lang="en-US" dirty="0"/>
          </a:p>
        </p:txBody>
      </p:sp>
      <p:sp>
        <p:nvSpPr>
          <p:cNvPr id="5" name="Slide Number Placeholder 4">
            <a:extLst>
              <a:ext uri="{FF2B5EF4-FFF2-40B4-BE49-F238E27FC236}">
                <a16:creationId xmlns:a16="http://schemas.microsoft.com/office/drawing/2014/main" id="{C7A43A6D-36CC-2497-91D7-3D0FF7E061FC}"/>
              </a:ext>
            </a:extLst>
          </p:cNvPr>
          <p:cNvSpPr>
            <a:spLocks noGrp="1"/>
          </p:cNvSpPr>
          <p:nvPr>
            <p:ph type="sldNum" sz="quarter" idx="12"/>
          </p:nvPr>
        </p:nvSpPr>
        <p:spPr/>
        <p:txBody>
          <a:bodyPr/>
          <a:lstStyle/>
          <a:p>
            <a:fld id="{ABDA560F-461C-6043-9BC4-489BA92F7161}" type="slidenum">
              <a:rPr lang="en-US" smtClean="0"/>
              <a:t>45</a:t>
            </a:fld>
            <a:endParaRPr lang="en-US"/>
          </a:p>
        </p:txBody>
      </p:sp>
    </p:spTree>
    <p:extLst>
      <p:ext uri="{BB962C8B-B14F-4D97-AF65-F5344CB8AC3E}">
        <p14:creationId xmlns:p14="http://schemas.microsoft.com/office/powerpoint/2010/main" val="27526687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75463-50BF-24AF-3C10-D30FBDDEC803}"/>
              </a:ext>
            </a:extLst>
          </p:cNvPr>
          <p:cNvSpPr>
            <a:spLocks noGrp="1"/>
          </p:cNvSpPr>
          <p:nvPr>
            <p:ph type="title"/>
          </p:nvPr>
        </p:nvSpPr>
        <p:spPr/>
        <p:txBody>
          <a:bodyPr/>
          <a:lstStyle/>
          <a:p>
            <a:r>
              <a:rPr lang="en-US" dirty="0">
                <a:sym typeface="Helvetica Neue Light"/>
              </a:rPr>
              <a:t>Checking your jobs</a:t>
            </a:r>
            <a:endParaRPr lang="en-US" dirty="0"/>
          </a:p>
        </p:txBody>
      </p:sp>
      <p:sp>
        <p:nvSpPr>
          <p:cNvPr id="9" name="Content Placeholder 2">
            <a:extLst>
              <a:ext uri="{FF2B5EF4-FFF2-40B4-BE49-F238E27FC236}">
                <a16:creationId xmlns:a16="http://schemas.microsoft.com/office/drawing/2014/main" id="{2804A38D-FDC4-C07B-A6A5-96D3864AFC0A}"/>
              </a:ext>
            </a:extLst>
          </p:cNvPr>
          <p:cNvSpPr>
            <a:spLocks noGrp="1"/>
          </p:cNvSpPr>
          <p:nvPr>
            <p:ph idx="1"/>
          </p:nvPr>
        </p:nvSpPr>
        <p:spPr>
          <a:xfrm>
            <a:off x="838200" y="1690688"/>
            <a:ext cx="10515600" cy="4351338"/>
          </a:xfrm>
        </p:spPr>
        <p:txBody>
          <a:bodyPr/>
          <a:lstStyle/>
          <a:p>
            <a:r>
              <a:rPr lang="en-US" dirty="0" err="1"/>
              <a:t>squeue</a:t>
            </a:r>
            <a:r>
              <a:rPr lang="en-US" dirty="0"/>
              <a:t>: monitor your jobs status </a:t>
            </a:r>
            <a:r>
              <a:rPr lang="en-US" b="1" dirty="0"/>
              <a:t>in queue and while running</a:t>
            </a:r>
            <a:r>
              <a:rPr lang="en-US" dirty="0"/>
              <a:t>:</a:t>
            </a:r>
          </a:p>
          <a:p>
            <a:pPr marL="685800" lvl="1" indent="-342265" algn="l" rtl="0">
              <a:lnSpc>
                <a:spcPct val="100000"/>
              </a:lnSpc>
              <a:spcBef>
                <a:spcPts val="0"/>
              </a:spcBef>
              <a:spcAft>
                <a:spcPts val="0"/>
              </a:spcAft>
              <a:buClr>
                <a:srgbClr val="2F2B20"/>
              </a:buClr>
              <a:buSzPts val="1800"/>
              <a:buChar char="•"/>
            </a:pPr>
            <a:r>
              <a:rPr lang="en-US" sz="2400" dirty="0">
                <a:latin typeface="Arial"/>
                <a:ea typeface="Arial"/>
                <a:cs typeface="Arial"/>
                <a:sym typeface="Arial"/>
              </a:rPr>
              <a:t>By </a:t>
            </a:r>
            <a:r>
              <a:rPr lang="en-US" dirty="0">
                <a:latin typeface="Arial"/>
                <a:ea typeface="Arial"/>
                <a:cs typeface="Arial"/>
                <a:sym typeface="Arial"/>
              </a:rPr>
              <a:t>default,</a:t>
            </a:r>
            <a:r>
              <a:rPr lang="en-US" sz="2400" dirty="0">
                <a:latin typeface="Arial"/>
                <a:ea typeface="Arial"/>
                <a:cs typeface="Arial"/>
                <a:sym typeface="Arial"/>
              </a:rPr>
              <a:t> shows all jobs in queue, can specify using:</a:t>
            </a:r>
            <a:endParaRPr lang="en-US" dirty="0"/>
          </a:p>
          <a:p>
            <a:endParaRPr lang="en-US" dirty="0"/>
          </a:p>
          <a:p>
            <a:endParaRPr lang="en-US" dirty="0"/>
          </a:p>
          <a:p>
            <a:r>
              <a:rPr lang="en-US" dirty="0" err="1"/>
              <a:t>sacct</a:t>
            </a:r>
            <a:r>
              <a:rPr lang="en-US" dirty="0"/>
              <a:t>: check back on usage statistics of </a:t>
            </a:r>
            <a:r>
              <a:rPr lang="en-US" b="1" dirty="0"/>
              <a:t>previous Jobs</a:t>
            </a:r>
          </a:p>
          <a:p>
            <a:pPr marL="685800" lvl="1" indent="-342265" algn="l" rtl="0">
              <a:lnSpc>
                <a:spcPct val="100000"/>
              </a:lnSpc>
              <a:spcBef>
                <a:spcPts val="0"/>
              </a:spcBef>
              <a:spcAft>
                <a:spcPts val="0"/>
              </a:spcAft>
              <a:buClr>
                <a:srgbClr val="2F2B20"/>
              </a:buClr>
              <a:buSzPts val="1800"/>
              <a:buChar char="•"/>
            </a:pPr>
            <a:r>
              <a:rPr lang="en-US" sz="2800" dirty="0">
                <a:latin typeface="Arial"/>
                <a:ea typeface="Arial"/>
                <a:cs typeface="Arial"/>
                <a:sym typeface="Arial"/>
              </a:rPr>
              <a:t>By default, only checks all jobs from the start of the current day can specify using:</a:t>
            </a:r>
          </a:p>
          <a:p>
            <a:endParaRPr lang="en-US" b="1" dirty="0"/>
          </a:p>
        </p:txBody>
      </p:sp>
      <p:sp>
        <p:nvSpPr>
          <p:cNvPr id="10" name="Google Shape;513;p52">
            <a:extLst>
              <a:ext uri="{FF2B5EF4-FFF2-40B4-BE49-F238E27FC236}">
                <a16:creationId xmlns:a16="http://schemas.microsoft.com/office/drawing/2014/main" id="{6270ABA3-0AD8-3DB2-D330-EF60D5D9006E}"/>
              </a:ext>
            </a:extLst>
          </p:cNvPr>
          <p:cNvSpPr/>
          <p:nvPr/>
        </p:nvSpPr>
        <p:spPr>
          <a:xfrm>
            <a:off x="1620572" y="2662251"/>
            <a:ext cx="7263300" cy="7080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squeue</a:t>
            </a:r>
            <a:r>
              <a:rPr lang="en-US" sz="2000" dirty="0">
                <a:solidFill>
                  <a:srgbClr val="0070C0"/>
                </a:solidFill>
                <a:latin typeface="Consolas"/>
                <a:ea typeface="Consolas"/>
                <a:cs typeface="Consolas"/>
                <a:sym typeface="Consolas"/>
              </a:rPr>
              <a:t> –u </a:t>
            </a:r>
            <a:r>
              <a:rPr lang="en-US" sz="2000" dirty="0">
                <a:solidFill>
                  <a:schemeClr val="accent2"/>
                </a:solidFill>
                <a:latin typeface="Consolas"/>
                <a:ea typeface="Consolas"/>
                <a:cs typeface="Consolas"/>
                <a:sym typeface="Consolas"/>
              </a:rPr>
              <a:t>&lt;username&gt;</a:t>
            </a:r>
            <a:endParaRPr sz="2000" dirty="0">
              <a:solidFill>
                <a:schemeClr val="accent2"/>
              </a:solidFill>
              <a:latin typeface="Consolas"/>
              <a:ea typeface="Consolas"/>
              <a:cs typeface="Consolas"/>
              <a:sym typeface="Consolas"/>
            </a:endParaRPr>
          </a:p>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squeue</a:t>
            </a:r>
            <a:r>
              <a:rPr lang="en-US" sz="2000" dirty="0">
                <a:solidFill>
                  <a:srgbClr val="0070C0"/>
                </a:solidFill>
                <a:latin typeface="Consolas"/>
                <a:ea typeface="Consolas"/>
                <a:cs typeface="Consolas"/>
                <a:sym typeface="Consolas"/>
              </a:rPr>
              <a:t> –p </a:t>
            </a:r>
            <a:r>
              <a:rPr lang="en-US" sz="2000" dirty="0">
                <a:solidFill>
                  <a:schemeClr val="accent2"/>
                </a:solidFill>
                <a:latin typeface="Consolas"/>
                <a:ea typeface="Consolas"/>
                <a:cs typeface="Consolas"/>
                <a:sym typeface="Consolas"/>
              </a:rPr>
              <a:t>&lt;partition&gt;</a:t>
            </a:r>
            <a:endParaRPr sz="2000" dirty="0">
              <a:solidFill>
                <a:schemeClr val="accent2"/>
              </a:solidFill>
              <a:latin typeface="Consolas"/>
              <a:ea typeface="Consolas"/>
              <a:cs typeface="Consolas"/>
              <a:sym typeface="Consolas"/>
            </a:endParaRPr>
          </a:p>
        </p:txBody>
      </p:sp>
      <p:sp>
        <p:nvSpPr>
          <p:cNvPr id="11" name="Google Shape;514;p52">
            <a:extLst>
              <a:ext uri="{FF2B5EF4-FFF2-40B4-BE49-F238E27FC236}">
                <a16:creationId xmlns:a16="http://schemas.microsoft.com/office/drawing/2014/main" id="{CAE36032-1193-A772-7D31-F09CE2559DD8}"/>
              </a:ext>
            </a:extLst>
          </p:cNvPr>
          <p:cNvSpPr/>
          <p:nvPr/>
        </p:nvSpPr>
        <p:spPr>
          <a:xfrm>
            <a:off x="1620572" y="5040513"/>
            <a:ext cx="7263300" cy="10158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sacct</a:t>
            </a:r>
            <a:r>
              <a:rPr lang="en-US" sz="2000" dirty="0">
                <a:solidFill>
                  <a:srgbClr val="0070C0"/>
                </a:solidFill>
                <a:latin typeface="Consolas"/>
                <a:ea typeface="Consolas"/>
                <a:cs typeface="Consolas"/>
                <a:sym typeface="Consolas"/>
              </a:rPr>
              <a:t> –u </a:t>
            </a:r>
            <a:r>
              <a:rPr lang="en-US" sz="2000" dirty="0">
                <a:solidFill>
                  <a:schemeClr val="accent2"/>
                </a:solidFill>
                <a:latin typeface="Consolas"/>
                <a:ea typeface="Consolas"/>
                <a:cs typeface="Consolas"/>
                <a:sym typeface="Consolas"/>
              </a:rPr>
              <a:t>&lt;username&gt;</a:t>
            </a:r>
            <a:endParaRPr sz="1800" dirty="0">
              <a:solidFill>
                <a:schemeClr val="accent2"/>
              </a:solidFill>
              <a:latin typeface="Consolas"/>
              <a:ea typeface="Consolas"/>
              <a:cs typeface="Consolas"/>
              <a:sym typeface="Consolas"/>
            </a:endParaRPr>
          </a:p>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sacct</a:t>
            </a:r>
            <a:r>
              <a:rPr lang="en-US" sz="2000" dirty="0">
                <a:solidFill>
                  <a:srgbClr val="0070C0"/>
                </a:solidFill>
                <a:latin typeface="Consolas"/>
                <a:ea typeface="Consolas"/>
                <a:cs typeface="Consolas"/>
                <a:sym typeface="Consolas"/>
              </a:rPr>
              <a:t> --start=MM/DD/YY –u </a:t>
            </a:r>
            <a:r>
              <a:rPr lang="en-US" sz="2000" dirty="0">
                <a:solidFill>
                  <a:schemeClr val="accent2"/>
                </a:solidFill>
                <a:latin typeface="Consolas"/>
                <a:ea typeface="Consolas"/>
                <a:cs typeface="Consolas"/>
                <a:sym typeface="Consolas"/>
              </a:rPr>
              <a:t>&lt;username&gt;</a:t>
            </a:r>
            <a:endParaRPr sz="1800" dirty="0">
              <a:solidFill>
                <a:schemeClr val="accent2"/>
              </a:solidFill>
              <a:latin typeface="Arial"/>
              <a:ea typeface="Arial"/>
              <a:cs typeface="Arial"/>
              <a:sym typeface="Arial"/>
            </a:endParaRPr>
          </a:p>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sacct</a:t>
            </a:r>
            <a:r>
              <a:rPr lang="en-US" sz="2000" dirty="0">
                <a:solidFill>
                  <a:srgbClr val="0070C0"/>
                </a:solidFill>
                <a:latin typeface="Consolas"/>
                <a:ea typeface="Consolas"/>
                <a:cs typeface="Consolas"/>
                <a:sym typeface="Consolas"/>
              </a:rPr>
              <a:t> –j </a:t>
            </a:r>
            <a:r>
              <a:rPr lang="en-US" sz="2000" dirty="0">
                <a:solidFill>
                  <a:schemeClr val="accent2"/>
                </a:solidFill>
                <a:latin typeface="Consolas"/>
                <a:ea typeface="Consolas"/>
                <a:cs typeface="Consolas"/>
                <a:sym typeface="Consolas"/>
              </a:rPr>
              <a:t>&lt;job-id&gt;</a:t>
            </a:r>
            <a:endParaRPr sz="2000" dirty="0">
              <a:solidFill>
                <a:schemeClr val="accent2"/>
              </a:solidFill>
              <a:latin typeface="Consolas"/>
              <a:ea typeface="Consolas"/>
              <a:cs typeface="Consolas"/>
              <a:sym typeface="Consolas"/>
            </a:endParaRPr>
          </a:p>
        </p:txBody>
      </p:sp>
      <p:sp>
        <p:nvSpPr>
          <p:cNvPr id="6" name="Slide Number Placeholder 4">
            <a:extLst>
              <a:ext uri="{FF2B5EF4-FFF2-40B4-BE49-F238E27FC236}">
                <a16:creationId xmlns:a16="http://schemas.microsoft.com/office/drawing/2014/main" id="{01835F56-1994-3251-C6BE-9145A84CFEAA}"/>
              </a:ext>
            </a:extLst>
          </p:cNvPr>
          <p:cNvSpPr txBox="1">
            <a:spLocks/>
          </p:cNvSpPr>
          <p:nvPr/>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DA560F-461C-6043-9BC4-489BA92F7161}" type="slidenum">
              <a:rPr lang="en-US" smtClean="0"/>
              <a:pPr/>
              <a:t>46</a:t>
            </a:fld>
            <a:endParaRPr lang="en-US"/>
          </a:p>
        </p:txBody>
      </p:sp>
    </p:spTree>
    <p:extLst>
      <p:ext uri="{BB962C8B-B14F-4D97-AF65-F5344CB8AC3E}">
        <p14:creationId xmlns:p14="http://schemas.microsoft.com/office/powerpoint/2010/main" val="22752699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F7107-FD63-3C5A-931B-D01E0BD5BC7F}"/>
              </a:ext>
            </a:extLst>
          </p:cNvPr>
          <p:cNvSpPr>
            <a:spLocks noGrp="1"/>
          </p:cNvSpPr>
          <p:nvPr>
            <p:ph type="title"/>
          </p:nvPr>
        </p:nvSpPr>
        <p:spPr/>
        <p:txBody>
          <a:bodyPr>
            <a:normAutofit/>
          </a:bodyPr>
          <a:lstStyle/>
          <a:p>
            <a:r>
              <a:rPr lang="en-US" dirty="0"/>
              <a:t>Checking your jobs</a:t>
            </a:r>
          </a:p>
        </p:txBody>
      </p:sp>
      <p:sp>
        <p:nvSpPr>
          <p:cNvPr id="3" name="Content Placeholder 2">
            <a:extLst>
              <a:ext uri="{FF2B5EF4-FFF2-40B4-BE49-F238E27FC236}">
                <a16:creationId xmlns:a16="http://schemas.microsoft.com/office/drawing/2014/main" id="{E85E9A12-6AB5-5F86-E292-71CEE3639CF3}"/>
              </a:ext>
            </a:extLst>
          </p:cNvPr>
          <p:cNvSpPr>
            <a:spLocks noGrp="1"/>
          </p:cNvSpPr>
          <p:nvPr>
            <p:ph idx="1"/>
          </p:nvPr>
        </p:nvSpPr>
        <p:spPr/>
        <p:txBody>
          <a:bodyPr/>
          <a:lstStyle/>
          <a:p>
            <a:r>
              <a:rPr lang="en-US" sz="2800" dirty="0"/>
              <a:t>To check the percentage of CPU, GPU, and memory usage of a job </a:t>
            </a:r>
            <a:r>
              <a:rPr lang="en-US" sz="2800" b="1" dirty="0"/>
              <a:t>after it completes, </a:t>
            </a:r>
            <a:r>
              <a:rPr lang="en-US" sz="2800" dirty="0"/>
              <a:t>use </a:t>
            </a:r>
            <a:r>
              <a:rPr lang="en-US" sz="2800" dirty="0" err="1">
                <a:solidFill>
                  <a:srgbClr val="0070C0"/>
                </a:solidFill>
              </a:rPr>
              <a:t>seff</a:t>
            </a:r>
            <a:endParaRPr lang="en-US" sz="2800" dirty="0">
              <a:solidFill>
                <a:srgbClr val="0070C0"/>
              </a:solidFill>
            </a:endParaRPr>
          </a:p>
          <a:p>
            <a:endParaRPr lang="en-US" dirty="0">
              <a:solidFill>
                <a:srgbClr val="0070C0"/>
              </a:solidFill>
            </a:endParaRPr>
          </a:p>
          <a:p>
            <a:endParaRPr lang="en-US" dirty="0">
              <a:solidFill>
                <a:srgbClr val="0070C0"/>
              </a:solidFill>
            </a:endParaRPr>
          </a:p>
          <a:p>
            <a:r>
              <a:rPr lang="en-US" dirty="0"/>
              <a:t>To see general statistics for your submitted jobs, use</a:t>
            </a:r>
            <a:r>
              <a:rPr lang="en-US" sz="2800" dirty="0">
                <a:solidFill>
                  <a:srgbClr val="0070C0"/>
                </a:solidFill>
              </a:rPr>
              <a:t> </a:t>
            </a:r>
            <a:r>
              <a:rPr lang="en-US" sz="2800" dirty="0" err="1">
                <a:solidFill>
                  <a:srgbClr val="0070C0"/>
                </a:solidFill>
              </a:rPr>
              <a:t>jobstats</a:t>
            </a:r>
            <a:r>
              <a:rPr lang="en-US" dirty="0"/>
              <a:t> </a:t>
            </a:r>
          </a:p>
        </p:txBody>
      </p:sp>
      <p:sp>
        <p:nvSpPr>
          <p:cNvPr id="6" name="Google Shape;524;p53">
            <a:extLst>
              <a:ext uri="{FF2B5EF4-FFF2-40B4-BE49-F238E27FC236}">
                <a16:creationId xmlns:a16="http://schemas.microsoft.com/office/drawing/2014/main" id="{CF4DCEF5-D99B-F879-C459-5E4536E68F31}"/>
              </a:ext>
            </a:extLst>
          </p:cNvPr>
          <p:cNvSpPr/>
          <p:nvPr/>
        </p:nvSpPr>
        <p:spPr>
          <a:xfrm>
            <a:off x="1185579" y="4241445"/>
            <a:ext cx="7263450" cy="7389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module load </a:t>
            </a:r>
            <a:r>
              <a:rPr lang="en-US" sz="2000" dirty="0" err="1">
                <a:solidFill>
                  <a:srgbClr val="0070C0"/>
                </a:solidFill>
                <a:latin typeface="Consolas"/>
                <a:ea typeface="Consolas"/>
                <a:cs typeface="Consolas"/>
                <a:sym typeface="Consolas"/>
              </a:rPr>
              <a:t>slurmtools</a:t>
            </a:r>
            <a:endParaRPr lang="en-US" sz="2000"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jobstats</a:t>
            </a:r>
            <a:r>
              <a:rPr lang="en-US" sz="2000" dirty="0">
                <a:solidFill>
                  <a:srgbClr val="0070C0"/>
                </a:solidFill>
                <a:latin typeface="Consolas"/>
                <a:ea typeface="Consolas"/>
                <a:cs typeface="Consolas"/>
                <a:sym typeface="Consolas"/>
              </a:rPr>
              <a:t> </a:t>
            </a:r>
            <a:r>
              <a:rPr lang="en-US" sz="2000" dirty="0">
                <a:solidFill>
                  <a:schemeClr val="accent2"/>
                </a:solidFill>
                <a:latin typeface="Consolas"/>
                <a:ea typeface="Consolas"/>
                <a:cs typeface="Consolas"/>
                <a:sym typeface="Consolas"/>
              </a:rPr>
              <a:t>&lt;username&gt; &lt;# of days&gt;</a:t>
            </a:r>
            <a:endParaRPr sz="2000" dirty="0">
              <a:solidFill>
                <a:schemeClr val="accent2"/>
              </a:solidFill>
              <a:latin typeface="Consolas"/>
              <a:ea typeface="Consolas"/>
              <a:cs typeface="Consolas"/>
              <a:sym typeface="Consolas"/>
            </a:endParaRPr>
          </a:p>
        </p:txBody>
      </p:sp>
      <p:sp>
        <p:nvSpPr>
          <p:cNvPr id="7" name="Google Shape;525;p53">
            <a:extLst>
              <a:ext uri="{FF2B5EF4-FFF2-40B4-BE49-F238E27FC236}">
                <a16:creationId xmlns:a16="http://schemas.microsoft.com/office/drawing/2014/main" id="{5D84A3AA-B607-E8D8-B14E-9655F494AA9B}"/>
              </a:ext>
            </a:extLst>
          </p:cNvPr>
          <p:cNvSpPr/>
          <p:nvPr/>
        </p:nvSpPr>
        <p:spPr>
          <a:xfrm>
            <a:off x="1185729" y="2757419"/>
            <a:ext cx="7263300" cy="7389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module load </a:t>
            </a:r>
            <a:r>
              <a:rPr lang="en-US" sz="2000" dirty="0" err="1">
                <a:solidFill>
                  <a:srgbClr val="0070C0"/>
                </a:solidFill>
                <a:latin typeface="Consolas"/>
                <a:ea typeface="Consolas"/>
                <a:cs typeface="Consolas"/>
                <a:sym typeface="Consolas"/>
              </a:rPr>
              <a:t>slurmtools</a:t>
            </a:r>
            <a:endParaRPr sz="2000"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seff</a:t>
            </a:r>
            <a:r>
              <a:rPr lang="en-US" sz="2000" dirty="0">
                <a:solidFill>
                  <a:srgbClr val="0070C0"/>
                </a:solidFill>
                <a:latin typeface="Consolas"/>
                <a:ea typeface="Consolas"/>
                <a:cs typeface="Consolas"/>
                <a:sym typeface="Consolas"/>
              </a:rPr>
              <a:t> </a:t>
            </a:r>
            <a:r>
              <a:rPr lang="en-US" sz="2000" dirty="0">
                <a:solidFill>
                  <a:schemeClr val="accent2"/>
                </a:solidFill>
                <a:latin typeface="Consolas"/>
                <a:ea typeface="Consolas"/>
                <a:cs typeface="Consolas"/>
                <a:sym typeface="Consolas"/>
              </a:rPr>
              <a:t>&lt;job number&gt;</a:t>
            </a:r>
            <a:endParaRPr sz="2000" dirty="0">
              <a:solidFill>
                <a:schemeClr val="accent2"/>
              </a:solidFill>
              <a:latin typeface="Consolas"/>
              <a:ea typeface="Consolas"/>
              <a:cs typeface="Consolas"/>
              <a:sym typeface="Consolas"/>
            </a:endParaRPr>
          </a:p>
        </p:txBody>
      </p:sp>
      <p:sp>
        <p:nvSpPr>
          <p:cNvPr id="8" name="Slide Number Placeholder 4">
            <a:extLst>
              <a:ext uri="{FF2B5EF4-FFF2-40B4-BE49-F238E27FC236}">
                <a16:creationId xmlns:a16="http://schemas.microsoft.com/office/drawing/2014/main" id="{FBBE5115-E911-129B-C175-8232773E4569}"/>
              </a:ext>
            </a:extLst>
          </p:cNvPr>
          <p:cNvSpPr txBox="1">
            <a:spLocks/>
          </p:cNvSpPr>
          <p:nvPr/>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DA560F-461C-6043-9BC4-489BA92F7161}" type="slidenum">
              <a:rPr lang="en-US" smtClean="0"/>
              <a:pPr/>
              <a:t>47</a:t>
            </a:fld>
            <a:endParaRPr lang="en-US"/>
          </a:p>
        </p:txBody>
      </p:sp>
    </p:spTree>
    <p:extLst>
      <p:ext uri="{BB962C8B-B14F-4D97-AF65-F5344CB8AC3E}">
        <p14:creationId xmlns:p14="http://schemas.microsoft.com/office/powerpoint/2010/main" val="12257355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CE62E-E30C-F963-780F-4C867BBECA20}"/>
              </a:ext>
            </a:extLst>
          </p:cNvPr>
          <p:cNvSpPr>
            <a:spLocks noGrp="1"/>
          </p:cNvSpPr>
          <p:nvPr>
            <p:ph type="title"/>
          </p:nvPr>
        </p:nvSpPr>
        <p:spPr>
          <a:xfrm>
            <a:off x="838200" y="136525"/>
            <a:ext cx="10515600" cy="1325563"/>
          </a:xfrm>
        </p:spPr>
        <p:txBody>
          <a:bodyPr>
            <a:normAutofit/>
          </a:bodyPr>
          <a:lstStyle/>
          <a:p>
            <a:r>
              <a:rPr lang="en-US" dirty="0"/>
              <a:t>Job Monitoring - XDMOD</a:t>
            </a:r>
          </a:p>
        </p:txBody>
      </p:sp>
      <p:sp>
        <p:nvSpPr>
          <p:cNvPr id="5" name="Slide Number Placeholder 4">
            <a:extLst>
              <a:ext uri="{FF2B5EF4-FFF2-40B4-BE49-F238E27FC236}">
                <a16:creationId xmlns:a16="http://schemas.microsoft.com/office/drawing/2014/main" id="{9C7966D6-9645-45E3-95A6-E25C97B46994}"/>
              </a:ext>
            </a:extLst>
          </p:cNvPr>
          <p:cNvSpPr>
            <a:spLocks noGrp="1"/>
          </p:cNvSpPr>
          <p:nvPr>
            <p:ph type="sldNum" sz="quarter" idx="12"/>
          </p:nvPr>
        </p:nvSpPr>
        <p:spPr/>
        <p:txBody>
          <a:bodyPr/>
          <a:lstStyle/>
          <a:p>
            <a:fld id="{ABDA560F-461C-6043-9BC4-489BA92F7161}" type="slidenum">
              <a:rPr lang="en-US" smtClean="0"/>
              <a:t>48</a:t>
            </a:fld>
            <a:endParaRPr lang="en-US"/>
          </a:p>
        </p:txBody>
      </p:sp>
      <p:pic>
        <p:nvPicPr>
          <p:cNvPr id="8194" name="Picture 2" descr="A screenshot of the XDMoD interface">
            <a:extLst>
              <a:ext uri="{FF2B5EF4-FFF2-40B4-BE49-F238E27FC236}">
                <a16:creationId xmlns:a16="http://schemas.microsoft.com/office/drawing/2014/main" id="{E36BD517-D6FE-03D3-3158-D78C63FF08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4195" y="1462088"/>
            <a:ext cx="8128005" cy="411480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4949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76"/>
          <p:cNvSpPr txBox="1">
            <a:spLocks noGrp="1"/>
          </p:cNvSpPr>
          <p:nvPr>
            <p:ph type="title"/>
          </p:nvPr>
        </p:nvSpPr>
        <p:spPr>
          <a:xfrm>
            <a:off x="838200" y="80816"/>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Help! I’m stuck, where do I go?</a:t>
            </a:r>
            <a:endParaRPr dirty="0"/>
          </a:p>
        </p:txBody>
      </p:sp>
      <p:sp>
        <p:nvSpPr>
          <p:cNvPr id="899" name="Google Shape;899;p76"/>
          <p:cNvSpPr txBox="1">
            <a:spLocks noGrp="1"/>
          </p:cNvSpPr>
          <p:nvPr>
            <p:ph type="body" idx="1"/>
          </p:nvPr>
        </p:nvSpPr>
        <p:spPr>
          <a:xfrm>
            <a:off x="437990" y="1406516"/>
            <a:ext cx="11107911" cy="4163100"/>
          </a:xfrm>
          <a:prstGeom prst="rect">
            <a:avLst/>
          </a:prstGeom>
        </p:spPr>
        <p:txBody>
          <a:bodyPr spcFirstLastPara="1" wrap="square" lIns="91425" tIns="45700" rIns="91425" bIns="45700" anchor="t" anchorCtr="0">
            <a:normAutofit/>
          </a:bodyPr>
          <a:lstStyle/>
          <a:p>
            <a:pPr marL="457200" lvl="0" indent="-374650" algn="l" rtl="0">
              <a:lnSpc>
                <a:spcPct val="150001"/>
              </a:lnSpc>
              <a:spcBef>
                <a:spcPts val="300"/>
              </a:spcBef>
              <a:spcAft>
                <a:spcPts val="0"/>
              </a:spcAft>
              <a:buClr>
                <a:srgbClr val="1D1C1D"/>
              </a:buClr>
              <a:buSzPts val="2300"/>
              <a:buFont typeface="Arial"/>
              <a:buChar char="●"/>
            </a:pPr>
            <a:r>
              <a:rPr lang="en-US" sz="2200" b="1" u="sng" dirty="0">
                <a:solidFill>
                  <a:srgbClr val="1D1C1D"/>
                </a:solidFill>
              </a:rPr>
              <a:t>Documentation</a:t>
            </a:r>
            <a:r>
              <a:rPr lang="en-US" sz="2200" dirty="0">
                <a:solidFill>
                  <a:srgbClr val="1D1C1D"/>
                </a:solidFill>
              </a:rPr>
              <a:t>: </a:t>
            </a:r>
            <a:r>
              <a:rPr lang="en-US" sz="2200" u="sng" dirty="0">
                <a:solidFill>
                  <a:schemeClr val="hlink"/>
                </a:solidFill>
                <a:hlinkClick r:id="rId3"/>
              </a:rPr>
              <a:t>curc.readthedocs.io</a:t>
            </a:r>
            <a:r>
              <a:rPr lang="en-US" sz="2200" dirty="0">
                <a:solidFill>
                  <a:srgbClr val="1D1C1D"/>
                </a:solidFill>
              </a:rPr>
              <a:t> </a:t>
            </a:r>
            <a:endParaRPr sz="2200" dirty="0">
              <a:solidFill>
                <a:srgbClr val="1D1C1D"/>
              </a:solidFill>
            </a:endParaRPr>
          </a:p>
          <a:p>
            <a:pPr marL="457200" lvl="0" indent="-374650" algn="l" rtl="0">
              <a:lnSpc>
                <a:spcPct val="150001"/>
              </a:lnSpc>
              <a:spcBef>
                <a:spcPts val="300"/>
              </a:spcBef>
              <a:spcAft>
                <a:spcPts val="0"/>
              </a:spcAft>
              <a:buClr>
                <a:srgbClr val="1D1C1D"/>
              </a:buClr>
              <a:buSzPts val="2300"/>
              <a:buFont typeface="Arial"/>
              <a:buChar char="●"/>
            </a:pPr>
            <a:r>
              <a:rPr lang="en-US" sz="2200" b="1" u="sng" dirty="0">
                <a:solidFill>
                  <a:srgbClr val="1D1C1D"/>
                </a:solidFill>
              </a:rPr>
              <a:t>Trainings with Center for Research Data and Digital Scholarship (CRDDS)</a:t>
            </a:r>
            <a:r>
              <a:rPr lang="en-US" sz="2200" dirty="0">
                <a:solidFill>
                  <a:srgbClr val="1D1C1D"/>
                </a:solidFill>
              </a:rPr>
              <a:t>: </a:t>
            </a:r>
            <a:r>
              <a:rPr lang="en-US" sz="2200" u="sng" dirty="0">
                <a:solidFill>
                  <a:schemeClr val="hlink"/>
                </a:solidFill>
                <a:hlinkClick r:id="rId4"/>
              </a:rPr>
              <a:t>www.colorado.edu/crdds</a:t>
            </a:r>
            <a:r>
              <a:rPr lang="en-US" sz="2200" dirty="0">
                <a:solidFill>
                  <a:srgbClr val="1D1C1D"/>
                </a:solidFill>
              </a:rPr>
              <a:t> </a:t>
            </a:r>
          </a:p>
          <a:p>
            <a:pPr marL="457200" lvl="0" indent="-374650" algn="l" rtl="0">
              <a:lnSpc>
                <a:spcPct val="150001"/>
              </a:lnSpc>
              <a:spcBef>
                <a:spcPts val="300"/>
              </a:spcBef>
              <a:spcAft>
                <a:spcPts val="0"/>
              </a:spcAft>
              <a:buClr>
                <a:srgbClr val="1D1C1D"/>
              </a:buClr>
              <a:buSzPts val="2300"/>
              <a:buFont typeface="Arial"/>
              <a:buChar char="●"/>
            </a:pPr>
            <a:r>
              <a:rPr lang="en-US" sz="2200" b="1" u="sng" dirty="0">
                <a:solidFill>
                  <a:srgbClr val="1D1C1D"/>
                </a:solidFill>
              </a:rPr>
              <a:t>Support request form</a:t>
            </a:r>
            <a:r>
              <a:rPr lang="en-US" sz="2200" dirty="0">
                <a:solidFill>
                  <a:srgbClr val="1D1C1D"/>
                </a:solidFill>
              </a:rPr>
              <a:t>: </a:t>
            </a:r>
            <a:r>
              <a:rPr lang="en-US" sz="2200" dirty="0" err="1">
                <a:solidFill>
                  <a:srgbClr val="0563C1"/>
                </a:solidFill>
              </a:rPr>
              <a:t>colorado.service-now.com</a:t>
            </a:r>
            <a:r>
              <a:rPr lang="en-US" sz="2200" dirty="0">
                <a:solidFill>
                  <a:srgbClr val="0563C1"/>
                </a:solidFill>
              </a:rPr>
              <a:t>/</a:t>
            </a:r>
            <a:r>
              <a:rPr lang="en-US" sz="2200" dirty="0" err="1">
                <a:solidFill>
                  <a:srgbClr val="0563C1"/>
                </a:solidFill>
              </a:rPr>
              <a:t>req_portal?id</a:t>
            </a:r>
            <a:r>
              <a:rPr lang="en-US" sz="2200" dirty="0">
                <a:solidFill>
                  <a:srgbClr val="0563C1"/>
                </a:solidFill>
              </a:rPr>
              <a:t>=</a:t>
            </a:r>
            <a:r>
              <a:rPr lang="en-US" sz="2200" dirty="0" err="1">
                <a:solidFill>
                  <a:srgbClr val="0563C1"/>
                </a:solidFill>
              </a:rPr>
              <a:t>ucb_sc_rc_form</a:t>
            </a:r>
            <a:endParaRPr lang="en-US" sz="2200" dirty="0">
              <a:solidFill>
                <a:srgbClr val="0563C1"/>
              </a:solidFill>
            </a:endParaRPr>
          </a:p>
          <a:p>
            <a:pPr marL="457200" lvl="0" indent="-374650" algn="l" rtl="0">
              <a:lnSpc>
                <a:spcPct val="150001"/>
              </a:lnSpc>
              <a:spcBef>
                <a:spcPts val="300"/>
              </a:spcBef>
              <a:spcAft>
                <a:spcPts val="0"/>
              </a:spcAft>
              <a:buClr>
                <a:srgbClr val="1D1C1D"/>
              </a:buClr>
              <a:buSzPts val="2300"/>
              <a:buFont typeface="Arial"/>
              <a:buChar char="●"/>
            </a:pPr>
            <a:r>
              <a:rPr lang="en-US" sz="2200" b="1" u="sng" dirty="0">
                <a:solidFill>
                  <a:schemeClr val="tx1"/>
                </a:solidFill>
                <a:hlinkClick r:id="rId5"/>
              </a:rPr>
              <a:t>Consult Hours</a:t>
            </a:r>
            <a:r>
              <a:rPr lang="en-US" sz="2200" b="1" dirty="0">
                <a:solidFill>
                  <a:schemeClr val="tx1"/>
                </a:solidFill>
                <a:hlinkClick r:id="rId5"/>
              </a:rPr>
              <a:t> </a:t>
            </a:r>
            <a:r>
              <a:rPr lang="en-US" sz="2200" b="1" dirty="0">
                <a:solidFill>
                  <a:schemeClr val="tx1"/>
                </a:solidFill>
              </a:rPr>
              <a:t>(Tuesday 1:00-2:00pm in-person or virtually, Thursday 1:00-2:00pm virtually)</a:t>
            </a:r>
          </a:p>
        </p:txBody>
      </p:sp>
      <p:sp>
        <p:nvSpPr>
          <p:cNvPr id="900" name="Google Shape;900;p76"/>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49</a:t>
            </a:fld>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912"/>
        <p:cNvGrpSpPr/>
        <p:nvPr/>
      </p:nvGrpSpPr>
      <p:grpSpPr>
        <a:xfrm>
          <a:off x="0" y="0"/>
          <a:ext cx="0" cy="0"/>
          <a:chOff x="0" y="0"/>
          <a:chExt cx="0" cy="0"/>
        </a:xfrm>
      </p:grpSpPr>
      <p:sp>
        <p:nvSpPr>
          <p:cNvPr id="913" name="Google Shape;913;p78"/>
          <p:cNvSpPr txBox="1">
            <a:spLocks noGrp="1"/>
          </p:cNvSpPr>
          <p:nvPr>
            <p:ph type="title"/>
          </p:nvPr>
        </p:nvSpPr>
        <p:spPr>
          <a:xfrm>
            <a:off x="686640" y="136550"/>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Survey and feedback</a:t>
            </a:r>
            <a:endParaRPr dirty="0"/>
          </a:p>
        </p:txBody>
      </p:sp>
      <p:sp>
        <p:nvSpPr>
          <p:cNvPr id="914" name="Google Shape;914;p78"/>
          <p:cNvSpPr txBox="1">
            <a:spLocks noGrp="1"/>
          </p:cNvSpPr>
          <p:nvPr>
            <p:ph type="body" idx="1"/>
          </p:nvPr>
        </p:nvSpPr>
        <p:spPr>
          <a:xfrm>
            <a:off x="681996" y="2914389"/>
            <a:ext cx="6438580" cy="826239"/>
          </a:xfrm>
          <a:prstGeom prst="rect">
            <a:avLst/>
          </a:prstGeom>
        </p:spPr>
        <p:txBody>
          <a:bodyPr spcFirstLastPara="1" wrap="square" lIns="91425" tIns="45700" rIns="91425" bIns="45700" anchor="t" anchorCtr="0">
            <a:normAutofit/>
          </a:bodyPr>
          <a:lstStyle/>
          <a:p>
            <a:pPr marL="0" lvl="0" indent="0">
              <a:buNone/>
            </a:pPr>
            <a:r>
              <a:rPr lang="en-US" sz="3300" dirty="0">
                <a:hlinkClick r:id="rId3"/>
              </a:rPr>
              <a:t>https://</a:t>
            </a:r>
            <a:r>
              <a:rPr lang="en-US" sz="3300" dirty="0" err="1">
                <a:hlinkClick r:id="rId3"/>
              </a:rPr>
              <a:t>s.zoom.us</a:t>
            </a:r>
            <a:r>
              <a:rPr lang="en-US" sz="3300" dirty="0">
                <a:hlinkClick r:id="rId3"/>
              </a:rPr>
              <a:t>/m/bPlTUoGhy</a:t>
            </a:r>
            <a:r>
              <a:rPr lang="en-US" sz="3300" dirty="0"/>
              <a:t> </a:t>
            </a:r>
            <a:endParaRPr sz="3300" dirty="0"/>
          </a:p>
        </p:txBody>
      </p:sp>
      <p:sp>
        <p:nvSpPr>
          <p:cNvPr id="915" name="Google Shape;915;p78"/>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50</a:t>
            </a:fld>
            <a:endParaRPr/>
          </a:p>
        </p:txBody>
      </p:sp>
      <p:pic>
        <p:nvPicPr>
          <p:cNvPr id="4" name="Picture 3" descr="QR code for https://s.zoom.us/m/bPlTUoGhy &#13;&#10;">
            <a:extLst>
              <a:ext uri="{FF2B5EF4-FFF2-40B4-BE49-F238E27FC236}">
                <a16:creationId xmlns:a16="http://schemas.microsoft.com/office/drawing/2014/main" id="{564303DD-19B4-0BEF-F5ED-CFEBD5E7400B}"/>
              </a:ext>
            </a:extLst>
          </p:cNvPr>
          <p:cNvPicPr>
            <a:picLocks noChangeAspect="1"/>
          </p:cNvPicPr>
          <p:nvPr/>
        </p:nvPicPr>
        <p:blipFill>
          <a:blip r:embed="rId4"/>
          <a:stretch>
            <a:fillRect/>
          </a:stretch>
        </p:blipFill>
        <p:spPr>
          <a:xfrm>
            <a:off x="7841754" y="1750549"/>
            <a:ext cx="3160701" cy="3153918"/>
          </a:xfrm>
          <a:prstGeom prst="rect">
            <a:avLst/>
          </a:prstGeom>
        </p:spPr>
      </p:pic>
    </p:spTree>
  </p:cSld>
  <p:clrMapOvr>
    <a:masterClrMapping/>
  </p:clrMapOvr>
</p:sld>
</file>

<file path=ppt/theme/theme1.xml><?xml version="1.0" encoding="utf-8"?>
<a:theme xmlns:a="http://schemas.openxmlformats.org/drawingml/2006/main" name="CUB Content ">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92c16b9d-8c83-445e-a4f4-1fe3d2f43f13" xsi:nil="true"/>
    <lcf76f155ced4ddcb4097134ff3c332f xmlns="7e49f7d3-8802-46ca-9604-495ce27f67f4">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C7320DB280744439FF1CC777D09ECA4" ma:contentTypeVersion="15" ma:contentTypeDescription="Create a new document." ma:contentTypeScope="" ma:versionID="e50b92032c956cc777cf00ac7d475189">
  <xsd:schema xmlns:xsd="http://www.w3.org/2001/XMLSchema" xmlns:xs="http://www.w3.org/2001/XMLSchema" xmlns:p="http://schemas.microsoft.com/office/2006/metadata/properties" xmlns:ns2="7e49f7d3-8802-46ca-9604-495ce27f67f4" xmlns:ns3="a1519f9a-9d6a-41c1-afc9-552e4069f82f" xmlns:ns4="92c16b9d-8c83-445e-a4f4-1fe3d2f43f13" targetNamespace="http://schemas.microsoft.com/office/2006/metadata/properties" ma:root="true" ma:fieldsID="fcd7cab68a23f1df7b42ced4f3edf141" ns2:_="" ns3:_="" ns4:_="">
    <xsd:import namespace="7e49f7d3-8802-46ca-9604-495ce27f67f4"/>
    <xsd:import namespace="a1519f9a-9d6a-41c1-afc9-552e4069f82f"/>
    <xsd:import namespace="92c16b9d-8c83-445e-a4f4-1fe3d2f43f1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4: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49f7d3-8802-46ca-9604-495ce27f67f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52802cc5-2881-4dd7-9d75-38905e9cf7f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1519f9a-9d6a-41c1-afc9-552e4069f82f"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2c16b9d-8c83-445e-a4f4-1fe3d2f43f13"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95373c19-887a-4e93-8582-23ebe3fe2f18}" ma:internalName="TaxCatchAll" ma:showField="CatchAllData" ma:web="a1519f9a-9d6a-41c1-afc9-552e4069f82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AB02FF4-25A1-49FE-9DF7-DD19F525B7FA}">
  <ds:schemaRefs>
    <ds:schemaRef ds:uri="7e49f7d3-8802-46ca-9604-495ce27f67f4"/>
    <ds:schemaRef ds:uri="http://schemas.microsoft.com/office/2006/metadata/properties"/>
    <ds:schemaRef ds:uri="http://schemas.microsoft.com/office/infopath/2007/PartnerControls"/>
    <ds:schemaRef ds:uri="http://purl.org/dc/terms/"/>
    <ds:schemaRef ds:uri="http://purl.org/dc/elements/1.1/"/>
    <ds:schemaRef ds:uri="http://www.w3.org/XML/1998/namespace"/>
    <ds:schemaRef ds:uri="92c16b9d-8c83-445e-a4f4-1fe3d2f43f13"/>
    <ds:schemaRef ds:uri="http://schemas.microsoft.com/office/2006/documentManagement/types"/>
    <ds:schemaRef ds:uri="http://purl.org/dc/dcmitype/"/>
    <ds:schemaRef ds:uri="http://schemas.openxmlformats.org/package/2006/metadata/core-properties"/>
    <ds:schemaRef ds:uri="a1519f9a-9d6a-41c1-afc9-552e4069f82f"/>
  </ds:schemaRefs>
</ds:datastoreItem>
</file>

<file path=customXml/itemProps2.xml><?xml version="1.0" encoding="utf-8"?>
<ds:datastoreItem xmlns:ds="http://schemas.openxmlformats.org/officeDocument/2006/customXml" ds:itemID="{6BBC22CE-40EC-4545-8FE9-90326628051D}">
  <ds:schemaRefs>
    <ds:schemaRef ds:uri="7e49f7d3-8802-46ca-9604-495ce27f67f4"/>
    <ds:schemaRef ds:uri="92c16b9d-8c83-445e-a4f4-1fe3d2f43f13"/>
    <ds:schemaRef ds:uri="a1519f9a-9d6a-41c1-afc9-552e4069f82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06B4C708-AA43-4CE7-BE2D-F9D9A02F4940}">
  <ds:schemaRefs>
    <ds:schemaRef ds:uri="http://schemas.microsoft.com/sharepoint/v3/contenttype/forms"/>
  </ds:schemaRefs>
</ds:datastoreItem>
</file>

<file path=docMetadata/LabelInfo.xml><?xml version="1.0" encoding="utf-8"?>
<clbl:labelList xmlns:clbl="http://schemas.microsoft.com/office/2020/mipLabelMetadata">
  <clbl:label id="{3ded8b1b-070d-4629-82e4-c0b019f46057}" enabled="0" method="" siteId="{3ded8b1b-070d-4629-82e4-c0b019f46057}" removed="1"/>
</clbl:labelList>
</file>

<file path=docProps/app.xml><?xml version="1.0" encoding="utf-8"?>
<Properties xmlns="http://schemas.openxmlformats.org/officeDocument/2006/extended-properties" xmlns:vt="http://schemas.openxmlformats.org/officeDocument/2006/docPropsVTypes">
  <TotalTime>15436</TotalTime>
  <Words>3267</Words>
  <Application>Microsoft Macintosh PowerPoint</Application>
  <PresentationFormat>Widescreen</PresentationFormat>
  <Paragraphs>541</Paragraphs>
  <Slides>50</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50</vt:i4>
      </vt:variant>
    </vt:vector>
  </HeadingPairs>
  <TitlesOfParts>
    <vt:vector size="59" baseType="lpstr">
      <vt:lpstr>Arial</vt:lpstr>
      <vt:lpstr>Arial Black</vt:lpstr>
      <vt:lpstr>Calibri</vt:lpstr>
      <vt:lpstr>Consolas</vt:lpstr>
      <vt:lpstr>Courier New</vt:lpstr>
      <vt:lpstr>Helvetica Neue</vt:lpstr>
      <vt:lpstr>Helvetica Neue Light</vt:lpstr>
      <vt:lpstr>Times New Roman</vt:lpstr>
      <vt:lpstr>CUB Content </vt:lpstr>
      <vt:lpstr>Getting Started with Research Computing From Command Line to Job Scheduling</vt:lpstr>
      <vt:lpstr>Useful CURC links</vt:lpstr>
      <vt:lpstr>The user support team</vt:lpstr>
      <vt:lpstr>Encouraging questions</vt:lpstr>
      <vt:lpstr>General Overview of Job Submission</vt:lpstr>
      <vt:lpstr>Login Nodes</vt:lpstr>
      <vt:lpstr>Accessing the Terminal</vt:lpstr>
      <vt:lpstr>Accessing the Terminal Cont.</vt:lpstr>
      <vt:lpstr>Linux Command Line</vt:lpstr>
      <vt:lpstr>List Files and Directories</vt:lpstr>
      <vt:lpstr>Standard CURC Directories</vt:lpstr>
      <vt:lpstr>File Operations</vt:lpstr>
      <vt:lpstr>Create and edit a file – Terminal Text Editors</vt:lpstr>
      <vt:lpstr>Creating a Bash Script</vt:lpstr>
      <vt:lpstr>Shell script basics</vt:lpstr>
      <vt:lpstr>Selecting Resources</vt:lpstr>
      <vt:lpstr>Common Resource Requests</vt:lpstr>
      <vt:lpstr>Alpine Partitions</vt:lpstr>
      <vt:lpstr>Alpine Partitions - acpu</vt:lpstr>
      <vt:lpstr>Alpine Partitions - amem</vt:lpstr>
      <vt:lpstr>Alpine Partitions – NVIDIA GPUs</vt:lpstr>
      <vt:lpstr>Alpine Partitions – AMD GPUs</vt:lpstr>
      <vt:lpstr>Alpine Testing Resources</vt:lpstr>
      <vt:lpstr>Quality of Service (QoS)</vt:lpstr>
      <vt:lpstr>Quality of Service (QoS) Examples</vt:lpstr>
      <vt:lpstr>Selecting Hardware</vt:lpstr>
      <vt:lpstr>GRES Type</vt:lpstr>
      <vt:lpstr>GRES Type Examples</vt:lpstr>
      <vt:lpstr>Walltime</vt:lpstr>
      <vt:lpstr>Requesting a Job</vt:lpstr>
      <vt:lpstr>Planned Maintenance </vt:lpstr>
      <vt:lpstr>Batch vs Interactive Jobs</vt:lpstr>
      <vt:lpstr>Batch Jobs</vt:lpstr>
      <vt:lpstr>Interactive Jobs</vt:lpstr>
      <vt:lpstr>Slurm Directives</vt:lpstr>
      <vt:lpstr>Common Slurm Directives</vt:lpstr>
      <vt:lpstr>Common Slurm Directives cont.</vt:lpstr>
      <vt:lpstr>Starting an interactive job</vt:lpstr>
      <vt:lpstr>Running an interactive job</vt:lpstr>
      <vt:lpstr>Submitting a Batch Job</vt:lpstr>
      <vt:lpstr>Anatomy of a Job Script </vt:lpstr>
      <vt:lpstr>Directives in a Job Script</vt:lpstr>
      <vt:lpstr>Creating a Job Script</vt:lpstr>
      <vt:lpstr>Example job script</vt:lpstr>
      <vt:lpstr>Submitting a Job script</vt:lpstr>
      <vt:lpstr>Checking your jobs</vt:lpstr>
      <vt:lpstr>Checking your jobs</vt:lpstr>
      <vt:lpstr>Job Monitoring - XDMOD</vt:lpstr>
      <vt:lpstr>Help! I’m stuck, where do I go?</vt:lpstr>
      <vt:lpstr>Survey and feedback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CURC Alpine Allocations</dc:title>
  <dc:creator>Layla Freeborn</dc:creator>
  <cp:lastModifiedBy>Brandon Reyes</cp:lastModifiedBy>
  <cp:revision>65</cp:revision>
  <cp:lastPrinted>2025-09-12T16:15:41Z</cp:lastPrinted>
  <dcterms:created xsi:type="dcterms:W3CDTF">2023-01-13T17:07:22Z</dcterms:created>
  <dcterms:modified xsi:type="dcterms:W3CDTF">2026-08-31T19:36:54Z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0x010100DC7320DB280744439FF1CC777D09ECA4</vt:lpwstr>
  </property>
</Properties>
</file>