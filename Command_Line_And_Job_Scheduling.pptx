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53"/>
  </p:notesMasterIdLst>
  <p:sldIdLst>
    <p:sldId id="256" r:id="rId5"/>
    <p:sldId id="430" r:id="rId6"/>
    <p:sldId id="365" r:id="rId7"/>
    <p:sldId id="261" r:id="rId8"/>
    <p:sldId id="351" r:id="rId9"/>
    <p:sldId id="450" r:id="rId10"/>
    <p:sldId id="420" r:id="rId11"/>
    <p:sldId id="421" r:id="rId12"/>
    <p:sldId id="400" r:id="rId13"/>
    <p:sldId id="404" r:id="rId14"/>
    <p:sldId id="405" r:id="rId15"/>
    <p:sldId id="424" r:id="rId16"/>
    <p:sldId id="407" r:id="rId17"/>
    <p:sldId id="425" r:id="rId18"/>
    <p:sldId id="263" r:id="rId19"/>
    <p:sldId id="426" r:id="rId20"/>
    <p:sldId id="431" r:id="rId21"/>
    <p:sldId id="374" r:id="rId22"/>
    <p:sldId id="432" r:id="rId23"/>
    <p:sldId id="433" r:id="rId24"/>
    <p:sldId id="434" r:id="rId25"/>
    <p:sldId id="373" r:id="rId26"/>
    <p:sldId id="435" r:id="rId27"/>
    <p:sldId id="436" r:id="rId28"/>
    <p:sldId id="437" r:id="rId29"/>
    <p:sldId id="438" r:id="rId30"/>
    <p:sldId id="439" r:id="rId31"/>
    <p:sldId id="440" r:id="rId32"/>
    <p:sldId id="444" r:id="rId33"/>
    <p:sldId id="441" r:id="rId34"/>
    <p:sldId id="442" r:id="rId35"/>
    <p:sldId id="443" r:id="rId36"/>
    <p:sldId id="445" r:id="rId37"/>
    <p:sldId id="446" r:id="rId38"/>
    <p:sldId id="447" r:id="rId39"/>
    <p:sldId id="370" r:id="rId40"/>
    <p:sldId id="371" r:id="rId41"/>
    <p:sldId id="354" r:id="rId42"/>
    <p:sldId id="355" r:id="rId43"/>
    <p:sldId id="429" r:id="rId44"/>
    <p:sldId id="427" r:id="rId45"/>
    <p:sldId id="396" r:id="rId46"/>
    <p:sldId id="359" r:id="rId47"/>
    <p:sldId id="361" r:id="rId48"/>
    <p:sldId id="362" r:id="rId49"/>
    <p:sldId id="416" r:id="rId50"/>
    <p:sldId id="448" r:id="rId51"/>
    <p:sldId id="449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691206C-2BA2-452A-5B48-4B2D08511887}" name="Michael Joseph Schneider" initials="MS" userId="S::misc7570@colorado.edu::0526a63a-26d6-4239-972a-179b08dd2c7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FE0"/>
    <a:srgbClr val="D88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1"/>
    <p:restoredTop sz="97228"/>
  </p:normalViewPr>
  <p:slideViewPr>
    <p:cSldViewPr snapToGrid="0">
      <p:cViewPr varScale="1">
        <p:scale>
          <a:sx n="164" d="100"/>
          <a:sy n="164" d="100"/>
        </p:scale>
        <p:origin x="200" y="3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microsoft.com/office/2018/10/relationships/authors" Target="author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2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DA08D6-E137-3341-A5EE-84219A24203E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6901F-C6C3-9E47-9843-744856EDDD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40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0E6FC-C58D-CA46-93FA-98E1AAB1BA5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30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workshop is meant to be empowering and information-rich – to help you get the most out of your HPC workflow.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Feel free to ask questions during the presentations and to discuss ideas/thoughts during breaks and the hands-on portion of the workshop.</a:t>
            </a: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5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897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</a:t>
            </a:r>
            <a:r>
              <a:rPr lang="en-US" dirty="0" err="1"/>
              <a:t>hello.sh</a:t>
            </a:r>
            <a:r>
              <a:rPr lang="en-US" dirty="0"/>
              <a:t> file you </a:t>
            </a:r>
            <a:r>
              <a:rPr lang="en-US" dirty="0" err="1"/>
              <a:t>chmod’d</a:t>
            </a:r>
            <a:r>
              <a:rPr lang="en-US" dirty="0"/>
              <a:t> was a bash shell script.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implies that the Bash script is running in a separate independent shell. This separate shell terminates at the end of the script, leaving the parent shell, the shell we’re in, unaffected.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pwd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echo $$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PID OF CURRENT PROCESS</a:t>
            </a:r>
            <a:endParaRPr dirty="0"/>
          </a:p>
        </p:txBody>
      </p:sp>
      <p:sp>
        <p:nvSpPr>
          <p:cNvPr id="220" name="Google Shape;2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EFF08-17DB-28FC-AC3E-D0CE31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089E0-940F-F89C-AEDB-4483A7E3C7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E7A55-A2DC-8455-F874-C7762F954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1DDC3-11A8-B552-D2B9-C2EE619A2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572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979A2-6C01-2D82-2026-873F0C42D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9B4BD3-D55B-C978-3890-0BC25B056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632A4-DAED-18E7-2A05-12E1398AB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Partition – Defines what type of hardware your job has access to. </a:t>
            </a:r>
          </a:p>
          <a:p>
            <a:endParaRPr lang="en-US" dirty="0"/>
          </a:p>
          <a:p>
            <a:r>
              <a:rPr lang="en-US" dirty="0" err="1"/>
              <a:t>Ntasks</a:t>
            </a:r>
            <a:r>
              <a:rPr lang="en-US" dirty="0"/>
              <a:t> – How many CPU cores your job is requesting</a:t>
            </a:r>
          </a:p>
          <a:p>
            <a:endParaRPr lang="en-US" dirty="0"/>
          </a:p>
          <a:p>
            <a:r>
              <a:rPr lang="en-US" dirty="0"/>
              <a:t>Nodes – How many nodes your job will run across (typically 1, but can be more)</a:t>
            </a:r>
          </a:p>
          <a:p>
            <a:endParaRPr lang="en-US" dirty="0"/>
          </a:p>
          <a:p>
            <a:r>
              <a:rPr lang="en-US" dirty="0"/>
              <a:t>Wall Time – How much time your job needs to run on the system (can be a few minutes, a few hours, to multiple days)</a:t>
            </a:r>
          </a:p>
          <a:p>
            <a:endParaRPr lang="en-US" dirty="0"/>
          </a:p>
          <a:p>
            <a:r>
              <a:rPr lang="en-US" dirty="0"/>
              <a:t>Quality of Service (QOS) – Defines additional job constraints – i.e. limits to how much your job can request.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ED7FE-C9C0-4E32-9AFC-C2DAB812B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708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D0A3E20E-FC8A-5CE7-3FB3-E125CF50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F7B83B71-ECA6-67CD-8273-82DEA84147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A9D89E84-E581-89A7-7FA7-E771B1827C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Compute nodes are organized into partitions – logical groups of similarly spec’d hardware.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Partitions make it easier to request specific resources and ensure a more consistent user experience.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Alpine Cluster has four primary partitions.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9D29B984-FBEC-866C-F88B-A129F4D25A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3417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3B3E419D-42DC-9BF8-E574-79B5FE756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E2B5DF0E-33E4-CD33-E622-8A5DDB436E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F259969-7916-7A22-7681-4C78BEE02A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amilan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285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  <a:endParaRPr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86D727F-2132-DA15-78AF-130F8F1B1E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58037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2C0D8D7D-F11A-6ED5-0EA5-19E98E5BB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50EA0C7D-3FEF-4C96-8B9F-1773780BE6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B7914616-93C1-BF2D-A39D-0222189A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err="1"/>
              <a:t>amem</a:t>
            </a:r>
            <a:r>
              <a:rPr lang="en-US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48 CPU Cores per node (12)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 (10)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21.5 GB of RAM per CPU (1 TB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Detailed Information on Alpine Hardware: </a:t>
            </a:r>
            <a:br>
              <a:rPr lang="en-US"/>
            </a:br>
            <a:r>
              <a:rPr lang="en-US"/>
              <a:t>https://</a:t>
            </a:r>
            <a:r>
              <a:rPr lang="en-US" err="1"/>
              <a:t>curc.readthedocs.io</a:t>
            </a:r>
            <a:r>
              <a:rPr lang="en-US"/>
              <a:t>/</a:t>
            </a:r>
            <a:r>
              <a:rPr lang="en-US" err="1"/>
              <a:t>en</a:t>
            </a:r>
            <a:r>
              <a:rPr lang="en-US"/>
              <a:t>/latest/clusters/alpine/alpine-</a:t>
            </a:r>
            <a:r>
              <a:rPr lang="en-US" err="1"/>
              <a:t>hardware.html</a:t>
            </a:r>
            <a:r>
              <a:rPr lang="en-US"/>
              <a:t> 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9DCA4C4-C232-5907-9F06-1B58CD873E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4900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F8D2C90A-5B73-4508-615E-264362A90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16E7737-79B1-8E6E-5A38-C6999827C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F931679B-1D1E-8F7D-0C6C-336DB0BAB5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aa100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12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 GPU’s per Node (Nvidia A100)</a:t>
            </a:r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1382B4DD-9E5B-2333-B86F-57C4B9715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10581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4AEB09C-00E5-8F93-C01E-34DCA8FC7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2316551eda_0_238:notes">
            <a:extLst>
              <a:ext uri="{FF2B5EF4-FFF2-40B4-BE49-F238E27FC236}">
                <a16:creationId xmlns:a16="http://schemas.microsoft.com/office/drawing/2014/main" id="{B468BC0F-AD51-A90A-E685-BFC983EF0D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2" name="Google Shape;332;g12316551eda_0_238:notes">
            <a:extLst>
              <a:ext uri="{FF2B5EF4-FFF2-40B4-BE49-F238E27FC236}">
                <a16:creationId xmlns:a16="http://schemas.microsoft.com/office/drawing/2014/main" id="{9CD8BF36-4E58-DC63-9B9E-3C3A3BA1C8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ami100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8 Nodes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64 CPU Cores per Node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3.75 GB of RAM per CPU (240 GB total)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 GPU’s per Node (AMD MI100)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Detailed Information on Alpine Hardware: 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curc.readthedocs.io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/latest/clusters/alpine/alpine-</a:t>
            </a:r>
            <a:r>
              <a:rPr lang="en-US" dirty="0" err="1"/>
              <a:t>hardware.html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3" name="Google Shape;333;g12316551eda_0_238:notes">
            <a:extLst>
              <a:ext uri="{FF2B5EF4-FFF2-40B4-BE49-F238E27FC236}">
                <a16:creationId xmlns:a16="http://schemas.microsoft.com/office/drawing/2014/main" id="{2FE227A3-0A7E-F0BB-133C-485346F260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13782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1E7D0-0725-6665-14DF-9F7A4523E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9A6DA9-F009-EEE8-8B1A-8E90DAF76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F619-60A5-1FB2-D41A-47126FD18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A2D7E-DA2B-ACA6-AA95-DE7BC011E5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430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6FBDD-18EF-3EDE-7CA2-4E60F4533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E75BAB-96D6-30D0-B2AF-AAF74B1A9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36AB2A-C9F5-E41C-C786-266D4AC3E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72852-BB9D-24B5-015C-014BB57B6F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7289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3A9B1-007B-13AA-060E-AA5FF107D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4C4436-5598-A78E-DBEB-EFACD36C6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03121B-DED7-2B48-F877-68E205E9C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0AE-EC8C-3A14-F8F9-ACEA4E4F82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0287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9927-4C90-402D-D4FA-DE392C2F0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B8E0F-1BDF-86CA-BB2E-8BD8CF327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6C142-3031-06D7-4B05-60A3CA8F78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long </a:t>
            </a:r>
            <a:r>
              <a:rPr lang="en-US" dirty="0" err="1"/>
              <a:t>qos</a:t>
            </a:r>
            <a:r>
              <a:rPr lang="en-US" dirty="0"/>
              <a:t> has longer queue </a:t>
            </a:r>
            <a:r>
              <a:rPr lang="en-US"/>
              <a:t>wait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17CEF-F18E-56BE-6FAC-7438DF3001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5389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DBD51-25E1-0F1C-054E-F778B831E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096864-F886-9DBF-E4EF-491A4BF35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0C0CBE-D626-6BBF-8401-EC3775677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Jobs do not run immediately but instead wait in a SLURM managed queue.  A job’s placement in the queue is dependent on multiple factors. We will discuss a few of the most common factors, but a general rule to follow is that the more resources a job requests the longer it will wait in the queue.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023E9-13F8-BD48-4E77-8E2FCB1E3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197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F51B7-29B3-0112-5E32-83A871CFE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962EB-B378-2736-9CAE-339AD9419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76D1BE-9966-E586-1474-A9DFBA683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you have a general idea of what resources you plan to request, you will need to consider the type of job you are wanting to schedule. A batch job or an interactive job.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82BE5-474D-4859-22C8-B864105E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4866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BFC44-A34E-28D1-FE49-D832B52E9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7BE60-168F-5349-1DDD-710230AAB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FF71DE-BF13-6457-4DAF-DEFF595D84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you have a general idea of what resources you plan to request, you will need to consider the type of job you are wanting to schedule. A batch job or an interactive job.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3CEA-8AF0-2722-6646-76C90C8C3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4600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DF2B-675D-239C-E650-982B1255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C37A37-8653-7393-1295-E5E418AEEB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665B49-4672-A46E-CE55-24825C0AD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23C39-22FC-A8E6-3C5D-583D8A3BE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0095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17E46-49BC-FBAD-7E02-8504716A0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D6A41-4937-8E88-ABEC-A39E9A59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733E8-1DA8-857B-4671-7714847F20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C58A9-C264-4351-474A-E99697DB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1549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F6531-9052-44FE-6875-825A68F6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DE30D-05CD-D15D-375E-A830D1B316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59F8E3-592D-C6C8-6811-56A331877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that you have a general idea of what resources you plan to request, you will need to consider the type of job you are wanting to schedule. A batch job or an interactive job.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F459B2-5D56-15DF-545F-CA7BCAAB7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6911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9C57E-C2FA-62A3-CFAD-FA9A3D02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23225B-783E-ABB6-174D-F820456C9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ECF32-6210-6AF5-6EAC-583EC3A90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3EA2F-18CA-AC4E-DD26-703E892032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348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C96C-9B1E-B70B-1010-EEC80ACB8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BB30A-3C4C-7C9D-E79E-D5C1E4E0F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1A3A5-2CF4-0DDD-65D7-E4FE30C0E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89BE1-C032-9DB3-F537-A25A39FED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0005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5232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308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216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522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F0D89-6906-7AE4-7E91-B3575E8E6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85DE2-BF0B-B41C-543E-B97A11527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D6A8D-EDE2-023B-A521-F8A5342AF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2151F9-BACF-5D57-CA63-DBF49896D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443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Output files are important for debugging and verifying a job has completed successfully. Always include a --output directive!</a:t>
            </a:r>
          </a:p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The output file is created in directory job was run unless specified in your </a:t>
            </a:r>
            <a:r>
              <a:rPr lang="en-US" sz="1200" i="0" u="none" strike="noStrike" cap="none" dirty="0">
                <a:solidFill>
                  <a:srgbClr val="0070C0"/>
                </a:solidFill>
              </a:rPr>
              <a:t>--output 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directive.</a:t>
            </a:r>
            <a:endParaRPr lang="en-US" sz="900" i="0" u="none" strike="noStrike" cap="none" dirty="0">
              <a:solidFill>
                <a:schemeClr val="tx1"/>
              </a:solidFill>
            </a:endParaRPr>
          </a:p>
          <a:p>
            <a:pPr marL="349885" marR="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</a:pPr>
            <a:r>
              <a:rPr lang="en-US" sz="1200" i="0" u="none" strike="noStrike" cap="none" dirty="0">
                <a:solidFill>
                  <a:schemeClr val="dk1"/>
                </a:solidFill>
              </a:rPr>
              <a:t>If the </a:t>
            </a:r>
            <a:r>
              <a:rPr lang="en-US" sz="1200" i="0" u="none" strike="noStrike" cap="none" dirty="0">
                <a:solidFill>
                  <a:srgbClr val="000000"/>
                </a:solidFill>
              </a:rPr>
              <a:t>directive </a:t>
            </a:r>
            <a:r>
              <a:rPr lang="en-US" sz="1200" i="0" u="none" strike="noStrike" cap="none" dirty="0">
                <a:solidFill>
                  <a:srgbClr val="0070C0"/>
                </a:solidFill>
              </a:rPr>
              <a:t>--output 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is not provided, then a generic file name will be used (</a:t>
            </a:r>
            <a:r>
              <a:rPr lang="en-US" sz="1200" i="0" u="none" strike="noStrike" cap="none" dirty="0" err="1">
                <a:solidFill>
                  <a:schemeClr val="dk1"/>
                </a:solidFill>
              </a:rPr>
              <a:t>slurm_xxxxxx.out</a:t>
            </a:r>
            <a:r>
              <a:rPr lang="en-US" sz="1200" i="0" u="none" strike="noStrike" cap="none" dirty="0">
                <a:solidFill>
                  <a:schemeClr val="dk1"/>
                </a:solidFill>
              </a:rPr>
              <a:t>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2691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090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5120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4414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8984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g12316551eda_0_8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895" name="Google Shape;895;g12316551eda_0_8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g12316551eda_0_8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Google Shape;909;g12316551eda_0_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10" name="Google Shape;910;g12316551eda_0_8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g12316551eda_0_8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22933-1853-3695-5698-EA2C873D5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339900-6690-4850-B14D-CFF0A6DDB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3EF43-FA77-3703-DB72-C6218B04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/>
              <a:t>9/12/25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2B1B4-AC37-41B2-EB63-E0D769F47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838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1D7D-D016-C86F-111E-51245E7BA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0B542-AE2F-4E58-DD66-7DA9CB444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321B0-98E4-9776-8ABB-72C7B07ABE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70515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/>
              <a:t>9/12/25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58BD9-1414-8B11-5258-F11F3BBA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4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FF543F-785B-81AD-859C-25E1E14F9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11285-AC5A-F005-FEA3-CACE5986B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AEED0-1DC9-A7B8-1AA0-116CA0EB67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A560F-461C-6043-9BC4-489BA92F716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Shape&#10;&#10;Description automatically generated with medium confidence">
            <a:extLst>
              <a:ext uri="{FF2B5EF4-FFF2-40B4-BE49-F238E27FC236}">
                <a16:creationId xmlns:a16="http://schemas.microsoft.com/office/drawing/2014/main" id="{16A367C9-3AA6-1192-2565-6CDE4E3F4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6246811"/>
            <a:ext cx="4724400" cy="584200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CA2128F-B59B-98EB-B50C-F663F9DCCD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9/12/25</a:t>
            </a:r>
          </a:p>
        </p:txBody>
      </p:sp>
    </p:spTree>
    <p:extLst>
      <p:ext uri="{BB962C8B-B14F-4D97-AF65-F5344CB8AC3E}">
        <p14:creationId xmlns:p14="http://schemas.microsoft.com/office/powerpoint/2010/main" val="2504841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rc.colorado.ed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curc.readthedocs.io/en/lates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://curc.readthedocs.io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urc.readthedocs.io/en/latest/getting_started/trainings_and_consults/index.html#weekly-office-hours" TargetMode="External"/><Relationship Id="rId4" Type="http://schemas.openxmlformats.org/officeDocument/2006/relationships/hyperlink" Target="https://www.colorado.edu/crdds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s.zoom.us/m/bPlTUoGhy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32560"/>
          <a:stretch/>
        </p:blipFill>
        <p:spPr>
          <a:xfrm>
            <a:off x="0" y="0"/>
            <a:ext cx="12208413" cy="45007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>
            <a:spLocks noGrp="1"/>
          </p:cNvSpPr>
          <p:nvPr>
            <p:ph type="ctrTitle"/>
          </p:nvPr>
        </p:nvSpPr>
        <p:spPr>
          <a:xfrm>
            <a:off x="459256" y="4836507"/>
            <a:ext cx="112899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 Black"/>
              <a:buNone/>
            </a:pPr>
            <a:r>
              <a:rPr lang="en-US" sz="4400" dirty="0"/>
              <a:t>Getting Started with Research Computing</a:t>
            </a:r>
            <a:br>
              <a:rPr lang="en-US" sz="4400" dirty="0"/>
            </a:br>
            <a:r>
              <a:rPr lang="en-US" sz="3200" dirty="0"/>
              <a:t>From Command Line to Job Scheduling</a:t>
            </a:r>
            <a:endParaRPr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0082-60A2-8E8C-93CB-F5A869FA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Useful CURC links</a:t>
            </a:r>
          </a:p>
        </p:txBody>
      </p:sp>
      <p:sp>
        <p:nvSpPr>
          <p:cNvPr id="4" name="Google Shape;98;p14">
            <a:extLst>
              <a:ext uri="{FF2B5EF4-FFF2-40B4-BE49-F238E27FC236}">
                <a16:creationId xmlns:a16="http://schemas.microsoft.com/office/drawing/2014/main" id="{68E75E60-516C-5ACC-9B2C-B6A1774A889E}"/>
              </a:ext>
            </a:extLst>
          </p:cNvPr>
          <p:cNvSpPr txBox="1">
            <a:spLocks/>
          </p:cNvSpPr>
          <p:nvPr/>
        </p:nvSpPr>
        <p:spPr>
          <a:xfrm>
            <a:off x="279955" y="2331720"/>
            <a:ext cx="7010400" cy="219456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Website: </a:t>
            </a:r>
            <a:r>
              <a:rPr lang="en-US" sz="2400" u="sng" dirty="0">
                <a:solidFill>
                  <a:schemeClr val="hlink"/>
                </a:solidFill>
                <a:ea typeface="Arial"/>
                <a:cs typeface="Arial"/>
                <a:hlinkClick r:id="rId3"/>
              </a:rPr>
              <a:t>www.rc.colorado.edu</a:t>
            </a:r>
            <a:endParaRPr lang="en-US" sz="2400" dirty="0">
              <a:solidFill>
                <a:schemeClr val="hlink"/>
              </a:solidFill>
              <a:ea typeface="Arial"/>
              <a:cs typeface="Arial"/>
            </a:endParaRP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Documentation: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ea typeface="Arial"/>
                <a:cs typeface="Arial"/>
                <a:hlinkClick r:id="rId4"/>
              </a:rPr>
              <a:t>curc.readthedocs.io</a:t>
            </a:r>
            <a:r>
              <a:rPr lang="en-US" sz="2400" dirty="0">
                <a:ea typeface="Arial"/>
                <a:cs typeface="Arial"/>
              </a:rPr>
              <a:t> </a:t>
            </a:r>
          </a:p>
          <a:p>
            <a:pPr marL="0" indent="0">
              <a:lnSpc>
                <a:spcPct val="125000"/>
              </a:lnSpc>
              <a:spcBef>
                <a:spcPts val="600"/>
              </a:spcBef>
              <a:buSzPts val="2500"/>
              <a:buNone/>
            </a:pPr>
            <a:r>
              <a:rPr lang="en-US" sz="2400" b="1" dirty="0">
                <a:ea typeface="Arial"/>
                <a:cs typeface="Arial"/>
              </a:rPr>
              <a:t>Support request form:</a:t>
            </a:r>
            <a:r>
              <a:rPr lang="en-US" sz="2400" dirty="0">
                <a:ea typeface="Arial"/>
                <a:cs typeface="Arial"/>
              </a:rPr>
              <a:t> </a:t>
            </a:r>
            <a:r>
              <a:rPr lang="en-US" sz="2400" dirty="0">
                <a:solidFill>
                  <a:srgbClr val="0563C1"/>
                </a:solidFill>
                <a:ea typeface="Arial"/>
                <a:cs typeface="Arial"/>
              </a:rPr>
              <a:t>colorado.service-now.com/req_portal?id=ucb_sc_rc_form</a:t>
            </a:r>
            <a:r>
              <a:rPr lang="en-US" sz="2400" dirty="0">
                <a:solidFill>
                  <a:srgbClr val="0000FF"/>
                </a:solidFill>
                <a:ea typeface="Arial"/>
                <a:cs typeface="Arial"/>
              </a:rPr>
              <a:t> </a:t>
            </a:r>
            <a:endParaRPr lang="en-US" sz="2400" u="sng" dirty="0">
              <a:solidFill>
                <a:srgbClr val="0000FF"/>
              </a:solidFill>
              <a:ea typeface="Arial"/>
              <a:cs typeface="Arial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CE29C41-6B27-6F60-8168-62581B12D518}"/>
              </a:ext>
            </a:extLst>
          </p:cNvPr>
          <p:cNvSpPr txBox="1">
            <a:spLocks/>
          </p:cNvSpPr>
          <p:nvPr/>
        </p:nvSpPr>
        <p:spPr>
          <a:xfrm>
            <a:off x="5841558" y="6367559"/>
            <a:ext cx="5088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6A7983A4-F384-C340-9CB2-175593F0E4F5}" type="slidenum">
              <a:rPr lang="en-US"/>
              <a:pPr algn="l"/>
              <a:t>2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EEE983C-BF7D-9FDC-C0C2-904D80A68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565968" y="2331720"/>
            <a:ext cx="3931920" cy="2194560"/>
            <a:chOff x="2734356" y="510892"/>
            <a:chExt cx="3931920" cy="2194560"/>
          </a:xfrm>
        </p:grpSpPr>
        <p:pic>
          <p:nvPicPr>
            <p:cNvPr id="9" name="Picture 8" descr="A black and gold logo&#10;&#10;Description automatically generated">
              <a:extLst>
                <a:ext uri="{FF2B5EF4-FFF2-40B4-BE49-F238E27FC236}">
                  <a16:creationId xmlns:a16="http://schemas.microsoft.com/office/drawing/2014/main" id="{7FB1F572-2B82-EC63-473F-35770E4BD8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4649" y="693772"/>
              <a:ext cx="3571335" cy="1828800"/>
            </a:xfrm>
            <a:prstGeom prst="rect">
              <a:avLst/>
            </a:prstGeom>
          </p:spPr>
        </p:pic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4D607CAF-4F62-005D-FDF3-5BB59B1A5EF9}"/>
                </a:ext>
              </a:extLst>
            </p:cNvPr>
            <p:cNvSpPr/>
            <p:nvPr/>
          </p:nvSpPr>
          <p:spPr>
            <a:xfrm>
              <a:off x="2734356" y="510892"/>
              <a:ext cx="3931920" cy="2194560"/>
            </a:xfrm>
            <a:prstGeom prst="roundRect">
              <a:avLst>
                <a:gd name="adj" fmla="val 8994"/>
              </a:avLst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3A574-E021-E66F-50EE-C0BCBF2D26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2387600"/>
            <a:ext cx="9144000" cy="2387600"/>
          </a:xfrm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US" dirty="0"/>
              <a:t>The user support team</a:t>
            </a:r>
          </a:p>
        </p:txBody>
      </p:sp>
      <p:pic>
        <p:nvPicPr>
          <p:cNvPr id="8" name="Picture 7" descr="Picture showing the RC User Support team">
            <a:extLst>
              <a:ext uri="{FF2B5EF4-FFF2-40B4-BE49-F238E27FC236}">
                <a16:creationId xmlns:a16="http://schemas.microsoft.com/office/drawing/2014/main" id="{13513FD8-9948-2F45-CF62-A1A2AFBA5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04" y="43608"/>
            <a:ext cx="10689866" cy="60130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9AEEA2-192E-AA62-50EE-AA62ABA07F8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096000" y="6324601"/>
            <a:ext cx="682920" cy="36512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356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C9A89-D639-7D34-8433-DADB778B8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Encouraging questions</a:t>
            </a:r>
          </a:p>
        </p:txBody>
      </p:sp>
      <p:pic>
        <p:nvPicPr>
          <p:cNvPr id="5" name="Graphic 4" descr="An icon of two people discussing a question, with a speech bubble containing a question mark above them">
            <a:extLst>
              <a:ext uri="{FF2B5EF4-FFF2-40B4-BE49-F238E27FC236}">
                <a16:creationId xmlns:a16="http://schemas.microsoft.com/office/drawing/2014/main" id="{81316737-E39C-896D-10BE-E6C435DF9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99764" y="711954"/>
            <a:ext cx="4114800" cy="4114800"/>
          </a:xfrm>
          <a:prstGeom prst="rect">
            <a:avLst/>
          </a:prstGeom>
        </p:spPr>
      </p:pic>
      <p:sp>
        <p:nvSpPr>
          <p:cNvPr id="136" name="Google Shape;136;p19"/>
          <p:cNvSpPr txBox="1"/>
          <p:nvPr/>
        </p:nvSpPr>
        <p:spPr>
          <a:xfrm>
            <a:off x="4277455" y="4488215"/>
            <a:ext cx="3359418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Helvetica Neue"/>
                <a:ea typeface="Helvetica Neue"/>
                <a:cs typeface="Helvetica Neue"/>
                <a:sym typeface="Helvetica Neue"/>
              </a:rPr>
              <a:t>Ask Questions</a:t>
            </a:r>
            <a:endParaRPr sz="3200" b="1" dirty="0"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4" name="Google Shape;13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8E6FEFA0-D4B8-CC71-FDDD-F918B7C3F7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2038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sym typeface="Helvetica Neue Light"/>
              </a:rPr>
              <a:t>General Overview of Job Submission</a:t>
            </a:r>
            <a:endParaRPr dirty="0"/>
          </a:p>
        </p:txBody>
      </p:sp>
      <p:grpSp>
        <p:nvGrpSpPr>
          <p:cNvPr id="3" name="Group 2" descr="Image depecting that the first step in our general overview is login nodes">
            <a:extLst>
              <a:ext uri="{FF2B5EF4-FFF2-40B4-BE49-F238E27FC236}">
                <a16:creationId xmlns:a16="http://schemas.microsoft.com/office/drawing/2014/main" id="{D6F113AD-1E98-5E7F-5452-270D5896A74B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6445D8FA-61FC-C99C-FBF0-FE41F2867EA6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Right Arrow Callout 27">
              <a:extLst>
                <a:ext uri="{FF2B5EF4-FFF2-40B4-BE49-F238E27FC236}">
                  <a16:creationId xmlns:a16="http://schemas.microsoft.com/office/drawing/2014/main" id="{D1F6003B-6623-8814-EF42-BD56D32E21D1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D54623E-55FE-5016-88E7-859D6212172B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AF5CB76-729A-3C38-279C-2C7E61E3A9B0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A96D8E1-31CF-5327-5B67-2EDC22CED22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D6AC7A0-B089-F320-3991-E46034178576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8" name="Group 7" descr="Image depecting that the second step in our general overview is requesting resources">
            <a:extLst>
              <a:ext uri="{FF2B5EF4-FFF2-40B4-BE49-F238E27FC236}">
                <a16:creationId xmlns:a16="http://schemas.microsoft.com/office/drawing/2014/main" id="{D6A08A5C-F308-5451-92D0-FC4C0A7EE7C4}"/>
              </a:ext>
            </a:extLst>
          </p:cNvPr>
          <p:cNvGrpSpPr/>
          <p:nvPr/>
        </p:nvGrpSpPr>
        <p:grpSpPr>
          <a:xfrm>
            <a:off x="4913198" y="1759077"/>
            <a:ext cx="3631266" cy="3339847"/>
            <a:chOff x="4913198" y="1759077"/>
            <a:chExt cx="3631266" cy="3339847"/>
          </a:xfrm>
        </p:grpSpPr>
        <p:sp>
          <p:nvSpPr>
            <p:cNvPr id="34" name="Right Arrow Callout 33">
              <a:extLst>
                <a:ext uri="{FF2B5EF4-FFF2-40B4-BE49-F238E27FC236}">
                  <a16:creationId xmlns:a16="http://schemas.microsoft.com/office/drawing/2014/main" id="{3E5C80A0-E947-38AD-F1D4-923A324CA447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2775936-EA5C-533D-7DFE-4A84895E5977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641A5BB-77EA-273B-8E7A-8664CF1EA0C5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7A54F45C-49A2-0592-EF97-EEB15755B068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56C0665-D303-870A-8948-8814BB5FE8E1}"/>
                </a:ext>
              </a:extLst>
            </p:cNvPr>
            <p:cNvSpPr txBox="1"/>
            <p:nvPr/>
          </p:nvSpPr>
          <p:spPr>
            <a:xfrm>
              <a:off x="4913198" y="443619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Resources</a:t>
              </a:r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214DDDDD-3CB5-2CD6-2422-43D3B8458EA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3040" y="2755023"/>
              <a:ext cx="1645920" cy="1546836"/>
              <a:chOff x="8412658" y="2617108"/>
              <a:chExt cx="1929294" cy="181315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FC66A7A-0575-898D-E9E1-B3F27F73801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23" name="Rounded Rectangle 22" descr="An icon representing a computer chip">
                  <a:extLst>
                    <a:ext uri="{FF2B5EF4-FFF2-40B4-BE49-F238E27FC236}">
                      <a16:creationId xmlns:a16="http://schemas.microsoft.com/office/drawing/2014/main" id="{8D2450D7-B329-63DB-EDD1-E07E82D72D90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24" name="Graphic 23">
                  <a:extLst>
                    <a:ext uri="{FF2B5EF4-FFF2-40B4-BE49-F238E27FC236}">
                      <a16:creationId xmlns:a16="http://schemas.microsoft.com/office/drawing/2014/main" id="{FE8221AE-93C6-A7FB-48DE-4AB479C0309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597D9C63-4800-BBEA-DC3F-F8FD0C412D20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42" name="Rounded Rectangle 41" descr="An icon of a stopwatch">
                  <a:extLst>
                    <a:ext uri="{FF2B5EF4-FFF2-40B4-BE49-F238E27FC236}">
                      <a16:creationId xmlns:a16="http://schemas.microsoft.com/office/drawing/2014/main" id="{F0D502A3-CB15-6B69-EDED-92F7C83A89B1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5" name="Graphic 44" descr="Stopwatch with solid fill">
                  <a:extLst>
                    <a:ext uri="{FF2B5EF4-FFF2-40B4-BE49-F238E27FC236}">
                      <a16:creationId xmlns:a16="http://schemas.microsoft.com/office/drawing/2014/main" id="{BC741E21-006A-309E-B444-555F73882B6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9" name="Group 8" descr="Image depecting that the last step in our general overview is requesting a job">
            <a:extLst>
              <a:ext uri="{FF2B5EF4-FFF2-40B4-BE49-F238E27FC236}">
                <a16:creationId xmlns:a16="http://schemas.microsoft.com/office/drawing/2014/main" id="{F098B293-4659-5662-076E-F58D6E65E23A}"/>
              </a:ext>
            </a:extLst>
          </p:cNvPr>
          <p:cNvGrpSpPr/>
          <p:nvPr/>
        </p:nvGrpSpPr>
        <p:grpSpPr>
          <a:xfrm>
            <a:off x="8747203" y="1764792"/>
            <a:ext cx="2358559" cy="3334132"/>
            <a:chOff x="8747203" y="1764792"/>
            <a:chExt cx="2358559" cy="3334132"/>
          </a:xfrm>
        </p:grpSpPr>
        <p:pic>
          <p:nvPicPr>
            <p:cNvPr id="2" name="Picture 2" descr="The logo of the Slurm workload manager">
              <a:extLst>
                <a:ext uri="{FF2B5EF4-FFF2-40B4-BE49-F238E27FC236}">
                  <a16:creationId xmlns:a16="http://schemas.microsoft.com/office/drawing/2014/main" id="{6CB1CD0B-FBFC-C08B-ACC5-7272C42BC2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9087422" y="2803512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E613B8-83CC-2DE3-004F-C699F420D014}"/>
                </a:ext>
              </a:extLst>
            </p:cNvPr>
            <p:cNvSpPr txBox="1"/>
            <p:nvPr/>
          </p:nvSpPr>
          <p:spPr>
            <a:xfrm>
              <a:off x="8758419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7AA69B1-C5FC-5B47-22B1-1893FB15BCBD}"/>
                </a:ext>
              </a:extLst>
            </p:cNvPr>
            <p:cNvSpPr/>
            <p:nvPr/>
          </p:nvSpPr>
          <p:spPr>
            <a:xfrm>
              <a:off x="8767136" y="1764792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7D732F-E0EA-02A1-C116-7C8AD7AE53A4}"/>
                </a:ext>
              </a:extLst>
            </p:cNvPr>
            <p:cNvGrpSpPr/>
            <p:nvPr/>
          </p:nvGrpSpPr>
          <p:grpSpPr>
            <a:xfrm>
              <a:off x="8747203" y="1891582"/>
              <a:ext cx="2351516" cy="707886"/>
              <a:chOff x="540307" y="1873650"/>
              <a:chExt cx="2351516" cy="707886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1B292E2-B647-B3FC-DFA6-2C2C40737E41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3A141B5-4BED-68AB-8415-8477992B4656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DBB18D-FB7D-F2BF-A154-79E6A3457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735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21DF-6CFF-1A13-6F53-64FE730E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7DF08-3D51-1550-1D86-968CF68DD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 Nodes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FA786-1F2A-876F-21A0-E14E47954B1A}"/>
              </a:ext>
            </a:extLst>
          </p:cNvPr>
          <p:cNvSpPr txBox="1"/>
          <p:nvPr/>
        </p:nvSpPr>
        <p:spPr>
          <a:xfrm>
            <a:off x="838200" y="1992351"/>
            <a:ext cx="851395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Login Node is the entryway onto our system. They are meant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Viewing or editing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Submitting Jobs</a:t>
            </a:r>
          </a:p>
          <a:p>
            <a:endParaRPr lang="en-US" dirty="0"/>
          </a:p>
          <a:p>
            <a:r>
              <a:rPr lang="en-US" dirty="0"/>
              <a:t>Login nodes should </a:t>
            </a:r>
            <a:r>
              <a:rPr lang="en-US" b="1" u="sng" dirty="0"/>
              <a:t>never</a:t>
            </a:r>
            <a:r>
              <a:rPr lang="en-US" dirty="0"/>
              <a:t> be used to run code or software.</a:t>
            </a:r>
          </a:p>
          <a:p>
            <a:endParaRPr lang="en-US" dirty="0"/>
          </a:p>
          <a:p>
            <a:r>
              <a:rPr lang="en-US" dirty="0"/>
              <a:t>Once you are on a terminal, you will know you are on a login node by looking at the command prompt. If it contains “login”, you are on a login node</a:t>
            </a:r>
          </a:p>
          <a:p>
            <a:endParaRPr lang="en-US" dirty="0"/>
          </a:p>
          <a:p>
            <a:endParaRPr lang="en-US" dirty="0"/>
          </a:p>
          <a:p>
            <a:endParaRPr lang="en-US" sz="2000" b="1" dirty="0">
              <a:solidFill>
                <a:srgbClr val="0070C0"/>
              </a:solidFill>
              <a:latin typeface="Consolas"/>
              <a:cs typeface="Consolas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Google Shape;677;p69">
            <a:extLst>
              <a:ext uri="{FF2B5EF4-FFF2-40B4-BE49-F238E27FC236}">
                <a16:creationId xmlns:a16="http://schemas.microsoft.com/office/drawing/2014/main" id="{E9A8ADAB-D6A2-D92B-FE75-ED16CD68B408}"/>
              </a:ext>
            </a:extLst>
          </p:cNvPr>
          <p:cNvSpPr/>
          <p:nvPr/>
        </p:nvSpPr>
        <p:spPr>
          <a:xfrm>
            <a:off x="1172737" y="4802369"/>
            <a:ext cx="7689900" cy="453574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rgbClr val="0070C0"/>
                </a:solidFill>
                <a:latin typeface="Consolas"/>
                <a:cs typeface="Consolas"/>
                <a:sym typeface="Consolas"/>
              </a:rPr>
              <a:t>[ralphie@login-ci3]$</a:t>
            </a:r>
            <a:endParaRPr sz="2000" b="1" dirty="0">
              <a:solidFill>
                <a:srgbClr val="0070C0"/>
              </a:solidFill>
              <a:latin typeface="Consolas"/>
              <a:cs typeface="Consolas"/>
              <a:sym typeface="Consola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04E2A8-A53B-1490-81FA-6C578DCEB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520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49B6-FA0E-632E-BFE9-5EF539529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3000C-7CEA-027F-5DAE-EDB1A472A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48863" cy="1325563"/>
          </a:xfrm>
        </p:spPr>
        <p:txBody>
          <a:bodyPr/>
          <a:lstStyle/>
          <a:p>
            <a:r>
              <a:rPr lang="en-US" dirty="0"/>
              <a:t>Accessing the Terminal</a:t>
            </a:r>
            <a:endParaRPr lang="en-US" b="1" dirty="0">
              <a:solidFill>
                <a:srgbClr val="FF0000"/>
              </a:solidFill>
            </a:endParaRPr>
          </a:p>
        </p:txBody>
      </p:sp>
      <p:grpSp>
        <p:nvGrpSpPr>
          <p:cNvPr id="15" name="Group 14" descr="Arrow pointing to an image depecting a terminal obtained through ssh. The text next to the arrow indicates that this is only available to CU Boulder, CSU, and CU Anschutz">
            <a:extLst>
              <a:ext uri="{FF2B5EF4-FFF2-40B4-BE49-F238E27FC236}">
                <a16:creationId xmlns:a16="http://schemas.microsoft.com/office/drawing/2014/main" id="{AA283A69-CAF7-D377-BA26-103E3C742CC2}"/>
              </a:ext>
            </a:extLst>
          </p:cNvPr>
          <p:cNvGrpSpPr/>
          <p:nvPr/>
        </p:nvGrpSpPr>
        <p:grpSpPr>
          <a:xfrm>
            <a:off x="573024" y="1554479"/>
            <a:ext cx="9781486" cy="4918249"/>
            <a:chOff x="573024" y="1554479"/>
            <a:chExt cx="9781486" cy="4918249"/>
          </a:xfrm>
        </p:grpSpPr>
        <p:grpSp>
          <p:nvGrpSpPr>
            <p:cNvPr id="10" name="Group 9" descr="An image depicting a terminal obtained via ssh">
              <a:extLst>
                <a:ext uri="{FF2B5EF4-FFF2-40B4-BE49-F238E27FC236}">
                  <a16:creationId xmlns:a16="http://schemas.microsoft.com/office/drawing/2014/main" id="{99E25198-1369-D4C5-51BB-81C57861825F}"/>
                </a:ext>
              </a:extLst>
            </p:cNvPr>
            <p:cNvGrpSpPr/>
            <p:nvPr/>
          </p:nvGrpSpPr>
          <p:grpSpPr>
            <a:xfrm>
              <a:off x="573024" y="1554479"/>
              <a:ext cx="4151376" cy="3657600"/>
              <a:chOff x="573024" y="1929383"/>
              <a:chExt cx="4151376" cy="3657600"/>
            </a:xfrm>
          </p:grpSpPr>
          <p:pic>
            <p:nvPicPr>
              <p:cNvPr id="7" name="Graphic 6" descr="Cmd Terminal with solid fill">
                <a:extLst>
                  <a:ext uri="{FF2B5EF4-FFF2-40B4-BE49-F238E27FC236}">
                    <a16:creationId xmlns:a16="http://schemas.microsoft.com/office/drawing/2014/main" id="{72615F4C-761B-7DA5-B792-44E6106896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73024" y="1929383"/>
                <a:ext cx="4151376" cy="3657600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A68AD3-91A2-EB77-18A0-E2F2771A9AD8}"/>
                  </a:ext>
                </a:extLst>
              </p:cNvPr>
              <p:cNvSpPr txBox="1"/>
              <p:nvPr/>
            </p:nvSpPr>
            <p:spPr>
              <a:xfrm>
                <a:off x="2185416" y="3250351"/>
                <a:ext cx="1766830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0" b="1" dirty="0"/>
                  <a:t>SSH</a:t>
                </a:r>
              </a:p>
            </p:txBody>
          </p:sp>
        </p:grpSp>
        <p:sp>
          <p:nvSpPr>
            <p:cNvPr id="4" name="Bent Arrow 3" descr="An arrow pointing to the image depecting a terminal obtained through ssh ">
              <a:extLst>
                <a:ext uri="{FF2B5EF4-FFF2-40B4-BE49-F238E27FC236}">
                  <a16:creationId xmlns:a16="http://schemas.microsoft.com/office/drawing/2014/main" id="{8903F95E-55D5-EC56-DE14-E4C91F299303}"/>
                </a:ext>
              </a:extLst>
            </p:cNvPr>
            <p:cNvSpPr/>
            <p:nvPr/>
          </p:nvSpPr>
          <p:spPr>
            <a:xfrm rot="16200000">
              <a:off x="2259811" y="4644227"/>
              <a:ext cx="1015664" cy="1164453"/>
            </a:xfrm>
            <a:prstGeom prst="bentArrow">
              <a:avLst>
                <a:gd name="adj1" fmla="val 27759"/>
                <a:gd name="adj2" fmla="val 33968"/>
                <a:gd name="adj3" fmla="val 38796"/>
                <a:gd name="adj4" fmla="val 43750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61D4D72-04D4-3D0A-C757-A28D399697A7}"/>
                </a:ext>
              </a:extLst>
            </p:cNvPr>
            <p:cNvSpPr txBox="1"/>
            <p:nvPr/>
          </p:nvSpPr>
          <p:spPr>
            <a:xfrm>
              <a:off x="3466983" y="5272399"/>
              <a:ext cx="6887527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/>
                <a:t>Available to CU Boulder, CSU, </a:t>
              </a:r>
            </a:p>
            <a:p>
              <a:r>
                <a:rPr lang="en-US" sz="3600" b="1" dirty="0"/>
                <a:t>CU Anschutz</a:t>
              </a:r>
            </a:p>
          </p:txBody>
        </p:sp>
      </p:grpSp>
      <p:grpSp>
        <p:nvGrpSpPr>
          <p:cNvPr id="11" name="Group 10" descr="Logo for Open OnDemand">
            <a:extLst>
              <a:ext uri="{FF2B5EF4-FFF2-40B4-BE49-F238E27FC236}">
                <a16:creationId xmlns:a16="http://schemas.microsoft.com/office/drawing/2014/main" id="{FD032D55-B880-8085-C60C-441CCBC12A44}"/>
              </a:ext>
            </a:extLst>
          </p:cNvPr>
          <p:cNvGrpSpPr/>
          <p:nvPr/>
        </p:nvGrpSpPr>
        <p:grpSpPr>
          <a:xfrm>
            <a:off x="5534135" y="1779011"/>
            <a:ext cx="6152927" cy="3208537"/>
            <a:chOff x="5534135" y="1929383"/>
            <a:chExt cx="6152927" cy="3208537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315E240A-128C-0721-3473-E1CC67C50BD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60319" y="1929383"/>
              <a:ext cx="5500561" cy="32085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C9EB0A2-80FF-ABBE-28D7-E35F40EB1D10}"/>
                </a:ext>
              </a:extLst>
            </p:cNvPr>
            <p:cNvSpPr/>
            <p:nvPr/>
          </p:nvSpPr>
          <p:spPr>
            <a:xfrm rot="5400000">
              <a:off x="7453689" y="457188"/>
              <a:ext cx="2313820" cy="6152927"/>
            </a:xfrm>
            <a:prstGeom prst="roundRect">
              <a:avLst>
                <a:gd name="adj" fmla="val 50000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992857-3DA0-E8E3-DFD3-E045D955F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313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29A8C-62EC-E57C-B5AC-E43ACE804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Accessing the Terminal Cont.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22216-06E5-B4E4-BE71-75150CB19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8</a:t>
            </a:fld>
            <a:endParaRPr lang="en-US"/>
          </a:p>
        </p:txBody>
      </p:sp>
      <p:grpSp>
        <p:nvGrpSpPr>
          <p:cNvPr id="3" name="Group 2" descr="Screenshot of the University of Colorado Boulder Research Computing Open OnDemand homepage. The Clusters menu in the top navigation bar is open, displaying Alpine Shell Access. A red outline, arrow, and enlarged inset on the right highlight the Clusters menu and Alpine Shell Access option. This provides instructions for accessing a terminal via Open OnDemand">
            <a:extLst>
              <a:ext uri="{FF2B5EF4-FFF2-40B4-BE49-F238E27FC236}">
                <a16:creationId xmlns:a16="http://schemas.microsoft.com/office/drawing/2014/main" id="{19F50948-1CDE-F15C-1B84-1268992B0EF9}"/>
              </a:ext>
            </a:extLst>
          </p:cNvPr>
          <p:cNvGrpSpPr/>
          <p:nvPr/>
        </p:nvGrpSpPr>
        <p:grpSpPr>
          <a:xfrm>
            <a:off x="838200" y="1535240"/>
            <a:ext cx="9812640" cy="4391560"/>
            <a:chOff x="838200" y="1535240"/>
            <a:chExt cx="9812640" cy="4391560"/>
          </a:xfrm>
        </p:grpSpPr>
        <p:pic>
          <p:nvPicPr>
            <p:cNvPr id="7" name="Picture 6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162B5603-6B0A-1049-94E5-A33C2715C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200" y="1535240"/>
              <a:ext cx="5345845" cy="43915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Picture 7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53F0B396-882B-E124-6740-FAD0E23C9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200" r="51992" b="85195"/>
            <a:stretch>
              <a:fillRect/>
            </a:stretch>
          </p:blipFill>
          <p:spPr>
            <a:xfrm>
              <a:off x="6821424" y="1535240"/>
              <a:ext cx="3829416" cy="1737360"/>
            </a:xfrm>
            <a:prstGeom prst="round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8A25DA60-FD6F-A998-C066-4DB5485CCEC6}"/>
                </a:ext>
              </a:extLst>
            </p:cNvPr>
            <p:cNvSpPr/>
            <p:nvPr/>
          </p:nvSpPr>
          <p:spPr>
            <a:xfrm>
              <a:off x="1975104" y="1535240"/>
              <a:ext cx="1399032" cy="604456"/>
            </a:xfrm>
            <a:prstGeom prst="round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068BE46-195F-7289-29A3-1E032F01279A}"/>
                </a:ext>
              </a:extLst>
            </p:cNvPr>
            <p:cNvCxnSpPr/>
            <p:nvPr/>
          </p:nvCxnSpPr>
          <p:spPr>
            <a:xfrm>
              <a:off x="3374136" y="1837944"/>
              <a:ext cx="338328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2FA6D46-1D09-239E-8CDF-72A21D37154E}"/>
              </a:ext>
            </a:extLst>
          </p:cNvPr>
          <p:cNvSpPr txBox="1"/>
          <p:nvPr/>
        </p:nvSpPr>
        <p:spPr>
          <a:xfrm>
            <a:off x="6689540" y="3937312"/>
            <a:ext cx="47756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you would like to access a terminal via ssh, please see:</a:t>
            </a:r>
          </a:p>
          <a:p>
            <a:r>
              <a:rPr lang="en-US" dirty="0"/>
              <a:t> 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curc.readthedocs.io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en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/latest/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getting_started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/</a:t>
            </a:r>
            <a:r>
              <a:rPr lang="en-US" dirty="0" err="1">
                <a:solidFill>
                  <a:srgbClr val="0563C1"/>
                </a:solidFill>
                <a:cs typeface="Arial"/>
                <a:sym typeface="Arial"/>
              </a:rPr>
              <a:t>logging-in.html#terminal-access-for-different-operating-systems</a:t>
            </a:r>
            <a:r>
              <a:rPr lang="en-US" dirty="0">
                <a:solidFill>
                  <a:srgbClr val="0563C1"/>
                </a:solidFill>
                <a:cs typeface="Arial"/>
                <a:sym typeface="Arial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879121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4ECE1CA5-697B-D029-7FE7-F2D009956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/>
        </p:nvGrpSpPr>
        <p:grpSpPr>
          <a:xfrm>
            <a:off x="289560" y="414761"/>
            <a:ext cx="1097280" cy="1097280"/>
            <a:chOff x="7287768" y="1408176"/>
            <a:chExt cx="2286000" cy="2286000"/>
          </a:xfrm>
        </p:grpSpPr>
        <p:pic>
          <p:nvPicPr>
            <p:cNvPr id="6" name="Google Shape;120;p16">
              <a:extLst>
                <a:ext uri="{FF2B5EF4-FFF2-40B4-BE49-F238E27FC236}">
                  <a16:creationId xmlns:a16="http://schemas.microsoft.com/office/drawing/2014/main" id="{31BBCAC4-1C2A-D7A2-C754-3DC68A866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676983" y="1573086"/>
              <a:ext cx="1599009" cy="17373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C43F646-79E8-DA81-69AF-199DEF43DB6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87768" y="1408176"/>
              <a:ext cx="2286000" cy="2286000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D817A85-75CE-B5C7-7739-FF43294CF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300619"/>
            <a:ext cx="9506712" cy="1325563"/>
          </a:xfrm>
        </p:spPr>
        <p:txBody>
          <a:bodyPr/>
          <a:lstStyle/>
          <a:p>
            <a:r>
              <a:rPr lang="en-US" dirty="0"/>
              <a:t>Linux Command Line</a:t>
            </a:r>
          </a:p>
        </p:txBody>
      </p:sp>
      <p:pic>
        <p:nvPicPr>
          <p:cNvPr id="13" name="Graphic 12" descr="Open folder with solid fill">
            <a:extLst>
              <a:ext uri="{FF2B5EF4-FFF2-40B4-BE49-F238E27FC236}">
                <a16:creationId xmlns:a16="http://schemas.microsoft.com/office/drawing/2014/main" id="{C793D1E0-C52D-E0A0-E590-D1F9CAB351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6104" y="1664208"/>
            <a:ext cx="3108960" cy="31089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049F409-F674-7932-E507-A46AC4AA9AD4}"/>
              </a:ext>
            </a:extLst>
          </p:cNvPr>
          <p:cNvSpPr txBox="1"/>
          <p:nvPr/>
        </p:nvSpPr>
        <p:spPr>
          <a:xfrm>
            <a:off x="2234417" y="4307226"/>
            <a:ext cx="3544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File Operations</a:t>
            </a:r>
          </a:p>
        </p:txBody>
      </p:sp>
      <p:pic>
        <p:nvPicPr>
          <p:cNvPr id="19" name="Graphic 18" descr="Scroll with solid fill">
            <a:extLst>
              <a:ext uri="{FF2B5EF4-FFF2-40B4-BE49-F238E27FC236}">
                <a16:creationId xmlns:a16="http://schemas.microsoft.com/office/drawing/2014/main" id="{5E6A5D04-E2D9-9257-FDF4-5CFA7C9ECE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1570" y="2029968"/>
            <a:ext cx="2377440" cy="237744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AA5060-E8A0-590D-6B76-CE0AC455A475}"/>
              </a:ext>
            </a:extLst>
          </p:cNvPr>
          <p:cNvSpPr txBox="1"/>
          <p:nvPr/>
        </p:nvSpPr>
        <p:spPr>
          <a:xfrm>
            <a:off x="7403796" y="4307226"/>
            <a:ext cx="21852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Scripting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12D271-C3A8-074E-FFF1-4B8DF84C0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49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89;p33">
            <a:extLst>
              <a:ext uri="{FF2B5EF4-FFF2-40B4-BE49-F238E27FC236}">
                <a16:creationId xmlns:a16="http://schemas.microsoft.com/office/drawing/2014/main" id="{29EC96DC-426B-7C01-1776-6B63530E4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950" y="640575"/>
            <a:ext cx="11471100" cy="691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6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50"/>
              <a:buFont typeface="Arial Black"/>
              <a:buNone/>
            </a:pPr>
            <a:r>
              <a:rPr lang="en-US" b="1" u="sng" dirty="0">
                <a:latin typeface="+mn-lt"/>
              </a:rPr>
              <a:t>L</a:t>
            </a:r>
            <a:r>
              <a:rPr lang="en-US" dirty="0">
                <a:latin typeface="+mn-lt"/>
              </a:rPr>
              <a:t>i</a:t>
            </a:r>
            <a:r>
              <a:rPr lang="en-US" b="1" u="sng" dirty="0">
                <a:latin typeface="+mn-lt"/>
              </a:rPr>
              <a:t>s</a:t>
            </a:r>
            <a:r>
              <a:rPr lang="en-US" dirty="0">
                <a:latin typeface="+mn-lt"/>
              </a:rPr>
              <a:t>t Files and Directories</a:t>
            </a:r>
            <a:endParaRPr dirty="0">
              <a:latin typeface="+mn-lt"/>
            </a:endParaRPr>
          </a:p>
        </p:txBody>
      </p:sp>
      <p:sp>
        <p:nvSpPr>
          <p:cNvPr id="7" name="Google Shape;391;p33">
            <a:extLst>
              <a:ext uri="{FF2B5EF4-FFF2-40B4-BE49-F238E27FC236}">
                <a16:creationId xmlns:a16="http://schemas.microsoft.com/office/drawing/2014/main" id="{B4016F04-24FF-059A-E0E9-34034B0B2F03}"/>
              </a:ext>
            </a:extLst>
          </p:cNvPr>
          <p:cNvSpPr txBox="1"/>
          <p:nvPr/>
        </p:nvSpPr>
        <p:spPr>
          <a:xfrm>
            <a:off x="1028838" y="2149430"/>
            <a:ext cx="9869620" cy="3863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00" rIns="0" bIns="0" anchor="t" anchorCtr="0">
            <a:spAutoFit/>
          </a:bodyPr>
          <a:lstStyle/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l</a:t>
            </a: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  <a:sym typeface="Arial"/>
              </a:rPr>
              <a:t>s [option] [file/directory]</a:t>
            </a:r>
          </a:p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endParaRPr lang="en-US" sz="2800" b="1" dirty="0">
              <a:solidFill>
                <a:srgbClr val="0070C0"/>
              </a:solidFill>
              <a:latin typeface="Consolas"/>
              <a:cs typeface="Consolas"/>
            </a:endParaRP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  -l (long format)         -a (all files)</a:t>
            </a: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  -h (readable file size)  -r (reverse sort)</a:t>
            </a:r>
          </a:p>
          <a:p>
            <a:pPr marL="12700" marR="0" lvl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  -S (sort by file size)</a:t>
            </a:r>
          </a:p>
          <a:p>
            <a:pPr marL="12700">
              <a:lnSpc>
                <a:spcPct val="125000"/>
              </a:lnSpc>
              <a:buClr>
                <a:srgbClr val="CEB97C"/>
              </a:buClr>
            </a:pPr>
            <a:r>
              <a:rPr lang="en-US" sz="2800" b="1" dirty="0">
                <a:solidFill>
                  <a:srgbClr val="0070C0"/>
                </a:solidFill>
                <a:latin typeface="Consolas"/>
                <a:cs typeface="Consolas"/>
              </a:rPr>
              <a:t>  -t (sort by modification time)</a:t>
            </a:r>
          </a:p>
          <a:p>
            <a:pPr marL="127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EB97C"/>
              </a:buClr>
            </a:pPr>
            <a:endParaRPr lang="en-US" sz="5400" b="1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  <a:ea typeface="Helvetica Neue Light" panose="02000403000000020004" pitchFamily="2" charset="0"/>
              <a:cs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1D3E1B-63DE-13CD-8AD0-94C6DC443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649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51;p28">
            <a:extLst>
              <a:ext uri="{FF2B5EF4-FFF2-40B4-BE49-F238E27FC236}">
                <a16:creationId xmlns:a16="http://schemas.microsoft.com/office/drawing/2014/main" id="{3E998812-C6CE-F047-D7FC-6B938EF683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8686" y="356858"/>
            <a:ext cx="10182023" cy="689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ctr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Standard CURC Directories</a:t>
            </a:r>
            <a:endParaRPr dirty="0"/>
          </a:p>
        </p:txBody>
      </p:sp>
      <p:grpSp>
        <p:nvGrpSpPr>
          <p:cNvPr id="92" name="Group 91" descr="Diagram of CU Boulder Research Computing storage directories. The top level branches into /home, /projects, /scratch, /curc (software stack), and /pl. User directories are /home/&lt;user&gt;, /projects/&lt;user&gt;, and /scratch/alpine/&lt;user&gt;. The /pl directory branches into /pl/active/&lt;group&gt; and /pl/archive/&lt;group&gt;.">
            <a:extLst>
              <a:ext uri="{FF2B5EF4-FFF2-40B4-BE49-F238E27FC236}">
                <a16:creationId xmlns:a16="http://schemas.microsoft.com/office/drawing/2014/main" id="{58FF7E23-A7E8-3698-8FC0-C48611FD7B06}"/>
              </a:ext>
            </a:extLst>
          </p:cNvPr>
          <p:cNvGrpSpPr/>
          <p:nvPr/>
        </p:nvGrpSpPr>
        <p:grpSpPr>
          <a:xfrm>
            <a:off x="260838" y="2127006"/>
            <a:ext cx="11690413" cy="2613503"/>
            <a:chOff x="260838" y="2127006"/>
            <a:chExt cx="11690413" cy="2613503"/>
          </a:xfrm>
        </p:grpSpPr>
        <p:sp>
          <p:nvSpPr>
            <p:cNvPr id="75" name="Text 14">
              <a:extLst>
                <a:ext uri="{FF2B5EF4-FFF2-40B4-BE49-F238E27FC236}">
                  <a16:creationId xmlns:a16="http://schemas.microsoft.com/office/drawing/2014/main" id="{6CA5B1BD-41BA-BEDD-9A12-63DF1449EE7F}"/>
                </a:ext>
              </a:extLst>
            </p:cNvPr>
            <p:cNvSpPr/>
            <p:nvPr/>
          </p:nvSpPr>
          <p:spPr>
            <a:xfrm>
              <a:off x="260838" y="3393641"/>
              <a:ext cx="1453515" cy="359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2200" dirty="0">
                  <a:solidFill>
                    <a:srgbClr val="11111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/home/&lt;user&gt;</a:t>
              </a:r>
              <a:endParaRPr lang="en-US" sz="2200" dirty="0"/>
            </a:p>
          </p:txBody>
        </p:sp>
        <p:grpSp>
          <p:nvGrpSpPr>
            <p:cNvPr id="91" name="Group 90" descr="Diagram of CU Boulder Research Computing storage directories. The top level branches into /home, /projects, /scratch, /curc (software stack), and /pl. User directories are /home/&lt;user&gt;, /projects/&lt;user&gt;, and /scratch/alpine/&lt;user&gt;. The /pl directory branches into /pl/active/&lt;group&gt; and /pl/archive/&lt;group&gt;.">
              <a:extLst>
                <a:ext uri="{FF2B5EF4-FFF2-40B4-BE49-F238E27FC236}">
                  <a16:creationId xmlns:a16="http://schemas.microsoft.com/office/drawing/2014/main" id="{4E845F0D-C0B1-2D7D-D68E-4F917EC5ADEE}"/>
                </a:ext>
              </a:extLst>
            </p:cNvPr>
            <p:cNvGrpSpPr/>
            <p:nvPr/>
          </p:nvGrpSpPr>
          <p:grpSpPr>
            <a:xfrm>
              <a:off x="593070" y="2127006"/>
              <a:ext cx="11358181" cy="2613503"/>
              <a:chOff x="593070" y="2127006"/>
              <a:chExt cx="11358181" cy="2613503"/>
            </a:xfrm>
          </p:grpSpPr>
          <p:sp>
            <p:nvSpPr>
              <p:cNvPr id="62" name="Shape 1">
                <a:extLst>
                  <a:ext uri="{FF2B5EF4-FFF2-40B4-BE49-F238E27FC236}">
                    <a16:creationId xmlns:a16="http://schemas.microsoft.com/office/drawing/2014/main" id="{F84A57B2-7547-22F9-E48E-17760A383F62}"/>
                  </a:ext>
                </a:extLst>
              </p:cNvPr>
              <p:cNvSpPr/>
              <p:nvPr/>
            </p:nvSpPr>
            <p:spPr>
              <a:xfrm>
                <a:off x="932223" y="2127006"/>
                <a:ext cx="8001254" cy="0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Shape 2">
                <a:extLst>
                  <a:ext uri="{FF2B5EF4-FFF2-40B4-BE49-F238E27FC236}">
                    <a16:creationId xmlns:a16="http://schemas.microsoft.com/office/drawing/2014/main" id="{6A1C0401-49EF-CB15-0EC5-BD87A7DD7ED0}"/>
                  </a:ext>
                </a:extLst>
              </p:cNvPr>
              <p:cNvSpPr/>
              <p:nvPr/>
            </p:nvSpPr>
            <p:spPr>
              <a:xfrm>
                <a:off x="932223" y="2127006"/>
                <a:ext cx="0" cy="498348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Shape 3">
                <a:extLst>
                  <a:ext uri="{FF2B5EF4-FFF2-40B4-BE49-F238E27FC236}">
                    <a16:creationId xmlns:a16="http://schemas.microsoft.com/office/drawing/2014/main" id="{BC714367-BA2D-FD4D-65F5-33D75689A0A9}"/>
                  </a:ext>
                </a:extLst>
              </p:cNvPr>
              <p:cNvSpPr/>
              <p:nvPr/>
            </p:nvSpPr>
            <p:spPr>
              <a:xfrm>
                <a:off x="2690284" y="2127006"/>
                <a:ext cx="0" cy="498348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Shape 4">
                <a:extLst>
                  <a:ext uri="{FF2B5EF4-FFF2-40B4-BE49-F238E27FC236}">
                    <a16:creationId xmlns:a16="http://schemas.microsoft.com/office/drawing/2014/main" id="{C47BC24F-5E1F-7AB3-A1A8-F5AF3FEEE6B0}"/>
                  </a:ext>
                </a:extLst>
              </p:cNvPr>
              <p:cNvSpPr/>
              <p:nvPr/>
            </p:nvSpPr>
            <p:spPr>
              <a:xfrm>
                <a:off x="4441424" y="2127006"/>
                <a:ext cx="0" cy="498348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Shape 5">
                <a:extLst>
                  <a:ext uri="{FF2B5EF4-FFF2-40B4-BE49-F238E27FC236}">
                    <a16:creationId xmlns:a16="http://schemas.microsoft.com/office/drawing/2014/main" id="{C408814A-E587-B2DD-1861-316A854AE3A0}"/>
                  </a:ext>
                </a:extLst>
              </p:cNvPr>
              <p:cNvSpPr/>
              <p:nvPr/>
            </p:nvSpPr>
            <p:spPr>
              <a:xfrm>
                <a:off x="6199485" y="2127006"/>
                <a:ext cx="0" cy="242253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7" name="Shape 6">
                <a:extLst>
                  <a:ext uri="{FF2B5EF4-FFF2-40B4-BE49-F238E27FC236}">
                    <a16:creationId xmlns:a16="http://schemas.microsoft.com/office/drawing/2014/main" id="{766C30A6-F4FE-EEBD-C4F5-4341438672FF}"/>
                  </a:ext>
                </a:extLst>
              </p:cNvPr>
              <p:cNvSpPr/>
              <p:nvPr/>
            </p:nvSpPr>
            <p:spPr>
              <a:xfrm>
                <a:off x="8926556" y="2127006"/>
                <a:ext cx="0" cy="498348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Text 7">
                <a:extLst>
                  <a:ext uri="{FF2B5EF4-FFF2-40B4-BE49-F238E27FC236}">
                    <a16:creationId xmlns:a16="http://schemas.microsoft.com/office/drawing/2014/main" id="{FC334432-7213-1D23-C5C2-D938C047CCBE}"/>
                  </a:ext>
                </a:extLst>
              </p:cNvPr>
              <p:cNvSpPr/>
              <p:nvPr/>
            </p:nvSpPr>
            <p:spPr>
              <a:xfrm>
                <a:off x="593070" y="2543055"/>
                <a:ext cx="858266" cy="38068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92500"/>
              </a:bodyPr>
              <a:lstStyle/>
              <a:p>
                <a:pPr marL="0" indent="0" algn="l">
                  <a:buNone/>
                </a:pPr>
                <a:r>
                  <a:rPr lang="en-US" sz="25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/home</a:t>
                </a:r>
                <a:endParaRPr lang="en-US" sz="2500" dirty="0"/>
              </a:p>
            </p:txBody>
          </p:sp>
          <p:sp>
            <p:nvSpPr>
              <p:cNvPr id="69" name="Text 8">
                <a:extLst>
                  <a:ext uri="{FF2B5EF4-FFF2-40B4-BE49-F238E27FC236}">
                    <a16:creationId xmlns:a16="http://schemas.microsoft.com/office/drawing/2014/main" id="{5A62249A-CEC1-3E18-62C6-9D03940C955E}"/>
                  </a:ext>
                </a:extLst>
              </p:cNvPr>
              <p:cNvSpPr/>
              <p:nvPr/>
            </p:nvSpPr>
            <p:spPr>
              <a:xfrm>
                <a:off x="2264612" y="2543055"/>
                <a:ext cx="1038225" cy="38068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85000" lnSpcReduction="10000"/>
              </a:bodyPr>
              <a:lstStyle/>
              <a:p>
                <a:pPr marL="0" indent="0" algn="l">
                  <a:buNone/>
                </a:pPr>
                <a:r>
                  <a:rPr lang="en-US" sz="25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/projects</a:t>
                </a:r>
                <a:endParaRPr lang="en-US" sz="2500" dirty="0"/>
              </a:p>
            </p:txBody>
          </p:sp>
          <p:sp>
            <p:nvSpPr>
              <p:cNvPr id="70" name="Text 9">
                <a:extLst>
                  <a:ext uri="{FF2B5EF4-FFF2-40B4-BE49-F238E27FC236}">
                    <a16:creationId xmlns:a16="http://schemas.microsoft.com/office/drawing/2014/main" id="{945E2161-6879-AF54-723F-3F84468AFCEC}"/>
                  </a:ext>
                </a:extLst>
              </p:cNvPr>
              <p:cNvSpPr/>
              <p:nvPr/>
            </p:nvSpPr>
            <p:spPr>
              <a:xfrm>
                <a:off x="4057280" y="2566521"/>
                <a:ext cx="982853" cy="38068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85000" lnSpcReduction="10000"/>
              </a:bodyPr>
              <a:lstStyle/>
              <a:p>
                <a:pPr marL="0" indent="0" algn="l">
                  <a:buNone/>
                </a:pPr>
                <a:r>
                  <a:rPr lang="en-US" sz="25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/scratch</a:t>
                </a:r>
                <a:endParaRPr lang="en-US" sz="2500" dirty="0"/>
              </a:p>
            </p:txBody>
          </p:sp>
          <p:sp>
            <p:nvSpPr>
              <p:cNvPr id="71" name="Text 10">
                <a:extLst>
                  <a:ext uri="{FF2B5EF4-FFF2-40B4-BE49-F238E27FC236}">
                    <a16:creationId xmlns:a16="http://schemas.microsoft.com/office/drawing/2014/main" id="{BDA28349-CCB1-D51F-DA3B-CEBF8DD2620F}"/>
                  </a:ext>
                </a:extLst>
              </p:cNvPr>
              <p:cNvSpPr/>
              <p:nvPr/>
            </p:nvSpPr>
            <p:spPr>
              <a:xfrm>
                <a:off x="5881096" y="2362337"/>
                <a:ext cx="830580" cy="29070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92500" lnSpcReduction="20000"/>
              </a:bodyPr>
              <a:lstStyle/>
              <a:p>
                <a:pPr marL="0" indent="0" algn="l">
                  <a:buNone/>
                </a:pPr>
                <a:r>
                  <a:rPr lang="en-US" sz="25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/curc</a:t>
                </a:r>
                <a:endParaRPr lang="en-US" sz="2500" dirty="0"/>
              </a:p>
            </p:txBody>
          </p:sp>
          <p:sp>
            <p:nvSpPr>
              <p:cNvPr id="72" name="Text 11">
                <a:extLst>
                  <a:ext uri="{FF2B5EF4-FFF2-40B4-BE49-F238E27FC236}">
                    <a16:creationId xmlns:a16="http://schemas.microsoft.com/office/drawing/2014/main" id="{6477E823-B668-B538-BEE2-D139BB507F4D}"/>
                  </a:ext>
                </a:extLst>
              </p:cNvPr>
              <p:cNvSpPr/>
              <p:nvPr/>
            </p:nvSpPr>
            <p:spPr>
              <a:xfrm>
                <a:off x="5888017" y="2715334"/>
                <a:ext cx="1072833" cy="15227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92500" lnSpcReduction="10000"/>
              </a:bodyPr>
              <a:lstStyle/>
              <a:p>
                <a:pPr marL="0" indent="0" algn="l">
                  <a:buNone/>
                </a:pPr>
                <a:r>
                  <a:rPr lang="en-US" sz="12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(software stack)</a:t>
                </a:r>
                <a:endParaRPr lang="en-US" sz="1200" dirty="0"/>
              </a:p>
            </p:txBody>
          </p:sp>
          <p:sp>
            <p:nvSpPr>
              <p:cNvPr id="73" name="Text 12">
                <a:extLst>
                  <a:ext uri="{FF2B5EF4-FFF2-40B4-BE49-F238E27FC236}">
                    <a16:creationId xmlns:a16="http://schemas.microsoft.com/office/drawing/2014/main" id="{C9B69215-6FEB-CB6D-1EF9-2FE57F15619D}"/>
                  </a:ext>
                </a:extLst>
              </p:cNvPr>
              <p:cNvSpPr/>
              <p:nvPr/>
            </p:nvSpPr>
            <p:spPr>
              <a:xfrm>
                <a:off x="8746597" y="2604590"/>
                <a:ext cx="484505" cy="38068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lnSpcReduction="10000"/>
              </a:bodyPr>
              <a:lstStyle/>
              <a:p>
                <a:pPr marL="0" indent="0" algn="l">
                  <a:buNone/>
                </a:pPr>
                <a:r>
                  <a:rPr lang="en-US" sz="25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/pl</a:t>
                </a:r>
                <a:endParaRPr lang="en-US" sz="2500" dirty="0"/>
              </a:p>
            </p:txBody>
          </p:sp>
          <p:sp>
            <p:nvSpPr>
              <p:cNvPr id="74" name="Shape 13">
                <a:extLst>
                  <a:ext uri="{FF2B5EF4-FFF2-40B4-BE49-F238E27FC236}">
                    <a16:creationId xmlns:a16="http://schemas.microsoft.com/office/drawing/2014/main" id="{35872FC4-F16A-D4BE-804C-17173BD6BDD6}"/>
                  </a:ext>
                </a:extLst>
              </p:cNvPr>
              <p:cNvSpPr/>
              <p:nvPr/>
            </p:nvSpPr>
            <p:spPr>
              <a:xfrm>
                <a:off x="939145" y="2909136"/>
                <a:ext cx="0" cy="456819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6" name="Shape 15">
                <a:extLst>
                  <a:ext uri="{FF2B5EF4-FFF2-40B4-BE49-F238E27FC236}">
                    <a16:creationId xmlns:a16="http://schemas.microsoft.com/office/drawing/2014/main" id="{07FA9F19-90A9-9244-0EDF-DD1D5C8A4F68}"/>
                  </a:ext>
                </a:extLst>
              </p:cNvPr>
              <p:cNvSpPr/>
              <p:nvPr/>
            </p:nvSpPr>
            <p:spPr>
              <a:xfrm>
                <a:off x="2697206" y="2909136"/>
                <a:ext cx="0" cy="456819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Text 16">
                <a:extLst>
                  <a:ext uri="{FF2B5EF4-FFF2-40B4-BE49-F238E27FC236}">
                    <a16:creationId xmlns:a16="http://schemas.microsoft.com/office/drawing/2014/main" id="{C6EA4DD5-CABA-36F2-9DE1-E17FFC3F18BC}"/>
                  </a:ext>
                </a:extLst>
              </p:cNvPr>
              <p:cNvSpPr/>
              <p:nvPr/>
            </p:nvSpPr>
            <p:spPr>
              <a:xfrm>
                <a:off x="1915076" y="3393641"/>
                <a:ext cx="1591945" cy="3599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77500" lnSpcReduction="20000"/>
              </a:bodyPr>
              <a:lstStyle/>
              <a:p>
                <a:pPr marL="0" indent="0" algn="l">
                  <a:buNone/>
                </a:pPr>
                <a:r>
                  <a:rPr lang="en-US" sz="22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/projects/&lt;user&gt;</a:t>
                </a:r>
                <a:endParaRPr lang="en-US" sz="2200" dirty="0"/>
              </a:p>
            </p:txBody>
          </p:sp>
          <p:sp>
            <p:nvSpPr>
              <p:cNvPr id="78" name="Shape 17">
                <a:extLst>
                  <a:ext uri="{FF2B5EF4-FFF2-40B4-BE49-F238E27FC236}">
                    <a16:creationId xmlns:a16="http://schemas.microsoft.com/office/drawing/2014/main" id="{D82A27B9-DA7F-01FB-6553-5BA77F2753DD}"/>
                  </a:ext>
                </a:extLst>
              </p:cNvPr>
              <p:cNvSpPr/>
              <p:nvPr/>
            </p:nvSpPr>
            <p:spPr>
              <a:xfrm>
                <a:off x="4462188" y="2909136"/>
                <a:ext cx="0" cy="456819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Text 18">
                <a:extLst>
                  <a:ext uri="{FF2B5EF4-FFF2-40B4-BE49-F238E27FC236}">
                    <a16:creationId xmlns:a16="http://schemas.microsoft.com/office/drawing/2014/main" id="{2488637E-5685-591F-F2A9-B80F58C11AEA}"/>
                  </a:ext>
                </a:extLst>
              </p:cNvPr>
              <p:cNvSpPr/>
              <p:nvPr/>
            </p:nvSpPr>
            <p:spPr>
              <a:xfrm>
                <a:off x="3744492" y="3365955"/>
                <a:ext cx="1522730" cy="3599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77500" lnSpcReduction="20000"/>
              </a:bodyPr>
              <a:lstStyle/>
              <a:p>
                <a:pPr marL="0" indent="0" algn="l">
                  <a:buNone/>
                </a:pPr>
                <a:r>
                  <a:rPr lang="en-US" sz="22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/scratch/alpine</a:t>
                </a:r>
                <a:endParaRPr lang="en-US" sz="2200" dirty="0"/>
              </a:p>
            </p:txBody>
          </p:sp>
          <p:sp>
            <p:nvSpPr>
              <p:cNvPr id="80" name="Shape 19">
                <a:extLst>
                  <a:ext uri="{FF2B5EF4-FFF2-40B4-BE49-F238E27FC236}">
                    <a16:creationId xmlns:a16="http://schemas.microsoft.com/office/drawing/2014/main" id="{DB02772A-365A-61C1-2133-BE0B97A0CB66}"/>
                  </a:ext>
                </a:extLst>
              </p:cNvPr>
              <p:cNvSpPr/>
              <p:nvPr/>
            </p:nvSpPr>
            <p:spPr>
              <a:xfrm>
                <a:off x="4462188" y="3725873"/>
                <a:ext cx="0" cy="588328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Text 20">
                <a:extLst>
                  <a:ext uri="{FF2B5EF4-FFF2-40B4-BE49-F238E27FC236}">
                    <a16:creationId xmlns:a16="http://schemas.microsoft.com/office/drawing/2014/main" id="{7193255B-88AB-479F-F665-46EEC20EBB2E}"/>
                  </a:ext>
                </a:extLst>
              </p:cNvPr>
              <p:cNvSpPr/>
              <p:nvPr/>
            </p:nvSpPr>
            <p:spPr>
              <a:xfrm>
                <a:off x="3579696" y="4339062"/>
                <a:ext cx="1938020" cy="40144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70000" lnSpcReduction="20000"/>
              </a:bodyPr>
              <a:lstStyle/>
              <a:p>
                <a:pPr marL="0" indent="0" algn="l">
                  <a:buNone/>
                </a:pPr>
                <a:r>
                  <a:rPr lang="en-US" sz="22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/scratch/alpine/&lt;user&gt;</a:t>
                </a:r>
                <a:endParaRPr lang="en-US" sz="2200" dirty="0"/>
              </a:p>
            </p:txBody>
          </p:sp>
          <p:sp>
            <p:nvSpPr>
              <p:cNvPr id="82" name="Shape 21">
                <a:extLst>
                  <a:ext uri="{FF2B5EF4-FFF2-40B4-BE49-F238E27FC236}">
                    <a16:creationId xmlns:a16="http://schemas.microsoft.com/office/drawing/2014/main" id="{98AAE701-30B7-0DCF-AB1A-382DB76375EA}"/>
                  </a:ext>
                </a:extLst>
              </p:cNvPr>
              <p:cNvSpPr/>
              <p:nvPr/>
            </p:nvSpPr>
            <p:spPr>
              <a:xfrm>
                <a:off x="8919634" y="2992194"/>
                <a:ext cx="2207958" cy="0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Shape 22">
                <a:extLst>
                  <a:ext uri="{FF2B5EF4-FFF2-40B4-BE49-F238E27FC236}">
                    <a16:creationId xmlns:a16="http://schemas.microsoft.com/office/drawing/2014/main" id="{A754E921-4590-914B-EA8F-94D42ED779E8}"/>
                  </a:ext>
                </a:extLst>
              </p:cNvPr>
              <p:cNvSpPr/>
              <p:nvPr/>
            </p:nvSpPr>
            <p:spPr>
              <a:xfrm>
                <a:off x="8919634" y="2992194"/>
                <a:ext cx="0" cy="352997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Shape 23">
                <a:extLst>
                  <a:ext uri="{FF2B5EF4-FFF2-40B4-BE49-F238E27FC236}">
                    <a16:creationId xmlns:a16="http://schemas.microsoft.com/office/drawing/2014/main" id="{D56F742A-E615-83B9-605B-5AFB3D8BBDE5}"/>
                  </a:ext>
                </a:extLst>
              </p:cNvPr>
              <p:cNvSpPr/>
              <p:nvPr/>
            </p:nvSpPr>
            <p:spPr>
              <a:xfrm>
                <a:off x="11127592" y="2992194"/>
                <a:ext cx="0" cy="352997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 24">
                <a:extLst>
                  <a:ext uri="{FF2B5EF4-FFF2-40B4-BE49-F238E27FC236}">
                    <a16:creationId xmlns:a16="http://schemas.microsoft.com/office/drawing/2014/main" id="{D66BF242-0215-B388-14F1-D8736BDC4C42}"/>
                  </a:ext>
                </a:extLst>
              </p:cNvPr>
              <p:cNvSpPr/>
              <p:nvPr/>
            </p:nvSpPr>
            <p:spPr>
              <a:xfrm>
                <a:off x="8490501" y="3386719"/>
                <a:ext cx="1072833" cy="3599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92500"/>
              </a:bodyPr>
              <a:lstStyle/>
              <a:p>
                <a:pPr marL="0" indent="0" algn="l">
                  <a:buNone/>
                </a:pPr>
                <a:r>
                  <a:rPr lang="en-US" sz="22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/pl/active</a:t>
                </a:r>
                <a:endParaRPr lang="en-US" sz="2200" dirty="0"/>
              </a:p>
            </p:txBody>
          </p:sp>
          <p:sp>
            <p:nvSpPr>
              <p:cNvPr id="86" name="Text 25">
                <a:extLst>
                  <a:ext uri="{FF2B5EF4-FFF2-40B4-BE49-F238E27FC236}">
                    <a16:creationId xmlns:a16="http://schemas.microsoft.com/office/drawing/2014/main" id="{2B70B4BD-74B1-294F-8D31-19443268CF96}"/>
                  </a:ext>
                </a:extLst>
              </p:cNvPr>
              <p:cNvSpPr/>
              <p:nvPr/>
            </p:nvSpPr>
            <p:spPr>
              <a:xfrm>
                <a:off x="10650009" y="3386719"/>
                <a:ext cx="1142048" cy="3599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85000" lnSpcReduction="10000"/>
              </a:bodyPr>
              <a:lstStyle/>
              <a:p>
                <a:pPr marL="0" indent="0" algn="l">
                  <a:buNone/>
                </a:pPr>
                <a:r>
                  <a:rPr lang="en-US" sz="22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/pl/archive</a:t>
                </a:r>
                <a:endParaRPr lang="en-US" sz="2200" dirty="0"/>
              </a:p>
            </p:txBody>
          </p:sp>
          <p:sp>
            <p:nvSpPr>
              <p:cNvPr id="87" name="Shape 26">
                <a:extLst>
                  <a:ext uri="{FF2B5EF4-FFF2-40B4-BE49-F238E27FC236}">
                    <a16:creationId xmlns:a16="http://schemas.microsoft.com/office/drawing/2014/main" id="{C73D1A8E-A458-7137-0B6C-6AA0EBD8942C}"/>
                  </a:ext>
                </a:extLst>
              </p:cNvPr>
              <p:cNvSpPr/>
              <p:nvPr/>
            </p:nvSpPr>
            <p:spPr>
              <a:xfrm>
                <a:off x="8926556" y="3705108"/>
                <a:ext cx="0" cy="560642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Shape 27">
                <a:extLst>
                  <a:ext uri="{FF2B5EF4-FFF2-40B4-BE49-F238E27FC236}">
                    <a16:creationId xmlns:a16="http://schemas.microsoft.com/office/drawing/2014/main" id="{F318DEA4-71FF-CF1C-E2BE-BB2F78E352AD}"/>
                  </a:ext>
                </a:extLst>
              </p:cNvPr>
              <p:cNvSpPr/>
              <p:nvPr/>
            </p:nvSpPr>
            <p:spPr>
              <a:xfrm>
                <a:off x="11127592" y="3705108"/>
                <a:ext cx="0" cy="560642"/>
              </a:xfrm>
              <a:prstGeom prst="line">
                <a:avLst/>
              </a:prstGeom>
              <a:noFill/>
              <a:ln w="22860">
                <a:solidFill>
                  <a:srgbClr val="111111"/>
                </a:solidFill>
                <a:prstDash val="solid"/>
                <a:headEnd type="none"/>
                <a:tailEnd type="none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Text 28">
                <a:extLst>
                  <a:ext uri="{FF2B5EF4-FFF2-40B4-BE49-F238E27FC236}">
                    <a16:creationId xmlns:a16="http://schemas.microsoft.com/office/drawing/2014/main" id="{4FDE1D9B-6996-9AC2-4E12-FFFEC540BA03}"/>
                  </a:ext>
                </a:extLst>
              </p:cNvPr>
              <p:cNvSpPr/>
              <p:nvPr/>
            </p:nvSpPr>
            <p:spPr>
              <a:xfrm>
                <a:off x="8137504" y="4265750"/>
                <a:ext cx="1730375" cy="38068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77500" lnSpcReduction="20000"/>
              </a:bodyPr>
              <a:lstStyle/>
              <a:p>
                <a:pPr marL="0" indent="0" algn="l">
                  <a:buNone/>
                </a:pPr>
                <a:r>
                  <a:rPr lang="en-US" sz="22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/pl/active/&lt;group&gt;</a:t>
                </a:r>
                <a:endParaRPr lang="en-US" sz="2200" dirty="0"/>
              </a:p>
            </p:txBody>
          </p:sp>
          <p:sp>
            <p:nvSpPr>
              <p:cNvPr id="90" name="Text 29">
                <a:extLst>
                  <a:ext uri="{FF2B5EF4-FFF2-40B4-BE49-F238E27FC236}">
                    <a16:creationId xmlns:a16="http://schemas.microsoft.com/office/drawing/2014/main" id="{06122E52-9D21-086B-B54E-1FC166F113BE}"/>
                  </a:ext>
                </a:extLst>
              </p:cNvPr>
              <p:cNvSpPr/>
              <p:nvPr/>
            </p:nvSpPr>
            <p:spPr>
              <a:xfrm>
                <a:off x="10220876" y="4265750"/>
                <a:ext cx="1730375" cy="38068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70000" lnSpcReduction="20000"/>
              </a:bodyPr>
              <a:lstStyle/>
              <a:p>
                <a:pPr marL="0" indent="0" algn="l">
                  <a:buNone/>
                </a:pPr>
                <a:r>
                  <a:rPr lang="en-US" sz="2200" dirty="0">
                    <a:solidFill>
                      <a:srgbClr val="111111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/pl/archive/&lt;group&gt;</a:t>
                </a:r>
                <a:endParaRPr lang="en-US" sz="2200" dirty="0"/>
              </a:p>
            </p:txBody>
          </p:sp>
        </p:grp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1C18EB-13F5-43F0-2F07-DFAD42939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53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5B5DA-BC6A-7BA7-29D4-08F9204B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B9173-4CCA-F71B-04B5-91BA41E03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File Operations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70C9A1-5845-D561-B1F3-AE1A4949D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12</a:t>
            </a:fld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868109-8DDA-00F1-76C1-1411E8180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470660" y="1462088"/>
            <a:ext cx="9250680" cy="4543807"/>
            <a:chOff x="2254948" y="1462088"/>
            <a:chExt cx="9250680" cy="454380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33D9678-2E76-3E55-D6E2-36200B4A28C3}"/>
                </a:ext>
              </a:extLst>
            </p:cNvPr>
            <p:cNvGrpSpPr/>
            <p:nvPr/>
          </p:nvGrpSpPr>
          <p:grpSpPr>
            <a:xfrm>
              <a:off x="2254948" y="1462088"/>
              <a:ext cx="3474720" cy="2089594"/>
              <a:chOff x="2254948" y="1844230"/>
              <a:chExt cx="3474720" cy="2089594"/>
            </a:xfrm>
          </p:grpSpPr>
          <p:pic>
            <p:nvPicPr>
              <p:cNvPr id="8" name="Graphic 7" descr="Open folder outline">
                <a:extLst>
                  <a:ext uri="{FF2B5EF4-FFF2-40B4-BE49-F238E27FC236}">
                    <a16:creationId xmlns:a16="http://schemas.microsoft.com/office/drawing/2014/main" id="{93FC7E3C-272D-62E3-604B-82C88C201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1E1EC58D-E66E-F5E9-8E69-92CDF35683AC}"/>
                  </a:ext>
                </a:extLst>
              </p:cNvPr>
              <p:cNvSpPr/>
              <p:nvPr/>
            </p:nvSpPr>
            <p:spPr>
              <a:xfrm>
                <a:off x="2254948" y="1844230"/>
                <a:ext cx="347472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E18E69-4A6A-5B22-87B5-0CFACD4691B1}"/>
                  </a:ext>
                </a:extLst>
              </p:cNvPr>
              <p:cNvSpPr txBox="1"/>
              <p:nvPr/>
            </p:nvSpPr>
            <p:spPr>
              <a:xfrm>
                <a:off x="2317811" y="3181668"/>
                <a:ext cx="334899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cd [-o] &lt;path&gt;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ED40F7-7D64-888C-08A5-19FC803F5427}"/>
                  </a:ext>
                </a:extLst>
              </p:cNvPr>
              <p:cNvSpPr txBox="1"/>
              <p:nvPr/>
            </p:nvSpPr>
            <p:spPr>
              <a:xfrm>
                <a:off x="2999889" y="2014340"/>
                <a:ext cx="198483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Change </a:t>
                </a:r>
              </a:p>
              <a:p>
                <a:pPr algn="ctr"/>
                <a:r>
                  <a:rPr lang="en-US" sz="3200" b="1" dirty="0"/>
                  <a:t>Directory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E25A928-ACE1-7794-2A29-E38B9B600A94}"/>
                </a:ext>
              </a:extLst>
            </p:cNvPr>
            <p:cNvGrpSpPr/>
            <p:nvPr/>
          </p:nvGrpSpPr>
          <p:grpSpPr>
            <a:xfrm>
              <a:off x="6019228" y="1462088"/>
              <a:ext cx="5486400" cy="2089594"/>
              <a:chOff x="2014999" y="1844230"/>
              <a:chExt cx="4114800" cy="2089594"/>
            </a:xfrm>
          </p:grpSpPr>
          <p:pic>
            <p:nvPicPr>
              <p:cNvPr id="14" name="Graphic 13" descr="Open folder outline">
                <a:extLst>
                  <a:ext uri="{FF2B5EF4-FFF2-40B4-BE49-F238E27FC236}">
                    <a16:creationId xmlns:a16="http://schemas.microsoft.com/office/drawing/2014/main" id="{06A1603C-FD67-7A77-1556-CA3E65C8B0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005D8A23-1E7B-56B7-FA44-70B4B3819EE7}"/>
                  </a:ext>
                </a:extLst>
              </p:cNvPr>
              <p:cNvSpPr/>
              <p:nvPr/>
            </p:nvSpPr>
            <p:spPr>
              <a:xfrm>
                <a:off x="2014999" y="1844230"/>
                <a:ext cx="411480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C3DDA6F-EE57-F771-6066-10223EE52066}"/>
                  </a:ext>
                </a:extLst>
              </p:cNvPr>
              <p:cNvSpPr txBox="1"/>
              <p:nvPr/>
            </p:nvSpPr>
            <p:spPr>
              <a:xfrm>
                <a:off x="2562251" y="3181668"/>
                <a:ext cx="302029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rgbClr val="0070C0"/>
                    </a:solidFill>
                    <a:latin typeface="Consolas"/>
                    <a:cs typeface="Consolas"/>
                  </a:rPr>
                  <a:t>mkdir</a:t>
                </a:r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 [-o] &lt;path&gt;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B899B-ACD2-C6A0-0046-2FAD5F77A9FB}"/>
                  </a:ext>
                </a:extLst>
              </p:cNvPr>
              <p:cNvSpPr txBox="1"/>
              <p:nvPr/>
            </p:nvSpPr>
            <p:spPr>
              <a:xfrm>
                <a:off x="3079980" y="2014340"/>
                <a:ext cx="1984839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Make </a:t>
                </a:r>
              </a:p>
              <a:p>
                <a:pPr algn="ctr"/>
                <a:r>
                  <a:rPr lang="en-US" sz="3200" b="1" dirty="0"/>
                  <a:t>Directory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4900AFF-1E42-7815-4763-1050602C2771}"/>
                </a:ext>
              </a:extLst>
            </p:cNvPr>
            <p:cNvGrpSpPr/>
            <p:nvPr/>
          </p:nvGrpSpPr>
          <p:grpSpPr>
            <a:xfrm>
              <a:off x="2254948" y="3916301"/>
              <a:ext cx="5486400" cy="2089594"/>
              <a:chOff x="2238984" y="1844230"/>
              <a:chExt cx="3478273" cy="2089594"/>
            </a:xfrm>
          </p:grpSpPr>
          <p:pic>
            <p:nvPicPr>
              <p:cNvPr id="19" name="Graphic 18" descr="Open folder outline">
                <a:extLst>
                  <a:ext uri="{FF2B5EF4-FFF2-40B4-BE49-F238E27FC236}">
                    <a16:creationId xmlns:a16="http://schemas.microsoft.com/office/drawing/2014/main" id="{7619D01D-3E4F-7B09-D3B4-C6A2762F0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5C4562FB-7C03-8BD1-998A-7F011482916C}"/>
                  </a:ext>
                </a:extLst>
              </p:cNvPr>
              <p:cNvSpPr/>
              <p:nvPr/>
            </p:nvSpPr>
            <p:spPr>
              <a:xfrm>
                <a:off x="2238984" y="1844230"/>
                <a:ext cx="3478273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4BC9B5B-3CF7-804E-D51B-00BDDC734B9A}"/>
                  </a:ext>
                </a:extLst>
              </p:cNvPr>
              <p:cNvSpPr txBox="1"/>
              <p:nvPr/>
            </p:nvSpPr>
            <p:spPr>
              <a:xfrm>
                <a:off x="2271697" y="3181668"/>
                <a:ext cx="341284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cp [-o] &lt;source&gt; &lt;</a:t>
                </a:r>
                <a:r>
                  <a:rPr lang="en-US" sz="3200" b="1" dirty="0" err="1">
                    <a:solidFill>
                      <a:srgbClr val="0070C0"/>
                    </a:solidFill>
                    <a:latin typeface="Consolas"/>
                    <a:cs typeface="Consolas"/>
                  </a:rPr>
                  <a:t>dest</a:t>
                </a:r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&gt;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5A21E4C-9245-1DA6-0994-1FA1B615320B}"/>
                  </a:ext>
                </a:extLst>
              </p:cNvPr>
              <p:cNvSpPr txBox="1"/>
              <p:nvPr/>
            </p:nvSpPr>
            <p:spPr>
              <a:xfrm>
                <a:off x="2742739" y="2014340"/>
                <a:ext cx="2470764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Copy / Move </a:t>
                </a:r>
              </a:p>
              <a:p>
                <a:pPr algn="ctr"/>
                <a:r>
                  <a:rPr lang="en-US" sz="3200" b="1" dirty="0"/>
                  <a:t>Files &amp; Directories 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F762859-AFFB-01F6-9BC0-972AD90C53EF}"/>
                </a:ext>
              </a:extLst>
            </p:cNvPr>
            <p:cNvGrpSpPr/>
            <p:nvPr/>
          </p:nvGrpSpPr>
          <p:grpSpPr>
            <a:xfrm>
              <a:off x="8030908" y="3916301"/>
              <a:ext cx="3474720" cy="2089594"/>
              <a:chOff x="2254948" y="1844230"/>
              <a:chExt cx="3474720" cy="2089594"/>
            </a:xfrm>
          </p:grpSpPr>
          <p:pic>
            <p:nvPicPr>
              <p:cNvPr id="24" name="Graphic 23" descr="Open folder outline">
                <a:extLst>
                  <a:ext uri="{FF2B5EF4-FFF2-40B4-BE49-F238E27FC236}">
                    <a16:creationId xmlns:a16="http://schemas.microsoft.com/office/drawing/2014/main" id="{1C0AF813-67D3-F2EB-05E1-D283404B8D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875532" y="2971800"/>
                <a:ext cx="0" cy="0"/>
              </a:xfrm>
              <a:prstGeom prst="rect">
                <a:avLst/>
              </a:prstGeom>
            </p:spPr>
          </p:pic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C9851041-E733-31A0-23AA-9FEE8EB9118C}"/>
                  </a:ext>
                </a:extLst>
              </p:cNvPr>
              <p:cNvSpPr/>
              <p:nvPr/>
            </p:nvSpPr>
            <p:spPr>
              <a:xfrm>
                <a:off x="2254948" y="1844230"/>
                <a:ext cx="3474720" cy="2089594"/>
              </a:xfrm>
              <a:prstGeom prst="round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3D33C83-4A9B-CA16-5E91-678EF8E7F46C}"/>
                  </a:ext>
                </a:extLst>
              </p:cNvPr>
              <p:cNvSpPr txBox="1"/>
              <p:nvPr/>
            </p:nvSpPr>
            <p:spPr>
              <a:xfrm>
                <a:off x="2317811" y="3181668"/>
                <a:ext cx="334899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>
                    <a:solidFill>
                      <a:srgbClr val="0070C0"/>
                    </a:solidFill>
                    <a:latin typeface="Consolas"/>
                    <a:cs typeface="Consolas"/>
                  </a:rPr>
                  <a:t>rm [-o] &lt;path&gt;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C318CE-5B6E-B6F2-6BB6-733FA143943F}"/>
                  </a:ext>
                </a:extLst>
              </p:cNvPr>
              <p:cNvSpPr txBox="1"/>
              <p:nvPr/>
            </p:nvSpPr>
            <p:spPr>
              <a:xfrm>
                <a:off x="3228317" y="2014340"/>
                <a:ext cx="1527982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200" b="1" dirty="0"/>
                  <a:t>Delete </a:t>
                </a:r>
              </a:p>
              <a:p>
                <a:pPr algn="ctr"/>
                <a:r>
                  <a:rPr lang="en-US" sz="3200" b="1" dirty="0"/>
                  <a:t>Files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642590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2A80F-467A-598A-27CA-29D7AB90F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061" y="83771"/>
            <a:ext cx="11265877" cy="1325563"/>
          </a:xfrm>
        </p:spPr>
        <p:txBody>
          <a:bodyPr/>
          <a:lstStyle/>
          <a:p>
            <a:r>
              <a:rPr lang="en-US" dirty="0"/>
              <a:t>Create and edit a file – Terminal Text Editors</a:t>
            </a:r>
          </a:p>
        </p:txBody>
      </p:sp>
      <p:pic>
        <p:nvPicPr>
          <p:cNvPr id="7170" name="Picture 2" descr="Vim logo">
            <a:extLst>
              <a:ext uri="{FF2B5EF4-FFF2-40B4-BE49-F238E27FC236}">
                <a16:creationId xmlns:a16="http://schemas.microsoft.com/office/drawing/2014/main" id="{E70EF3A4-5D20-8FC8-D18B-D1E2A7B2D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003" y="1919771"/>
            <a:ext cx="2588146" cy="2593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02634B4-AF40-DF74-B510-3B418611DD74}"/>
              </a:ext>
            </a:extLst>
          </p:cNvPr>
          <p:cNvSpPr txBox="1"/>
          <p:nvPr/>
        </p:nvSpPr>
        <p:spPr>
          <a:xfrm>
            <a:off x="1605392" y="4706490"/>
            <a:ext cx="11993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Vim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7172" name="Picture 4" descr="undefined">
            <a:extLst>
              <a:ext uri="{FF2B5EF4-FFF2-40B4-BE49-F238E27FC236}">
                <a16:creationId xmlns:a16="http://schemas.microsoft.com/office/drawing/2014/main" id="{7ED316EC-14FF-145E-0407-F8D5D7370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9554" y="1892931"/>
            <a:ext cx="2504284" cy="250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1B0254-9AB2-7400-7547-32E8717BC092}"/>
              </a:ext>
            </a:extLst>
          </p:cNvPr>
          <p:cNvSpPr txBox="1"/>
          <p:nvPr/>
        </p:nvSpPr>
        <p:spPr>
          <a:xfrm>
            <a:off x="5192896" y="4667972"/>
            <a:ext cx="15376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Nano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4" name="Picture 3" descr="Emacs logo">
            <a:extLst>
              <a:ext uri="{FF2B5EF4-FFF2-40B4-BE49-F238E27FC236}">
                <a16:creationId xmlns:a16="http://schemas.microsoft.com/office/drawing/2014/main" id="{739DE716-6152-038B-9818-B2CAD2E0DC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4243" y="1776826"/>
            <a:ext cx="2793505" cy="27364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35EB34-99AB-6FA2-4581-3E5B01CD1D91}"/>
              </a:ext>
            </a:extLst>
          </p:cNvPr>
          <p:cNvSpPr txBox="1"/>
          <p:nvPr/>
        </p:nvSpPr>
        <p:spPr>
          <a:xfrm>
            <a:off x="8883077" y="4667972"/>
            <a:ext cx="18758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Consolas" panose="020B0609020204030204" pitchFamily="49" charset="0"/>
                <a:cs typeface="Consolas" panose="020B0609020204030204" pitchFamily="49" charset="0"/>
              </a:rPr>
              <a:t>Emacs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5D91E8-1460-FB3B-3CB2-3E96670D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2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738BD-DBBE-2994-7077-B94D7FE35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187"/>
            <a:ext cx="10515600" cy="1325563"/>
          </a:xfrm>
        </p:spPr>
        <p:txBody>
          <a:bodyPr/>
          <a:lstStyle/>
          <a:p>
            <a:r>
              <a:rPr lang="en-US" dirty="0"/>
              <a:t>Creating a Bash Script</a:t>
            </a:r>
          </a:p>
        </p:txBody>
      </p:sp>
      <p:pic>
        <p:nvPicPr>
          <p:cNvPr id="7" name="Graphic 6" descr="Programmer male with solid fill">
            <a:extLst>
              <a:ext uri="{FF2B5EF4-FFF2-40B4-BE49-F238E27FC236}">
                <a16:creationId xmlns:a16="http://schemas.microsoft.com/office/drawing/2014/main" id="{F651B605-88E9-D063-5E96-8891257EEC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1615675"/>
            <a:ext cx="4116910" cy="411691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2F1B2F-F244-BE48-7497-088CA2C34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258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216;p31">
            <a:extLst>
              <a:ext uri="{FF2B5EF4-FFF2-40B4-BE49-F238E27FC236}">
                <a16:creationId xmlns:a16="http://schemas.microsoft.com/office/drawing/2014/main" id="{7BB7D35D-D791-33B1-E779-2E55122C2C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1901" y="188360"/>
            <a:ext cx="9962909" cy="714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ctr" anchorCtr="0">
            <a:spAutoFit/>
          </a:bodyPr>
          <a:lstStyle/>
          <a:p>
            <a:pPr marL="2997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 Black"/>
              <a:buNone/>
            </a:pPr>
            <a:r>
              <a:rPr lang="en-US" dirty="0"/>
              <a:t>Shell script basics</a:t>
            </a:r>
            <a:endParaRPr dirty="0"/>
          </a:p>
        </p:txBody>
      </p:sp>
      <p:sp>
        <p:nvSpPr>
          <p:cNvPr id="223" name="Google Shape;223;p32"/>
          <p:cNvSpPr txBox="1"/>
          <p:nvPr/>
        </p:nvSpPr>
        <p:spPr>
          <a:xfrm>
            <a:off x="672775" y="1190417"/>
            <a:ext cx="10302600" cy="209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4900" rIns="0" bIns="0" anchor="t" anchorCtr="0">
            <a:spAutoFit/>
          </a:bodyPr>
          <a:lstStyle/>
          <a:p>
            <a:pPr marL="677130" marR="0" lvl="0" indent="-3429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In shell scripts, the first line must specify the shell e.g. </a:t>
            </a:r>
            <a:r>
              <a:rPr lang="en-US" sz="2400" b="1" dirty="0">
                <a:solidFill>
                  <a:srgbClr val="0070C0"/>
                </a:solidFill>
                <a:latin typeface="Consolas"/>
                <a:cs typeface="Consolas"/>
              </a:rPr>
              <a:t>#!/bin/bash</a:t>
            </a:r>
            <a:endParaRPr sz="2400" b="1" dirty="0">
              <a:solidFill>
                <a:srgbClr val="0070C0"/>
              </a:solidFill>
              <a:latin typeface="Consolas"/>
              <a:cs typeface="Consolas"/>
            </a:endParaRPr>
          </a:p>
          <a:p>
            <a:pPr marL="683448" marR="28477" lvl="0" indent="-349218" algn="l" rtl="0">
              <a:lnSpc>
                <a:spcPct val="125000"/>
              </a:lnSpc>
              <a:spcBef>
                <a:spcPts val="507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The program loader recognizes the </a:t>
            </a:r>
            <a:r>
              <a:rPr lang="en-US" sz="2400" b="1" dirty="0">
                <a:solidFill>
                  <a:srgbClr val="0070C0"/>
                </a:solidFill>
                <a:latin typeface="Consolas"/>
                <a:cs typeface="Consolas"/>
              </a:rPr>
              <a:t>#!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 and will interpret the rest of the line (</a:t>
            </a:r>
            <a:r>
              <a:rPr lang="en-US" sz="2400" b="1" dirty="0">
                <a:solidFill>
                  <a:srgbClr val="0070C0"/>
                </a:solidFill>
                <a:latin typeface="Consolas"/>
                <a:cs typeface="Consolas"/>
              </a:rPr>
              <a:t>/bin/bash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) as the interpreter program.</a:t>
            </a:r>
            <a:endParaRPr sz="2400" dirty="0">
              <a:solidFill>
                <a:schemeClr val="dk1"/>
              </a:solidFill>
              <a:latin typeface="+mn-lt"/>
              <a:ea typeface="Helvetica Neue Light" panose="02000403000000020004" pitchFamily="2" charset="0"/>
            </a:endParaRPr>
          </a:p>
          <a:p>
            <a:pPr marL="677130" marR="0" lvl="0" indent="-342900" algn="l" rtl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If a line starts with </a:t>
            </a:r>
            <a:r>
              <a:rPr lang="en-US" sz="2400" b="1" dirty="0">
                <a:solidFill>
                  <a:srgbClr val="0070C0"/>
                </a:solidFill>
                <a:latin typeface="Consolas"/>
                <a:cs typeface="Consolas"/>
              </a:rPr>
              <a:t>#</a:t>
            </a:r>
            <a:r>
              <a:rPr lang="en-US" sz="2400" dirty="0">
                <a:solidFill>
                  <a:schemeClr val="dk1"/>
                </a:solidFill>
                <a:latin typeface="+mn-lt"/>
                <a:ea typeface="Helvetica Neue Light" panose="02000403000000020004" pitchFamily="2" charset="0"/>
              </a:rPr>
              <a:t>, it is a comment and is not run.</a:t>
            </a:r>
            <a:endParaRPr sz="2400" dirty="0">
              <a:solidFill>
                <a:schemeClr val="dk1"/>
              </a:solidFill>
              <a:latin typeface="+mn-lt"/>
              <a:ea typeface="Helvetica Neue Light" panose="02000403000000020004" pitchFamily="2" charset="0"/>
            </a:endParaRPr>
          </a:p>
        </p:txBody>
      </p:sp>
      <p:sp>
        <p:nvSpPr>
          <p:cNvPr id="222" name="Google Shape;222;p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2775" y="3510125"/>
            <a:ext cx="6070925" cy="24156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32"/>
          <p:cNvSpPr txBox="1"/>
          <p:nvPr/>
        </p:nvSpPr>
        <p:spPr>
          <a:xfrm>
            <a:off x="944700" y="3497425"/>
            <a:ext cx="5694600" cy="271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1475" rIns="0" bIns="0" anchor="t" anchorCtr="0">
            <a:spAutoFit/>
          </a:bodyPr>
          <a:lstStyle/>
          <a:p>
            <a:pPr marL="29975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#!/bin/bash</a:t>
            </a:r>
            <a:b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US" sz="2600" i="1" dirty="0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#look at the files in /</a:t>
            </a:r>
            <a:r>
              <a:rPr lang="en-US" sz="2600" i="1" dirty="0" err="1">
                <a:solidFill>
                  <a:srgbClr val="3F7F7F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endParaRPr sz="27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9975" marR="1212522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cd</a:t>
            </a:r>
            <a:r>
              <a:rPr lang="en-US" sz="2600" dirty="0">
                <a:solidFill>
                  <a:srgbClr val="007F00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-US" sz="2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tmp</a:t>
            </a: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2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9975" marR="1212522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ls </a:t>
            </a:r>
            <a:endParaRPr dirty="0"/>
          </a:p>
          <a:p>
            <a:pPr marL="29975" marR="1212522" lvl="0" indent="0" algn="l" rtl="0">
              <a:lnSpc>
                <a:spcPct val="1026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32"/>
          <p:cNvSpPr txBox="1"/>
          <p:nvPr/>
        </p:nvSpPr>
        <p:spPr>
          <a:xfrm>
            <a:off x="6996234" y="3454776"/>
            <a:ext cx="3228731" cy="2799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450" rIns="0" bIns="0" anchor="t" anchorCtr="0">
            <a:spAutoFit/>
          </a:bodyPr>
          <a:lstStyle/>
          <a:p>
            <a:pPr marL="2997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Shell to run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Comment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Change directories</a:t>
            </a:r>
            <a:endParaRPr sz="25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List everything in /</a:t>
            </a:r>
            <a:r>
              <a:rPr lang="en-US" sz="2500" dirty="0" err="1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tmp</a:t>
            </a:r>
            <a:r>
              <a:rPr lang="en-US" sz="2500" dirty="0">
                <a:solidFill>
                  <a:srgbClr val="FF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endParaRPr sz="1300" dirty="0">
              <a:solidFill>
                <a:srgbClr val="FF0000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marL="29975" marR="11990" lvl="0" indent="0" algn="l" rtl="0">
              <a:lnSpc>
                <a:spcPct val="106900"/>
              </a:lnSpc>
              <a:spcBef>
                <a:spcPts val="319"/>
              </a:spcBef>
              <a:spcAft>
                <a:spcPts val="0"/>
              </a:spcAft>
              <a:buNone/>
            </a:pPr>
            <a:endParaRPr sz="2500" dirty="0">
              <a:solidFill>
                <a:schemeClr val="dk2"/>
              </a:solidFill>
            </a:endParaRP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B732C146-9EAD-2FB1-DBB8-E744A2E51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BAF56-F053-8140-3372-ECB312439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0BB9CD20-92CD-3ECF-7E94-052979523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4711" y="1899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sym typeface="Helvetica Neue Light"/>
              </a:rPr>
              <a:t>Selecting Resources</a:t>
            </a:r>
            <a:endParaRPr dirty="0"/>
          </a:p>
        </p:txBody>
      </p:sp>
      <p:grpSp>
        <p:nvGrpSpPr>
          <p:cNvPr id="57" name="Group 56" descr="Image depecting that the first step in our general overview is login nodes">
            <a:extLst>
              <a:ext uri="{FF2B5EF4-FFF2-40B4-BE49-F238E27FC236}">
                <a16:creationId xmlns:a16="http://schemas.microsoft.com/office/drawing/2014/main" id="{318BC9D0-9AEE-2BD3-2067-5909395E711A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58" name="Google Shape;210;p30">
              <a:extLst>
                <a:ext uri="{FF2B5EF4-FFF2-40B4-BE49-F238E27FC236}">
                  <a16:creationId xmlns:a16="http://schemas.microsoft.com/office/drawing/2014/main" id="{A7E19512-D49A-3F30-279D-531DCD327F21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9" name="Right Arrow Callout 58">
              <a:extLst>
                <a:ext uri="{FF2B5EF4-FFF2-40B4-BE49-F238E27FC236}">
                  <a16:creationId xmlns:a16="http://schemas.microsoft.com/office/drawing/2014/main" id="{A903AF9E-DCC1-AF97-850E-A83D0E4B1ECB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DD7A0C5-2BC9-8EBE-9E38-32B5E26E11FB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2542317-C2E0-9A4D-88A6-F47D7FD5CC60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FB202E-00CB-53E8-D8B7-467297897695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7244EE7-AE46-4346-59DD-E6E357094C08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64" name="Group 63" descr="Image depecting that the second step in our general overview is requesting resources">
            <a:extLst>
              <a:ext uri="{FF2B5EF4-FFF2-40B4-BE49-F238E27FC236}">
                <a16:creationId xmlns:a16="http://schemas.microsoft.com/office/drawing/2014/main" id="{E802AA27-686C-B0F6-ED5C-BF90CCFBB730}"/>
              </a:ext>
            </a:extLst>
          </p:cNvPr>
          <p:cNvGrpSpPr/>
          <p:nvPr/>
        </p:nvGrpSpPr>
        <p:grpSpPr>
          <a:xfrm>
            <a:off x="4913198" y="1759077"/>
            <a:ext cx="3631266" cy="3339847"/>
            <a:chOff x="4913198" y="1759077"/>
            <a:chExt cx="3631266" cy="3339847"/>
          </a:xfrm>
        </p:grpSpPr>
        <p:sp>
          <p:nvSpPr>
            <p:cNvPr id="65" name="Right Arrow Callout 64">
              <a:extLst>
                <a:ext uri="{FF2B5EF4-FFF2-40B4-BE49-F238E27FC236}">
                  <a16:creationId xmlns:a16="http://schemas.microsoft.com/office/drawing/2014/main" id="{FD00F694-839F-6EFB-C047-7A5F5BDDBB28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0705F41A-7057-CF2D-F340-FC5680094766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561A62A-220D-4D6C-5934-065522D9EF72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EB94649F-F154-719F-96DB-252CB09A58D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45D0496-A800-819D-5E2C-735802709119}"/>
                </a:ext>
              </a:extLst>
            </p:cNvPr>
            <p:cNvSpPr txBox="1"/>
            <p:nvPr/>
          </p:nvSpPr>
          <p:spPr>
            <a:xfrm>
              <a:off x="4913198" y="443619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Resources</a:t>
              </a:r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754619-51B2-8224-315C-3D35FD43A57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3040" y="2755023"/>
              <a:ext cx="1645920" cy="1546836"/>
              <a:chOff x="8412658" y="2617108"/>
              <a:chExt cx="1929294" cy="1813150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BBA21703-B39B-7A44-A4EC-39AD3D88DB5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73" name="Rounded Rectangle 72" descr="An icon representing a computer chip">
                  <a:extLst>
                    <a:ext uri="{FF2B5EF4-FFF2-40B4-BE49-F238E27FC236}">
                      <a16:creationId xmlns:a16="http://schemas.microsoft.com/office/drawing/2014/main" id="{55A5DEB2-1DCF-943D-74DB-6D746DFF869B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74" name="Graphic 73">
                  <a:extLst>
                    <a:ext uri="{FF2B5EF4-FFF2-40B4-BE49-F238E27FC236}">
                      <a16:creationId xmlns:a16="http://schemas.microsoft.com/office/drawing/2014/main" id="{03870AB6-CA32-B059-407B-BD602F6EAF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7D2980F-C84D-AF3D-6ADF-C3F0A08F0CC4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71" name="Rounded Rectangle 70" descr="An icon of a stopwatch">
                  <a:extLst>
                    <a:ext uri="{FF2B5EF4-FFF2-40B4-BE49-F238E27FC236}">
                      <a16:creationId xmlns:a16="http://schemas.microsoft.com/office/drawing/2014/main" id="{A798E7C2-8A92-2DB7-AE52-AE76CF44E701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72" name="Graphic 71" descr="Stopwatch with solid fill">
                  <a:extLst>
                    <a:ext uri="{FF2B5EF4-FFF2-40B4-BE49-F238E27FC236}">
                      <a16:creationId xmlns:a16="http://schemas.microsoft.com/office/drawing/2014/main" id="{93F459F7-B56D-22F7-A1FD-84205026F4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77" name="Group 76" descr="Image depecting that the last step in our general overview is requesting a job">
            <a:extLst>
              <a:ext uri="{FF2B5EF4-FFF2-40B4-BE49-F238E27FC236}">
                <a16:creationId xmlns:a16="http://schemas.microsoft.com/office/drawing/2014/main" id="{D97BD453-9DA4-AA8A-7447-27BFF0E61756}"/>
              </a:ext>
            </a:extLst>
          </p:cNvPr>
          <p:cNvGrpSpPr/>
          <p:nvPr/>
        </p:nvGrpSpPr>
        <p:grpSpPr>
          <a:xfrm>
            <a:off x="8747203" y="1764792"/>
            <a:ext cx="2358559" cy="3334132"/>
            <a:chOff x="8747203" y="1764792"/>
            <a:chExt cx="2358559" cy="3334132"/>
          </a:xfrm>
        </p:grpSpPr>
        <p:pic>
          <p:nvPicPr>
            <p:cNvPr id="78" name="Picture 2" descr="The logo of the Slurm workload manager">
              <a:extLst>
                <a:ext uri="{FF2B5EF4-FFF2-40B4-BE49-F238E27FC236}">
                  <a16:creationId xmlns:a16="http://schemas.microsoft.com/office/drawing/2014/main" id="{1AFA54A4-1BB1-CD47-53CF-92663F9A68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9087422" y="2803512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627E9CC-A114-83B1-8F08-102FD0D064C5}"/>
                </a:ext>
              </a:extLst>
            </p:cNvPr>
            <p:cNvSpPr txBox="1"/>
            <p:nvPr/>
          </p:nvSpPr>
          <p:spPr>
            <a:xfrm>
              <a:off x="8758419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FED6B569-9DED-B3C5-0202-50EE8DE297DF}"/>
                </a:ext>
              </a:extLst>
            </p:cNvPr>
            <p:cNvSpPr/>
            <p:nvPr/>
          </p:nvSpPr>
          <p:spPr>
            <a:xfrm>
              <a:off x="8767136" y="1764792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53857755-72D3-5380-2768-9B81F38B1C76}"/>
                </a:ext>
              </a:extLst>
            </p:cNvPr>
            <p:cNvGrpSpPr/>
            <p:nvPr/>
          </p:nvGrpSpPr>
          <p:grpSpPr>
            <a:xfrm>
              <a:off x="8747203" y="1891582"/>
              <a:ext cx="2351516" cy="707886"/>
              <a:chOff x="540307" y="1873650"/>
              <a:chExt cx="2351516" cy="707886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0C0BECDE-40B2-2A1C-8393-D4F86F5F6B19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0B87EEED-EB23-6061-9944-97C9BDB1BDB9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Down Arrow 6" descr="Arrow indicating that we are switching to the resources section now">
            <a:extLst>
              <a:ext uri="{FF2B5EF4-FFF2-40B4-BE49-F238E27FC236}">
                <a16:creationId xmlns:a16="http://schemas.microsoft.com/office/drawing/2014/main" id="{8608F1A0-B9A3-6A6F-DC5C-ED59C872F653}"/>
              </a:ext>
            </a:extLst>
          </p:cNvPr>
          <p:cNvSpPr/>
          <p:nvPr/>
        </p:nvSpPr>
        <p:spPr>
          <a:xfrm rot="10800000">
            <a:off x="5536006" y="5245515"/>
            <a:ext cx="1133856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BF2681-0074-923B-B3BD-4A160FBAF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035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56D56-E9CD-895A-05DC-627099CBB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924CA-76FB-0A00-2616-338923B92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Resource Requests</a:t>
            </a:r>
          </a:p>
        </p:txBody>
      </p:sp>
      <p:grpSp>
        <p:nvGrpSpPr>
          <p:cNvPr id="3" name="Group 2" descr="Picture showing that one common resource request is a partition &#10;">
            <a:extLst>
              <a:ext uri="{FF2B5EF4-FFF2-40B4-BE49-F238E27FC236}">
                <a16:creationId xmlns:a16="http://schemas.microsoft.com/office/drawing/2014/main" id="{C6F05D52-5A96-F0C5-887C-F75B7E612303}"/>
              </a:ext>
            </a:extLst>
          </p:cNvPr>
          <p:cNvGrpSpPr/>
          <p:nvPr/>
        </p:nvGrpSpPr>
        <p:grpSpPr>
          <a:xfrm>
            <a:off x="591024" y="1960061"/>
            <a:ext cx="2468880" cy="2949023"/>
            <a:chOff x="591024" y="1960061"/>
            <a:chExt cx="2468880" cy="2949023"/>
          </a:xfrm>
        </p:grpSpPr>
        <p:sp>
          <p:nvSpPr>
            <p:cNvPr id="6" name="Rounded Rectangle 5" descr="An icon representing computer servers">
              <a:extLst>
                <a:ext uri="{FF2B5EF4-FFF2-40B4-BE49-F238E27FC236}">
                  <a16:creationId xmlns:a16="http://schemas.microsoft.com/office/drawing/2014/main" id="{4502DE34-8143-2807-6667-9AEE077E56E8}"/>
                </a:ext>
              </a:extLst>
            </p:cNvPr>
            <p:cNvSpPr/>
            <p:nvPr/>
          </p:nvSpPr>
          <p:spPr>
            <a:xfrm>
              <a:off x="591024" y="1960061"/>
              <a:ext cx="2468880" cy="2949023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8C7A1AC-92E1-72AB-3B92-482B39BB1F8A}"/>
                </a:ext>
              </a:extLst>
            </p:cNvPr>
            <p:cNvSpPr txBox="1"/>
            <p:nvPr/>
          </p:nvSpPr>
          <p:spPr>
            <a:xfrm>
              <a:off x="868240" y="3598703"/>
              <a:ext cx="191444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Partition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A0A0A28-9E7B-3F5E-A656-79D568ECCC25}"/>
                </a:ext>
              </a:extLst>
            </p:cNvPr>
            <p:cNvGrpSpPr/>
            <p:nvPr/>
          </p:nvGrpSpPr>
          <p:grpSpPr>
            <a:xfrm>
              <a:off x="828128" y="2316334"/>
              <a:ext cx="1994672" cy="1046573"/>
              <a:chOff x="838200" y="2198126"/>
              <a:chExt cx="1994672" cy="1046573"/>
            </a:xfrm>
          </p:grpSpPr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F3D66CCE-E844-D09F-5D73-C3869EF02239}"/>
                  </a:ext>
                </a:extLst>
              </p:cNvPr>
              <p:cNvSpPr/>
              <p:nvPr/>
            </p:nvSpPr>
            <p:spPr>
              <a:xfrm>
                <a:off x="838200" y="2198128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C3363C6F-E5A9-8E18-E581-4FC10ACE4658}"/>
                  </a:ext>
                </a:extLst>
              </p:cNvPr>
              <p:cNvSpPr/>
              <p:nvPr/>
            </p:nvSpPr>
            <p:spPr>
              <a:xfrm>
                <a:off x="1575266" y="2198127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BA9F34C0-0568-CAA5-0575-85C93F66B669}"/>
                  </a:ext>
                </a:extLst>
              </p:cNvPr>
              <p:cNvSpPr/>
              <p:nvPr/>
            </p:nvSpPr>
            <p:spPr>
              <a:xfrm>
                <a:off x="2312332" y="2198126"/>
                <a:ext cx="520540" cy="1046571"/>
              </a:xfrm>
              <a:custGeom>
                <a:avLst/>
                <a:gdLst>
                  <a:gd name="connsiteX0" fmla="*/ 621413 w 724981"/>
                  <a:gd name="connsiteY0" fmla="*/ 258922 h 1449962"/>
                  <a:gd name="connsiteX1" fmla="*/ 103569 w 724981"/>
                  <a:gd name="connsiteY1" fmla="*/ 258922 h 1449962"/>
                  <a:gd name="connsiteX2" fmla="*/ 103569 w 724981"/>
                  <a:gd name="connsiteY2" fmla="*/ 103569 h 1449962"/>
                  <a:gd name="connsiteX3" fmla="*/ 621413 w 724981"/>
                  <a:gd name="connsiteY3" fmla="*/ 103569 h 1449962"/>
                  <a:gd name="connsiteX4" fmla="*/ 621413 w 724981"/>
                  <a:gd name="connsiteY4" fmla="*/ 258922 h 1449962"/>
                  <a:gd name="connsiteX5" fmla="*/ 621413 w 724981"/>
                  <a:gd name="connsiteY5" fmla="*/ 517844 h 1449962"/>
                  <a:gd name="connsiteX6" fmla="*/ 103569 w 724981"/>
                  <a:gd name="connsiteY6" fmla="*/ 517844 h 1449962"/>
                  <a:gd name="connsiteX7" fmla="*/ 103569 w 724981"/>
                  <a:gd name="connsiteY7" fmla="*/ 362491 h 1449962"/>
                  <a:gd name="connsiteX8" fmla="*/ 621413 w 724981"/>
                  <a:gd name="connsiteY8" fmla="*/ 362491 h 1449962"/>
                  <a:gd name="connsiteX9" fmla="*/ 621413 w 724981"/>
                  <a:gd name="connsiteY9" fmla="*/ 517844 h 1449962"/>
                  <a:gd name="connsiteX10" fmla="*/ 362491 w 724981"/>
                  <a:gd name="connsiteY10" fmla="*/ 1294609 h 1449962"/>
                  <a:gd name="connsiteX11" fmla="*/ 284814 w 724981"/>
                  <a:gd name="connsiteY11" fmla="*/ 1216933 h 1449962"/>
                  <a:gd name="connsiteX12" fmla="*/ 362491 w 724981"/>
                  <a:gd name="connsiteY12" fmla="*/ 1139256 h 1449962"/>
                  <a:gd name="connsiteX13" fmla="*/ 440167 w 724981"/>
                  <a:gd name="connsiteY13" fmla="*/ 1216933 h 1449962"/>
                  <a:gd name="connsiteX14" fmla="*/ 362491 w 724981"/>
                  <a:gd name="connsiteY14" fmla="*/ 1294609 h 1449962"/>
                  <a:gd name="connsiteX15" fmla="*/ 621413 w 724981"/>
                  <a:gd name="connsiteY15" fmla="*/ 0 h 1449962"/>
                  <a:gd name="connsiteX16" fmla="*/ 103569 w 724981"/>
                  <a:gd name="connsiteY16" fmla="*/ 0 h 1449962"/>
                  <a:gd name="connsiteX17" fmla="*/ 0 w 724981"/>
                  <a:gd name="connsiteY17" fmla="*/ 103569 h 1449962"/>
                  <a:gd name="connsiteX18" fmla="*/ 0 w 724981"/>
                  <a:gd name="connsiteY18" fmla="*/ 1346394 h 1449962"/>
                  <a:gd name="connsiteX19" fmla="*/ 103569 w 724981"/>
                  <a:gd name="connsiteY19" fmla="*/ 1449963 h 1449962"/>
                  <a:gd name="connsiteX20" fmla="*/ 621413 w 724981"/>
                  <a:gd name="connsiteY20" fmla="*/ 1449963 h 1449962"/>
                  <a:gd name="connsiteX21" fmla="*/ 724981 w 724981"/>
                  <a:gd name="connsiteY21" fmla="*/ 1346394 h 1449962"/>
                  <a:gd name="connsiteX22" fmla="*/ 724981 w 724981"/>
                  <a:gd name="connsiteY22" fmla="*/ 103569 h 1449962"/>
                  <a:gd name="connsiteX23" fmla="*/ 621413 w 724981"/>
                  <a:gd name="connsiteY23" fmla="*/ 0 h 144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724981" h="1449962">
                    <a:moveTo>
                      <a:pt x="621413" y="258922"/>
                    </a:moveTo>
                    <a:lnTo>
                      <a:pt x="103569" y="258922"/>
                    </a:lnTo>
                    <a:lnTo>
                      <a:pt x="103569" y="103569"/>
                    </a:lnTo>
                    <a:lnTo>
                      <a:pt x="621413" y="103569"/>
                    </a:lnTo>
                    <a:lnTo>
                      <a:pt x="621413" y="258922"/>
                    </a:lnTo>
                    <a:close/>
                    <a:moveTo>
                      <a:pt x="621413" y="517844"/>
                    </a:moveTo>
                    <a:lnTo>
                      <a:pt x="103569" y="517844"/>
                    </a:lnTo>
                    <a:lnTo>
                      <a:pt x="103569" y="362491"/>
                    </a:lnTo>
                    <a:lnTo>
                      <a:pt x="621413" y="362491"/>
                    </a:lnTo>
                    <a:lnTo>
                      <a:pt x="621413" y="517844"/>
                    </a:lnTo>
                    <a:close/>
                    <a:moveTo>
                      <a:pt x="362491" y="1294609"/>
                    </a:moveTo>
                    <a:cubicBezTo>
                      <a:pt x="318474" y="1294609"/>
                      <a:pt x="284814" y="1260950"/>
                      <a:pt x="284814" y="1216933"/>
                    </a:cubicBezTo>
                    <a:cubicBezTo>
                      <a:pt x="284814" y="1172916"/>
                      <a:pt x="318474" y="1139256"/>
                      <a:pt x="362491" y="1139256"/>
                    </a:cubicBezTo>
                    <a:cubicBezTo>
                      <a:pt x="406507" y="1139256"/>
                      <a:pt x="440167" y="1172916"/>
                      <a:pt x="440167" y="1216933"/>
                    </a:cubicBezTo>
                    <a:cubicBezTo>
                      <a:pt x="440167" y="1260950"/>
                      <a:pt x="406507" y="1294609"/>
                      <a:pt x="362491" y="1294609"/>
                    </a:cubicBezTo>
                    <a:close/>
                    <a:moveTo>
                      <a:pt x="621413" y="0"/>
                    </a:moveTo>
                    <a:lnTo>
                      <a:pt x="103569" y="0"/>
                    </a:lnTo>
                    <a:cubicBezTo>
                      <a:pt x="46606" y="0"/>
                      <a:pt x="0" y="46606"/>
                      <a:pt x="0" y="103569"/>
                    </a:cubicBezTo>
                    <a:lnTo>
                      <a:pt x="0" y="1346394"/>
                    </a:lnTo>
                    <a:cubicBezTo>
                      <a:pt x="0" y="1403357"/>
                      <a:pt x="46606" y="1449963"/>
                      <a:pt x="103569" y="1449963"/>
                    </a:cubicBezTo>
                    <a:lnTo>
                      <a:pt x="621413" y="1449963"/>
                    </a:lnTo>
                    <a:cubicBezTo>
                      <a:pt x="678375" y="1449963"/>
                      <a:pt x="724981" y="1403357"/>
                      <a:pt x="724981" y="1346394"/>
                    </a:cubicBezTo>
                    <a:lnTo>
                      <a:pt x="724981" y="103569"/>
                    </a:lnTo>
                    <a:cubicBezTo>
                      <a:pt x="724981" y="46606"/>
                      <a:pt x="678375" y="0"/>
                      <a:pt x="62141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25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0539A2C-B86F-C62E-D368-EBCB0B9A5962}"/>
                  </a:ext>
                </a:extLst>
              </p:cNvPr>
              <p:cNvSpPr/>
              <p:nvPr/>
            </p:nvSpPr>
            <p:spPr>
              <a:xfrm>
                <a:off x="1121609" y="2746249"/>
                <a:ext cx="1463888" cy="15420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1" name="Group 20" descr="Picture showing that one common resource request is a Quality of Service">
            <a:extLst>
              <a:ext uri="{FF2B5EF4-FFF2-40B4-BE49-F238E27FC236}">
                <a16:creationId xmlns:a16="http://schemas.microsoft.com/office/drawing/2014/main" id="{DDBBB75D-DA3B-0F46-D0DE-5C1AA47F8E05}"/>
              </a:ext>
            </a:extLst>
          </p:cNvPr>
          <p:cNvGrpSpPr/>
          <p:nvPr/>
        </p:nvGrpSpPr>
        <p:grpSpPr>
          <a:xfrm>
            <a:off x="3471280" y="1974661"/>
            <a:ext cx="2468880" cy="2960167"/>
            <a:chOff x="9231793" y="1948917"/>
            <a:chExt cx="2468880" cy="2960167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0ADCCDA8-0A94-F8F6-F3FC-A631B161CA2C}"/>
                </a:ext>
              </a:extLst>
            </p:cNvPr>
            <p:cNvSpPr/>
            <p:nvPr/>
          </p:nvSpPr>
          <p:spPr>
            <a:xfrm>
              <a:off x="9231793" y="1948917"/>
              <a:ext cx="2468880" cy="2960167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B77B193-DF7D-30A3-4D34-7863BCD83F48}"/>
                </a:ext>
              </a:extLst>
            </p:cNvPr>
            <p:cNvSpPr txBox="1"/>
            <p:nvPr/>
          </p:nvSpPr>
          <p:spPr>
            <a:xfrm>
              <a:off x="9509009" y="3606035"/>
              <a:ext cx="191444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Quality of Service</a:t>
              </a:r>
            </a:p>
          </p:txBody>
        </p:sp>
        <p:grpSp>
          <p:nvGrpSpPr>
            <p:cNvPr id="27" name="Group 26" descr="An icon of two horizontal arrows pointing inward towards the same vertical line">
              <a:extLst>
                <a:ext uri="{FF2B5EF4-FFF2-40B4-BE49-F238E27FC236}">
                  <a16:creationId xmlns:a16="http://schemas.microsoft.com/office/drawing/2014/main" id="{52A1F7A9-D0C2-258F-4B03-C59FDC23181D}"/>
                </a:ext>
              </a:extLst>
            </p:cNvPr>
            <p:cNvGrpSpPr/>
            <p:nvPr/>
          </p:nvGrpSpPr>
          <p:grpSpPr>
            <a:xfrm>
              <a:off x="9631316" y="2329377"/>
              <a:ext cx="1669833" cy="1188720"/>
              <a:chOff x="9673851" y="2181479"/>
              <a:chExt cx="1669833" cy="1188720"/>
            </a:xfrm>
          </p:grpSpPr>
          <p:sp>
            <p:nvSpPr>
              <p:cNvPr id="24" name="Left Arrow 23">
                <a:extLst>
                  <a:ext uri="{FF2B5EF4-FFF2-40B4-BE49-F238E27FC236}">
                    <a16:creationId xmlns:a16="http://schemas.microsoft.com/office/drawing/2014/main" id="{FBC70599-7D57-88E4-CB56-C07C15716015}"/>
                  </a:ext>
                </a:extLst>
              </p:cNvPr>
              <p:cNvSpPr/>
              <p:nvPr/>
            </p:nvSpPr>
            <p:spPr>
              <a:xfrm>
                <a:off x="10687262" y="2272919"/>
                <a:ext cx="656422" cy="1005840"/>
              </a:xfrm>
              <a:prstGeom prst="leftArrow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Left Arrow 24">
                <a:extLst>
                  <a:ext uri="{FF2B5EF4-FFF2-40B4-BE49-F238E27FC236}">
                    <a16:creationId xmlns:a16="http://schemas.microsoft.com/office/drawing/2014/main" id="{66EF8CCF-69AF-BE63-A2E6-3D2F62B1461E}"/>
                  </a:ext>
                </a:extLst>
              </p:cNvPr>
              <p:cNvSpPr/>
              <p:nvPr/>
            </p:nvSpPr>
            <p:spPr>
              <a:xfrm flipH="1">
                <a:off x="9673851" y="2272919"/>
                <a:ext cx="656422" cy="1005840"/>
              </a:xfrm>
              <a:prstGeom prst="leftArrow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DB789D6E-E1AB-4E95-2605-B345A32A13C1}"/>
                  </a:ext>
                </a:extLst>
              </p:cNvPr>
              <p:cNvSpPr/>
              <p:nvPr/>
            </p:nvSpPr>
            <p:spPr>
              <a:xfrm>
                <a:off x="10424366" y="2181479"/>
                <a:ext cx="168802" cy="1188720"/>
              </a:xfrm>
              <a:prstGeom prst="round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" name="Group 3" descr="Picture showing that one common resources request are cores, GPUs, and nodes">
            <a:extLst>
              <a:ext uri="{FF2B5EF4-FFF2-40B4-BE49-F238E27FC236}">
                <a16:creationId xmlns:a16="http://schemas.microsoft.com/office/drawing/2014/main" id="{8489ABE8-DED3-5EDA-A99D-D33F7839AA09}"/>
              </a:ext>
            </a:extLst>
          </p:cNvPr>
          <p:cNvGrpSpPr/>
          <p:nvPr/>
        </p:nvGrpSpPr>
        <p:grpSpPr>
          <a:xfrm>
            <a:off x="6339683" y="1985805"/>
            <a:ext cx="2468880" cy="2949023"/>
            <a:chOff x="3471280" y="1960061"/>
            <a:chExt cx="2468880" cy="2949023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19298AC-3C10-E8D7-5FCC-82E88F54205D}"/>
                </a:ext>
              </a:extLst>
            </p:cNvPr>
            <p:cNvSpPr/>
            <p:nvPr/>
          </p:nvSpPr>
          <p:spPr>
            <a:xfrm>
              <a:off x="3471280" y="1960061"/>
              <a:ext cx="2468880" cy="2949023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phic 9" descr="An icon representing a computer chip">
              <a:extLst>
                <a:ext uri="{FF2B5EF4-FFF2-40B4-BE49-F238E27FC236}">
                  <a16:creationId xmlns:a16="http://schemas.microsoft.com/office/drawing/2014/main" id="{2C96318A-1E33-64EC-EF5D-42AD665022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74200" y="2110541"/>
              <a:ext cx="1463040" cy="146304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85307A-16A3-FDDA-CCD5-CC778A6F25FC}"/>
                </a:ext>
              </a:extLst>
            </p:cNvPr>
            <p:cNvSpPr txBox="1"/>
            <p:nvPr/>
          </p:nvSpPr>
          <p:spPr>
            <a:xfrm>
              <a:off x="3471280" y="3642524"/>
              <a:ext cx="246887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Cores, GPUs,</a:t>
              </a:r>
            </a:p>
            <a:p>
              <a:pPr algn="ctr"/>
              <a:r>
                <a:rPr lang="en-US" sz="2800" b="1" dirty="0"/>
                <a:t>and Nodes</a:t>
              </a:r>
            </a:p>
          </p:txBody>
        </p:sp>
      </p:grpSp>
      <p:grpSp>
        <p:nvGrpSpPr>
          <p:cNvPr id="20" name="Group 19" descr="Picture showing that one common resource request is wall time">
            <a:extLst>
              <a:ext uri="{FF2B5EF4-FFF2-40B4-BE49-F238E27FC236}">
                <a16:creationId xmlns:a16="http://schemas.microsoft.com/office/drawing/2014/main" id="{CBD37F0E-BA1F-18A7-CFC5-F988BBBA9FFC}"/>
              </a:ext>
            </a:extLst>
          </p:cNvPr>
          <p:cNvGrpSpPr/>
          <p:nvPr/>
        </p:nvGrpSpPr>
        <p:grpSpPr>
          <a:xfrm>
            <a:off x="9311483" y="1972317"/>
            <a:ext cx="2468880" cy="2960167"/>
            <a:chOff x="6351536" y="1948917"/>
            <a:chExt cx="2468880" cy="2960167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84EA2F3-8F34-6D92-21AB-E3F22027A1EB}"/>
                </a:ext>
              </a:extLst>
            </p:cNvPr>
            <p:cNvSpPr/>
            <p:nvPr/>
          </p:nvSpPr>
          <p:spPr>
            <a:xfrm>
              <a:off x="6351536" y="1948917"/>
              <a:ext cx="2468880" cy="2960167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3B31BE7-3F1F-2CC6-AEF0-B6C250D5F50A}"/>
                </a:ext>
              </a:extLst>
            </p:cNvPr>
            <p:cNvSpPr txBox="1"/>
            <p:nvPr/>
          </p:nvSpPr>
          <p:spPr>
            <a:xfrm>
              <a:off x="6628752" y="3598702"/>
              <a:ext cx="191444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/>
                <a:t>Wall Time</a:t>
              </a:r>
            </a:p>
          </p:txBody>
        </p:sp>
        <p:pic>
          <p:nvPicPr>
            <p:cNvPr id="23" name="Graphic 22" descr="An icon representing a stopwatch">
              <a:extLst>
                <a:ext uri="{FF2B5EF4-FFF2-40B4-BE49-F238E27FC236}">
                  <a16:creationId xmlns:a16="http://schemas.microsoft.com/office/drawing/2014/main" id="{F63B2A87-3EC2-C978-9BEE-84289FA4EF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54456" y="2108099"/>
              <a:ext cx="1463040" cy="1463040"/>
            </a:xfrm>
            <a:prstGeom prst="rect">
              <a:avLst/>
            </a:prstGeom>
          </p:spPr>
        </p:pic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37CEDD-410C-FE3C-8DFF-847969FEF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43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5B02276A-EFC9-E7C2-56F0-15CCD49C1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D534403-D252-E56D-64B7-44E21E45E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0960BD-3184-C968-F3A0-05BF3BE46FC3}"/>
              </a:ext>
            </a:extLst>
          </p:cNvPr>
          <p:cNvSpPr txBox="1"/>
          <p:nvPr/>
        </p:nvSpPr>
        <p:spPr>
          <a:xfrm>
            <a:off x="418170" y="2113086"/>
            <a:ext cx="576775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Partitions are a collection of compute nodes with common characteristics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Compute nodes can be thought of as a desktop without a monitor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 in-depth information on partitions see: 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curc.readthedocs.io</a:t>
            </a:r>
            <a:r>
              <a:rPr lang="en-US" sz="2400" dirty="0">
                <a:solidFill>
                  <a:srgbClr val="0563C1"/>
                </a:solidFill>
                <a:cs typeface="Arial"/>
              </a:rPr>
              <a:t>/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en</a:t>
            </a:r>
            <a:r>
              <a:rPr lang="en-US" sz="2400" dirty="0">
                <a:solidFill>
                  <a:srgbClr val="0563C1"/>
                </a:solidFill>
                <a:cs typeface="Arial"/>
              </a:rPr>
              <a:t>/latest/clusters/alpine/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alpine-hardware.html#partitions</a:t>
            </a:r>
            <a:endParaRPr lang="en-US" sz="2400" dirty="0">
              <a:solidFill>
                <a:srgbClr val="0563C1"/>
              </a:solidFill>
              <a:cs typeface="Arial"/>
            </a:endParaRPr>
          </a:p>
          <a:p>
            <a:endParaRPr lang="en-US" dirty="0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AE45C49E-CFDF-4306-581F-E7ACE68299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6870102" y="1658302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 descr="Image representing the idea that Alpine partitions are largely composed of compute nodes">
            <a:extLst>
              <a:ext uri="{FF2B5EF4-FFF2-40B4-BE49-F238E27FC236}">
                <a16:creationId xmlns:a16="http://schemas.microsoft.com/office/drawing/2014/main" id="{DD647B26-5158-ED42-CDA4-27A3D335058F}"/>
              </a:ext>
            </a:extLst>
          </p:cNvPr>
          <p:cNvGrpSpPr/>
          <p:nvPr/>
        </p:nvGrpSpPr>
        <p:grpSpPr>
          <a:xfrm>
            <a:off x="7889814" y="2417736"/>
            <a:ext cx="2124371" cy="2346859"/>
            <a:chOff x="4726983" y="2457616"/>
            <a:chExt cx="2124371" cy="234685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A1E32A-FBBF-CBF4-94B4-DF3636D17AFA}"/>
                </a:ext>
              </a:extLst>
            </p:cNvPr>
            <p:cNvSpPr/>
            <p:nvPr/>
          </p:nvSpPr>
          <p:spPr>
            <a:xfrm>
              <a:off x="4726983" y="2457616"/>
              <a:ext cx="2124371" cy="2346859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8972347B-25BA-10DB-0E6E-398291FF4D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06742" y="2646573"/>
              <a:ext cx="1564852" cy="1564852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A3E7AB5-FB90-9A16-0C8D-3BCFE2EBFFA7}"/>
                </a:ext>
              </a:extLst>
            </p:cNvPr>
            <p:cNvSpPr txBox="1"/>
            <p:nvPr/>
          </p:nvSpPr>
          <p:spPr>
            <a:xfrm>
              <a:off x="5006742" y="4211425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Consolas" panose="020B0609020204030204" pitchFamily="49" charset="0"/>
                  <a:cs typeface="Consolas" panose="020B0609020204030204" pitchFamily="49" charset="0"/>
                </a:rPr>
                <a:t>COMPUTE</a:t>
              </a:r>
            </a:p>
          </p:txBody>
        </p:sp>
      </p:grp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9C3F2E95-0E07-2372-59C3-B43352347A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14581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81F2AE31-C903-A075-45AE-C9FAEB5B7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4B98FC8C-FF06-0B8F-D96A-382401CBC8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- </a:t>
            </a:r>
            <a:r>
              <a:rPr lang="en-US" dirty="0" err="1"/>
              <a:t>acpu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754FF-9970-1B20-3829-DC5CA731B804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CPU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8588F9C-8692-06CC-DB20-8C9295541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D76C4C27-CF16-32EF-2B02-DC875A46C7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534216B3-960E-27F8-DB59-CBB6C56DE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55669"/>
          <a:stretch/>
        </p:blipFill>
        <p:spPr bwMode="auto">
          <a:xfrm>
            <a:off x="3750073" y="1405542"/>
            <a:ext cx="612771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BC4644A-1F59-1D3E-58BF-5166C03C3F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072389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A50FCCDE-C33A-5A78-D620-566B793C4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6BC7BDC2-8F23-2E3F-A086-6D562460F2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- </a:t>
            </a:r>
            <a:r>
              <a:rPr lang="en-US" dirty="0" err="1"/>
              <a:t>amem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5B12A5-AE6B-359E-D1DB-AD85914D07AF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CPU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12EE2A-F148-A6F1-A41B-ED2B6A15E60D}"/>
              </a:ext>
            </a:extLst>
          </p:cNvPr>
          <p:cNvSpPr txBox="1"/>
          <p:nvPr/>
        </p:nvSpPr>
        <p:spPr>
          <a:xfrm>
            <a:off x="457200" y="3692138"/>
            <a:ext cx="2590800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 CPU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D11255-D11F-B19F-2577-DDA92EB5F4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183031EF-805D-5644-5589-4AC8E2F29D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upermicro Data Center Server, Blade, Data Storage, AI System">
            <a:extLst>
              <a:ext uri="{FF2B5EF4-FFF2-40B4-BE49-F238E27FC236}">
                <a16:creationId xmlns:a16="http://schemas.microsoft.com/office/drawing/2014/main" id="{2AC8105C-28B0-043F-7305-E318EA8501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20" r="46078"/>
          <a:stretch/>
        </p:blipFill>
        <p:spPr bwMode="auto">
          <a:xfrm>
            <a:off x="4362844" y="1405541"/>
            <a:ext cx="725556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2F3AB29-CED6-F8D1-8E74-4FF609409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2AA80F52-4811-9F38-571E-FB21B2CF1C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4087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DEDF127B-CF79-2CE4-041D-EB50B103D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A2C910E0-1C77-E540-47C6-C28109A768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5280" y="-722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– NVIDIA GPUs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F03BA3-F1DC-A196-7B02-13163CF5624E}"/>
              </a:ext>
            </a:extLst>
          </p:cNvPr>
          <p:cNvSpPr txBox="1"/>
          <p:nvPr/>
        </p:nvSpPr>
        <p:spPr>
          <a:xfrm>
            <a:off x="457200" y="2092446"/>
            <a:ext cx="2590800" cy="969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/>
            <a:r>
              <a:rPr lang="en-US" sz="2400" dirty="0"/>
              <a:t>General CPU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EFB6CF-8B26-3C6C-BF5E-2EAEDC815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2C29DF53-653E-1BAC-A40A-E5FB3DF10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50073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1FBE6356-92C3-F795-FEFA-FD85AA9BD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047" r="24103"/>
          <a:stretch/>
        </p:blipFill>
        <p:spPr bwMode="auto">
          <a:xfrm>
            <a:off x="5815179" y="1405542"/>
            <a:ext cx="868310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E85C647-92DD-4626-7035-1B19163D11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D2688E-8D37-CF30-0CEA-ABA4D5FE26BF}"/>
              </a:ext>
            </a:extLst>
          </p:cNvPr>
          <p:cNvSpPr txBox="1"/>
          <p:nvPr/>
        </p:nvSpPr>
        <p:spPr>
          <a:xfrm>
            <a:off x="457200" y="3692138"/>
            <a:ext cx="2590800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 CPU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AA7216-D6BA-9BD2-32C3-7B5DC8A50E05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1053FE-8757-D3C8-0C37-AC96CACD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3AB5A099-FD35-ECC0-75B4-0C79F54F9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88271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69A8D0B7-E62C-9A89-6ED2-CF369D8E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2">
            <a:extLst>
              <a:ext uri="{FF2B5EF4-FFF2-40B4-BE49-F238E27FC236}">
                <a16:creationId xmlns:a16="http://schemas.microsoft.com/office/drawing/2014/main" id="{781FE0DD-2F2F-B38E-5996-41801CDCD7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-121365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Alpine Partitions – AMD GPUs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159802-B800-F03E-CB1E-52C845AB7B46}"/>
              </a:ext>
            </a:extLst>
          </p:cNvPr>
          <p:cNvSpPr txBox="1"/>
          <p:nvPr/>
        </p:nvSpPr>
        <p:spPr>
          <a:xfrm>
            <a:off x="457200" y="2092446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acpu</a:t>
            </a:r>
            <a:endParaRPr lang="en-US" sz="2800" b="1" dirty="0"/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General CPU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4AF8A3E-2720-16D0-C499-2353D3163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845674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16FB7C0-0E1D-A232-FF0F-589BB28EC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8" r="1"/>
          <a:stretch/>
        </p:blipFill>
        <p:spPr bwMode="auto">
          <a:xfrm>
            <a:off x="3715215" y="1405543"/>
            <a:ext cx="469185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EB08938C-C5B3-8D2A-89C4-52115E7E99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62" r="2"/>
          <a:stretch/>
        </p:blipFill>
        <p:spPr bwMode="auto">
          <a:xfrm>
            <a:off x="6638445" y="1405543"/>
            <a:ext cx="1768624" cy="404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F99D89E-03FF-3F17-B5E0-EF5494B79C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1137958"/>
            <a:ext cx="2590800" cy="284963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2FC800-929A-9CC5-C62A-B71794F7B253}"/>
              </a:ext>
            </a:extLst>
          </p:cNvPr>
          <p:cNvSpPr txBox="1"/>
          <p:nvPr/>
        </p:nvSpPr>
        <p:spPr>
          <a:xfrm>
            <a:off x="457200" y="3692138"/>
            <a:ext cx="2590800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 err="1"/>
              <a:t>amem</a:t>
            </a:r>
            <a:endParaRPr lang="en-US" sz="2800" b="1" dirty="0"/>
          </a:p>
          <a:p>
            <a:pPr algn="ctr"/>
            <a:r>
              <a:rPr lang="en-US" sz="2400" dirty="0"/>
              <a:t>High Memory CPU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8C06C-F808-2A89-69FF-0B0CECD94420}"/>
              </a:ext>
            </a:extLst>
          </p:cNvPr>
          <p:cNvSpPr txBox="1"/>
          <p:nvPr/>
        </p:nvSpPr>
        <p:spPr>
          <a:xfrm>
            <a:off x="9036424" y="1137958"/>
            <a:ext cx="2590800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aa100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al40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ah200</a:t>
            </a:r>
          </a:p>
          <a:p>
            <a:pPr algn="ctr">
              <a:spcAft>
                <a:spcPts val="600"/>
              </a:spcAft>
            </a:pPr>
            <a:r>
              <a:rPr lang="en-US" sz="2800" b="1" dirty="0"/>
              <a:t>artxpro6000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Nvidia GPUs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FE4D590-5236-5369-0694-9D7225B561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605991"/>
            <a:ext cx="2590800" cy="1463040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A03D932-8DC9-50A2-F9AC-801EFA96C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36424" y="4257002"/>
            <a:ext cx="2590800" cy="1463040"/>
          </a:xfrm>
          <a:prstGeom prst="round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2E2EE0-5C2F-FCC9-6F4E-DEBD550F2BFF}"/>
              </a:ext>
            </a:extLst>
          </p:cNvPr>
          <p:cNvSpPr txBox="1"/>
          <p:nvPr/>
        </p:nvSpPr>
        <p:spPr>
          <a:xfrm>
            <a:off x="9036424" y="4503774"/>
            <a:ext cx="2590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ami100</a:t>
            </a:r>
          </a:p>
          <a:p>
            <a:pPr algn="ctr">
              <a:spcAft>
                <a:spcPts val="600"/>
              </a:spcAft>
            </a:pPr>
            <a:endParaRPr lang="en-US" sz="800" b="1" dirty="0"/>
          </a:p>
          <a:p>
            <a:pPr algn="ctr"/>
            <a:r>
              <a:rPr lang="en-US" sz="2400" dirty="0"/>
              <a:t>AMD GPUs</a:t>
            </a:r>
          </a:p>
        </p:txBody>
      </p:sp>
      <p:sp>
        <p:nvSpPr>
          <p:cNvPr id="337" name="Google Shape;337;p32">
            <a:extLst>
              <a:ext uri="{FF2B5EF4-FFF2-40B4-BE49-F238E27FC236}">
                <a16:creationId xmlns:a16="http://schemas.microsoft.com/office/drawing/2014/main" id="{B1E5D66B-D824-5714-CCCF-038F4345FA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77226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BBDCE-2DDB-FCB0-B97F-3E51A17E9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1BD7D-8C6B-C869-725A-56A552C7D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Alpine Testing Resources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4D015-7FE1-32C8-51E1-16EF98464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091" y="1475759"/>
            <a:ext cx="10709817" cy="435261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For several of the different types of hardware, we provide testing resources. These resources enable quicker access. </a:t>
            </a:r>
          </a:p>
          <a:p>
            <a:pPr lvl="1"/>
            <a:r>
              <a:rPr lang="en-US" sz="2200" dirty="0"/>
              <a:t>There are restrictions on the amount of resources you can request</a:t>
            </a:r>
          </a:p>
          <a:p>
            <a:r>
              <a:rPr lang="en-US" sz="2400" dirty="0"/>
              <a:t>Access to testing resources is enabled through a combination of partition and QoS selection</a:t>
            </a:r>
          </a:p>
          <a:p>
            <a:r>
              <a:rPr lang="en-US" sz="2400" dirty="0"/>
              <a:t>Available testing resources:</a:t>
            </a:r>
          </a:p>
          <a:p>
            <a:pPr lvl="1"/>
            <a:r>
              <a:rPr lang="en-US" sz="2200" dirty="0"/>
              <a:t>Standard CPUs</a:t>
            </a:r>
          </a:p>
          <a:p>
            <a:pPr lvl="1"/>
            <a:r>
              <a:rPr lang="en-US" sz="2200" dirty="0"/>
              <a:t>Compute nodes for verifying parallel applications</a:t>
            </a:r>
          </a:p>
          <a:p>
            <a:pPr lvl="1"/>
            <a:r>
              <a:rPr lang="en-US" sz="2200" dirty="0"/>
              <a:t>NVIDIA A100 and AMD MI100 GPUs</a:t>
            </a:r>
          </a:p>
          <a:p>
            <a:pPr lvl="1"/>
            <a:endParaRPr lang="en-US" sz="2200" dirty="0"/>
          </a:p>
          <a:p>
            <a:pPr marL="0" indent="0">
              <a:buNone/>
            </a:pPr>
            <a:r>
              <a:rPr lang="en-US" sz="2400" dirty="0"/>
              <a:t>For more information see: 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curc.readthedocs.io</a:t>
            </a:r>
            <a:r>
              <a:rPr lang="en-US" sz="2400" dirty="0">
                <a:solidFill>
                  <a:srgbClr val="0563C1"/>
                </a:solidFill>
                <a:cs typeface="Arial"/>
              </a:rPr>
              <a:t>/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en</a:t>
            </a:r>
            <a:r>
              <a:rPr lang="en-US" sz="2400" dirty="0">
                <a:solidFill>
                  <a:srgbClr val="0563C1"/>
                </a:solidFill>
                <a:cs typeface="Arial"/>
              </a:rPr>
              <a:t>/latest/clusters/alpine/</a:t>
            </a:r>
            <a:r>
              <a:rPr lang="en-US" sz="2400" dirty="0" err="1">
                <a:solidFill>
                  <a:srgbClr val="0563C1"/>
                </a:solidFill>
                <a:cs typeface="Arial"/>
              </a:rPr>
              <a:t>alpine-hardware.html#special-purpose-resources</a:t>
            </a:r>
            <a:endParaRPr lang="en-US" sz="2400" dirty="0">
              <a:solidFill>
                <a:srgbClr val="0563C1"/>
              </a:solidFill>
              <a:cs typeface="Arial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542292-AE93-4C7C-B4A7-CB94AB224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84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0595E-DAE0-1FDA-14E2-05C6077BF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812F8-AA17-772E-6677-CA2417C80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76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Quality of Service (QoS)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5FA2D-5A9C-64E5-1818-836200581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0"/>
            <a:ext cx="10515600" cy="2108200"/>
          </a:xfrm>
        </p:spPr>
        <p:txBody>
          <a:bodyPr/>
          <a:lstStyle/>
          <a:p>
            <a:r>
              <a: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Quality of Service specifies additional constraints for a given partition.</a:t>
            </a:r>
          </a:p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On Alpine, QoS can be used to run long jobs, specify testing partitions, and select high-memory nodes</a:t>
            </a:r>
          </a:p>
        </p:txBody>
      </p:sp>
      <p:graphicFrame>
        <p:nvGraphicFramePr>
          <p:cNvPr id="6" name="Google Shape;457;p47">
            <a:extLst>
              <a:ext uri="{FF2B5EF4-FFF2-40B4-BE49-F238E27FC236}">
                <a16:creationId xmlns:a16="http://schemas.microsoft.com/office/drawing/2014/main" id="{9D9176A1-4877-B532-5467-0A3B59E8D4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8367708"/>
              </p:ext>
            </p:extLst>
          </p:nvPr>
        </p:nvGraphicFramePr>
        <p:xfrm>
          <a:off x="838200" y="3137262"/>
          <a:ext cx="10204937" cy="298608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1323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90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38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QoS</a:t>
                      </a:r>
                      <a:endParaRPr sz="1800" b="1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wall time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jobs/user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nodes/user</a:t>
                      </a:r>
                      <a:endParaRPr sz="1800" b="1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normal</a:t>
                      </a:r>
                      <a:endParaRPr sz="1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 QoS</a:t>
                      </a:r>
                      <a:endParaRPr sz="18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1000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128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8839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needing longer wall times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 D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200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 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11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mem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High-memory jobs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7 D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279699"/>
                  </a:ext>
                </a:extLst>
              </a:tr>
              <a:tr h="56302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testing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submitted to testing partitions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480231"/>
                  </a:ext>
                </a:extLst>
              </a:tr>
              <a:tr h="56302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compile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For jobs submitted to compile partition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12 H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n/a</a:t>
                      </a:r>
                      <a:endParaRPr sz="18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43100" marR="43100" marT="43100" marB="4310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593831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C1E9F5-4FCC-4A61-BE94-0E8FBFCCF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3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F0E6-2B0E-23CB-E1AC-52D70C869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0E5D6-97FC-8E2F-6E6C-BCEB284F8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76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Selecting Hardware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C63A0-7AAD-CE14-BE42-A4A9FA0B6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8278" cy="322216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Once a partition and QoS are selected, we need to say how much of the hardware we would like to use</a:t>
            </a:r>
          </a:p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The most common selections are 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The number of cores (often called “</a:t>
            </a:r>
            <a:r>
              <a:rPr lang="en-US" dirty="0" err="1">
                <a:solidFill>
                  <a:srgbClr val="2F2B20"/>
                </a:solidFill>
                <a:latin typeface="Arial"/>
                <a:cs typeface="Arial"/>
                <a:sym typeface="Arial"/>
              </a:rPr>
              <a:t>ntasks</a:t>
            </a:r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” on our system)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The number computes nodes (often referred to as “nodes”)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The type of GPU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D81AB-A51F-7B41-E6AC-60B107901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334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1EABC-E222-1436-FA78-0243A9858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3C058-48E2-EF87-1665-7FC5E12F3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76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GRES Type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184BE-D895-9FD0-54E5-D060BBDFD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8278" cy="322216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Once</a:t>
            </a:r>
          </a:p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MIG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723D85-F8DA-F3C1-0456-B7943E3C4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3423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5C23-DD0E-8418-7104-BEBD21012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AB93-A076-6924-5EBE-142FDD8B1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76"/>
            <a:ext cx="10515600" cy="1325563"/>
          </a:xfrm>
        </p:spPr>
        <p:txBody>
          <a:bodyPr/>
          <a:lstStyle/>
          <a:p>
            <a:r>
              <a:rPr lang="en-US" dirty="0" err="1">
                <a:sym typeface="Helvetica Neue Light"/>
              </a:rPr>
              <a:t>Walltime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7B6D3-2A13-7853-77B6-7186F5718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8278" cy="3222160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2F2B20"/>
                </a:solidFill>
                <a:latin typeface="Arial"/>
                <a:cs typeface="Arial"/>
                <a:sym typeface="Arial"/>
              </a:rPr>
              <a:t>Walltime</a:t>
            </a:r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 or “run time” is how long you want to run on the selected resources </a:t>
            </a:r>
          </a:p>
          <a:p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How long do I specify? </a:t>
            </a:r>
          </a:p>
          <a:p>
            <a:pPr lvl="1"/>
            <a:r>
              <a:rPr lang="en-US" dirty="0">
                <a:solidFill>
                  <a:srgbClr val="2F2B20"/>
                </a:solidFill>
                <a:latin typeface="Arial"/>
                <a:cs typeface="Arial"/>
                <a:sym typeface="Arial"/>
              </a:rPr>
              <a:t>Downsides to requesting too much time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61AEA4-442A-4969-E885-6D61604CA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825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C0266-CD00-C38A-47A9-FF9BB2FC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25;p30">
            <a:extLst>
              <a:ext uri="{FF2B5EF4-FFF2-40B4-BE49-F238E27FC236}">
                <a16:creationId xmlns:a16="http://schemas.microsoft.com/office/drawing/2014/main" id="{A0605272-BE98-92AD-D034-42553F6B30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4711" y="18996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Helvetica Neue Light"/>
              <a:buNone/>
            </a:pPr>
            <a:r>
              <a:rPr lang="en-US" dirty="0">
                <a:sym typeface="Helvetica Neue Light"/>
              </a:rPr>
              <a:t>Requesting a Job</a:t>
            </a:r>
            <a:endParaRPr dirty="0"/>
          </a:p>
        </p:txBody>
      </p:sp>
      <p:grpSp>
        <p:nvGrpSpPr>
          <p:cNvPr id="2" name="Group 1" descr="Image depecting that the first step in our general overview is login nodes">
            <a:extLst>
              <a:ext uri="{FF2B5EF4-FFF2-40B4-BE49-F238E27FC236}">
                <a16:creationId xmlns:a16="http://schemas.microsoft.com/office/drawing/2014/main" id="{E31269F4-B174-20A1-7A41-C5677C8CCD91}"/>
              </a:ext>
            </a:extLst>
          </p:cNvPr>
          <p:cNvGrpSpPr/>
          <p:nvPr/>
        </p:nvGrpSpPr>
        <p:grpSpPr>
          <a:xfrm>
            <a:off x="1069178" y="1759077"/>
            <a:ext cx="3636619" cy="3339847"/>
            <a:chOff x="1069178" y="1759077"/>
            <a:chExt cx="3636619" cy="3339847"/>
          </a:xfrm>
        </p:grpSpPr>
        <p:pic>
          <p:nvPicPr>
            <p:cNvPr id="6" name="Google Shape;210;p30">
              <a:extLst>
                <a:ext uri="{FF2B5EF4-FFF2-40B4-BE49-F238E27FC236}">
                  <a16:creationId xmlns:a16="http://schemas.microsoft.com/office/drawing/2014/main" id="{373E3C83-26A9-3FBB-B8DD-6D2C20181DC7}"/>
                </a:ext>
              </a:extLst>
            </p:cNvPr>
            <p:cNvPicPr preferRelativeResize="0"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069178" y="2240351"/>
              <a:ext cx="2377292" cy="237729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" name="Right Arrow Callout 21">
              <a:extLst>
                <a:ext uri="{FF2B5EF4-FFF2-40B4-BE49-F238E27FC236}">
                  <a16:creationId xmlns:a16="http://schemas.microsoft.com/office/drawing/2014/main" id="{5D2D3EC1-DD41-4553-F79A-64FD0394784C}"/>
                </a:ext>
              </a:extLst>
            </p:cNvPr>
            <p:cNvSpPr/>
            <p:nvPr/>
          </p:nvSpPr>
          <p:spPr>
            <a:xfrm>
              <a:off x="1094954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4D8C8E6-8DC6-2CBB-DC0F-41B24154F8F8}"/>
                </a:ext>
              </a:extLst>
            </p:cNvPr>
            <p:cNvGrpSpPr/>
            <p:nvPr/>
          </p:nvGrpSpPr>
          <p:grpSpPr>
            <a:xfrm>
              <a:off x="1082066" y="1873651"/>
              <a:ext cx="2351516" cy="707886"/>
              <a:chOff x="540307" y="1873650"/>
              <a:chExt cx="2351516" cy="7078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207507-3388-FCA2-E225-B5E7E3AD8330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CFBEEDCF-C443-C59B-487C-44943C244A48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C44E4AC-7709-FCD6-326F-366C4A061098}"/>
                </a:ext>
              </a:extLst>
            </p:cNvPr>
            <p:cNvSpPr txBox="1"/>
            <p:nvPr/>
          </p:nvSpPr>
          <p:spPr>
            <a:xfrm>
              <a:off x="1094954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Login Node</a:t>
              </a:r>
            </a:p>
          </p:txBody>
        </p:sp>
      </p:grpSp>
      <p:grpSp>
        <p:nvGrpSpPr>
          <p:cNvPr id="30" name="Group 29" descr="Image depecting that the second step in our general overview is requesting resources">
            <a:extLst>
              <a:ext uri="{FF2B5EF4-FFF2-40B4-BE49-F238E27FC236}">
                <a16:creationId xmlns:a16="http://schemas.microsoft.com/office/drawing/2014/main" id="{1B2A90E9-CEC0-8715-834D-99D46FA0F75A}"/>
              </a:ext>
            </a:extLst>
          </p:cNvPr>
          <p:cNvGrpSpPr/>
          <p:nvPr/>
        </p:nvGrpSpPr>
        <p:grpSpPr>
          <a:xfrm>
            <a:off x="4913198" y="1759077"/>
            <a:ext cx="3631266" cy="3339847"/>
            <a:chOff x="4913198" y="1759077"/>
            <a:chExt cx="3631266" cy="3339847"/>
          </a:xfrm>
        </p:grpSpPr>
        <p:sp>
          <p:nvSpPr>
            <p:cNvPr id="31" name="Right Arrow Callout 30">
              <a:extLst>
                <a:ext uri="{FF2B5EF4-FFF2-40B4-BE49-F238E27FC236}">
                  <a16:creationId xmlns:a16="http://schemas.microsoft.com/office/drawing/2014/main" id="{5B80FFA6-D070-6584-1DEC-0A50F31BE156}"/>
                </a:ext>
              </a:extLst>
            </p:cNvPr>
            <p:cNvSpPr/>
            <p:nvPr/>
          </p:nvSpPr>
          <p:spPr>
            <a:xfrm>
              <a:off x="4933621" y="1759077"/>
              <a:ext cx="3610843" cy="3339847"/>
            </a:xfrm>
            <a:prstGeom prst="rightArrowCallou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CDA2C9C-DE45-D3CB-58C5-1E1F7FC4E8DD}"/>
                </a:ext>
              </a:extLst>
            </p:cNvPr>
            <p:cNvGrpSpPr/>
            <p:nvPr/>
          </p:nvGrpSpPr>
          <p:grpSpPr>
            <a:xfrm>
              <a:off x="4920733" y="1873651"/>
              <a:ext cx="2351516" cy="707886"/>
              <a:chOff x="540307" y="1873650"/>
              <a:chExt cx="2351516" cy="707886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98F5A04-9F2A-6D16-F430-3AF731AB6E44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2</a:t>
                </a: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43F49B3-16D6-6DF8-330C-EBC919174D34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C61B9EB-9DA6-0CA4-3563-FD508CE387EA}"/>
                </a:ext>
              </a:extLst>
            </p:cNvPr>
            <p:cNvSpPr txBox="1"/>
            <p:nvPr/>
          </p:nvSpPr>
          <p:spPr>
            <a:xfrm>
              <a:off x="4913198" y="443619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Resources</a:t>
              </a:r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1A61C13-E856-434C-D13E-A657ACAD66D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3040" y="2755023"/>
              <a:ext cx="1645920" cy="1546836"/>
              <a:chOff x="8412658" y="2617108"/>
              <a:chExt cx="1929294" cy="18131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0E10331C-3663-5247-C506-E02ADF3DCE2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412658" y="2617108"/>
                <a:ext cx="1078992" cy="1082299"/>
                <a:chOff x="4726983" y="2457616"/>
                <a:chExt cx="2062421" cy="1993113"/>
              </a:xfrm>
            </p:grpSpPr>
            <p:sp>
              <p:nvSpPr>
                <p:cNvPr id="40" name="Rounded Rectangle 39" descr="An icon representing a computer chip">
                  <a:extLst>
                    <a:ext uri="{FF2B5EF4-FFF2-40B4-BE49-F238E27FC236}">
                      <a16:creationId xmlns:a16="http://schemas.microsoft.com/office/drawing/2014/main" id="{C515DA35-6CEC-C1FB-6BC1-F169FA10A770}"/>
                    </a:ext>
                  </a:extLst>
                </p:cNvPr>
                <p:cNvSpPr/>
                <p:nvPr/>
              </p:nvSpPr>
              <p:spPr>
                <a:xfrm>
                  <a:off x="4726983" y="2457616"/>
                  <a:ext cx="2062421" cy="1993113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42" name="Graphic 41">
                  <a:extLst>
                    <a:ext uri="{FF2B5EF4-FFF2-40B4-BE49-F238E27FC236}">
                      <a16:creationId xmlns:a16="http://schemas.microsoft.com/office/drawing/2014/main" id="{653333DD-807A-7C69-EF7F-4A1F684013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975767" y="2671746"/>
                  <a:ext cx="1564852" cy="1564852"/>
                </a:xfrm>
                <a:prstGeom prst="rect">
                  <a:avLst/>
                </a:prstGeom>
              </p:spPr>
            </p:pic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1EFC89B8-1D74-7383-B11A-65CAAD9CC100}"/>
                  </a:ext>
                </a:extLst>
              </p:cNvPr>
              <p:cNvGrpSpPr/>
              <p:nvPr/>
            </p:nvGrpSpPr>
            <p:grpSpPr>
              <a:xfrm>
                <a:off x="9262960" y="3347959"/>
                <a:ext cx="1078992" cy="1082299"/>
                <a:chOff x="9174826" y="3192427"/>
                <a:chExt cx="1078992" cy="1082299"/>
              </a:xfrm>
            </p:grpSpPr>
            <p:sp>
              <p:nvSpPr>
                <p:cNvPr id="38" name="Rounded Rectangle 37" descr="An icon of a stopwatch">
                  <a:extLst>
                    <a:ext uri="{FF2B5EF4-FFF2-40B4-BE49-F238E27FC236}">
                      <a16:creationId xmlns:a16="http://schemas.microsoft.com/office/drawing/2014/main" id="{6497CCA5-5DB7-0116-1576-D66D77AF0580}"/>
                    </a:ext>
                  </a:extLst>
                </p:cNvPr>
                <p:cNvSpPr/>
                <p:nvPr/>
              </p:nvSpPr>
              <p:spPr>
                <a:xfrm>
                  <a:off x="9174826" y="3192427"/>
                  <a:ext cx="1078992" cy="1082299"/>
                </a:xfrm>
                <a:prstGeom prst="roundRect">
                  <a:avLst/>
                </a:prstGeom>
                <a:solidFill>
                  <a:schemeClr val="bg1"/>
                </a:solidFill>
                <a:ln w="571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39" name="Graphic 38" descr="Stopwatch with solid fill">
                  <a:extLst>
                    <a:ext uri="{FF2B5EF4-FFF2-40B4-BE49-F238E27FC236}">
                      <a16:creationId xmlns:a16="http://schemas.microsoft.com/office/drawing/2014/main" id="{BB74B99F-DCA4-1710-7BF7-5937F97B5E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02842" y="3322096"/>
                  <a:ext cx="822960" cy="822960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47" name="Group 46" descr="Image depecting that the last step in our general overview is requesting a job">
            <a:extLst>
              <a:ext uri="{FF2B5EF4-FFF2-40B4-BE49-F238E27FC236}">
                <a16:creationId xmlns:a16="http://schemas.microsoft.com/office/drawing/2014/main" id="{54083359-E32E-5596-4346-C0966CF9E332}"/>
              </a:ext>
            </a:extLst>
          </p:cNvPr>
          <p:cNvGrpSpPr/>
          <p:nvPr/>
        </p:nvGrpSpPr>
        <p:grpSpPr>
          <a:xfrm>
            <a:off x="8747203" y="1764792"/>
            <a:ext cx="2358559" cy="3334132"/>
            <a:chOff x="8747203" y="1764792"/>
            <a:chExt cx="2358559" cy="3334132"/>
          </a:xfrm>
        </p:grpSpPr>
        <p:pic>
          <p:nvPicPr>
            <p:cNvPr id="48" name="Picture 2" descr="The logo of the Slurm workload manager">
              <a:extLst>
                <a:ext uri="{FF2B5EF4-FFF2-40B4-BE49-F238E27FC236}">
                  <a16:creationId xmlns:a16="http://schemas.microsoft.com/office/drawing/2014/main" id="{685BE21F-A6A5-1EB0-24BE-5FAAF9DE206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2089"/>
            <a:stretch/>
          </p:blipFill>
          <p:spPr bwMode="auto">
            <a:xfrm>
              <a:off x="9087422" y="2803512"/>
              <a:ext cx="1698054" cy="136656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4D7014D-EABE-1D9B-A96A-EC5F3690F43B}"/>
                </a:ext>
              </a:extLst>
            </p:cNvPr>
            <p:cNvSpPr txBox="1"/>
            <p:nvPr/>
          </p:nvSpPr>
          <p:spPr>
            <a:xfrm>
              <a:off x="8758419" y="4432982"/>
              <a:ext cx="233862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Job Request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70A47A5-128D-6781-1460-8AB4F76DD812}"/>
                </a:ext>
              </a:extLst>
            </p:cNvPr>
            <p:cNvSpPr/>
            <p:nvPr/>
          </p:nvSpPr>
          <p:spPr>
            <a:xfrm>
              <a:off x="8767136" y="1764792"/>
              <a:ext cx="2338626" cy="3334132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130825B-C351-E2DC-CCA3-0DDFBB5D58D1}"/>
                </a:ext>
              </a:extLst>
            </p:cNvPr>
            <p:cNvGrpSpPr/>
            <p:nvPr/>
          </p:nvGrpSpPr>
          <p:grpSpPr>
            <a:xfrm>
              <a:off x="8747203" y="1891582"/>
              <a:ext cx="2351516" cy="707886"/>
              <a:chOff x="540307" y="1873650"/>
              <a:chExt cx="2351516" cy="707886"/>
            </a:xfrm>
          </p:grpSpPr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CC54265-04DC-AF6E-8656-BFAE8E04A757}"/>
                  </a:ext>
                </a:extLst>
              </p:cNvPr>
              <p:cNvSpPr txBox="1"/>
              <p:nvPr/>
            </p:nvSpPr>
            <p:spPr>
              <a:xfrm>
                <a:off x="540307" y="1873650"/>
                <a:ext cx="235151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</a:t>
                </a: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1754262-E500-A944-7EED-90C34BFA56BD}"/>
                  </a:ext>
                </a:extLst>
              </p:cNvPr>
              <p:cNvSpPr/>
              <p:nvPr/>
            </p:nvSpPr>
            <p:spPr>
              <a:xfrm>
                <a:off x="1396025" y="1901951"/>
                <a:ext cx="640080" cy="64008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Down Arrow 6" descr="Arrow indicating that we are moving on to the job request portion of the slides">
            <a:extLst>
              <a:ext uri="{FF2B5EF4-FFF2-40B4-BE49-F238E27FC236}">
                <a16:creationId xmlns:a16="http://schemas.microsoft.com/office/drawing/2014/main" id="{0D76E484-48E7-79A3-60D1-85A73CF1247B}"/>
              </a:ext>
            </a:extLst>
          </p:cNvPr>
          <p:cNvSpPr/>
          <p:nvPr/>
        </p:nvSpPr>
        <p:spPr>
          <a:xfrm rot="10800000">
            <a:off x="9369521" y="5340571"/>
            <a:ext cx="1133856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832731-D078-1A8A-478F-25675808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150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60617-0666-E878-70B5-A1BD416EB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DEF42-BA73-9A05-DD77-EB61AC2E7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091"/>
            <a:ext cx="10515600" cy="1325563"/>
          </a:xfrm>
        </p:spPr>
        <p:txBody>
          <a:bodyPr/>
          <a:lstStyle/>
          <a:p>
            <a:r>
              <a:rPr lang="en-US" dirty="0"/>
              <a:t>Planned Maintenance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A78ED3-706B-AB70-FC82-4FDAEF170EA4}"/>
              </a:ext>
            </a:extLst>
          </p:cNvPr>
          <p:cNvSpPr txBox="1"/>
          <p:nvPr/>
        </p:nvSpPr>
        <p:spPr>
          <a:xfrm>
            <a:off x="3337932" y="2304585"/>
            <a:ext cx="5003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Planned maintenance is …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25307E-1328-FFDA-4BAC-FF718AC89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182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F7EE-8529-C957-850C-D05C9D459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93C40-5499-1E66-0CA5-1A0705CA0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091"/>
            <a:ext cx="10515600" cy="1325563"/>
          </a:xfrm>
        </p:spPr>
        <p:txBody>
          <a:bodyPr/>
          <a:lstStyle/>
          <a:p>
            <a:r>
              <a:rPr lang="en-US" dirty="0"/>
              <a:t>Batch vs Interactive Jobs</a:t>
            </a:r>
          </a:p>
        </p:txBody>
      </p:sp>
      <p:grpSp>
        <p:nvGrpSpPr>
          <p:cNvPr id="18" name="Group 17" descr="Image showing depicting the two types of jobs, batch and interactive">
            <a:extLst>
              <a:ext uri="{FF2B5EF4-FFF2-40B4-BE49-F238E27FC236}">
                <a16:creationId xmlns:a16="http://schemas.microsoft.com/office/drawing/2014/main" id="{A28E736A-7947-EE7A-4678-F4E31408E72D}"/>
              </a:ext>
            </a:extLst>
          </p:cNvPr>
          <p:cNvGrpSpPr/>
          <p:nvPr/>
        </p:nvGrpSpPr>
        <p:grpSpPr>
          <a:xfrm>
            <a:off x="3372129" y="2268586"/>
            <a:ext cx="5343664" cy="2960167"/>
            <a:chOff x="3424168" y="1948917"/>
            <a:chExt cx="5343664" cy="2960167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D7A3ED-821E-BB6F-5641-85D5CE360CD5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EB19255-9CD8-81CF-BB4B-54900D426E23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18631C2-A132-3700-E80E-19088F61F609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DB6E1F-94E0-76DF-9754-C5A29B1FAE7B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94AB67-EDF1-F066-79B3-E5790D516265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15" name="Graphic 14" descr="An icon of a person programming on a laptop">
                <a:extLst>
                  <a:ext uri="{FF2B5EF4-FFF2-40B4-BE49-F238E27FC236}">
                    <a16:creationId xmlns:a16="http://schemas.microsoft.com/office/drawing/2014/main" id="{54DD9B6F-D7A1-07A2-97A8-39C87AB71C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17" name="Graphic 16" descr="An icon representing a file or document">
              <a:extLst>
                <a:ext uri="{FF2B5EF4-FFF2-40B4-BE49-F238E27FC236}">
                  <a16:creationId xmlns:a16="http://schemas.microsoft.com/office/drawing/2014/main" id="{D40FBE46-BFB3-A198-58EE-83F3CC9576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C2F5F-B807-D784-081F-3B32B3A76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068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7DFA3-5110-BFBC-7E61-7CC123894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91FB9-57BC-89B2-4E6B-8B32E1A03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416"/>
            <a:ext cx="10515600" cy="1325563"/>
          </a:xfrm>
        </p:spPr>
        <p:txBody>
          <a:bodyPr/>
          <a:lstStyle/>
          <a:p>
            <a:r>
              <a:rPr lang="en-US" dirty="0"/>
              <a:t>Batch Jobs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44EAFD-E4A2-3B20-2AF6-224D103A3C3D}"/>
              </a:ext>
            </a:extLst>
          </p:cNvPr>
          <p:cNvSpPr txBox="1"/>
          <p:nvPr/>
        </p:nvSpPr>
        <p:spPr>
          <a:xfrm>
            <a:off x="160197" y="1994315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Runs a job script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No need for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tested workflows and long/big jobs</a:t>
            </a:r>
          </a:p>
        </p:txBody>
      </p:sp>
      <p:grpSp>
        <p:nvGrpSpPr>
          <p:cNvPr id="3" name="Group 2" descr="Same image depicting the two types of jobs, batch and interative, however, now the batch job one is highlighted. This indicates we are now talking about the batch job">
            <a:extLst>
              <a:ext uri="{FF2B5EF4-FFF2-40B4-BE49-F238E27FC236}">
                <a16:creationId xmlns:a16="http://schemas.microsoft.com/office/drawing/2014/main" id="{8BFF9413-AF66-3B44-0DBA-46F85CADD4D4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07040C0-DE5D-8B66-F16C-AA887D18049D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A929CAED-116B-4FF4-F439-FF1FEF2DAA0C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D9828C0A-A937-7C55-98A2-35DBEBA65963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276ED2-0A65-F281-EF55-EDBBF58593E6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D2086C8-A33B-E2DC-8C8B-FCFCC8A8E1BC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24" name="Graphic 23" descr="An icon of a person programming on a laptop">
                <a:extLst>
                  <a:ext uri="{FF2B5EF4-FFF2-40B4-BE49-F238E27FC236}">
                    <a16:creationId xmlns:a16="http://schemas.microsoft.com/office/drawing/2014/main" id="{76ABB1BB-7A37-0718-43EC-81E099C65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19" name="Graphic 18" descr="An icon representing a file or document">
              <a:extLst>
                <a:ext uri="{FF2B5EF4-FFF2-40B4-BE49-F238E27FC236}">
                  <a16:creationId xmlns:a16="http://schemas.microsoft.com/office/drawing/2014/main" id="{D7C34AFB-86A2-793E-CDD0-E8E43D59E0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EFA4B-17AF-5B22-E346-078C64D8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6892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B1FC0-3AD8-06A5-88C3-49CEDC6DD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50087-ACDB-90AE-3696-BAC8254D1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416"/>
            <a:ext cx="10515600" cy="1325563"/>
          </a:xfrm>
        </p:spPr>
        <p:txBody>
          <a:bodyPr/>
          <a:lstStyle/>
          <a:p>
            <a:r>
              <a:rPr lang="en-US" dirty="0"/>
              <a:t>Interactive Jobs</a:t>
            </a:r>
          </a:p>
        </p:txBody>
      </p:sp>
      <p:grpSp>
        <p:nvGrpSpPr>
          <p:cNvPr id="3" name="Group 2" descr="Same image depicting the two types of jobs, batch and interative, however, now the interactive job one is highlighted. This indicates we are now talking about the interactive job">
            <a:extLst>
              <a:ext uri="{FF2B5EF4-FFF2-40B4-BE49-F238E27FC236}">
                <a16:creationId xmlns:a16="http://schemas.microsoft.com/office/drawing/2014/main" id="{502A463C-C1C7-DBC6-2C46-4CC480B9271B}"/>
              </a:ext>
            </a:extLst>
          </p:cNvPr>
          <p:cNvGrpSpPr/>
          <p:nvPr/>
        </p:nvGrpSpPr>
        <p:grpSpPr>
          <a:xfrm>
            <a:off x="3424168" y="1948917"/>
            <a:ext cx="5343664" cy="2960167"/>
            <a:chOff x="3424168" y="1948917"/>
            <a:chExt cx="5343664" cy="296016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29CA036-2B62-5E9C-C26C-21970ADF69DB}"/>
                </a:ext>
              </a:extLst>
            </p:cNvPr>
            <p:cNvGrpSpPr/>
            <p:nvPr/>
          </p:nvGrpSpPr>
          <p:grpSpPr>
            <a:xfrm>
              <a:off x="3424168" y="1948917"/>
              <a:ext cx="5343664" cy="2960167"/>
              <a:chOff x="6357009" y="1948917"/>
              <a:chExt cx="5343664" cy="2960167"/>
            </a:xfrm>
          </p:grpSpPr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EBDE617D-2D77-E7B3-D147-B231AFC59D2D}"/>
                  </a:ext>
                </a:extLst>
              </p:cNvPr>
              <p:cNvSpPr/>
              <p:nvPr/>
            </p:nvSpPr>
            <p:spPr>
              <a:xfrm>
                <a:off x="6357009" y="1948917"/>
                <a:ext cx="2468880" cy="2949023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849BE665-6220-CB9B-9A9B-10BA60715703}"/>
                  </a:ext>
                </a:extLst>
              </p:cNvPr>
              <p:cNvSpPr/>
              <p:nvPr/>
            </p:nvSpPr>
            <p:spPr>
              <a:xfrm>
                <a:off x="9231793" y="1948917"/>
                <a:ext cx="2468880" cy="2960167"/>
              </a:xfrm>
              <a:prstGeom prst="roundRect">
                <a:avLst/>
              </a:prstGeom>
              <a:solidFill>
                <a:schemeClr val="bg1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D3C5999-F21A-59DF-5638-6C324A840743}"/>
                  </a:ext>
                </a:extLst>
              </p:cNvPr>
              <p:cNvSpPr txBox="1"/>
              <p:nvPr/>
            </p:nvSpPr>
            <p:spPr>
              <a:xfrm>
                <a:off x="9420249" y="3598703"/>
                <a:ext cx="209196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Interactive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398E922-3457-38FC-F6D6-85B33CC84168}"/>
                  </a:ext>
                </a:extLst>
              </p:cNvPr>
              <p:cNvSpPr txBox="1"/>
              <p:nvPr/>
            </p:nvSpPr>
            <p:spPr>
              <a:xfrm>
                <a:off x="6634225" y="3587559"/>
                <a:ext cx="191444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/>
                  <a:t>Batch</a:t>
                </a:r>
              </a:p>
              <a:p>
                <a:pPr algn="ctr"/>
                <a:r>
                  <a:rPr lang="en-US" sz="2800" b="1" dirty="0"/>
                  <a:t>Job</a:t>
                </a:r>
              </a:p>
            </p:txBody>
          </p:sp>
          <p:pic>
            <p:nvPicPr>
              <p:cNvPr id="25" name="Graphic 24" descr="An icon of a person programming on a laptop">
                <a:extLst>
                  <a:ext uri="{FF2B5EF4-FFF2-40B4-BE49-F238E27FC236}">
                    <a16:creationId xmlns:a16="http://schemas.microsoft.com/office/drawing/2014/main" id="{07393C4B-8E86-71F2-D05F-280A12AE11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26153" y="2206872"/>
                <a:ext cx="1280160" cy="1280160"/>
              </a:xfrm>
              <a:prstGeom prst="rect">
                <a:avLst/>
              </a:prstGeom>
            </p:spPr>
          </p:pic>
        </p:grpSp>
        <p:pic>
          <p:nvPicPr>
            <p:cNvPr id="20" name="Graphic 19" descr="An icon representing a file or a document">
              <a:extLst>
                <a:ext uri="{FF2B5EF4-FFF2-40B4-BE49-F238E27FC236}">
                  <a16:creationId xmlns:a16="http://schemas.microsoft.com/office/drawing/2014/main" id="{A143587B-8A7E-CE44-6249-3A3D243069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018528" y="2206872"/>
              <a:ext cx="1280160" cy="128016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5928697-2372-B16C-61ED-73DACE02410A}"/>
              </a:ext>
            </a:extLst>
          </p:cNvPr>
          <p:cNvSpPr txBox="1"/>
          <p:nvPr/>
        </p:nvSpPr>
        <p:spPr>
          <a:xfrm>
            <a:off x="8956904" y="1994314"/>
            <a:ext cx="308837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Terminal or GUI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Requires active user input</a:t>
            </a:r>
          </a:p>
          <a:p>
            <a:pPr marL="234950" indent="-2349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Best for development and exploration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D01677-1C2C-5558-7AE4-0A49C88F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964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8F5C-843C-1042-FD0A-C057E07CA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42C17-DD7D-9248-BD8C-574C2CD70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091"/>
            <a:ext cx="10515600" cy="1325563"/>
          </a:xfrm>
        </p:spPr>
        <p:txBody>
          <a:bodyPr/>
          <a:lstStyle/>
          <a:p>
            <a:r>
              <a:rPr lang="en-US" dirty="0" err="1"/>
              <a:t>Slurm</a:t>
            </a:r>
            <a:r>
              <a:rPr lang="en-US" dirty="0"/>
              <a:t> Directives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D81A90-4F9D-573E-6096-B83BA1028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B7597-FB95-7F32-8231-A0B2E11461B2}"/>
              </a:ext>
            </a:extLst>
          </p:cNvPr>
          <p:cNvSpPr txBox="1"/>
          <p:nvPr/>
        </p:nvSpPr>
        <p:spPr>
          <a:xfrm>
            <a:off x="944136" y="1813929"/>
            <a:ext cx="963465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Slurm</a:t>
            </a:r>
            <a:r>
              <a:rPr lang="en-US" dirty="0"/>
              <a:t> is a popular resource manager for High-Performance Computing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Grabs the resources you are requesting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Determines when your job will run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Slurm</a:t>
            </a:r>
            <a:r>
              <a:rPr lang="en-US" dirty="0"/>
              <a:t> directives are how we tell </a:t>
            </a:r>
            <a:r>
              <a:rPr lang="en-US" dirty="0" err="1"/>
              <a:t>Slurm</a:t>
            </a:r>
            <a:r>
              <a:rPr lang="en-US" dirty="0"/>
              <a:t> what resources we would like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Are used for both interactive and batch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9710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49CF7-32EF-DAC5-7DD8-74D583CFA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E945-C7E1-16E3-0841-5FD73FA4F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</a:t>
            </a:r>
            <a:r>
              <a:rPr lang="en-US" dirty="0" err="1"/>
              <a:t>Slurm</a:t>
            </a:r>
            <a:r>
              <a:rPr lang="en-US" dirty="0"/>
              <a:t> Directives</a:t>
            </a:r>
          </a:p>
        </p:txBody>
      </p:sp>
      <p:grpSp>
        <p:nvGrpSpPr>
          <p:cNvPr id="11" name="Group 10" descr="The red stars are next to the partition and QoS bullets, indicating that they must be specified ">
            <a:extLst>
              <a:ext uri="{FF2B5EF4-FFF2-40B4-BE49-F238E27FC236}">
                <a16:creationId xmlns:a16="http://schemas.microsoft.com/office/drawing/2014/main" id="{8303C784-460B-07CA-09B4-10B7F70A4128}"/>
              </a:ext>
            </a:extLst>
          </p:cNvPr>
          <p:cNvGrpSpPr/>
          <p:nvPr/>
        </p:nvGrpSpPr>
        <p:grpSpPr>
          <a:xfrm>
            <a:off x="644768" y="1894367"/>
            <a:ext cx="9713346" cy="3472489"/>
            <a:chOff x="644768" y="1894367"/>
            <a:chExt cx="9713346" cy="3472489"/>
          </a:xfrm>
        </p:grpSpPr>
        <p:sp>
          <p:nvSpPr>
            <p:cNvPr id="3" name="5-Point Star 2" descr="Red star marking partition as a required directive">
              <a:extLst>
                <a:ext uri="{FF2B5EF4-FFF2-40B4-BE49-F238E27FC236}">
                  <a16:creationId xmlns:a16="http://schemas.microsoft.com/office/drawing/2014/main" id="{2B55D852-E469-8741-F5D6-AC99016B0802}"/>
                </a:ext>
              </a:extLst>
            </p:cNvPr>
            <p:cNvSpPr/>
            <p:nvPr/>
          </p:nvSpPr>
          <p:spPr>
            <a:xfrm>
              <a:off x="644768" y="1990293"/>
              <a:ext cx="193431" cy="202224"/>
            </a:xfrm>
            <a:prstGeom prst="star5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AF732FF-E7A0-5065-1B9F-259E000DF213}"/>
                </a:ext>
              </a:extLst>
            </p:cNvPr>
            <p:cNvSpPr txBox="1"/>
            <p:nvPr/>
          </p:nvSpPr>
          <p:spPr>
            <a:xfrm>
              <a:off x="838200" y="1894367"/>
              <a:ext cx="9519914" cy="34724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40665" marR="0" lvl="0" indent="-205740" algn="l" rtl="0">
                <a:lnSpc>
                  <a:spcPct val="122511"/>
                </a:lnSpc>
                <a:spcBef>
                  <a:spcPts val="0"/>
                </a:spcBef>
                <a:spcAft>
                  <a:spcPts val="0"/>
                </a:spcAft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b="1" dirty="0">
                  <a:solidFill>
                    <a:srgbClr val="2F2B20"/>
                  </a:solidFill>
                  <a:latin typeface="Arial"/>
                  <a:ea typeface="Arial"/>
                  <a:cs typeface="Arial"/>
                  <a:sym typeface="Arial"/>
                </a:rPr>
                <a:t>Partition – A collection of compute nodes </a:t>
              </a:r>
            </a:p>
            <a:p>
              <a:pPr marL="697865" lvl="1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--partition=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</a:t>
              </a:r>
              <a:r>
                <a:rPr lang="en-US" sz="1800" dirty="0" err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partition_name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&gt;</a:t>
              </a:r>
            </a:p>
            <a:p>
              <a:pPr marL="240665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b="1" dirty="0">
                  <a:solidFill>
                    <a:srgbClr val="2F2B20"/>
                  </a:solidFill>
                </a:rPr>
                <a:t>Quality of service (QoS) – System defined constraints for a job (more on this later!)</a:t>
              </a:r>
            </a:p>
            <a:p>
              <a:pPr marL="697865" lvl="1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b="1" dirty="0">
                  <a:solidFill>
                    <a:srgbClr val="2F2B20"/>
                  </a:solidFill>
                </a:rPr>
                <a:t> </a:t>
              </a: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</a:t>
              </a:r>
              <a:r>
                <a:rPr lang="en-US" sz="1800" dirty="0" err="1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qos</a:t>
              </a: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=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</a:t>
              </a:r>
              <a:r>
                <a:rPr lang="en-US" sz="1800" dirty="0" err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qos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&gt;</a:t>
              </a:r>
            </a:p>
            <a:p>
              <a:pPr marL="240665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b="1" dirty="0">
                  <a:solidFill>
                    <a:srgbClr val="2F2B20"/>
                  </a:solidFill>
                </a:rPr>
                <a:t>Allocation</a:t>
              </a:r>
              <a:r>
                <a:rPr lang="en-US" b="1" dirty="0">
                  <a:solidFill>
                    <a:srgbClr val="2F2B20"/>
                  </a:solidFill>
                  <a:latin typeface="Arial"/>
                  <a:cs typeface="Arial"/>
                  <a:sym typeface="Arial"/>
                </a:rPr>
                <a:t> </a:t>
              </a:r>
              <a:r>
                <a:rPr lang="en-US" sz="1800" b="1" dirty="0">
                  <a:solidFill>
                    <a:srgbClr val="2F2B20"/>
                  </a:solidFill>
                  <a:latin typeface="Arial"/>
                  <a:cs typeface="Arial"/>
                  <a:sym typeface="Arial"/>
                </a:rPr>
                <a:t>– Account to “charge to”</a:t>
              </a:r>
              <a:endPara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697865" lvl="1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--account=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</a:t>
              </a:r>
              <a:r>
                <a:rPr lang="en-US" sz="1800" dirty="0" err="1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account_name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&gt;</a:t>
              </a:r>
              <a:endParaRPr lang="en-US" b="1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endParaRPr>
            </a:p>
            <a:p>
              <a:pPr marL="240665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b="1" dirty="0">
                  <a:solidFill>
                    <a:srgbClr val="2F2B20"/>
                  </a:solidFill>
                </a:rPr>
                <a:t>Number of nodes to run on </a:t>
              </a:r>
            </a:p>
            <a:p>
              <a:pPr marL="697865" lvl="1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--nodes=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&lt;nodes&gt;</a:t>
              </a:r>
              <a:endParaRPr lang="en-US" b="1" dirty="0">
                <a:solidFill>
                  <a:schemeClr val="dk1"/>
                </a:solidFill>
              </a:endParaRPr>
            </a:p>
            <a:p>
              <a:pPr marL="240665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b="1" dirty="0">
                  <a:solidFill>
                    <a:srgbClr val="2F2B20"/>
                  </a:solidFill>
                </a:rPr>
                <a:t>Number of cores to run on </a:t>
              </a:r>
            </a:p>
            <a:p>
              <a:pPr marL="697865" lvl="1" indent="-205740">
                <a:lnSpc>
                  <a:spcPct val="122511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</a:t>
              </a:r>
              <a:r>
                <a:rPr lang="en-US" sz="1800" dirty="0" err="1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ntasks</a:t>
              </a: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=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&lt;number-of-tasks&gt;</a:t>
              </a:r>
              <a:endParaRPr lang="en-US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" name="5-Point Star 6" descr="Red star marking Quality of Service (qos) as a required directive">
              <a:extLst>
                <a:ext uri="{FF2B5EF4-FFF2-40B4-BE49-F238E27FC236}">
                  <a16:creationId xmlns:a16="http://schemas.microsoft.com/office/drawing/2014/main" id="{F437DEB5-E616-4C3E-3712-85C899B03EF2}"/>
                </a:ext>
              </a:extLst>
            </p:cNvPr>
            <p:cNvSpPr/>
            <p:nvPr/>
          </p:nvSpPr>
          <p:spPr>
            <a:xfrm>
              <a:off x="644768" y="2679024"/>
              <a:ext cx="193431" cy="202224"/>
            </a:xfrm>
            <a:prstGeom prst="star5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 descr="A legend indicating that the red star means the Slurm directive must be set">
            <a:extLst>
              <a:ext uri="{FF2B5EF4-FFF2-40B4-BE49-F238E27FC236}">
                <a16:creationId xmlns:a16="http://schemas.microsoft.com/office/drawing/2014/main" id="{2DC117E1-AC94-D86D-EEC7-9A6F6BA8BAB0}"/>
              </a:ext>
            </a:extLst>
          </p:cNvPr>
          <p:cNvGrpSpPr/>
          <p:nvPr/>
        </p:nvGrpSpPr>
        <p:grpSpPr>
          <a:xfrm>
            <a:off x="644768" y="5684019"/>
            <a:ext cx="3703911" cy="369332"/>
            <a:chOff x="644768" y="5684019"/>
            <a:chExt cx="3703911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A11002-4267-A5C2-0CA3-3DB92675F027}"/>
                </a:ext>
              </a:extLst>
            </p:cNvPr>
            <p:cNvSpPr txBox="1"/>
            <p:nvPr/>
          </p:nvSpPr>
          <p:spPr>
            <a:xfrm>
              <a:off x="893887" y="5684019"/>
              <a:ext cx="34547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 Must be specified for every job</a:t>
              </a:r>
            </a:p>
          </p:txBody>
        </p:sp>
        <p:sp>
          <p:nvSpPr>
            <p:cNvPr id="8" name="5-Point Star 7" descr="Red star explaining that a red star indicates a required directive">
              <a:extLst>
                <a:ext uri="{FF2B5EF4-FFF2-40B4-BE49-F238E27FC236}">
                  <a16:creationId xmlns:a16="http://schemas.microsoft.com/office/drawing/2014/main" id="{26ACB300-0268-3693-7077-B6C4538447B1}"/>
                </a:ext>
              </a:extLst>
            </p:cNvPr>
            <p:cNvSpPr/>
            <p:nvPr/>
          </p:nvSpPr>
          <p:spPr>
            <a:xfrm>
              <a:off x="644768" y="5767573"/>
              <a:ext cx="193431" cy="202224"/>
            </a:xfrm>
            <a:prstGeom prst="star5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E95F16-BC11-4B54-3291-14BA3325C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0243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8BE79-5A03-F5D8-50D1-D4F6CC2A5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CBD48-74F1-E6DA-23CB-A8AC715E1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360"/>
            <a:ext cx="10515600" cy="1325563"/>
          </a:xfrm>
        </p:spPr>
        <p:txBody>
          <a:bodyPr/>
          <a:lstStyle/>
          <a:p>
            <a:r>
              <a:rPr lang="en-US" dirty="0"/>
              <a:t>Common </a:t>
            </a:r>
            <a:r>
              <a:rPr lang="en-US" dirty="0" err="1"/>
              <a:t>Slurm</a:t>
            </a:r>
            <a:r>
              <a:rPr lang="en-US" dirty="0"/>
              <a:t> Directives cont.</a:t>
            </a:r>
          </a:p>
        </p:txBody>
      </p:sp>
      <p:grpSp>
        <p:nvGrpSpPr>
          <p:cNvPr id="4" name="Group 3" descr="The red stars are next to the walltime bullet, indicating that they must be specified">
            <a:extLst>
              <a:ext uri="{FF2B5EF4-FFF2-40B4-BE49-F238E27FC236}">
                <a16:creationId xmlns:a16="http://schemas.microsoft.com/office/drawing/2014/main" id="{7CF913BE-97D6-D7B2-0316-3A9FC7F650DF}"/>
              </a:ext>
            </a:extLst>
          </p:cNvPr>
          <p:cNvGrpSpPr/>
          <p:nvPr/>
        </p:nvGrpSpPr>
        <p:grpSpPr>
          <a:xfrm>
            <a:off x="548052" y="1787035"/>
            <a:ext cx="9719899" cy="3538123"/>
            <a:chOff x="548052" y="1787035"/>
            <a:chExt cx="9719899" cy="3538123"/>
          </a:xfrm>
        </p:grpSpPr>
        <p:sp>
          <p:nvSpPr>
            <p:cNvPr id="6" name="Google Shape;434;p45">
              <a:extLst>
                <a:ext uri="{FF2B5EF4-FFF2-40B4-BE49-F238E27FC236}">
                  <a16:creationId xmlns:a16="http://schemas.microsoft.com/office/drawing/2014/main" id="{AD369E8A-07F2-3C1C-8295-E231CFF93432}"/>
                </a:ext>
              </a:extLst>
            </p:cNvPr>
            <p:cNvSpPr txBox="1"/>
            <p:nvPr/>
          </p:nvSpPr>
          <p:spPr>
            <a:xfrm>
              <a:off x="838200" y="1787035"/>
              <a:ext cx="9429751" cy="35381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2675" rIns="0" bIns="0" anchor="t" anchorCtr="0">
              <a:spAutoFit/>
            </a:bodyPr>
            <a:lstStyle/>
            <a:p>
              <a:pPr marL="240665" marR="0" lvl="0" indent="-202692" algn="l" rtl="0">
                <a:lnSpc>
                  <a:spcPct val="119836"/>
                </a:lnSpc>
                <a:spcBef>
                  <a:spcPts val="26"/>
                </a:spcBef>
                <a:spcAft>
                  <a:spcPts val="0"/>
                </a:spcAft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b="1" dirty="0">
                  <a:solidFill>
                    <a:srgbClr val="2F2B20"/>
                  </a:solidFill>
                  <a:latin typeface="Arial"/>
                  <a:ea typeface="Arial"/>
                  <a:cs typeface="Arial"/>
                  <a:sym typeface="Arial"/>
                </a:rPr>
                <a:t>Wall time – How long you want to run on these resources</a:t>
              </a:r>
            </a:p>
            <a:p>
              <a:pPr marL="697865" lvl="1" indent="-202692">
                <a:lnSpc>
                  <a:spcPct val="119836"/>
                </a:lnSpc>
                <a:spcBef>
                  <a:spcPts val="26"/>
                </a:spcBef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--time=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&lt;wall time&gt;</a:t>
              </a:r>
              <a:endPara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240665" marR="0" lvl="0" indent="-202692" algn="l" rtl="0">
                <a:lnSpc>
                  <a:spcPct val="119836"/>
                </a:lnSpc>
                <a:spcBef>
                  <a:spcPts val="0"/>
                </a:spcBef>
                <a:spcAft>
                  <a:spcPts val="0"/>
                </a:spcAft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b="1" dirty="0">
                  <a:solidFill>
                    <a:srgbClr val="2F2B20"/>
                  </a:solidFill>
                  <a:latin typeface="Arial"/>
                  <a:ea typeface="Arial"/>
                  <a:cs typeface="Arial"/>
                  <a:sym typeface="Arial"/>
                </a:rPr>
                <a:t>Job name</a:t>
              </a:r>
            </a:p>
            <a:p>
              <a:pPr marL="697865" lvl="1" indent="-202692">
                <a:lnSpc>
                  <a:spcPct val="119836"/>
                </a:lnSpc>
                <a:buClr>
                  <a:srgbClr val="A9A57C"/>
                </a:buClr>
                <a:buSzPts val="1800"/>
                <a:buFont typeface="Arial"/>
                <a:buChar char="•"/>
              </a:pP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--job-name=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&lt;jobname&gt;</a:t>
              </a:r>
              <a:endParaRPr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240665" marR="0" lvl="0" indent="-205740" algn="l" rtl="0">
                <a:lnSpc>
                  <a:spcPct val="122511"/>
                </a:lnSpc>
                <a:spcBef>
                  <a:spcPts val="0"/>
                </a:spcBef>
                <a:spcAft>
                  <a:spcPts val="0"/>
                </a:spcAft>
                <a:buClr>
                  <a:srgbClr val="A9A57C"/>
                </a:buClr>
                <a:buSzPts val="1800"/>
                <a:buChar char="•"/>
              </a:pPr>
              <a:r>
                <a:rPr lang="en-US" sz="1800" b="1" dirty="0">
                  <a:solidFill>
                    <a:srgbClr val="2F2B20"/>
                  </a:solidFill>
                </a:rPr>
                <a:t>Output – Where all output that would be written to the terminal should go</a:t>
              </a:r>
            </a:p>
            <a:p>
              <a:pPr marL="697865" lvl="1" indent="-205740">
                <a:lnSpc>
                  <a:spcPct val="122511"/>
                </a:lnSpc>
                <a:buClr>
                  <a:srgbClr val="A9A57C"/>
                </a:buClr>
                <a:buSzPts val="1800"/>
                <a:buFontTx/>
                <a:buChar char="•"/>
              </a:pPr>
              <a:r>
                <a:rPr lang="en-US" sz="18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--output=</a:t>
              </a:r>
              <a:r>
                <a:rPr lang="en-US" sz="18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&lt;name&gt;</a:t>
              </a:r>
            </a:p>
            <a:p>
              <a:pPr marL="240665" indent="-205740">
                <a:lnSpc>
                  <a:spcPct val="122511"/>
                </a:lnSpc>
                <a:buClr>
                  <a:srgbClr val="A9A57C"/>
                </a:buClr>
                <a:buSzPts val="1800"/>
                <a:buFontTx/>
                <a:buChar char="•"/>
              </a:pPr>
              <a:r>
                <a:rPr lang="en-US" sz="2000" b="1" dirty="0">
                  <a:solidFill>
                    <a:srgbClr val="2F2B20"/>
                  </a:solidFill>
                  <a:latin typeface="Arial"/>
                  <a:ea typeface="Arial"/>
                  <a:cs typeface="Arial"/>
                  <a:sym typeface="Arial"/>
                </a:rPr>
                <a:t>Send an email when events happen in the job </a:t>
              </a:r>
            </a:p>
            <a:p>
              <a:pPr marL="697865" lvl="1" indent="-205740">
                <a:lnSpc>
                  <a:spcPct val="122511"/>
                </a:lnSpc>
                <a:buClr>
                  <a:srgbClr val="A9A57C"/>
                </a:buClr>
                <a:buSzPts val="1800"/>
                <a:buFontTx/>
                <a:buChar char="•"/>
              </a:pPr>
              <a:r>
                <a:rPr lang="en-US" sz="20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--mail-type=</a:t>
              </a:r>
              <a:r>
                <a:rPr lang="en-US" sz="20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&lt;type&gt;</a:t>
              </a:r>
            </a:p>
            <a:p>
              <a:pPr marL="240665" indent="-205740">
                <a:lnSpc>
                  <a:spcPct val="122511"/>
                </a:lnSpc>
                <a:buClr>
                  <a:srgbClr val="A9A57C"/>
                </a:buClr>
                <a:buSzPts val="1800"/>
                <a:buFontTx/>
                <a:buChar char="•"/>
              </a:pPr>
              <a:r>
                <a:rPr lang="en-US" sz="2000" b="1" dirty="0">
                  <a:solidFill>
                    <a:srgbClr val="2F2B20"/>
                  </a:solidFill>
                  <a:latin typeface="Arial"/>
                  <a:ea typeface="Arial"/>
                  <a:cs typeface="Arial"/>
                  <a:sym typeface="Arial"/>
                </a:rPr>
                <a:t>Email address to send updates to</a:t>
              </a:r>
            </a:p>
            <a:p>
              <a:pPr marL="697865" lvl="1" indent="-205740">
                <a:lnSpc>
                  <a:spcPct val="122511"/>
                </a:lnSpc>
                <a:buClr>
                  <a:srgbClr val="A9A57C"/>
                </a:buClr>
                <a:buSzPts val="1800"/>
                <a:buFontTx/>
                <a:buChar char="•"/>
              </a:pPr>
              <a:r>
                <a:rPr lang="en-US" sz="2000" dirty="0">
                  <a:solidFill>
                    <a:srgbClr val="0070C0"/>
                  </a:solidFill>
                  <a:latin typeface="Consolas"/>
                  <a:ea typeface="Consolas"/>
                  <a:cs typeface="Consolas"/>
                  <a:sym typeface="Consolas"/>
                </a:rPr>
                <a:t>--mail-user=</a:t>
              </a:r>
              <a:r>
                <a:rPr lang="en-US" sz="20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  <a:sym typeface="Consolas"/>
                </a:rPr>
                <a:t>&lt;user&gt;</a:t>
              </a:r>
            </a:p>
          </p:txBody>
        </p:sp>
        <p:sp>
          <p:nvSpPr>
            <p:cNvPr id="8" name="5-Point Star 7" descr="Red star explaining that time is a required directive">
              <a:extLst>
                <a:ext uri="{FF2B5EF4-FFF2-40B4-BE49-F238E27FC236}">
                  <a16:creationId xmlns:a16="http://schemas.microsoft.com/office/drawing/2014/main" id="{F96BD528-E3F6-BEA0-C198-71294565DDB2}"/>
                </a:ext>
              </a:extLst>
            </p:cNvPr>
            <p:cNvSpPr/>
            <p:nvPr/>
          </p:nvSpPr>
          <p:spPr>
            <a:xfrm>
              <a:off x="548052" y="1808863"/>
              <a:ext cx="193431" cy="202224"/>
            </a:xfrm>
            <a:prstGeom prst="star5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 descr="A legend indicating that the red star means the Slurm directive must be set">
            <a:extLst>
              <a:ext uri="{FF2B5EF4-FFF2-40B4-BE49-F238E27FC236}">
                <a16:creationId xmlns:a16="http://schemas.microsoft.com/office/drawing/2014/main" id="{4CE33599-C976-8DEC-9E73-F8BA98BCA49B}"/>
              </a:ext>
            </a:extLst>
          </p:cNvPr>
          <p:cNvGrpSpPr/>
          <p:nvPr/>
        </p:nvGrpSpPr>
        <p:grpSpPr>
          <a:xfrm>
            <a:off x="548052" y="5663170"/>
            <a:ext cx="3703911" cy="369332"/>
            <a:chOff x="548052" y="5663170"/>
            <a:chExt cx="3703911" cy="369332"/>
          </a:xfrm>
        </p:grpSpPr>
        <p:sp>
          <p:nvSpPr>
            <p:cNvPr id="3" name="5-Point Star 2" descr="Red star explaining that a red star indicates a required directive">
              <a:extLst>
                <a:ext uri="{FF2B5EF4-FFF2-40B4-BE49-F238E27FC236}">
                  <a16:creationId xmlns:a16="http://schemas.microsoft.com/office/drawing/2014/main" id="{62E56462-2B0D-6C0F-08FB-A8010F52D320}"/>
                </a:ext>
              </a:extLst>
            </p:cNvPr>
            <p:cNvSpPr/>
            <p:nvPr/>
          </p:nvSpPr>
          <p:spPr>
            <a:xfrm>
              <a:off x="548052" y="5746724"/>
              <a:ext cx="193431" cy="202224"/>
            </a:xfrm>
            <a:prstGeom prst="star5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738856-66BD-AC1D-8EC8-3231B1628865}"/>
                </a:ext>
              </a:extLst>
            </p:cNvPr>
            <p:cNvSpPr txBox="1"/>
            <p:nvPr/>
          </p:nvSpPr>
          <p:spPr>
            <a:xfrm>
              <a:off x="797171" y="5663170"/>
              <a:ext cx="34547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 Must be specified for every job</a:t>
              </a: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709A08-339A-78A1-2928-78C1BF0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71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42CE9-0675-EC06-F000-CC9AD35A2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468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Starting an interactive job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4FEDA-43EC-712B-B865-19D679DBF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0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798" dirty="0" err="1">
                <a:solidFill>
                  <a:srgbClr val="0070C0"/>
                </a:solidFill>
              </a:rPr>
              <a:t>acompile</a:t>
            </a:r>
            <a:r>
              <a:rPr lang="en-US" sz="2798" dirty="0">
                <a:solidFill>
                  <a:srgbClr val="2F2B20"/>
                </a:solidFill>
              </a:rPr>
              <a:t>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A custom CURC command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Submits an interactive job to the </a:t>
            </a:r>
            <a:r>
              <a:rPr lang="en-US" sz="2398" dirty="0" err="1">
                <a:solidFill>
                  <a:srgbClr val="2F2B20"/>
                </a:solidFill>
              </a:rPr>
              <a:t>acompile</a:t>
            </a:r>
            <a:r>
              <a:rPr lang="en-US" sz="2398" dirty="0">
                <a:solidFill>
                  <a:srgbClr val="2F2B20"/>
                </a:solidFill>
              </a:rPr>
              <a:t> testing resources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Limit of 4 CPUs for up to 12 hours </a:t>
            </a:r>
          </a:p>
          <a:p>
            <a:pPr marL="522288" indent="-222250"/>
            <a:r>
              <a:rPr lang="en-US" sz="2398" dirty="0">
                <a:solidFill>
                  <a:srgbClr val="2F2B20"/>
                </a:solidFill>
              </a:rPr>
              <a:t>Focused on compiling/building software and small workflows</a:t>
            </a:r>
          </a:p>
          <a:p>
            <a:pPr marL="0" indent="0">
              <a:buNone/>
            </a:pPr>
            <a:endParaRPr lang="en-US" sz="1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sinteractive</a:t>
            </a:r>
            <a:endParaRPr lang="en-US" sz="28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522288" indent="-222250"/>
            <a:r>
              <a:rPr lang="en-US" sz="2400" dirty="0"/>
              <a:t>Request any partition, more resources, and longer </a:t>
            </a:r>
            <a:r>
              <a:rPr lang="en-US" sz="2400" dirty="0" err="1"/>
              <a:t>walltime</a:t>
            </a:r>
            <a:endParaRPr lang="en-US" sz="2400" dirty="0"/>
          </a:p>
          <a:p>
            <a:pPr marL="522288" indent="-222250"/>
            <a:r>
              <a:rPr lang="en-US" sz="2400" dirty="0">
                <a:solidFill>
                  <a:srgbClr val="2F2B20"/>
                </a:solidFill>
              </a:rPr>
              <a:t>Subject to standard wait times (not immediate access)</a:t>
            </a:r>
          </a:p>
          <a:p>
            <a:pPr marL="522288" indent="-222250"/>
            <a:r>
              <a:rPr lang="en-US" sz="2400" dirty="0">
                <a:solidFill>
                  <a:srgbClr val="2F2B20"/>
                </a:solidFill>
              </a:rPr>
              <a:t>As the name implies, allows you to access a job interactively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C126B-89FC-72C8-59A3-0FCCDCDA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1516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A83B-11EF-CA66-2994-83CD52980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>
                <a:sym typeface="Helvetica Neue Light"/>
              </a:rPr>
              <a:t>Running an interactive job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DDB47-76F7-D5CD-E4B3-057E932070DD}"/>
              </a:ext>
            </a:extLst>
          </p:cNvPr>
          <p:cNvSpPr txBox="1"/>
          <p:nvPr/>
        </p:nvSpPr>
        <p:spPr>
          <a:xfrm>
            <a:off x="402183" y="1349185"/>
            <a:ext cx="10853587" cy="996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Here we will run a Python script using an interactive job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First request resources:</a:t>
            </a:r>
          </a:p>
        </p:txBody>
      </p:sp>
      <p:sp>
        <p:nvSpPr>
          <p:cNvPr id="6" name="Google Shape;676;p69">
            <a:extLst>
              <a:ext uri="{FF2B5EF4-FFF2-40B4-BE49-F238E27FC236}">
                <a16:creationId xmlns:a16="http://schemas.microsoft.com/office/drawing/2014/main" id="{3A5FD3D4-9009-92D0-8F81-15435F50C02D}"/>
              </a:ext>
            </a:extLst>
          </p:cNvPr>
          <p:cNvSpPr/>
          <p:nvPr/>
        </p:nvSpPr>
        <p:spPr>
          <a:xfrm>
            <a:off x="719253" y="2388408"/>
            <a:ext cx="11191875" cy="40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[ralphie@login-ci3]$ 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sinteractive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--partition=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acpu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cpu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-normal --time=10 --</a:t>
            </a:r>
            <a:r>
              <a:rPr lang="en-US" sz="16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16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=1 --nodes=1</a:t>
            </a:r>
            <a:endParaRPr sz="16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E587D2-D737-8CFC-51C6-A737185D4751}"/>
              </a:ext>
            </a:extLst>
          </p:cNvPr>
          <p:cNvSpPr txBox="1"/>
          <p:nvPr/>
        </p:nvSpPr>
        <p:spPr>
          <a:xfrm>
            <a:off x="402183" y="2901863"/>
            <a:ext cx="11191875" cy="86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When the job starts you will be put on a compute node and you can execute your commands:</a:t>
            </a:r>
          </a:p>
        </p:txBody>
      </p:sp>
      <p:sp>
        <p:nvSpPr>
          <p:cNvPr id="7" name="Google Shape;677;p69">
            <a:extLst>
              <a:ext uri="{FF2B5EF4-FFF2-40B4-BE49-F238E27FC236}">
                <a16:creationId xmlns:a16="http://schemas.microsoft.com/office/drawing/2014/main" id="{508607B9-0D5C-B404-BA51-BC3402A6C455}"/>
              </a:ext>
            </a:extLst>
          </p:cNvPr>
          <p:cNvSpPr/>
          <p:nvPr/>
        </p:nvSpPr>
        <p:spPr>
          <a:xfrm>
            <a:off x="719253" y="3848798"/>
            <a:ext cx="7689900" cy="748481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[ralphie@c3cpu-e2-u1]$ module load anaconda  </a:t>
            </a:r>
            <a:endParaRPr b="1" dirty="0">
              <a:solidFill>
                <a:srgbClr val="0070C0"/>
              </a:solidFill>
            </a:endParaRPr>
          </a:p>
          <a:p>
            <a:pPr lvl="0"/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[ralphie@c3cpu-e2-u1]$ python 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my_very_cool_script.py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A4B3B-750F-BC61-3BAB-ECDD9C58D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183" y="4770410"/>
            <a:ext cx="8030419" cy="532660"/>
          </a:xfrm>
        </p:spPr>
        <p:txBody>
          <a:bodyPr/>
          <a:lstStyle/>
          <a:p>
            <a:r>
              <a:rPr lang="en-US" dirty="0"/>
              <a:t>To quit:</a:t>
            </a:r>
          </a:p>
        </p:txBody>
      </p:sp>
      <p:sp>
        <p:nvSpPr>
          <p:cNvPr id="8" name="Google Shape;678;p69">
            <a:extLst>
              <a:ext uri="{FF2B5EF4-FFF2-40B4-BE49-F238E27FC236}">
                <a16:creationId xmlns:a16="http://schemas.microsoft.com/office/drawing/2014/main" id="{A82BCC9A-F85C-03B7-2975-78EF4B73C029}"/>
              </a:ext>
            </a:extLst>
          </p:cNvPr>
          <p:cNvSpPr/>
          <p:nvPr/>
        </p:nvSpPr>
        <p:spPr>
          <a:xfrm>
            <a:off x="719253" y="5308715"/>
            <a:ext cx="7689900" cy="4002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[ralphie@c3cpu-e2-u1]$ exit</a:t>
            </a:r>
            <a:endParaRPr b="1" dirty="0">
              <a:solidFill>
                <a:srgbClr val="0070C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43048-956C-658F-9280-F986F073F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990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46005-17DF-C163-F359-579D84C66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Helvetica Neue Light"/>
              </a:rPr>
              <a:t>Submitting a Batch Job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79D60-9D88-06D2-2DBF-7409090E2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0750"/>
            <a:ext cx="10515600" cy="3308350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b="1" dirty="0">
                <a:solidFill>
                  <a:srgbClr val="2F2B20"/>
                </a:solidFill>
              </a:rPr>
              <a:t>Batch Jobs</a:t>
            </a:r>
            <a:r>
              <a:rPr lang="en-US" dirty="0">
                <a:solidFill>
                  <a:srgbClr val="2F2B20"/>
                </a:solidFill>
              </a:rPr>
              <a:t> are jobs you submit to the scheduler that are run later without supervision</a:t>
            </a:r>
            <a:endParaRPr lang="en-US" dirty="0"/>
          </a:p>
          <a:p>
            <a:r>
              <a:rPr lang="en-US" dirty="0">
                <a:solidFill>
                  <a:srgbClr val="2F2B20"/>
                </a:solidFill>
              </a:rPr>
              <a:t>A job script is simply a script that includes </a:t>
            </a:r>
            <a:r>
              <a:rPr lang="en-US" b="1" dirty="0">
                <a:solidFill>
                  <a:srgbClr val="2F2B20"/>
                </a:solidFill>
              </a:rPr>
              <a:t>SLURM directives</a:t>
            </a:r>
            <a:r>
              <a:rPr lang="en-US" dirty="0">
                <a:solidFill>
                  <a:srgbClr val="2F2B20"/>
                </a:solidFill>
              </a:rPr>
              <a:t> (resource specifics) ahead of any commands.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085E6-3FF9-B283-DB43-4334640E2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037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85C88-55D5-AAC5-53EB-EE49AA2DB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Helvetica Neue Light"/>
              </a:rPr>
              <a:t>Anatomy of a job script 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6EA042-C86E-8A83-DDA4-9FCEA90C0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39</a:t>
            </a:fld>
            <a:endParaRPr lang="en-US"/>
          </a:p>
        </p:txBody>
      </p:sp>
      <p:sp>
        <p:nvSpPr>
          <p:cNvPr id="6" name="Google Shape;418;p43">
            <a:extLst>
              <a:ext uri="{FF2B5EF4-FFF2-40B4-BE49-F238E27FC236}">
                <a16:creationId xmlns:a16="http://schemas.microsoft.com/office/drawing/2014/main" id="{549AC956-14EB-7A28-3E05-7BC3C33B1571}"/>
              </a:ext>
            </a:extLst>
          </p:cNvPr>
          <p:cNvSpPr txBox="1"/>
          <p:nvPr/>
        </p:nvSpPr>
        <p:spPr>
          <a:xfrm>
            <a:off x="838200" y="1891183"/>
            <a:ext cx="10515600" cy="3706118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#!/bin/bash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Directives </a:t>
            </a: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#SBATCH --&lt;option&gt;=&lt;value&gt; 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Software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module load &lt;software&gt;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## User scripting</a:t>
            </a:r>
            <a:endParaRPr sz="2400"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&lt;command&gt;</a:t>
            </a:r>
            <a:endParaRPr sz="2400" b="1" dirty="0"/>
          </a:p>
        </p:txBody>
      </p:sp>
    </p:spTree>
    <p:extLst>
      <p:ext uri="{BB962C8B-B14F-4D97-AF65-F5344CB8AC3E}">
        <p14:creationId xmlns:p14="http://schemas.microsoft.com/office/powerpoint/2010/main" val="34346835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8713F-2EF8-AEBD-6D37-EF3013CB2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F6E75-A8BA-7D39-896B-E2BA1491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Directives in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5C334-04C4-B977-D208-CBF8F7CAD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5512" y="3082924"/>
            <a:ext cx="7800975" cy="69215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--&lt;option&gt;=</a:t>
            </a:r>
            <a:r>
              <a:rPr lang="en-US" sz="36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&lt;value&gt;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0B011-F9D7-5C76-072E-30EE9A5B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780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F3C24-5FE4-F44A-9B79-1F0B71D2E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2C6B0-3280-1E93-7B3D-78EE2046F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Job Script</a:t>
            </a:r>
          </a:p>
        </p:txBody>
      </p:sp>
      <p:pic>
        <p:nvPicPr>
          <p:cNvPr id="7" name="Graphic 6" descr="Programmer male with solid fill">
            <a:extLst>
              <a:ext uri="{FF2B5EF4-FFF2-40B4-BE49-F238E27FC236}">
                <a16:creationId xmlns:a16="http://schemas.microsoft.com/office/drawing/2014/main" id="{9689758E-1B00-4D06-E38E-2112E42DD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10000" y="1316736"/>
            <a:ext cx="4572000" cy="45720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E5A7FD-380B-179F-1602-A18E53F10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188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8CB0E-A1F5-9F88-0F48-B1581C48E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job script</a:t>
            </a:r>
          </a:p>
        </p:txBody>
      </p:sp>
      <p:sp>
        <p:nvSpPr>
          <p:cNvPr id="6" name="Google Shape;427;p44">
            <a:extLst>
              <a:ext uri="{FF2B5EF4-FFF2-40B4-BE49-F238E27FC236}">
                <a16:creationId xmlns:a16="http://schemas.microsoft.com/office/drawing/2014/main" id="{3C594338-B5E4-A7B3-5DB7-FF0FB0681EBC}"/>
              </a:ext>
            </a:extLst>
          </p:cNvPr>
          <p:cNvSpPr txBox="1"/>
          <p:nvPr/>
        </p:nvSpPr>
        <p:spPr>
          <a:xfrm>
            <a:off x="812442" y="1830091"/>
            <a:ext cx="10515600" cy="4321671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2675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#!/bin/bash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Directives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                  	# Number of requested tasks/cores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--time=0:01:00              	# Max run time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--partition=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acpu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     	       # Specify Alpine CPU node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qos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cpu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-normal                # Specify QoS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#SBATCH --output=test_%</a:t>
            </a:r>
            <a:r>
              <a:rPr lang="en-US" sz="2000" b="1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j.out</a:t>
            </a: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       	# Rename standard output file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Software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module purge                          # Purge all existing modules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## User commands</a:t>
            </a:r>
            <a:endParaRPr sz="2000" b="1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echo "This is a test submitted by $USER" </a:t>
            </a:r>
            <a:endParaRPr b="1" dirty="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3C2D7056-BAA3-C8C6-4D0A-7F2F33224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BDA560F-461C-6043-9BC4-489BA92F716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5746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BD66B-C564-6FF8-F795-C4157D7B9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Submitting a Job 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07AB8-A2B1-B61F-443C-A12B8E2C9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2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&lt;</a:t>
            </a:r>
            <a:r>
              <a:rPr lang="en-US" sz="32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job_file</a:t>
            </a:r>
            <a:r>
              <a:rPr lang="en-US" sz="32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&gt; &lt;other-directives&gt;</a:t>
            </a:r>
            <a:endParaRPr lang="en-US" sz="3200" dirty="0"/>
          </a:p>
          <a:p>
            <a:r>
              <a:rPr lang="en-US" dirty="0"/>
              <a:t>Command to submit a job to the </a:t>
            </a:r>
            <a:r>
              <a:rPr lang="en-US" dirty="0" err="1"/>
              <a:t>Slurm</a:t>
            </a:r>
            <a:r>
              <a:rPr lang="en-US" dirty="0"/>
              <a:t> job scheduler</a:t>
            </a:r>
          </a:p>
          <a:p>
            <a:r>
              <a:rPr lang="en-US" dirty="0"/>
              <a:t>If we created the job script “</a:t>
            </a:r>
            <a:r>
              <a:rPr lang="en-US" dirty="0" err="1"/>
              <a:t>my_first_job.sh</a:t>
            </a:r>
            <a:r>
              <a:rPr lang="en-US" dirty="0"/>
              <a:t>” then we would submit it as follows:</a:t>
            </a:r>
          </a:p>
          <a:p>
            <a:pPr marL="915988" indent="0">
              <a:spcAft>
                <a:spcPts val="1800"/>
              </a:spcAft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endParaRPr lang="en-US" dirty="0"/>
          </a:p>
          <a:p>
            <a:r>
              <a:rPr lang="en-US" dirty="0"/>
              <a:t>Modify </a:t>
            </a:r>
            <a:r>
              <a:rPr lang="en-US" dirty="0" err="1"/>
              <a:t>Slurm</a:t>
            </a:r>
            <a:r>
              <a:rPr lang="en-US" dirty="0"/>
              <a:t> directives in the batch script:</a:t>
            </a:r>
          </a:p>
          <a:p>
            <a:pPr marL="915988" indent="0">
              <a:buNone/>
            </a:pP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sbatch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/path/to/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my_first_job.sh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--</a:t>
            </a:r>
            <a:r>
              <a:rPr lang="en-US" sz="28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ntasks</a:t>
            </a:r>
            <a:r>
              <a:rPr lang="en-US" sz="28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=12</a:t>
            </a:r>
            <a:endParaRPr lang="en-US" sz="28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43A6D-36CC-2497-91D7-3D0FF7E06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6687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75463-50BF-24AF-3C10-D30FBDDEC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Helvetica Neue Light"/>
              </a:rPr>
              <a:t>Checking your jobs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04A38D-FDC4-C07B-A6A5-96D3864AF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 err="1">
                <a:solidFill>
                  <a:srgbClr val="0070C0"/>
                </a:solidFill>
              </a:rPr>
              <a:t>squeue</a:t>
            </a:r>
            <a:r>
              <a:rPr lang="en-US" dirty="0"/>
              <a:t>: Monitor your jobs status </a:t>
            </a:r>
            <a:r>
              <a:rPr lang="en-US" b="1" dirty="0"/>
              <a:t>in queue and while running</a:t>
            </a:r>
            <a:r>
              <a:rPr lang="en-US" dirty="0"/>
              <a:t>:</a:t>
            </a:r>
          </a:p>
          <a:p>
            <a:pPr marL="685800" lvl="1" indent="-34226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B20"/>
              </a:buClr>
              <a:buSzPts val="1800"/>
              <a:buChar char="•"/>
            </a:pPr>
            <a:r>
              <a:rPr lang="en-US" sz="24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By </a:t>
            </a:r>
            <a:r>
              <a:rPr lang="en-US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default,</a:t>
            </a:r>
            <a:r>
              <a:rPr lang="en-US" sz="24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 shows all jobs in queue can specify using: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>
                <a:solidFill>
                  <a:srgbClr val="0070C0"/>
                </a:solidFill>
              </a:rPr>
              <a:t>sacct</a:t>
            </a:r>
            <a:r>
              <a:rPr lang="en-US" dirty="0"/>
              <a:t>: Check back on usage statistics of </a:t>
            </a:r>
            <a:r>
              <a:rPr lang="en-US" b="1" dirty="0"/>
              <a:t>previous Jobs</a:t>
            </a:r>
          </a:p>
          <a:p>
            <a:pPr marL="685800" lvl="1" indent="-34226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B20"/>
              </a:buClr>
              <a:buSzPts val="1800"/>
              <a:buChar char="•"/>
            </a:pPr>
            <a:r>
              <a:rPr lang="en-US" sz="2800" dirty="0">
                <a:solidFill>
                  <a:srgbClr val="2F2B20"/>
                </a:solidFill>
                <a:latin typeface="Arial"/>
                <a:ea typeface="Arial"/>
                <a:cs typeface="Arial"/>
                <a:sym typeface="Arial"/>
              </a:rPr>
              <a:t>By default, only checks all jobs from the start of the current day can specify using:</a:t>
            </a:r>
          </a:p>
          <a:p>
            <a:endParaRPr lang="en-US" b="1" dirty="0"/>
          </a:p>
        </p:txBody>
      </p:sp>
      <p:sp>
        <p:nvSpPr>
          <p:cNvPr id="10" name="Google Shape;513;p52">
            <a:extLst>
              <a:ext uri="{FF2B5EF4-FFF2-40B4-BE49-F238E27FC236}">
                <a16:creationId xmlns:a16="http://schemas.microsoft.com/office/drawing/2014/main" id="{6270ABA3-0AD8-3DB2-D330-EF60D5D9006E}"/>
              </a:ext>
            </a:extLst>
          </p:cNvPr>
          <p:cNvSpPr/>
          <p:nvPr/>
        </p:nvSpPr>
        <p:spPr>
          <a:xfrm>
            <a:off x="1620572" y="2662251"/>
            <a:ext cx="7263300" cy="7080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squeue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–u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squeue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–p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&lt;partition&gt;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514;p52">
            <a:extLst>
              <a:ext uri="{FF2B5EF4-FFF2-40B4-BE49-F238E27FC236}">
                <a16:creationId xmlns:a16="http://schemas.microsoft.com/office/drawing/2014/main" id="{CAE36032-1193-A772-7D31-F09CE2559DD8}"/>
              </a:ext>
            </a:extLst>
          </p:cNvPr>
          <p:cNvSpPr/>
          <p:nvPr/>
        </p:nvSpPr>
        <p:spPr>
          <a:xfrm>
            <a:off x="1620572" y="5040513"/>
            <a:ext cx="7263300" cy="10158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 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 –u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18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 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 --start=MM/DD/YY –u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</a:t>
            </a:r>
            <a:endParaRPr sz="1800" dirty="0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sacct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–j 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&lt;job-id&gt;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01835F56-1994-3251-C6BE-9145A84CFEA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2699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F7107-FD63-3C5A-931B-D01E0BD5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Checking your jobs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E9A12-6AB5-5F86-E292-71CEE3639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To check the percentage of CPU and memory usage of a job </a:t>
            </a:r>
            <a:r>
              <a:rPr lang="en-US" sz="2800" b="1" dirty="0"/>
              <a:t>after it completes, </a:t>
            </a:r>
            <a:r>
              <a:rPr lang="en-US" sz="2800" dirty="0"/>
              <a:t>use </a:t>
            </a:r>
            <a:r>
              <a:rPr lang="en-US" sz="2800" dirty="0" err="1">
                <a:solidFill>
                  <a:srgbClr val="0070C0"/>
                </a:solidFill>
              </a:rPr>
              <a:t>seff</a:t>
            </a:r>
            <a:endParaRPr lang="en-US" sz="2800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To see general statistics for your submitted jobs, use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 err="1">
                <a:solidFill>
                  <a:srgbClr val="0070C0"/>
                </a:solidFill>
              </a:rPr>
              <a:t>jobstats</a:t>
            </a:r>
            <a:r>
              <a:rPr lang="en-US" dirty="0"/>
              <a:t> </a:t>
            </a:r>
          </a:p>
        </p:txBody>
      </p:sp>
      <p:sp>
        <p:nvSpPr>
          <p:cNvPr id="6" name="Google Shape;524;p53">
            <a:extLst>
              <a:ext uri="{FF2B5EF4-FFF2-40B4-BE49-F238E27FC236}">
                <a16:creationId xmlns:a16="http://schemas.microsoft.com/office/drawing/2014/main" id="{CF4DCEF5-D99B-F879-C459-5E4536E68F31}"/>
              </a:ext>
            </a:extLst>
          </p:cNvPr>
          <p:cNvSpPr/>
          <p:nvPr/>
        </p:nvSpPr>
        <p:spPr>
          <a:xfrm>
            <a:off x="1185579" y="4241445"/>
            <a:ext cx="7263450" cy="7389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slurmtools</a:t>
            </a:r>
            <a:endParaRPr lang="en-US" sz="2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jobstats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&lt;username&gt; &lt;# of days&gt;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" name="Google Shape;525;p53">
            <a:extLst>
              <a:ext uri="{FF2B5EF4-FFF2-40B4-BE49-F238E27FC236}">
                <a16:creationId xmlns:a16="http://schemas.microsoft.com/office/drawing/2014/main" id="{5D84A3AA-B607-E8D8-B14E-9655F494AA9B}"/>
              </a:ext>
            </a:extLst>
          </p:cNvPr>
          <p:cNvSpPr/>
          <p:nvPr/>
        </p:nvSpPr>
        <p:spPr>
          <a:xfrm>
            <a:off x="1185729" y="2757419"/>
            <a:ext cx="7263300" cy="738900"/>
          </a:xfrm>
          <a:prstGeom prst="rect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module load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slurmtools</a:t>
            </a:r>
            <a:endParaRPr sz="2000" dirty="0">
              <a:solidFill>
                <a:srgbClr val="0070C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$ </a:t>
            </a:r>
            <a:r>
              <a:rPr lang="en-US" sz="2000" dirty="0" err="1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seff</a:t>
            </a:r>
            <a:r>
              <a:rPr lang="en-US" sz="2000" dirty="0">
                <a:solidFill>
                  <a:srgbClr val="0070C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000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&lt;job number&gt;</a:t>
            </a:r>
            <a:endParaRPr sz="2000"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FBBE5115-E911-129B-C175-8232773E456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BDA560F-461C-6043-9BC4-489BA92F7161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7355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E62E-E30C-F963-780F-4C867BBEC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Job Monitoring - XDMOD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7966D6-9645-45E3-95A6-E25C97B46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46</a:t>
            </a:fld>
            <a:endParaRPr lang="en-US"/>
          </a:p>
        </p:txBody>
      </p:sp>
      <p:pic>
        <p:nvPicPr>
          <p:cNvPr id="8194" name="Picture 2" descr="A screenshot of the XDMoD interface">
            <a:extLst>
              <a:ext uri="{FF2B5EF4-FFF2-40B4-BE49-F238E27FC236}">
                <a16:creationId xmlns:a16="http://schemas.microsoft.com/office/drawing/2014/main" id="{E36BD517-D6FE-03D3-3158-D78C63FF0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4195" y="1462088"/>
            <a:ext cx="8128005" cy="41148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4949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6"/>
          <p:cNvSpPr txBox="1">
            <a:spLocks noGrp="1"/>
          </p:cNvSpPr>
          <p:nvPr>
            <p:ph type="title"/>
          </p:nvPr>
        </p:nvSpPr>
        <p:spPr>
          <a:xfrm>
            <a:off x="838200" y="80816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Help! I’m stuck, where do I go?</a:t>
            </a:r>
            <a:endParaRPr dirty="0"/>
          </a:p>
        </p:txBody>
      </p:sp>
      <p:sp>
        <p:nvSpPr>
          <p:cNvPr id="899" name="Google Shape;899;p76"/>
          <p:cNvSpPr txBox="1">
            <a:spLocks noGrp="1"/>
          </p:cNvSpPr>
          <p:nvPr>
            <p:ph type="body" idx="1"/>
          </p:nvPr>
        </p:nvSpPr>
        <p:spPr>
          <a:xfrm>
            <a:off x="437990" y="1406516"/>
            <a:ext cx="11107911" cy="416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Documentation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3"/>
              </a:rPr>
              <a:t>curc.readthedocs.io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  <a:endParaRPr sz="2200" dirty="0">
              <a:solidFill>
                <a:srgbClr val="1D1C1D"/>
              </a:solidFill>
            </a:endParaRPr>
          </a:p>
          <a:p>
            <a:pPr marL="457200" lvl="0" indent="-374650" algn="l" rtl="0">
              <a:lnSpc>
                <a:spcPct val="150001"/>
              </a:lnSpc>
              <a:spcBef>
                <a:spcPts val="300"/>
              </a:spcBef>
              <a:spcAft>
                <a:spcPts val="0"/>
              </a:spcAft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Trainings with Center for Research Data and Digital Scholarship (CRDDS)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u="sng" dirty="0">
                <a:solidFill>
                  <a:schemeClr val="hlink"/>
                </a:solidFill>
                <a:hlinkClick r:id="rId4"/>
              </a:rPr>
              <a:t>www.colorado.edu/crdds</a:t>
            </a:r>
            <a:r>
              <a:rPr lang="en-US" sz="2200" dirty="0">
                <a:solidFill>
                  <a:srgbClr val="1D1C1D"/>
                </a:solidFill>
              </a:rPr>
              <a:t> </a:t>
            </a: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rgbClr val="1D1C1D"/>
                </a:solidFill>
              </a:rPr>
              <a:t>Support request form</a:t>
            </a:r>
            <a:r>
              <a:rPr lang="en-US" sz="2200" dirty="0">
                <a:solidFill>
                  <a:srgbClr val="1D1C1D"/>
                </a:solidFill>
              </a:rPr>
              <a:t>: </a:t>
            </a:r>
            <a:r>
              <a:rPr lang="en-US" sz="2200" dirty="0" err="1">
                <a:solidFill>
                  <a:srgbClr val="0563C1"/>
                </a:solidFill>
              </a:rPr>
              <a:t>colorado.service-now.com</a:t>
            </a:r>
            <a:r>
              <a:rPr lang="en-US" sz="2200" dirty="0">
                <a:solidFill>
                  <a:srgbClr val="0563C1"/>
                </a:solidFill>
              </a:rPr>
              <a:t>/</a:t>
            </a:r>
            <a:r>
              <a:rPr lang="en-US" sz="2200" dirty="0" err="1">
                <a:solidFill>
                  <a:srgbClr val="0563C1"/>
                </a:solidFill>
              </a:rPr>
              <a:t>req_portal?id</a:t>
            </a:r>
            <a:r>
              <a:rPr lang="en-US" sz="2200" dirty="0">
                <a:solidFill>
                  <a:srgbClr val="0563C1"/>
                </a:solidFill>
              </a:rPr>
              <a:t>=</a:t>
            </a:r>
            <a:r>
              <a:rPr lang="en-US" sz="2200" dirty="0" err="1">
                <a:solidFill>
                  <a:srgbClr val="0563C1"/>
                </a:solidFill>
              </a:rPr>
              <a:t>ucb_sc_rc_form</a:t>
            </a:r>
            <a:endParaRPr lang="en-US" sz="2200" dirty="0">
              <a:solidFill>
                <a:srgbClr val="0563C1"/>
              </a:solidFill>
            </a:endParaRPr>
          </a:p>
          <a:p>
            <a:pPr indent="-374650">
              <a:lnSpc>
                <a:spcPct val="150001"/>
              </a:lnSpc>
              <a:spcBef>
                <a:spcPts val="300"/>
              </a:spcBef>
              <a:buClr>
                <a:srgbClr val="1D1C1D"/>
              </a:buClr>
              <a:buSzPts val="2300"/>
              <a:buFont typeface="Arial"/>
              <a:buChar char="●"/>
            </a:pPr>
            <a:r>
              <a:rPr lang="en-US" sz="2200" b="1" u="sng" dirty="0">
                <a:solidFill>
                  <a:schemeClr val="tx1"/>
                </a:solidFill>
                <a:hlinkClick r:id="rId5"/>
              </a:rPr>
              <a:t>Consult Hours</a:t>
            </a:r>
            <a:r>
              <a:rPr lang="en-US" sz="2200" b="1" dirty="0">
                <a:solidFill>
                  <a:schemeClr val="tx1"/>
                </a:solidFill>
                <a:hlinkClick r:id="rId5"/>
              </a:rPr>
              <a:t> </a:t>
            </a:r>
            <a:r>
              <a:rPr lang="en-US" sz="2200" b="1" dirty="0">
                <a:solidFill>
                  <a:schemeClr val="tx1"/>
                </a:solidFill>
              </a:rPr>
              <a:t>(Tuesday 1:00-2:00pm in-person or virtually, Thursday 1:00-2:00pm virtually)</a:t>
            </a:r>
          </a:p>
        </p:txBody>
      </p:sp>
      <p:sp>
        <p:nvSpPr>
          <p:cNvPr id="900" name="Google Shape;900;p7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78"/>
          <p:cNvSpPr txBox="1">
            <a:spLocks noGrp="1"/>
          </p:cNvSpPr>
          <p:nvPr>
            <p:ph type="title"/>
          </p:nvPr>
        </p:nvSpPr>
        <p:spPr>
          <a:xfrm>
            <a:off x="686640" y="13655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Survey and feedback</a:t>
            </a:r>
            <a:endParaRPr dirty="0"/>
          </a:p>
        </p:txBody>
      </p:sp>
      <p:sp>
        <p:nvSpPr>
          <p:cNvPr id="914" name="Google Shape;914;p78"/>
          <p:cNvSpPr txBox="1">
            <a:spLocks noGrp="1"/>
          </p:cNvSpPr>
          <p:nvPr>
            <p:ph type="body" idx="1"/>
          </p:nvPr>
        </p:nvSpPr>
        <p:spPr>
          <a:xfrm>
            <a:off x="681996" y="2914389"/>
            <a:ext cx="6438580" cy="82623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buNone/>
            </a:pPr>
            <a:r>
              <a:rPr lang="en-US" sz="3300" dirty="0">
                <a:hlinkClick r:id="rId3"/>
              </a:rPr>
              <a:t>https://</a:t>
            </a:r>
            <a:r>
              <a:rPr lang="en-US" sz="3300" dirty="0" err="1">
                <a:hlinkClick r:id="rId3"/>
              </a:rPr>
              <a:t>s.zoom.us</a:t>
            </a:r>
            <a:r>
              <a:rPr lang="en-US" sz="3300" dirty="0">
                <a:hlinkClick r:id="rId3"/>
              </a:rPr>
              <a:t>/m/bPlTUoGhy</a:t>
            </a:r>
            <a:r>
              <a:rPr lang="en-US" sz="3300" dirty="0"/>
              <a:t> </a:t>
            </a:r>
            <a:endParaRPr sz="3300" dirty="0"/>
          </a:p>
        </p:txBody>
      </p:sp>
      <p:sp>
        <p:nvSpPr>
          <p:cNvPr id="915" name="Google Shape;915;p7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6828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pic>
        <p:nvPicPr>
          <p:cNvPr id="4" name="Picture 3" descr="QR code for https://s.zoom.us/m/bPlTUoGhy &#13;&#10;">
            <a:extLst>
              <a:ext uri="{FF2B5EF4-FFF2-40B4-BE49-F238E27FC236}">
                <a16:creationId xmlns:a16="http://schemas.microsoft.com/office/drawing/2014/main" id="{564303DD-19B4-0BEF-F5ED-CFEBD5E740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1754" y="1750549"/>
            <a:ext cx="3160701" cy="31539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B Content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2c16b9d-8c83-445e-a4f4-1fe3d2f43f13" xsi:nil="true"/>
    <lcf76f155ced4ddcb4097134ff3c332f xmlns="7e49f7d3-8802-46ca-9604-495ce27f67f4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7320DB280744439FF1CC777D09ECA4" ma:contentTypeVersion="15" ma:contentTypeDescription="Create a new document." ma:contentTypeScope="" ma:versionID="e50b92032c956cc777cf00ac7d475189">
  <xsd:schema xmlns:xsd="http://www.w3.org/2001/XMLSchema" xmlns:xs="http://www.w3.org/2001/XMLSchema" xmlns:p="http://schemas.microsoft.com/office/2006/metadata/properties" xmlns:ns2="7e49f7d3-8802-46ca-9604-495ce27f67f4" xmlns:ns3="a1519f9a-9d6a-41c1-afc9-552e4069f82f" xmlns:ns4="92c16b9d-8c83-445e-a4f4-1fe3d2f43f13" targetNamespace="http://schemas.microsoft.com/office/2006/metadata/properties" ma:root="true" ma:fieldsID="fcd7cab68a23f1df7b42ced4f3edf141" ns2:_="" ns3:_="" ns4:_="">
    <xsd:import namespace="7e49f7d3-8802-46ca-9604-495ce27f67f4"/>
    <xsd:import namespace="a1519f9a-9d6a-41c1-afc9-552e4069f82f"/>
    <xsd:import namespace="92c16b9d-8c83-445e-a4f4-1fe3d2f43f1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49f7d3-8802-46ca-9604-495ce27f67f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2802cc5-2881-4dd7-9d75-38905e9cf7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519f9a-9d6a-41c1-afc9-552e4069f82f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c16b9d-8c83-445e-a4f4-1fe3d2f43f13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95373c19-887a-4e93-8582-23ebe3fe2f18}" ma:internalName="TaxCatchAll" ma:showField="CatchAllData" ma:web="a1519f9a-9d6a-41c1-afc9-552e4069f8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AB02FF4-25A1-49FE-9DF7-DD19F525B7FA}">
  <ds:schemaRefs>
    <ds:schemaRef ds:uri="7e49f7d3-8802-46ca-9604-495ce27f67f4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http://www.w3.org/XML/1998/namespace"/>
    <ds:schemaRef ds:uri="92c16b9d-8c83-445e-a4f4-1fe3d2f43f13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a1519f9a-9d6a-41c1-afc9-552e4069f82f"/>
  </ds:schemaRefs>
</ds:datastoreItem>
</file>

<file path=customXml/itemProps2.xml><?xml version="1.0" encoding="utf-8"?>
<ds:datastoreItem xmlns:ds="http://schemas.openxmlformats.org/officeDocument/2006/customXml" ds:itemID="{6BBC22CE-40EC-4545-8FE9-90326628051D}">
  <ds:schemaRefs>
    <ds:schemaRef ds:uri="7e49f7d3-8802-46ca-9604-495ce27f67f4"/>
    <ds:schemaRef ds:uri="92c16b9d-8c83-445e-a4f4-1fe3d2f43f13"/>
    <ds:schemaRef ds:uri="a1519f9a-9d6a-41c1-afc9-552e4069f82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06B4C708-AA43-4CE7-BE2D-F9D9A02F494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3ded8b1b-070d-4629-82e4-c0b019f46057}" enabled="0" method="" siteId="{3ded8b1b-070d-4629-82e4-c0b019f4605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11257</TotalTime>
  <Words>2780</Words>
  <Application>Microsoft Macintosh PowerPoint</Application>
  <PresentationFormat>Widescreen</PresentationFormat>
  <Paragraphs>500</Paragraphs>
  <Slides>48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7" baseType="lpstr">
      <vt:lpstr>Arial</vt:lpstr>
      <vt:lpstr>Arial Black</vt:lpstr>
      <vt:lpstr>Calibri</vt:lpstr>
      <vt:lpstr>Consolas</vt:lpstr>
      <vt:lpstr>Courier New</vt:lpstr>
      <vt:lpstr>Helvetica Neue</vt:lpstr>
      <vt:lpstr>Helvetica Neue Light</vt:lpstr>
      <vt:lpstr>Times New Roman</vt:lpstr>
      <vt:lpstr>CUB Content </vt:lpstr>
      <vt:lpstr>Getting Started with Research Computing From Command Line to Job Scheduling</vt:lpstr>
      <vt:lpstr>Useful CURC links</vt:lpstr>
      <vt:lpstr>The user support team</vt:lpstr>
      <vt:lpstr>Encouraging questions</vt:lpstr>
      <vt:lpstr>General Overview of Job Submission</vt:lpstr>
      <vt:lpstr>Login Nodes</vt:lpstr>
      <vt:lpstr>Accessing the Terminal</vt:lpstr>
      <vt:lpstr>Accessing the Terminal Cont.</vt:lpstr>
      <vt:lpstr>Linux Command Line</vt:lpstr>
      <vt:lpstr>List Files and Directories</vt:lpstr>
      <vt:lpstr>Standard CURC Directories</vt:lpstr>
      <vt:lpstr>File Operations</vt:lpstr>
      <vt:lpstr>Create and edit a file – Terminal Text Editors</vt:lpstr>
      <vt:lpstr>Creating a Bash Script</vt:lpstr>
      <vt:lpstr>Shell script basics</vt:lpstr>
      <vt:lpstr>Selecting Resources</vt:lpstr>
      <vt:lpstr>Common Resource Requests</vt:lpstr>
      <vt:lpstr>Alpine Partitions</vt:lpstr>
      <vt:lpstr>Alpine Partitions - acpu</vt:lpstr>
      <vt:lpstr>Alpine Partitions - amem</vt:lpstr>
      <vt:lpstr>Alpine Partitions – NVIDIA GPUs</vt:lpstr>
      <vt:lpstr>Alpine Partitions – AMD GPUs</vt:lpstr>
      <vt:lpstr>Alpine Testing Resources</vt:lpstr>
      <vt:lpstr>Quality of Service (QoS)</vt:lpstr>
      <vt:lpstr>Selecting Hardware</vt:lpstr>
      <vt:lpstr>GRES Type</vt:lpstr>
      <vt:lpstr>Walltime</vt:lpstr>
      <vt:lpstr>Requesting a Job</vt:lpstr>
      <vt:lpstr>Planned Maintenance </vt:lpstr>
      <vt:lpstr>Batch vs Interactive Jobs</vt:lpstr>
      <vt:lpstr>Batch Jobs</vt:lpstr>
      <vt:lpstr>Interactive Jobs</vt:lpstr>
      <vt:lpstr>Slurm Directives</vt:lpstr>
      <vt:lpstr>Common Slurm Directives</vt:lpstr>
      <vt:lpstr>Common Slurm Directives cont.</vt:lpstr>
      <vt:lpstr>Starting an interactive job</vt:lpstr>
      <vt:lpstr>Running an interactive job</vt:lpstr>
      <vt:lpstr>Submitting a Batch Job</vt:lpstr>
      <vt:lpstr>Anatomy of a job script </vt:lpstr>
      <vt:lpstr>Directives in a job script</vt:lpstr>
      <vt:lpstr>Creating a Job Script</vt:lpstr>
      <vt:lpstr>Example job script</vt:lpstr>
      <vt:lpstr>Submitting a Job script</vt:lpstr>
      <vt:lpstr>Checking your jobs</vt:lpstr>
      <vt:lpstr>Checking your jobs</vt:lpstr>
      <vt:lpstr>Job Monitoring - XDMOD</vt:lpstr>
      <vt:lpstr>Help! I’m stuck, where do I go?</vt:lpstr>
      <vt:lpstr>Survey and 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CURC Alpine Allocations</dc:title>
  <dc:creator>Layla Freeborn</dc:creator>
  <cp:lastModifiedBy>Brandon Reyes</cp:lastModifiedBy>
  <cp:revision>60</cp:revision>
  <cp:lastPrinted>2025-09-12T16:15:41Z</cp:lastPrinted>
  <dcterms:created xsi:type="dcterms:W3CDTF">2023-01-13T17:07:22Z</dcterms:created>
  <dcterms:modified xsi:type="dcterms:W3CDTF">2026-08-28T21:58:02Z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0x010100DC7320DB280744439FF1CC777D09ECA4</vt:lpwstr>
  </property>
</Properties>
</file>