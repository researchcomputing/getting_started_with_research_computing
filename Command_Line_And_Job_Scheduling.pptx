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</p:sldMasterIdLst>
  <p:notesMasterIdLst>
    <p:notesMasterId r:id="rId66"/>
  </p:notesMasterIdLst>
  <p:sldIdLst>
    <p:sldId id="256" r:id="rId5"/>
    <p:sldId id="430" r:id="rId6"/>
    <p:sldId id="365" r:id="rId7"/>
    <p:sldId id="261" r:id="rId8"/>
    <p:sldId id="385" r:id="rId9"/>
    <p:sldId id="386" r:id="rId10"/>
    <p:sldId id="351" r:id="rId11"/>
    <p:sldId id="399" r:id="rId12"/>
    <p:sldId id="418" r:id="rId13"/>
    <p:sldId id="420" r:id="rId14"/>
    <p:sldId id="421" r:id="rId15"/>
    <p:sldId id="400" r:id="rId16"/>
    <p:sldId id="404" r:id="rId17"/>
    <p:sldId id="405" r:id="rId18"/>
    <p:sldId id="406" r:id="rId19"/>
    <p:sldId id="422" r:id="rId20"/>
    <p:sldId id="423" r:id="rId21"/>
    <p:sldId id="424" r:id="rId22"/>
    <p:sldId id="407" r:id="rId23"/>
    <p:sldId id="425" r:id="rId24"/>
    <p:sldId id="263" r:id="rId25"/>
    <p:sldId id="426" r:id="rId26"/>
    <p:sldId id="370" r:id="rId27"/>
    <p:sldId id="371" r:id="rId28"/>
    <p:sldId id="354" r:id="rId29"/>
    <p:sldId id="355" r:id="rId30"/>
    <p:sldId id="429" r:id="rId31"/>
    <p:sldId id="358" r:id="rId32"/>
    <p:sldId id="427" r:id="rId33"/>
    <p:sldId id="396" r:id="rId34"/>
    <p:sldId id="383" r:id="rId35"/>
    <p:sldId id="384" r:id="rId36"/>
    <p:sldId id="359" r:id="rId37"/>
    <p:sldId id="266" r:id="rId38"/>
    <p:sldId id="298" r:id="rId39"/>
    <p:sldId id="408" r:id="rId40"/>
    <p:sldId id="409" r:id="rId41"/>
    <p:sldId id="377" r:id="rId42"/>
    <p:sldId id="376" r:id="rId43"/>
    <p:sldId id="375" r:id="rId44"/>
    <p:sldId id="428" r:id="rId45"/>
    <p:sldId id="387" r:id="rId46"/>
    <p:sldId id="388" r:id="rId47"/>
    <p:sldId id="389" r:id="rId48"/>
    <p:sldId id="390" r:id="rId49"/>
    <p:sldId id="392" r:id="rId50"/>
    <p:sldId id="381" r:id="rId51"/>
    <p:sldId id="378" r:id="rId52"/>
    <p:sldId id="379" r:id="rId53"/>
    <p:sldId id="372" r:id="rId54"/>
    <p:sldId id="380" r:id="rId55"/>
    <p:sldId id="366" r:id="rId56"/>
    <p:sldId id="398" r:id="rId57"/>
    <p:sldId id="368" r:id="rId58"/>
    <p:sldId id="367" r:id="rId59"/>
    <p:sldId id="357" r:id="rId60"/>
    <p:sldId id="361" r:id="rId61"/>
    <p:sldId id="362" r:id="rId62"/>
    <p:sldId id="416" r:id="rId63"/>
    <p:sldId id="318" r:id="rId64"/>
    <p:sldId id="320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691206C-2BA2-452A-5B48-4B2D08511887}" name="Michael Joseph Schneider" initials="MS" userId="S::misc7570@colorado.edu::0526a63a-26d6-4239-972a-179b08dd2c7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FE0"/>
    <a:srgbClr val="D88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56"/>
    <p:restoredTop sz="85010"/>
  </p:normalViewPr>
  <p:slideViewPr>
    <p:cSldViewPr snapToGrid="0">
      <p:cViewPr varScale="1">
        <p:scale>
          <a:sx n="145" d="100"/>
          <a:sy n="145" d="100"/>
        </p:scale>
        <p:origin x="20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DA08D6-E137-3341-A5EE-84219A24203E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6901F-C6C3-9E47-9843-744856EDD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40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0E6FC-C58D-CA46-93FA-98E1AAB1BA5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30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2316551ed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2316551eda_0_13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workshop is meant to be empowering and information-rich – to help you get the most out of your HPC workflow.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Feel free to ask questions during the presentations and to discuss ideas/thoughts during breaks and the hands-on portion of the workshop.</a:t>
            </a:r>
            <a:endParaRPr dirty="0"/>
          </a:p>
        </p:txBody>
      </p:sp>
      <p:sp>
        <p:nvSpPr>
          <p:cNvPr id="130" name="Google Shape;130;g12316551eda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62E4C-332A-DF2E-2BF7-74E94D9B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4600BF-7E38-F8C8-4E3C-BD8D7C262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90C72-9C84-D7FF-9A49-CF2AAD13FC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job submission consists of three general steps: </a:t>
            </a:r>
          </a:p>
          <a:p>
            <a:pPr marL="228600" indent="-228600">
              <a:buAutoNum type="arabicPeriod"/>
            </a:pPr>
            <a:r>
              <a:rPr lang="en-US" dirty="0"/>
              <a:t>Log onto a CURC Login Node (ssh, OnDemand)</a:t>
            </a:r>
          </a:p>
          <a:p>
            <a:pPr marL="0" indent="0">
              <a:buNone/>
            </a:pPr>
            <a:r>
              <a:rPr lang="en-US" dirty="0"/>
              <a:t>*Warning/Reminder*</a:t>
            </a:r>
          </a:p>
          <a:p>
            <a:pPr marL="0" indent="0">
              <a:buNone/>
            </a:pPr>
            <a:r>
              <a:rPr lang="en-US" dirty="0"/>
              <a:t>Software cannot be accessed/run from a login node. You must run your applications from a compute node. But, in order to run on a compute node, you must first request the system resources through a ”job”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93261-C34F-4598-03CA-40CDD1DDC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115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A912D-66FD-52B1-E4CE-B6310F42C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336E4E-E064-9D50-166A-7AC955F7DF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99D1E2-84F2-34D8-E086-D20A17805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job submission consists of three general steps: </a:t>
            </a:r>
          </a:p>
          <a:p>
            <a:pPr marL="228600" indent="-228600">
              <a:buAutoNum type="arabicPeriod"/>
            </a:pPr>
            <a:r>
              <a:rPr lang="en-US" dirty="0"/>
              <a:t>Log onto a CURC Login Node (ssh, OnDemand)</a:t>
            </a:r>
          </a:p>
          <a:p>
            <a:pPr marL="0" indent="0">
              <a:buNone/>
            </a:pPr>
            <a:r>
              <a:rPr lang="en-US" dirty="0"/>
              <a:t>*Warning/Reminder*</a:t>
            </a:r>
          </a:p>
          <a:p>
            <a:pPr marL="0" indent="0">
              <a:buNone/>
            </a:pPr>
            <a:r>
              <a:rPr lang="en-US" dirty="0"/>
              <a:t>Software cannot be accessed/run from a login node. You must run your applications from a compute node. But, in order to run on a compute node, you must first request the system resources through a ”job”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Job requests are submitted to SLURM, our system’s Job Scheduler which manages how and when system resources are allocated to user submitted jobs. </a:t>
            </a:r>
          </a:p>
          <a:p>
            <a:pPr marL="0" indent="0">
              <a:buNone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SLURM: S</a:t>
            </a:r>
            <a:r>
              <a:rPr lang="en-US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imple </a:t>
            </a:r>
            <a:r>
              <a:rPr lang="en-US" b="1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L</a:t>
            </a:r>
            <a:r>
              <a:rPr lang="en-US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inux </a:t>
            </a:r>
            <a:r>
              <a:rPr lang="en-US" b="1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U</a:t>
            </a:r>
            <a:r>
              <a:rPr lang="en-US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tility for </a:t>
            </a:r>
            <a:r>
              <a:rPr lang="en-US" b="1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R</a:t>
            </a:r>
            <a:r>
              <a:rPr lang="en-US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esource </a:t>
            </a:r>
            <a:r>
              <a:rPr lang="en-US" b="1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M</a:t>
            </a:r>
            <a:r>
              <a:rPr lang="en-US" dirty="0">
                <a:solidFill>
                  <a:srgbClr val="2F2B20"/>
                </a:solidFill>
                <a:ea typeface="Arial"/>
                <a:cs typeface="Arial"/>
                <a:sym typeface="Arial"/>
              </a:rPr>
              <a:t>anagement</a:t>
            </a:r>
            <a:endParaRPr lang="en-US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663A1-44CA-A980-BE0A-8BA0453ED9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541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689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</a:t>
            </a:r>
            <a:r>
              <a:rPr lang="en-US" dirty="0" err="1"/>
              <a:t>hello.sh</a:t>
            </a:r>
            <a:r>
              <a:rPr lang="en-US" dirty="0"/>
              <a:t> file you </a:t>
            </a:r>
            <a:r>
              <a:rPr lang="en-US" dirty="0" err="1"/>
              <a:t>chmod’d</a:t>
            </a:r>
            <a:r>
              <a:rPr lang="en-US" dirty="0"/>
              <a:t> was a bash shell script.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implies that the Bash script is running in a separate independent shell. This separate shell terminates at the end of the script, leaving the parent shell, the shell we’re in, unaffected.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pwd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echo $$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PID OF CURRENT PROCESS</a:t>
            </a:r>
            <a:endParaRPr dirty="0"/>
          </a:p>
        </p:txBody>
      </p:sp>
      <p:sp>
        <p:nvSpPr>
          <p:cNvPr id="220" name="Google Shape;22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EFF08-17DB-28FC-AC3E-D0CE31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089E0-940F-F89C-AEDB-4483A7E3C7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FE7A55-A2DC-8455-F874-C7762F9541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31DDC3-11A8-B552-D2B9-C2EE619A2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57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5232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308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216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8522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F0D89-6906-7AE4-7E91-B3575E8E6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85DE2-BF0B-B41C-543E-B97A11527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D6A8D-EDE2-023B-A521-F8A5342AF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2151F9-BACF-5D57-CA63-DBF49896D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4443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7611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Output files are important for debugging and verifying a job has completed successfully. Always include a --output directive!</a:t>
            </a:r>
          </a:p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The output file is created in directory job was run unless specified in your </a:t>
            </a:r>
            <a:r>
              <a:rPr lang="en-US" sz="1200" i="0" u="none" strike="noStrike" cap="none" dirty="0">
                <a:solidFill>
                  <a:srgbClr val="0070C0"/>
                </a:solidFill>
              </a:rPr>
              <a:t>--output 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directive.</a:t>
            </a:r>
            <a:endParaRPr lang="en-US" sz="900" i="0" u="none" strike="noStrike" cap="none" dirty="0">
              <a:solidFill>
                <a:schemeClr val="tx1"/>
              </a:solidFill>
            </a:endParaRPr>
          </a:p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If the </a:t>
            </a:r>
            <a:r>
              <a:rPr lang="en-US" sz="1200" i="0" u="none" strike="noStrike" cap="none" dirty="0">
                <a:solidFill>
                  <a:srgbClr val="000000"/>
                </a:solidFill>
              </a:rPr>
              <a:t>directive </a:t>
            </a:r>
            <a:r>
              <a:rPr lang="en-US" sz="1200" i="0" u="none" strike="noStrike" cap="none" dirty="0">
                <a:solidFill>
                  <a:srgbClr val="0070C0"/>
                </a:solidFill>
              </a:rPr>
              <a:t>--output 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is not provided, then a generic file name will be used (</a:t>
            </a:r>
            <a:r>
              <a:rPr lang="en-US" sz="1200" i="0" u="none" strike="noStrike" cap="none" dirty="0" err="1">
                <a:solidFill>
                  <a:schemeClr val="dk1"/>
                </a:solidFill>
              </a:rPr>
              <a:t>slurm_xxxxxx.out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).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2691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694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9085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6090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 gave you the example of $USER being an environmental variable- it’s a variable stored in the system that’s there every time you login, no matter whether you’re on a compute node or the login node.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Variables that you set in your shell or shell script, on the other hand, are examples of local variables.  Local variables are those 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whose scope is within the function where it is declared( can be accessed within the declared block or function in the program)</a:t>
            </a:r>
            <a:endParaRPr dirty="0"/>
          </a:p>
        </p:txBody>
      </p:sp>
      <p:sp>
        <p:nvSpPr>
          <p:cNvPr id="242" name="Google Shape;2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have them do echo $USER  &amp; </a:t>
            </a:r>
            <a:r>
              <a:rPr lang="en-US" dirty="0" err="1"/>
              <a:t>printenv</a:t>
            </a:r>
            <a:r>
              <a:rPr lang="en-US" dirty="0"/>
              <a:t> for an easier to read version of env</a:t>
            </a:r>
            <a:endParaRPr dirty="0"/>
          </a:p>
        </p:txBody>
      </p:sp>
      <p:sp>
        <p:nvSpPr>
          <p:cNvPr id="249" name="Google Shape;24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099183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B08F8443-5723-DE28-3F07-96B5016EF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0:notes">
            <a:extLst>
              <a:ext uri="{FF2B5EF4-FFF2-40B4-BE49-F238E27FC236}">
                <a16:creationId xmlns:a16="http://schemas.microsoft.com/office/drawing/2014/main" id="{497C9F1E-B234-0212-4CBF-2AEAF1EA87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Here we show that g is inheritable in the script. Once you execute the script though, you will not be able to use the variable a outside of the script</a:t>
            </a:r>
            <a:endParaRPr dirty="0"/>
          </a:p>
        </p:txBody>
      </p:sp>
      <p:sp>
        <p:nvSpPr>
          <p:cNvPr id="242" name="Google Shape;242;p10:notes">
            <a:extLst>
              <a:ext uri="{FF2B5EF4-FFF2-40B4-BE49-F238E27FC236}">
                <a16:creationId xmlns:a16="http://schemas.microsoft.com/office/drawing/2014/main" id="{2A4CE986-4AA7-E9B9-CA9B-D76C321F09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345106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32D26ADD-0374-51DC-2FB0-961741BCD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0:notes">
            <a:extLst>
              <a:ext uri="{FF2B5EF4-FFF2-40B4-BE49-F238E27FC236}">
                <a16:creationId xmlns:a16="http://schemas.microsoft.com/office/drawing/2014/main" id="{3C62F934-BCFB-442F-7FFD-634F702D4D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Here we show that g is inheritable in the script. Once you execute the script though, you will not be able to use the variable a outside of the script</a:t>
            </a:r>
            <a:endParaRPr dirty="0"/>
          </a:p>
        </p:txBody>
      </p:sp>
      <p:sp>
        <p:nvSpPr>
          <p:cNvPr id="242" name="Google Shape;242;p10:notes">
            <a:extLst>
              <a:ext uri="{FF2B5EF4-FFF2-40B4-BE49-F238E27FC236}">
                <a16:creationId xmlns:a16="http://schemas.microsoft.com/office/drawing/2014/main" id="{3438E15E-DD60-CC81-E711-A90D230CD6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386285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that you have a general idea of what resources you plan to request, you will need to consider the type of job you are wanting to schedule. A batch job or an interactive job.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3082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1898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349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4119F-56F7-FE6B-7D5B-CBBA29A92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DDB1D2-B44B-B862-3A92-9AE839ADC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78450D-8779-AB0C-FA17-ADAB84475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48ED0-0C36-C354-62B9-DD36FA035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10721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Partition – Defines what type of hardware your job has access to.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9962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E0E6F-D211-2178-D494-79BA91D71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51E79-9E01-80E2-5349-4C2DF2677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DCA6E8-F3B8-7C2E-F58C-A119DC29E6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Partition – Defines what type of hardware your job has access to. </a:t>
            </a:r>
          </a:p>
          <a:p>
            <a:endParaRPr lang="en-US" dirty="0"/>
          </a:p>
          <a:p>
            <a:r>
              <a:rPr lang="en-US" dirty="0" err="1"/>
              <a:t>Ntasks</a:t>
            </a:r>
            <a:r>
              <a:rPr lang="en-US" dirty="0"/>
              <a:t> – How many CPU cores your job is requesting</a:t>
            </a:r>
          </a:p>
          <a:p>
            <a:endParaRPr lang="en-US" dirty="0"/>
          </a:p>
          <a:p>
            <a:r>
              <a:rPr lang="en-US" dirty="0"/>
              <a:t>Nodes – How many nodes your job will run across (typically 1, but can be more)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CA4CD-E821-CF91-1136-E37AF4C972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8302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08A7-23C6-BD90-F319-2A89FB661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6817B7-5964-8119-26DA-7FF5FF8A0E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875199-7118-E592-BF86-8AED4AA4D9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Partition – Defines what type of hardware your job has access to. </a:t>
            </a:r>
          </a:p>
          <a:p>
            <a:endParaRPr lang="en-US" dirty="0"/>
          </a:p>
          <a:p>
            <a:r>
              <a:rPr lang="en-US" dirty="0" err="1"/>
              <a:t>Ntasks</a:t>
            </a:r>
            <a:r>
              <a:rPr lang="en-US" dirty="0"/>
              <a:t> – How many CPU cores your job is requesting</a:t>
            </a:r>
          </a:p>
          <a:p>
            <a:endParaRPr lang="en-US" dirty="0"/>
          </a:p>
          <a:p>
            <a:r>
              <a:rPr lang="en-US" dirty="0"/>
              <a:t>Nodes – How many nodes your job will run across (typically 1, but can be more)</a:t>
            </a:r>
          </a:p>
          <a:p>
            <a:endParaRPr lang="en-US" dirty="0"/>
          </a:p>
          <a:p>
            <a:r>
              <a:rPr lang="en-US" dirty="0"/>
              <a:t>Wall Time – How much time your job needs to run on the system (can be a few minutes, a few hours, to multiple days)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274F5-C2F6-992A-5458-B4786FF1C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110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82510-1769-6BC8-BB9B-135FF833F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33525-5BC4-C921-368C-83EE5BF1A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DBE478-FD25-34F7-1CA6-CE401C07B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Partition – Defines what type of hardware your job has access to. </a:t>
            </a:r>
          </a:p>
          <a:p>
            <a:endParaRPr lang="en-US" dirty="0"/>
          </a:p>
          <a:p>
            <a:r>
              <a:rPr lang="en-US" dirty="0" err="1"/>
              <a:t>Ntasks</a:t>
            </a:r>
            <a:r>
              <a:rPr lang="en-US" dirty="0"/>
              <a:t> – How many CPU cores your job is requesting</a:t>
            </a:r>
          </a:p>
          <a:p>
            <a:endParaRPr lang="en-US" dirty="0"/>
          </a:p>
          <a:p>
            <a:r>
              <a:rPr lang="en-US" dirty="0"/>
              <a:t>Nodes – How many nodes your job will run across (typically 1, but can be more)</a:t>
            </a:r>
          </a:p>
          <a:p>
            <a:endParaRPr lang="en-US" dirty="0"/>
          </a:p>
          <a:p>
            <a:r>
              <a:rPr lang="en-US" dirty="0"/>
              <a:t>Wall Time – How much time your job needs to run on the system (can be a few minutes, a few hours, to multiple days)</a:t>
            </a:r>
          </a:p>
          <a:p>
            <a:endParaRPr lang="en-US" dirty="0"/>
          </a:p>
          <a:p>
            <a:r>
              <a:rPr lang="en-US" dirty="0"/>
              <a:t>Quality of Service (QOS) – Defines additional job constraints – i.e. limits to how much your job can request.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2EE18-E4E7-4784-936B-E7FE848F5D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0910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6ECE2-5AD6-D9F5-9DAF-C7B81B96E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993770-685F-7026-97C8-EFCD6A231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51FB9-94DB-B60C-3B4D-80D740C71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resources and how many you can request is heavily dependent on what partition and </a:t>
            </a:r>
            <a:r>
              <a:rPr lang="en-US" dirty="0" err="1"/>
              <a:t>qos</a:t>
            </a:r>
            <a:r>
              <a:rPr lang="en-US" dirty="0"/>
              <a:t> you select. We will now provide a general overview of our primary partitions and </a:t>
            </a:r>
            <a:r>
              <a:rPr lang="en-US" dirty="0" err="1"/>
              <a:t>qos’s</a:t>
            </a:r>
            <a:r>
              <a:rPr lang="en-US" dirty="0"/>
              <a:t>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3763F-C145-97E4-C13E-87161E34D5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0930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D0A3E20E-FC8A-5CE7-3FB3-E125CF50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F7B83B71-ECA6-67CD-8273-82DEA84147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A9D89E84-E581-89A7-7FA7-E771B1827C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Compute nodes are organized into partitions – logical groups of similarly spec’d hardware.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Partitions make it easier to request specific resources and ensure a more consistent user experience.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Alpine Cluster has four primary partitions.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9D29B984-FBEC-866C-F88B-A129F4D25A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34176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3B3E419D-42DC-9BF8-E574-79B5FE756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E2B5DF0E-33E4-CD33-E622-8A5DDB436E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F259969-7916-7A22-7681-4C78BEE02A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86D727F-2132-DA15-78AF-130F8F1B1E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58037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2C0D8D7D-F11A-6ED5-0EA5-19E98E5B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50EA0C7D-3FEF-4C96-8B9F-1773780BE6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B7914616-93C1-BF2D-A39D-0222189A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9DCA4C4-C232-5907-9F06-1B58CD873E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49002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F8D2C90A-5B73-4508-615E-264362A90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16E7737-79B1-8E6E-5A38-C6999827C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F931679B-1D1E-8F7D-0C6C-336DB0BAB5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endParaRPr lang="en-US" dirty="0"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382B4DD-9E5B-2333-B86F-57C4B97154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105811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A4AEB09C-00E5-8F93-C01E-34DCA8FC7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468BC0F-AD51-A90A-E685-BFC983EF0D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CD8BF36-4E58-DC63-9B9E-3C3A3BA1C8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FE227A3-0A7E-F0BB-133C-485346F260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13782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long </a:t>
            </a:r>
            <a:r>
              <a:rPr lang="en-US" dirty="0" err="1"/>
              <a:t>qos</a:t>
            </a:r>
            <a:r>
              <a:rPr lang="en-US" dirty="0"/>
              <a:t> has longer queue </a:t>
            </a:r>
            <a:r>
              <a:rPr lang="en-US"/>
              <a:t>wait times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95771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1673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2300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5120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4414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89847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12316551eda_0_8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5" name="Google Shape;895;g12316551eda_0_860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96" name="Google Shape;896;g12316551eda_0_8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60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12316551eda_0_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0" name="Google Shape;910;g12316551eda_0_874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1" name="Google Shape;911;g12316551eda_0_8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22933-1853-3695-5698-EA2C873D5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339900-6690-4850-B14D-CFF0A6DDB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3EF43-FA77-3703-DB72-C6218B0476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/>
              <a:t>9/12/25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2B1B4-AC37-41B2-EB63-E0D769F47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838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E1D7D-D016-C86F-111E-51245E7BA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0B542-AE2F-4E58-DD66-7DA9CB444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321B0-98E4-9776-8ABB-72C7B07ABE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70515"/>
            <a:ext cx="2743200" cy="3651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/>
              <a:t>9/12/25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58BD9-1414-8B11-5258-F11F3BBA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4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FF543F-785B-81AD-859C-25E1E14F9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11285-AC5A-F005-FEA3-CACE5986B4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AEED0-1DC9-A7B8-1AA0-116CA0EB67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Shape&#10;&#10;Description automatically generated with medium confidence">
            <a:extLst>
              <a:ext uri="{FF2B5EF4-FFF2-40B4-BE49-F238E27FC236}">
                <a16:creationId xmlns:a16="http://schemas.microsoft.com/office/drawing/2014/main" id="{16A367C9-3AA6-1192-2565-6CDE4E3F4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6246811"/>
            <a:ext cx="4724400" cy="584200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CA2128F-B59B-98EB-B50C-F663F9DCCD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24400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9/12/25</a:t>
            </a:r>
          </a:p>
        </p:txBody>
      </p:sp>
    </p:spTree>
    <p:extLst>
      <p:ext uri="{BB962C8B-B14F-4D97-AF65-F5344CB8AC3E}">
        <p14:creationId xmlns:p14="http://schemas.microsoft.com/office/powerpoint/2010/main" val="2504841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c.colorado.edu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curc.readthedocs.io/en/latest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urc.readthedocs.io/en/latest/access/logging-in.html" TargetMode="External"/><Relationship Id="rId2" Type="http://schemas.openxmlformats.org/officeDocument/2006/relationships/hyperlink" Target="https://ondemand-rmacc.rc.colorado.edu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urc.readthedocs.io/en/latest/access/logging-in.html" TargetMode="External"/><Relationship Id="rId2" Type="http://schemas.openxmlformats.org/officeDocument/2006/relationships/hyperlink" Target="https://ondemand-rmacc.rc.colorado.edu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urc.readthedocs.io/en/latest/access/logging-in.html" TargetMode="External"/><Relationship Id="rId2" Type="http://schemas.openxmlformats.org/officeDocument/2006/relationships/hyperlink" Target="https://ondemand-rmacc.rc.colorado.edu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://curc.readthedocs.io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olorado.edu/crdds/events#drop_in_consultations-89" TargetMode="External"/><Relationship Id="rId5" Type="http://schemas.openxmlformats.org/officeDocument/2006/relationships/hyperlink" Target="mailto:rc-help@colorado.edu" TargetMode="External"/><Relationship Id="rId4" Type="http://schemas.openxmlformats.org/officeDocument/2006/relationships/hyperlink" Target="https://www.colorado.edu/crdds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curc-survey18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32560"/>
          <a:stretch/>
        </p:blipFill>
        <p:spPr>
          <a:xfrm>
            <a:off x="0" y="0"/>
            <a:ext cx="12208413" cy="45007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>
            <a:spLocks noGrp="1"/>
          </p:cNvSpPr>
          <p:nvPr>
            <p:ph type="ctrTitle"/>
          </p:nvPr>
        </p:nvSpPr>
        <p:spPr>
          <a:xfrm>
            <a:off x="459256" y="4836507"/>
            <a:ext cx="11289900" cy="11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</a:pPr>
            <a:r>
              <a:rPr lang="en-US" sz="4400" dirty="0"/>
              <a:t>Getting Started with Research Computing</a:t>
            </a:r>
            <a:br>
              <a:rPr lang="en-US" sz="4400" dirty="0"/>
            </a:br>
            <a:r>
              <a:rPr lang="en-US" sz="3200" dirty="0"/>
              <a:t>From Command Line to Job Scheduling</a:t>
            </a:r>
            <a:endParaRPr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0082-60A2-8E8C-93CB-F5A869FA2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5563"/>
            <a:ext cx="10515600" cy="1325563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Useful CURC links</a:t>
            </a:r>
          </a:p>
        </p:txBody>
      </p:sp>
      <p:sp>
        <p:nvSpPr>
          <p:cNvPr id="4" name="Google Shape;98;p14">
            <a:extLst>
              <a:ext uri="{FF2B5EF4-FFF2-40B4-BE49-F238E27FC236}">
                <a16:creationId xmlns:a16="http://schemas.microsoft.com/office/drawing/2014/main" id="{68E75E60-516C-5ACC-9B2C-B6A1774A889E}"/>
              </a:ext>
            </a:extLst>
          </p:cNvPr>
          <p:cNvSpPr txBox="1">
            <a:spLocks/>
          </p:cNvSpPr>
          <p:nvPr/>
        </p:nvSpPr>
        <p:spPr>
          <a:xfrm>
            <a:off x="279955" y="2331720"/>
            <a:ext cx="7010400" cy="219456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Website: </a:t>
            </a:r>
            <a:r>
              <a:rPr lang="en-US" sz="2400" u="sng" dirty="0">
                <a:solidFill>
                  <a:schemeClr val="hlink"/>
                </a:solidFill>
                <a:ea typeface="Arial"/>
                <a:cs typeface="Arial"/>
                <a:hlinkClick r:id="rId3"/>
              </a:rPr>
              <a:t>www.rc.colorado.edu</a:t>
            </a:r>
            <a:endParaRPr lang="en-US" sz="2400" dirty="0">
              <a:solidFill>
                <a:schemeClr val="hlink"/>
              </a:solidFill>
              <a:ea typeface="Arial"/>
              <a:cs typeface="Arial"/>
            </a:endParaRP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Documentation: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ea typeface="Arial"/>
                <a:cs typeface="Arial"/>
                <a:hlinkClick r:id="rId4"/>
              </a:rPr>
              <a:t>curc.readthedocs.io</a:t>
            </a:r>
            <a:r>
              <a:rPr lang="en-US" sz="2400" dirty="0">
                <a:ea typeface="Arial"/>
                <a:cs typeface="Arial"/>
              </a:rPr>
              <a:t> </a:t>
            </a: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Support request form: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solidFill>
                  <a:srgbClr val="0563C1"/>
                </a:solidFill>
                <a:ea typeface="Arial"/>
                <a:cs typeface="Arial"/>
              </a:rPr>
              <a:t>colorado.service-now.com/req_portal?id=ucb_sc_rc_form</a:t>
            </a:r>
            <a:r>
              <a:rPr lang="en-US" sz="2400" dirty="0">
                <a:solidFill>
                  <a:srgbClr val="0000FF"/>
                </a:solidFill>
                <a:ea typeface="Arial"/>
                <a:cs typeface="Arial"/>
              </a:rPr>
              <a:t> </a:t>
            </a:r>
            <a:endParaRPr lang="en-US" sz="2400" u="sng" dirty="0">
              <a:solidFill>
                <a:srgbClr val="0000FF"/>
              </a:solidFill>
              <a:ea typeface="Arial"/>
              <a:cs typeface="Arial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CE29C41-6B27-6F60-8168-62581B12D518}"/>
              </a:ext>
            </a:extLst>
          </p:cNvPr>
          <p:cNvSpPr txBox="1">
            <a:spLocks/>
          </p:cNvSpPr>
          <p:nvPr/>
        </p:nvSpPr>
        <p:spPr>
          <a:xfrm>
            <a:off x="5841558" y="6367559"/>
            <a:ext cx="5088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6A7983A4-F384-C340-9CB2-175593F0E4F5}" type="slidenum">
              <a:rPr lang="en-US"/>
              <a:pPr algn="l"/>
              <a:t>2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EE983C-BF7D-9FDC-C0C2-904D80A680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565968" y="2331720"/>
            <a:ext cx="3931920" cy="2194560"/>
            <a:chOff x="2734356" y="510892"/>
            <a:chExt cx="3931920" cy="2194560"/>
          </a:xfrm>
        </p:grpSpPr>
        <p:pic>
          <p:nvPicPr>
            <p:cNvPr id="9" name="Picture 8" descr="A black and gold logo&#10;&#10;Description automatically generated">
              <a:extLst>
                <a:ext uri="{FF2B5EF4-FFF2-40B4-BE49-F238E27FC236}">
                  <a16:creationId xmlns:a16="http://schemas.microsoft.com/office/drawing/2014/main" id="{7FB1F572-2B82-EC63-473F-35770E4BD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4649" y="693772"/>
              <a:ext cx="3571335" cy="1828800"/>
            </a:xfrm>
            <a:prstGeom prst="rect">
              <a:avLst/>
            </a:prstGeom>
          </p:spPr>
        </p:pic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4D607CAF-4F62-005D-FDF3-5BB59B1A5EF9}"/>
                </a:ext>
              </a:extLst>
            </p:cNvPr>
            <p:cNvSpPr/>
            <p:nvPr/>
          </p:nvSpPr>
          <p:spPr>
            <a:xfrm>
              <a:off x="2734356" y="510892"/>
              <a:ext cx="3931920" cy="2194560"/>
            </a:xfrm>
            <a:prstGeom prst="roundRect">
              <a:avLst>
                <a:gd name="adj" fmla="val 8994"/>
              </a:avLst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3A574-E021-E66F-50EE-C0BCBF2D26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2387600"/>
            <a:ext cx="9144000" cy="2387600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The user support team</a:t>
            </a:r>
          </a:p>
        </p:txBody>
      </p:sp>
      <p:pic>
        <p:nvPicPr>
          <p:cNvPr id="8" name="Picture 7" descr="Picture showing the RC User Support team">
            <a:extLst>
              <a:ext uri="{FF2B5EF4-FFF2-40B4-BE49-F238E27FC236}">
                <a16:creationId xmlns:a16="http://schemas.microsoft.com/office/drawing/2014/main" id="{13513FD8-9948-2F45-CF62-A1A2AFBA5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04" y="43608"/>
            <a:ext cx="10689866" cy="60130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9AEEA2-192E-AA62-50EE-AA62ABA07F8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096000" y="6324601"/>
            <a:ext cx="682920" cy="36512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3561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136" name="Google Shape;136;p19"/>
          <p:cNvSpPr txBox="1"/>
          <p:nvPr/>
        </p:nvSpPr>
        <p:spPr>
          <a:xfrm>
            <a:off x="4277455" y="4488215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Ask Questions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Graphic 4" descr="An icon of two people discussing a question, with a speech bubble containing a question mark above them">
            <a:extLst>
              <a:ext uri="{FF2B5EF4-FFF2-40B4-BE49-F238E27FC236}">
                <a16:creationId xmlns:a16="http://schemas.microsoft.com/office/drawing/2014/main" id="{81316737-E39C-896D-10BE-E6C435DF9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99764" y="711954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A54EE-7747-752D-0D8F-365025D82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74E9B0-3E63-11AE-1D5A-93993FA7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5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5A6705C9-A110-F547-5D8D-12DFEEDEE3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latin typeface="Helvetica Neue Light"/>
                <a:ea typeface="Helvetica Neue Light"/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E48749A-7432-8A78-E6B9-7E8A057F611F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6" name="Google Shape;210;p30" descr="An icon of a person at a laptop">
              <a:extLst>
                <a:ext uri="{FF2B5EF4-FFF2-40B4-BE49-F238E27FC236}">
                  <a16:creationId xmlns:a16="http://schemas.microsoft.com/office/drawing/2014/main" id="{4D9DAA5F-A33A-8172-D3BC-C0EFEF0E82B7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C1D4D88D-9E5F-D5E4-F919-600CAAEFA3D1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42A24E8-260C-A0A0-87A0-3833D2C81732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282054D-6AB3-9986-FC2E-63BE41405165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AA4E3B2E-E76B-BB95-0F2A-079896E4DE90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9F8B192-6AD2-C0E2-8FBC-22506E0FB33D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6580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5B4A2-34FF-8945-C9F0-D38B1C250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E1B7CA-5CE1-6EB9-6D97-97A73A6DC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6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C7E7C3A4-726A-DD2F-0F22-038C0CCB03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latin typeface="Helvetica Neue Light"/>
                <a:ea typeface="Helvetica Neue Light"/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38A0AAE-9896-530F-BAA4-DC5792DEBAC4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6" name="Google Shape;210;p30" descr="An icon of a person at a laptop">
              <a:extLst>
                <a:ext uri="{FF2B5EF4-FFF2-40B4-BE49-F238E27FC236}">
                  <a16:creationId xmlns:a16="http://schemas.microsoft.com/office/drawing/2014/main" id="{B2D58DC3-F9A5-8EE3-7255-148B20BADD94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110B2ADA-81E4-5379-1C9E-59430D86F12E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CF57761-3219-EC4C-9AB1-467847FEA3E0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AD3B4B7-33FB-3CC8-2CD7-AFB91352FE89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C13F99A-70AE-8510-05E1-E1A2A8AC50EE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A2FD897-4B78-E500-96BC-E001F60AB765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C4F3D53-B3BA-411C-4465-68507652A050}"/>
              </a:ext>
            </a:extLst>
          </p:cNvPr>
          <p:cNvGrpSpPr/>
          <p:nvPr/>
        </p:nvGrpSpPr>
        <p:grpSpPr>
          <a:xfrm>
            <a:off x="4920733" y="1759077"/>
            <a:ext cx="3623731" cy="3339847"/>
            <a:chOff x="4920733" y="1759077"/>
            <a:chExt cx="3623731" cy="3339847"/>
          </a:xfrm>
        </p:grpSpPr>
        <p:pic>
          <p:nvPicPr>
            <p:cNvPr id="2" name="Picture 2" descr="The logo of the Slurm workload manager">
              <a:extLst>
                <a:ext uri="{FF2B5EF4-FFF2-40B4-BE49-F238E27FC236}">
                  <a16:creationId xmlns:a16="http://schemas.microsoft.com/office/drawing/2014/main" id="{3ACF88A9-1397-49DC-1D99-762A27F56A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5247464" y="2847709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Right Arrow Callout 33">
              <a:extLst>
                <a:ext uri="{FF2B5EF4-FFF2-40B4-BE49-F238E27FC236}">
                  <a16:creationId xmlns:a16="http://schemas.microsoft.com/office/drawing/2014/main" id="{55515B1C-7890-40D1-1FC1-2C271EC0E99A}"/>
                </a:ext>
              </a:extLst>
            </p:cNvPr>
            <p:cNvSpPr/>
            <p:nvPr/>
          </p:nvSpPr>
          <p:spPr>
            <a:xfrm>
              <a:off x="4933621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D507720-EE42-72A6-6EEE-F9C9ED9F4C66}"/>
                </a:ext>
              </a:extLst>
            </p:cNvPr>
            <p:cNvGrpSpPr/>
            <p:nvPr/>
          </p:nvGrpSpPr>
          <p:grpSpPr>
            <a:xfrm>
              <a:off x="4920733" y="1873651"/>
              <a:ext cx="2351516" cy="707886"/>
              <a:chOff x="540307" y="1873650"/>
              <a:chExt cx="2351516" cy="707886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78E15C2-8DFE-09A6-4713-B272D41A933B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FD33E25-8666-F237-DB8B-84C4F29678D1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4D07994-CF4D-7C20-4702-1034BC3219BE}"/>
                </a:ext>
              </a:extLst>
            </p:cNvPr>
            <p:cNvSpPr txBox="1"/>
            <p:nvPr/>
          </p:nvSpPr>
          <p:spPr>
            <a:xfrm>
              <a:off x="4933621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8420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DBB18D-FB7D-F2BF-A154-79E6A3457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7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8E6FEFA0-D4B8-CC71-FDDD-F918B7C3F7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latin typeface="Helvetica Neue Light"/>
                <a:ea typeface="Helvetica Neue Light"/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F113AD-1E98-5E7F-5452-270D5896A74B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6" name="Google Shape;210;p30">
              <a:extLst>
                <a:ext uri="{FF2B5EF4-FFF2-40B4-BE49-F238E27FC236}">
                  <a16:creationId xmlns:a16="http://schemas.microsoft.com/office/drawing/2014/main" id="{6445D8FA-61FC-C99C-FBF0-FE41F2867EA6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D1F6003B-6623-8814-EF42-BD56D32E21D1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D54623E-55FE-5016-88E7-859D6212172B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AF5CB76-729A-3C38-279C-2C7E61E3A9B0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AA96D8E1-31CF-5327-5B67-2EDC22CED229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D6AC7A0-B089-F320-3991-E46034178576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696D335-AC8F-D2DC-8B73-6968FD6DE0B0}"/>
              </a:ext>
            </a:extLst>
          </p:cNvPr>
          <p:cNvGrpSpPr/>
          <p:nvPr/>
        </p:nvGrpSpPr>
        <p:grpSpPr>
          <a:xfrm>
            <a:off x="4920733" y="1759077"/>
            <a:ext cx="3623731" cy="3339847"/>
            <a:chOff x="4920733" y="1759077"/>
            <a:chExt cx="3623731" cy="3339847"/>
          </a:xfrm>
        </p:grpSpPr>
        <p:pic>
          <p:nvPicPr>
            <p:cNvPr id="2" name="Picture 2" descr="The logo of the Slurm workload manager">
              <a:extLst>
                <a:ext uri="{FF2B5EF4-FFF2-40B4-BE49-F238E27FC236}">
                  <a16:creationId xmlns:a16="http://schemas.microsoft.com/office/drawing/2014/main" id="{6CB1CD0B-FBFC-C08B-ACC5-7272C42BC2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5247464" y="2847709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Right Arrow Callout 33">
              <a:extLst>
                <a:ext uri="{FF2B5EF4-FFF2-40B4-BE49-F238E27FC236}">
                  <a16:creationId xmlns:a16="http://schemas.microsoft.com/office/drawing/2014/main" id="{3E5C80A0-E947-38AD-F1D4-923A324CA447}"/>
                </a:ext>
              </a:extLst>
            </p:cNvPr>
            <p:cNvSpPr/>
            <p:nvPr/>
          </p:nvSpPr>
          <p:spPr>
            <a:xfrm>
              <a:off x="4933621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2775936-EA5C-533D-7DFE-4A84895E5977}"/>
                </a:ext>
              </a:extLst>
            </p:cNvPr>
            <p:cNvGrpSpPr/>
            <p:nvPr/>
          </p:nvGrpSpPr>
          <p:grpSpPr>
            <a:xfrm>
              <a:off x="4920733" y="1873651"/>
              <a:ext cx="2351516" cy="707886"/>
              <a:chOff x="540307" y="1873650"/>
              <a:chExt cx="2351516" cy="707886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641A5BB-77EA-273B-8E7A-8664CF1EA0C5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A54F45C-49A2-0592-EF97-EEB15755B068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EE613B8-83CC-2DE3-004F-C699F420D014}"/>
                </a:ext>
              </a:extLst>
            </p:cNvPr>
            <p:cNvSpPr txBox="1"/>
            <p:nvPr/>
          </p:nvSpPr>
          <p:spPr>
            <a:xfrm>
              <a:off x="4933621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9250C8E-41E9-F796-8BD4-955D6962A2FB}"/>
              </a:ext>
            </a:extLst>
          </p:cNvPr>
          <p:cNvGrpSpPr/>
          <p:nvPr/>
        </p:nvGrpSpPr>
        <p:grpSpPr>
          <a:xfrm>
            <a:off x="8747203" y="1764792"/>
            <a:ext cx="2375619" cy="3334132"/>
            <a:chOff x="8747203" y="1764792"/>
            <a:chExt cx="2375619" cy="3334132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7AA69B1-C5FC-5B47-22B1-1893FB15BCBD}"/>
                </a:ext>
              </a:extLst>
            </p:cNvPr>
            <p:cNvSpPr/>
            <p:nvPr/>
          </p:nvSpPr>
          <p:spPr>
            <a:xfrm>
              <a:off x="8767136" y="1764792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56C0665-D303-870A-8948-8814BB5FE8E1}"/>
                </a:ext>
              </a:extLst>
            </p:cNvPr>
            <p:cNvSpPr txBox="1"/>
            <p:nvPr/>
          </p:nvSpPr>
          <p:spPr>
            <a:xfrm>
              <a:off x="8784195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Tuning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214DDDDD-3CB5-2CD6-2422-43D3B8458EA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113489" y="2757571"/>
              <a:ext cx="1645920" cy="1546836"/>
              <a:chOff x="8412658" y="2617108"/>
              <a:chExt cx="1929294" cy="1813150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FC66A7A-0575-898D-E9E1-B3F27F73801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23" name="Rounded Rectangle 22" descr="An icon representing a computer chip">
                  <a:extLst>
                    <a:ext uri="{FF2B5EF4-FFF2-40B4-BE49-F238E27FC236}">
                      <a16:creationId xmlns:a16="http://schemas.microsoft.com/office/drawing/2014/main" id="{8D2450D7-B329-63DB-EDD1-E07E82D72D90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24" name="Graphic 23">
                  <a:extLst>
                    <a:ext uri="{FF2B5EF4-FFF2-40B4-BE49-F238E27FC236}">
                      <a16:creationId xmlns:a16="http://schemas.microsoft.com/office/drawing/2014/main" id="{FE8221AE-93C6-A7FB-48DE-4AB479C030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597D9C63-4800-BBEA-DC3F-F8FD0C412D20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42" name="Rounded Rectangle 41" descr="An icon of a stopwatch">
                  <a:extLst>
                    <a:ext uri="{FF2B5EF4-FFF2-40B4-BE49-F238E27FC236}">
                      <a16:creationId xmlns:a16="http://schemas.microsoft.com/office/drawing/2014/main" id="{F0D502A3-CB15-6B69-EDED-92F7C83A89B1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45" name="Graphic 44" descr="Stopwatch with solid fill">
                  <a:extLst>
                    <a:ext uri="{FF2B5EF4-FFF2-40B4-BE49-F238E27FC236}">
                      <a16:creationId xmlns:a16="http://schemas.microsoft.com/office/drawing/2014/main" id="{BC741E21-006A-309E-B444-555F73882B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7D732F-E0EA-02A1-C116-7C8AD7AE53A4}"/>
                </a:ext>
              </a:extLst>
            </p:cNvPr>
            <p:cNvGrpSpPr/>
            <p:nvPr/>
          </p:nvGrpSpPr>
          <p:grpSpPr>
            <a:xfrm>
              <a:off x="8747203" y="1891582"/>
              <a:ext cx="2351516" cy="707886"/>
              <a:chOff x="540307" y="1873650"/>
              <a:chExt cx="2351516" cy="707886"/>
            </a:xfrm>
          </p:grpSpPr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1B292E2-B647-B3FC-DFA6-2C2C40737E41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3A141B5-4BED-68AB-8415-8477992B4656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2735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93AFA-595A-A4BF-CBBA-86347F9D7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the Terminal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835AB-88FA-69B7-BD08-9D58DD2CB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7928" y="563753"/>
            <a:ext cx="10515600" cy="4351338"/>
          </a:xfrm>
        </p:spPr>
        <p:txBody>
          <a:bodyPr>
            <a:normAutofit/>
          </a:bodyPr>
          <a:lstStyle/>
          <a:p>
            <a:pPr marL="377825" lvl="1" indent="-243840"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dirty="0">
                <a:ea typeface="Helvetica Neue Light" panose="02000403000000020004" pitchFamily="2" charset="0"/>
                <a:sym typeface="Arial"/>
              </a:rPr>
              <a:t>Navigate to </a:t>
            </a:r>
            <a:r>
              <a:rPr lang="en-US" dirty="0">
                <a:ea typeface="Helvetica Neue Light" panose="02000403000000020004" pitchFamily="2" charset="0"/>
                <a:sym typeface="Arial"/>
                <a:hlinkClick r:id="rId2"/>
              </a:rPr>
              <a:t>https://ondemand-rmacc.rc.colorado.edu</a:t>
            </a:r>
            <a:r>
              <a:rPr lang="en-US" dirty="0">
                <a:ea typeface="Helvetica Neue Light" panose="02000403000000020004" pitchFamily="2" charset="0"/>
                <a:sym typeface="Arial"/>
              </a:rPr>
              <a:t> </a:t>
            </a:r>
            <a:endParaRPr lang="en-US" dirty="0">
              <a:solidFill>
                <a:schemeClr val="accent1">
                  <a:lumMod val="75000"/>
                </a:schemeClr>
              </a:solidFill>
              <a:ea typeface="Helvetica Neue Light" panose="02000403000000020004" pitchFamily="2" charset="0"/>
              <a:cs typeface="Source Sans Pro Light" panose="020F0302020204030204" pitchFamily="34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solidFill>
                <a:srgbClr val="FF0000"/>
              </a:solidFill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Choose your organization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Enter your password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Authenticate by accepting the Duo push to your smartphone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Select the “Clusters” app to bring up an Alpine terminal</a:t>
            </a:r>
          </a:p>
          <a:p>
            <a:pPr marL="0" lvl="1" indent="0">
              <a:buClr>
                <a:srgbClr val="A9A57C"/>
              </a:buClr>
              <a:buSzPts val="2550"/>
              <a:buNone/>
            </a:pPr>
            <a:endParaRPr lang="en-US" dirty="0">
              <a:ea typeface="Helvetica Neue Light" panose="02000403000000020004" pitchFamily="2" charset="0"/>
              <a:hlinkClick r:id="rId3"/>
            </a:endParaRPr>
          </a:p>
          <a:p>
            <a:pPr marL="133985" lvl="1">
              <a:buClr>
                <a:srgbClr val="A9A57C"/>
              </a:buClr>
              <a:buSzPts val="2550"/>
            </a:pP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https://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curc.readthedocs.io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en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/latest/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open_ondemand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index.html</a:t>
            </a:r>
            <a:endParaRPr lang="en-US" dirty="0">
              <a:solidFill>
                <a:srgbClr val="0070C0"/>
              </a:solidFill>
              <a:ea typeface="Helvetica Neue Light" panose="02000403000000020004" pitchFamily="2" charset="0"/>
              <a:sym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B988D8-2B8C-DD0E-124E-5F54EA9B8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8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B315854-E3BA-D280-F358-DE1362716025}"/>
              </a:ext>
            </a:extLst>
          </p:cNvPr>
          <p:cNvGrpSpPr/>
          <p:nvPr/>
        </p:nvGrpSpPr>
        <p:grpSpPr>
          <a:xfrm>
            <a:off x="573024" y="1554479"/>
            <a:ext cx="4151376" cy="3657600"/>
            <a:chOff x="573024" y="1929383"/>
            <a:chExt cx="4151376" cy="3657600"/>
          </a:xfrm>
        </p:grpSpPr>
        <p:pic>
          <p:nvPicPr>
            <p:cNvPr id="7" name="Graphic 6" descr="Cmd Terminal with solid fill">
              <a:extLst>
                <a:ext uri="{FF2B5EF4-FFF2-40B4-BE49-F238E27FC236}">
                  <a16:creationId xmlns:a16="http://schemas.microsoft.com/office/drawing/2014/main" id="{930BB8A3-A619-1685-F2CA-5444D09198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3024" y="1929383"/>
              <a:ext cx="4151376" cy="36576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801B388-6D6C-5509-D732-2FEDCD7F6038}"/>
                </a:ext>
              </a:extLst>
            </p:cNvPr>
            <p:cNvSpPr txBox="1"/>
            <p:nvPr/>
          </p:nvSpPr>
          <p:spPr>
            <a:xfrm>
              <a:off x="2185416" y="3250351"/>
              <a:ext cx="17668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b="1" dirty="0"/>
                <a:t>SSH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7594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A1313-9657-F454-22E2-46B04EED6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17F6A-5CE0-70BC-441B-348408090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the Terminal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8F9F6-AE7B-3251-4D99-5B8675921F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7928" y="563753"/>
            <a:ext cx="10515600" cy="4351338"/>
          </a:xfrm>
        </p:spPr>
        <p:txBody>
          <a:bodyPr>
            <a:normAutofit/>
          </a:bodyPr>
          <a:lstStyle/>
          <a:p>
            <a:pPr marL="377825" lvl="1" indent="-243840"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dirty="0">
                <a:ea typeface="Helvetica Neue Light" panose="02000403000000020004" pitchFamily="2" charset="0"/>
                <a:sym typeface="Arial"/>
              </a:rPr>
              <a:t>Navigate to </a:t>
            </a:r>
            <a:r>
              <a:rPr lang="en-US" dirty="0">
                <a:ea typeface="Helvetica Neue Light" panose="02000403000000020004" pitchFamily="2" charset="0"/>
                <a:sym typeface="Arial"/>
                <a:hlinkClick r:id="rId2"/>
              </a:rPr>
              <a:t>https://ondemand-rmacc.rc.colorado.edu</a:t>
            </a:r>
            <a:r>
              <a:rPr lang="en-US" dirty="0">
                <a:ea typeface="Helvetica Neue Light" panose="02000403000000020004" pitchFamily="2" charset="0"/>
                <a:sym typeface="Arial"/>
              </a:rPr>
              <a:t> </a:t>
            </a:r>
            <a:endParaRPr lang="en-US" dirty="0">
              <a:solidFill>
                <a:schemeClr val="accent1">
                  <a:lumMod val="75000"/>
                </a:schemeClr>
              </a:solidFill>
              <a:ea typeface="Helvetica Neue Light" panose="02000403000000020004" pitchFamily="2" charset="0"/>
              <a:cs typeface="Source Sans Pro Light" panose="020F0302020204030204" pitchFamily="34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solidFill>
                <a:srgbClr val="FF0000"/>
              </a:solidFill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Choose your organization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Enter your password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Authenticate by accepting the Duo push to your smartphone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Select the “Clusters” app to bring up an Alpine terminal</a:t>
            </a:r>
          </a:p>
          <a:p>
            <a:pPr marL="0" lvl="1" indent="0">
              <a:buClr>
                <a:srgbClr val="A9A57C"/>
              </a:buClr>
              <a:buSzPts val="2550"/>
              <a:buNone/>
            </a:pPr>
            <a:endParaRPr lang="en-US" dirty="0">
              <a:ea typeface="Helvetica Neue Light" panose="02000403000000020004" pitchFamily="2" charset="0"/>
              <a:hlinkClick r:id="rId3"/>
            </a:endParaRPr>
          </a:p>
          <a:p>
            <a:pPr marL="133985" lvl="1">
              <a:buClr>
                <a:srgbClr val="A9A57C"/>
              </a:buClr>
              <a:buSzPts val="2550"/>
            </a:pP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https://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curc.readthedocs.io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en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/latest/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open_ondemand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index.html</a:t>
            </a:r>
            <a:endParaRPr lang="en-US" dirty="0">
              <a:solidFill>
                <a:srgbClr val="0070C0"/>
              </a:solidFill>
              <a:ea typeface="Helvetica Neue Light" panose="02000403000000020004" pitchFamily="2" charset="0"/>
              <a:sym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91D166-D987-88B8-6738-07B992AAB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9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A401788-2892-6E4D-D958-E0632262B29C}"/>
              </a:ext>
            </a:extLst>
          </p:cNvPr>
          <p:cNvGrpSpPr/>
          <p:nvPr/>
        </p:nvGrpSpPr>
        <p:grpSpPr>
          <a:xfrm>
            <a:off x="573024" y="1554479"/>
            <a:ext cx="4151376" cy="3657600"/>
            <a:chOff x="573024" y="1929383"/>
            <a:chExt cx="4151376" cy="3657600"/>
          </a:xfrm>
        </p:grpSpPr>
        <p:pic>
          <p:nvPicPr>
            <p:cNvPr id="7" name="Graphic 6" descr="Cmd Terminal with solid fill">
              <a:extLst>
                <a:ext uri="{FF2B5EF4-FFF2-40B4-BE49-F238E27FC236}">
                  <a16:creationId xmlns:a16="http://schemas.microsoft.com/office/drawing/2014/main" id="{F1DDD5EC-105C-3E60-DE65-4CC28E9AF2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3024" y="1929383"/>
              <a:ext cx="4151376" cy="36576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3D72C11-B961-655B-E69C-BE10533B0BE1}"/>
                </a:ext>
              </a:extLst>
            </p:cNvPr>
            <p:cNvSpPr txBox="1"/>
            <p:nvPr/>
          </p:nvSpPr>
          <p:spPr>
            <a:xfrm>
              <a:off x="2185416" y="3250351"/>
              <a:ext cx="17668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b="1" dirty="0"/>
                <a:t>SSH</a:t>
              </a:r>
            </a:p>
          </p:txBody>
        </p:sp>
      </p:grpSp>
      <p:sp>
        <p:nvSpPr>
          <p:cNvPr id="12" name="Bent Arrow 11">
            <a:extLst>
              <a:ext uri="{FF2B5EF4-FFF2-40B4-BE49-F238E27FC236}">
                <a16:creationId xmlns:a16="http://schemas.microsoft.com/office/drawing/2014/main" id="{5ACB68FC-0281-C9CD-755D-26E15E31FA0E}"/>
              </a:ext>
            </a:extLst>
          </p:cNvPr>
          <p:cNvSpPr/>
          <p:nvPr/>
        </p:nvSpPr>
        <p:spPr>
          <a:xfrm rot="16200000">
            <a:off x="2259811" y="4644227"/>
            <a:ext cx="1015664" cy="1164453"/>
          </a:xfrm>
          <a:prstGeom prst="bentArrow">
            <a:avLst>
              <a:gd name="adj1" fmla="val 27759"/>
              <a:gd name="adj2" fmla="val 33968"/>
              <a:gd name="adj3" fmla="val 38796"/>
              <a:gd name="adj4" fmla="val 4375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B14C88-755D-5565-1558-7CE4F687ED2E}"/>
              </a:ext>
            </a:extLst>
          </p:cNvPr>
          <p:cNvSpPr txBox="1"/>
          <p:nvPr/>
        </p:nvSpPr>
        <p:spPr>
          <a:xfrm>
            <a:off x="3475775" y="5272399"/>
            <a:ext cx="68875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Available to CU Boulder, CSU, </a:t>
            </a:r>
          </a:p>
          <a:p>
            <a:r>
              <a:rPr lang="en-US" sz="3600" b="1" dirty="0"/>
              <a:t>CU Anschutz</a:t>
            </a:r>
          </a:p>
        </p:txBody>
      </p:sp>
    </p:spTree>
    <p:extLst>
      <p:ext uri="{BB962C8B-B14F-4D97-AF65-F5344CB8AC3E}">
        <p14:creationId xmlns:p14="http://schemas.microsoft.com/office/powerpoint/2010/main" val="919945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849B6-FA0E-632E-BFE9-5EF539529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3000C-7CEA-027F-5DAE-EDB1A472A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the Terminal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7CF39-6EA0-DD1F-2D81-639D9CFA3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7928" y="563753"/>
            <a:ext cx="10515600" cy="4351338"/>
          </a:xfrm>
        </p:spPr>
        <p:txBody>
          <a:bodyPr>
            <a:normAutofit/>
          </a:bodyPr>
          <a:lstStyle/>
          <a:p>
            <a:pPr marL="377825" lvl="1" indent="-243840"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dirty="0">
                <a:ea typeface="Helvetica Neue Light" panose="02000403000000020004" pitchFamily="2" charset="0"/>
                <a:sym typeface="Arial"/>
              </a:rPr>
              <a:t>Navigate to </a:t>
            </a:r>
            <a:r>
              <a:rPr lang="en-US" dirty="0">
                <a:ea typeface="Helvetica Neue Light" panose="02000403000000020004" pitchFamily="2" charset="0"/>
                <a:sym typeface="Arial"/>
                <a:hlinkClick r:id="rId2"/>
              </a:rPr>
              <a:t>https://ondemand-rmacc.rc.colorado.edu</a:t>
            </a:r>
            <a:r>
              <a:rPr lang="en-US" dirty="0">
                <a:ea typeface="Helvetica Neue Light" panose="02000403000000020004" pitchFamily="2" charset="0"/>
                <a:sym typeface="Arial"/>
              </a:rPr>
              <a:t> </a:t>
            </a:r>
            <a:endParaRPr lang="en-US" dirty="0">
              <a:solidFill>
                <a:schemeClr val="accent1">
                  <a:lumMod val="75000"/>
                </a:schemeClr>
              </a:solidFill>
              <a:ea typeface="Helvetica Neue Light" panose="02000403000000020004" pitchFamily="2" charset="0"/>
              <a:cs typeface="Source Sans Pro Light" panose="020F0302020204030204" pitchFamily="34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solidFill>
                <a:srgbClr val="FF0000"/>
              </a:solidFill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Choose your organization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Enter your password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Authenticate by accepting the Duo push to your smartphone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Select the “Clusters” app to bring up an Alpine terminal</a:t>
            </a:r>
          </a:p>
          <a:p>
            <a:pPr marL="0" lvl="1" indent="0">
              <a:buClr>
                <a:srgbClr val="A9A57C"/>
              </a:buClr>
              <a:buSzPts val="2550"/>
              <a:buNone/>
            </a:pPr>
            <a:endParaRPr lang="en-US" dirty="0">
              <a:ea typeface="Helvetica Neue Light" panose="02000403000000020004" pitchFamily="2" charset="0"/>
              <a:hlinkClick r:id="rId3"/>
            </a:endParaRPr>
          </a:p>
          <a:p>
            <a:pPr marL="133985" lvl="1">
              <a:buClr>
                <a:srgbClr val="A9A57C"/>
              </a:buClr>
              <a:buSzPts val="2550"/>
            </a:pP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https://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curc.readthedocs.io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en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/latest/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open_ondemand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index.html</a:t>
            </a:r>
            <a:endParaRPr lang="en-US" dirty="0">
              <a:solidFill>
                <a:srgbClr val="0070C0"/>
              </a:solidFill>
              <a:ea typeface="Helvetica Neue Light" panose="02000403000000020004" pitchFamily="2" charset="0"/>
              <a:sym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992857-3DA0-E8E3-DFD3-E045D955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10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9E25198-1369-D4C5-51BB-81C57861825F}"/>
              </a:ext>
            </a:extLst>
          </p:cNvPr>
          <p:cNvGrpSpPr/>
          <p:nvPr/>
        </p:nvGrpSpPr>
        <p:grpSpPr>
          <a:xfrm>
            <a:off x="573024" y="1554479"/>
            <a:ext cx="4151376" cy="3657600"/>
            <a:chOff x="573024" y="1929383"/>
            <a:chExt cx="4151376" cy="3657600"/>
          </a:xfrm>
        </p:grpSpPr>
        <p:pic>
          <p:nvPicPr>
            <p:cNvPr id="7" name="Graphic 6" descr="Cmd Terminal with solid fill">
              <a:extLst>
                <a:ext uri="{FF2B5EF4-FFF2-40B4-BE49-F238E27FC236}">
                  <a16:creationId xmlns:a16="http://schemas.microsoft.com/office/drawing/2014/main" id="{72615F4C-761B-7DA5-B792-44E6106896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3024" y="1929383"/>
              <a:ext cx="4151376" cy="36576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A68AD3-91A2-EB77-18A0-E2F2771A9AD8}"/>
                </a:ext>
              </a:extLst>
            </p:cNvPr>
            <p:cNvSpPr txBox="1"/>
            <p:nvPr/>
          </p:nvSpPr>
          <p:spPr>
            <a:xfrm>
              <a:off x="2185416" y="3250351"/>
              <a:ext cx="17668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b="1" dirty="0"/>
                <a:t>SSH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D032D55-B880-8085-C60C-441CCBC12A44}"/>
              </a:ext>
            </a:extLst>
          </p:cNvPr>
          <p:cNvGrpSpPr/>
          <p:nvPr/>
        </p:nvGrpSpPr>
        <p:grpSpPr>
          <a:xfrm>
            <a:off x="5534135" y="1779011"/>
            <a:ext cx="6152927" cy="3208537"/>
            <a:chOff x="5534135" y="1929383"/>
            <a:chExt cx="6152927" cy="3208537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315E240A-128C-0721-3473-E1CC67C50B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60319" y="1929383"/>
              <a:ext cx="5500561" cy="32085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8C9EB0A2-80FF-ABBE-28D7-E35F40EB1D10}"/>
                </a:ext>
              </a:extLst>
            </p:cNvPr>
            <p:cNvSpPr/>
            <p:nvPr/>
          </p:nvSpPr>
          <p:spPr>
            <a:xfrm rot="5400000">
              <a:off x="7453689" y="457188"/>
              <a:ext cx="2313820" cy="6152927"/>
            </a:xfrm>
            <a:prstGeom prst="roundRect">
              <a:avLst>
                <a:gd name="adj" fmla="val 50000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61D4D72-04D4-3D0A-C757-A28D399697A7}"/>
              </a:ext>
            </a:extLst>
          </p:cNvPr>
          <p:cNvSpPr txBox="1"/>
          <p:nvPr/>
        </p:nvSpPr>
        <p:spPr>
          <a:xfrm>
            <a:off x="3466983" y="5272399"/>
            <a:ext cx="68875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Available to CU Boulder, CSU, </a:t>
            </a:r>
          </a:p>
          <a:p>
            <a:r>
              <a:rPr lang="en-US" sz="3600" b="1" dirty="0"/>
              <a:t>CU Anschutz</a:t>
            </a:r>
          </a:p>
        </p:txBody>
      </p:sp>
      <p:sp>
        <p:nvSpPr>
          <p:cNvPr id="4" name="Bent Arrow 3">
            <a:extLst>
              <a:ext uri="{FF2B5EF4-FFF2-40B4-BE49-F238E27FC236}">
                <a16:creationId xmlns:a16="http://schemas.microsoft.com/office/drawing/2014/main" id="{8903F95E-55D5-EC56-DE14-E4C91F299303}"/>
              </a:ext>
            </a:extLst>
          </p:cNvPr>
          <p:cNvSpPr/>
          <p:nvPr/>
        </p:nvSpPr>
        <p:spPr>
          <a:xfrm rot="16200000">
            <a:off x="2259811" y="4644227"/>
            <a:ext cx="1015664" cy="1164453"/>
          </a:xfrm>
          <a:prstGeom prst="bentArrow">
            <a:avLst>
              <a:gd name="adj1" fmla="val 27759"/>
              <a:gd name="adj2" fmla="val 33968"/>
              <a:gd name="adj3" fmla="val 38796"/>
              <a:gd name="adj4" fmla="val 4375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4313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29A8C-62EC-E57C-B5AC-E43ACE804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Accessing the Alpine Shell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22216-06E5-B4E4-BE71-75150CB19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11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9F50948-1CDE-F15C-1B84-1268992B0EF9}"/>
              </a:ext>
            </a:extLst>
          </p:cNvPr>
          <p:cNvGrpSpPr/>
          <p:nvPr/>
        </p:nvGrpSpPr>
        <p:grpSpPr>
          <a:xfrm>
            <a:off x="838200" y="1535240"/>
            <a:ext cx="9812640" cy="4391560"/>
            <a:chOff x="838200" y="1535240"/>
            <a:chExt cx="9812640" cy="4391560"/>
          </a:xfrm>
        </p:grpSpPr>
        <p:pic>
          <p:nvPicPr>
            <p:cNvPr id="7" name="Picture 6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162B5603-6B0A-1049-94E5-A33C2715C7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8200" y="1535240"/>
              <a:ext cx="5345845" cy="43915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Picture 7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53F0B396-882B-E124-6740-FAD0E23C9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200" r="51992" b="85195"/>
            <a:stretch>
              <a:fillRect/>
            </a:stretch>
          </p:blipFill>
          <p:spPr>
            <a:xfrm>
              <a:off x="6821424" y="1535240"/>
              <a:ext cx="3829416" cy="1737360"/>
            </a:xfrm>
            <a:prstGeom prst="round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8A25DA60-FD6F-A998-C066-4DB5485CCEC6}"/>
                </a:ext>
              </a:extLst>
            </p:cNvPr>
            <p:cNvSpPr/>
            <p:nvPr/>
          </p:nvSpPr>
          <p:spPr>
            <a:xfrm>
              <a:off x="1975104" y="1535240"/>
              <a:ext cx="1399032" cy="604456"/>
            </a:xfrm>
            <a:prstGeom prst="round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068BE46-195F-7289-29A3-1E032F01279A}"/>
                </a:ext>
              </a:extLst>
            </p:cNvPr>
            <p:cNvCxnSpPr/>
            <p:nvPr/>
          </p:nvCxnSpPr>
          <p:spPr>
            <a:xfrm>
              <a:off x="3374136" y="1837944"/>
              <a:ext cx="338328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2FA6D46-1D09-239E-8CDF-72A21D37154E}"/>
              </a:ext>
            </a:extLst>
          </p:cNvPr>
          <p:cNvSpPr txBox="1"/>
          <p:nvPr/>
        </p:nvSpPr>
        <p:spPr>
          <a:xfrm>
            <a:off x="6689540" y="3937312"/>
            <a:ext cx="47756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you would like to access a terminal via ssh, please see:</a:t>
            </a:r>
          </a:p>
          <a:p>
            <a:r>
              <a:rPr lang="en-US" dirty="0"/>
              <a:t> 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curc.readthedocs.io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en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/latest/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getting_started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logging-in.html#terminal-access-for-different-operating-systems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879121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17A85-75CE-B5C7-7739-FF43294CF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300619"/>
            <a:ext cx="9506712" cy="1325563"/>
          </a:xfrm>
        </p:spPr>
        <p:txBody>
          <a:bodyPr/>
          <a:lstStyle/>
          <a:p>
            <a:r>
              <a:rPr lang="en-US" dirty="0"/>
              <a:t>Linux Command Line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12D271-C3A8-074E-FFF1-4B8DF84C0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12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ECE1CA5-697B-D029-7FE7-F2D009956B39}"/>
              </a:ext>
            </a:extLst>
          </p:cNvPr>
          <p:cNvGrpSpPr>
            <a:grpSpLocks noChangeAspect="1"/>
          </p:cNvGrpSpPr>
          <p:nvPr/>
        </p:nvGrpSpPr>
        <p:grpSpPr>
          <a:xfrm>
            <a:off x="289560" y="414761"/>
            <a:ext cx="1097280" cy="1097280"/>
            <a:chOff x="7287768" y="1408176"/>
            <a:chExt cx="2286000" cy="2286000"/>
          </a:xfrm>
        </p:grpSpPr>
        <p:pic>
          <p:nvPicPr>
            <p:cNvPr id="6" name="Google Shape;120;p16">
              <a:extLst>
                <a:ext uri="{FF2B5EF4-FFF2-40B4-BE49-F238E27FC236}">
                  <a16:creationId xmlns:a16="http://schemas.microsoft.com/office/drawing/2014/main" id="{31BBCAC4-1C2A-D7A2-C754-3DC68A866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676983" y="1573086"/>
              <a:ext cx="1599009" cy="17373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C43F646-79E8-DA81-69AF-199DEF43DB6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87768" y="1408176"/>
              <a:ext cx="2286000" cy="2286000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049F409-F674-7932-E507-A46AC4AA9AD4}"/>
              </a:ext>
            </a:extLst>
          </p:cNvPr>
          <p:cNvSpPr txBox="1"/>
          <p:nvPr/>
        </p:nvSpPr>
        <p:spPr>
          <a:xfrm>
            <a:off x="2234417" y="4307226"/>
            <a:ext cx="3544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File Operations</a:t>
            </a:r>
          </a:p>
        </p:txBody>
      </p:sp>
      <p:pic>
        <p:nvPicPr>
          <p:cNvPr id="13" name="Graphic 12" descr="Open folder with solid fill">
            <a:extLst>
              <a:ext uri="{FF2B5EF4-FFF2-40B4-BE49-F238E27FC236}">
                <a16:creationId xmlns:a16="http://schemas.microsoft.com/office/drawing/2014/main" id="{C793D1E0-C52D-E0A0-E590-D1F9CAB351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6104" y="1664208"/>
            <a:ext cx="3108960" cy="3108960"/>
          </a:xfrm>
          <a:prstGeom prst="rect">
            <a:avLst/>
          </a:prstGeom>
        </p:spPr>
      </p:pic>
      <p:pic>
        <p:nvPicPr>
          <p:cNvPr id="19" name="Graphic 18" descr="Scroll with solid fill">
            <a:extLst>
              <a:ext uri="{FF2B5EF4-FFF2-40B4-BE49-F238E27FC236}">
                <a16:creationId xmlns:a16="http://schemas.microsoft.com/office/drawing/2014/main" id="{5E6A5D04-E2D9-9257-FDF4-5CFA7C9ECE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11570" y="2029968"/>
            <a:ext cx="2377440" cy="237744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FAA5060-E8A0-590D-6B76-CE0AC455A475}"/>
              </a:ext>
            </a:extLst>
          </p:cNvPr>
          <p:cNvSpPr txBox="1"/>
          <p:nvPr/>
        </p:nvSpPr>
        <p:spPr>
          <a:xfrm>
            <a:off x="7403796" y="4307226"/>
            <a:ext cx="21852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Scripting</a:t>
            </a:r>
          </a:p>
        </p:txBody>
      </p:sp>
    </p:spTree>
    <p:extLst>
      <p:ext uri="{BB962C8B-B14F-4D97-AF65-F5344CB8AC3E}">
        <p14:creationId xmlns:p14="http://schemas.microsoft.com/office/powerpoint/2010/main" val="3582249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1D3E1B-63DE-13CD-8AD0-94C6DC443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13</a:t>
            </a:fld>
            <a:endParaRPr lang="en-US"/>
          </a:p>
        </p:txBody>
      </p:sp>
      <p:sp>
        <p:nvSpPr>
          <p:cNvPr id="6" name="Google Shape;389;p33">
            <a:extLst>
              <a:ext uri="{FF2B5EF4-FFF2-40B4-BE49-F238E27FC236}">
                <a16:creationId xmlns:a16="http://schemas.microsoft.com/office/drawing/2014/main" id="{29EC96DC-426B-7C01-1776-6B63530E42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950" y="640575"/>
            <a:ext cx="11471100" cy="691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ctr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50"/>
              <a:buFont typeface="Arial Black"/>
              <a:buNone/>
            </a:pPr>
            <a:r>
              <a:rPr lang="en-US" b="1" u="sng" dirty="0">
                <a:latin typeface="+mn-lt"/>
              </a:rPr>
              <a:t>L</a:t>
            </a:r>
            <a:r>
              <a:rPr lang="en-US" dirty="0">
                <a:latin typeface="+mn-lt"/>
              </a:rPr>
              <a:t>i</a:t>
            </a:r>
            <a:r>
              <a:rPr lang="en-US" b="1" u="sng" dirty="0">
                <a:latin typeface="+mn-lt"/>
              </a:rPr>
              <a:t>s</a:t>
            </a:r>
            <a:r>
              <a:rPr lang="en-US" dirty="0">
                <a:latin typeface="+mn-lt"/>
              </a:rPr>
              <a:t>t Files and Directories</a:t>
            </a:r>
            <a:endParaRPr dirty="0">
              <a:latin typeface="+mn-lt"/>
            </a:endParaRPr>
          </a:p>
        </p:txBody>
      </p:sp>
      <p:sp>
        <p:nvSpPr>
          <p:cNvPr id="7" name="Google Shape;391;p33">
            <a:extLst>
              <a:ext uri="{FF2B5EF4-FFF2-40B4-BE49-F238E27FC236}">
                <a16:creationId xmlns:a16="http://schemas.microsoft.com/office/drawing/2014/main" id="{B4016F04-24FF-059A-E0E9-34034B0B2F03}"/>
              </a:ext>
            </a:extLst>
          </p:cNvPr>
          <p:cNvSpPr txBox="1"/>
          <p:nvPr/>
        </p:nvSpPr>
        <p:spPr>
          <a:xfrm>
            <a:off x="448975" y="1911538"/>
            <a:ext cx="11294050" cy="444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00" rIns="0" bIns="0" anchor="t" anchorCtr="0">
            <a:spAutoFit/>
          </a:bodyPr>
          <a:lstStyle/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</a:rPr>
              <a:t>l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  <a:sym typeface="Arial"/>
              </a:rPr>
              <a:t>s [option] [file/directory]</a:t>
            </a:r>
          </a:p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endParaRPr lang="en-US" b="1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ea typeface="Helvetica Neue Light" panose="02000403000000020004" pitchFamily="2" charset="0"/>
              <a:cs typeface="Consolas" panose="020B0609020204030204" pitchFamily="49" charset="0"/>
            </a:endParaRP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</a:rPr>
              <a:t>  -l (long format)         -a (all files)</a:t>
            </a: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</a:rPr>
              <a:t>  -h (readable file size)  -r (reverse sort)</a:t>
            </a: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</a:rPr>
              <a:t>  -S (sort by file size)</a:t>
            </a:r>
          </a:p>
          <a:p>
            <a:pPr marL="12700">
              <a:lnSpc>
                <a:spcPct val="125000"/>
              </a:lnSpc>
              <a:buClr>
                <a:srgbClr val="CEB97C"/>
              </a:buClr>
            </a:pP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Helvetica Neue Light" panose="02000403000000020004" pitchFamily="2" charset="0"/>
                <a:cs typeface="Consolas" panose="020B0609020204030204" pitchFamily="49" charset="0"/>
              </a:rPr>
              <a:t>  -t (sort by modification time)</a:t>
            </a:r>
          </a:p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endParaRPr lang="en-US" sz="5400" b="1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ea typeface="Helvetica Neue Light" panose="02000403000000020004" pitchFamily="2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2649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1C18EB-13F5-43F0-2F07-DFAD42939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14</a:t>
            </a:fld>
            <a:endParaRPr lang="en-US"/>
          </a:p>
        </p:txBody>
      </p:sp>
      <p:sp>
        <p:nvSpPr>
          <p:cNvPr id="6" name="Google Shape;251;p28">
            <a:extLst>
              <a:ext uri="{FF2B5EF4-FFF2-40B4-BE49-F238E27FC236}">
                <a16:creationId xmlns:a16="http://schemas.microsoft.com/office/drawing/2014/main" id="{3E998812-C6CE-F047-D7FC-6B938EF683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8686" y="356858"/>
            <a:ext cx="10182023" cy="689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ctr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Standard CURC Directories</a:t>
            </a:r>
            <a:endParaRPr dirty="0"/>
          </a:p>
        </p:txBody>
      </p:sp>
      <p:sp>
        <p:nvSpPr>
          <p:cNvPr id="75" name="Text 14">
            <a:extLst>
              <a:ext uri="{FF2B5EF4-FFF2-40B4-BE49-F238E27FC236}">
                <a16:creationId xmlns:a16="http://schemas.microsoft.com/office/drawing/2014/main" id="{6CA5B1BD-41BA-BEDD-9A12-63DF1449EE7F}"/>
              </a:ext>
            </a:extLst>
          </p:cNvPr>
          <p:cNvSpPr/>
          <p:nvPr/>
        </p:nvSpPr>
        <p:spPr>
          <a:xfrm>
            <a:off x="260838" y="3393641"/>
            <a:ext cx="1453515" cy="359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/home/&lt;user&gt;</a:t>
            </a:r>
            <a:endParaRPr lang="en-US" sz="2200" dirty="0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E845F0D-C0B1-2D7D-D68E-4F917EC5ADEE}"/>
              </a:ext>
            </a:extLst>
          </p:cNvPr>
          <p:cNvGrpSpPr/>
          <p:nvPr/>
        </p:nvGrpSpPr>
        <p:grpSpPr>
          <a:xfrm>
            <a:off x="593070" y="2127006"/>
            <a:ext cx="11358181" cy="2613503"/>
            <a:chOff x="593070" y="2127006"/>
            <a:chExt cx="11358181" cy="2613503"/>
          </a:xfrm>
        </p:grpSpPr>
        <p:sp>
          <p:nvSpPr>
            <p:cNvPr id="62" name="Shape 1">
              <a:extLst>
                <a:ext uri="{FF2B5EF4-FFF2-40B4-BE49-F238E27FC236}">
                  <a16:creationId xmlns:a16="http://schemas.microsoft.com/office/drawing/2014/main" id="{F84A57B2-7547-22F9-E48E-17760A383F62}"/>
                </a:ext>
              </a:extLst>
            </p:cNvPr>
            <p:cNvSpPr/>
            <p:nvPr/>
          </p:nvSpPr>
          <p:spPr>
            <a:xfrm>
              <a:off x="932223" y="2127006"/>
              <a:ext cx="8001254" cy="0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Shape 2">
              <a:extLst>
                <a:ext uri="{FF2B5EF4-FFF2-40B4-BE49-F238E27FC236}">
                  <a16:creationId xmlns:a16="http://schemas.microsoft.com/office/drawing/2014/main" id="{6A1C0401-49EF-CB15-0EC5-BD87A7DD7ED0}"/>
                </a:ext>
              </a:extLst>
            </p:cNvPr>
            <p:cNvSpPr/>
            <p:nvPr/>
          </p:nvSpPr>
          <p:spPr>
            <a:xfrm>
              <a:off x="932223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Shape 3">
              <a:extLst>
                <a:ext uri="{FF2B5EF4-FFF2-40B4-BE49-F238E27FC236}">
                  <a16:creationId xmlns:a16="http://schemas.microsoft.com/office/drawing/2014/main" id="{BC714367-BA2D-FD4D-65F5-33D75689A0A9}"/>
                </a:ext>
              </a:extLst>
            </p:cNvPr>
            <p:cNvSpPr/>
            <p:nvPr/>
          </p:nvSpPr>
          <p:spPr>
            <a:xfrm>
              <a:off x="2690284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Shape 4">
              <a:extLst>
                <a:ext uri="{FF2B5EF4-FFF2-40B4-BE49-F238E27FC236}">
                  <a16:creationId xmlns:a16="http://schemas.microsoft.com/office/drawing/2014/main" id="{C47BC24F-5E1F-7AB3-A1A8-F5AF3FEEE6B0}"/>
                </a:ext>
              </a:extLst>
            </p:cNvPr>
            <p:cNvSpPr/>
            <p:nvPr/>
          </p:nvSpPr>
          <p:spPr>
            <a:xfrm>
              <a:off x="4441424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Shape 5">
              <a:extLst>
                <a:ext uri="{FF2B5EF4-FFF2-40B4-BE49-F238E27FC236}">
                  <a16:creationId xmlns:a16="http://schemas.microsoft.com/office/drawing/2014/main" id="{C408814A-E587-B2DD-1861-316A854AE3A0}"/>
                </a:ext>
              </a:extLst>
            </p:cNvPr>
            <p:cNvSpPr/>
            <p:nvPr/>
          </p:nvSpPr>
          <p:spPr>
            <a:xfrm>
              <a:off x="6199485" y="2127006"/>
              <a:ext cx="0" cy="242253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Shape 6">
              <a:extLst>
                <a:ext uri="{FF2B5EF4-FFF2-40B4-BE49-F238E27FC236}">
                  <a16:creationId xmlns:a16="http://schemas.microsoft.com/office/drawing/2014/main" id="{766C30A6-F4FE-EEBD-C4F5-4341438672FF}"/>
                </a:ext>
              </a:extLst>
            </p:cNvPr>
            <p:cNvSpPr/>
            <p:nvPr/>
          </p:nvSpPr>
          <p:spPr>
            <a:xfrm>
              <a:off x="8926556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 7">
              <a:extLst>
                <a:ext uri="{FF2B5EF4-FFF2-40B4-BE49-F238E27FC236}">
                  <a16:creationId xmlns:a16="http://schemas.microsoft.com/office/drawing/2014/main" id="{FC334432-7213-1D23-C5C2-D938C047CCBE}"/>
                </a:ext>
              </a:extLst>
            </p:cNvPr>
            <p:cNvSpPr/>
            <p:nvPr/>
          </p:nvSpPr>
          <p:spPr>
            <a:xfrm>
              <a:off x="593070" y="2543055"/>
              <a:ext cx="858266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/home</a:t>
              </a:r>
              <a:endParaRPr lang="en-US" sz="2500" dirty="0"/>
            </a:p>
          </p:txBody>
        </p:sp>
        <p:sp>
          <p:nvSpPr>
            <p:cNvPr id="69" name="Text 8">
              <a:extLst>
                <a:ext uri="{FF2B5EF4-FFF2-40B4-BE49-F238E27FC236}">
                  <a16:creationId xmlns:a16="http://schemas.microsoft.com/office/drawing/2014/main" id="{5A62249A-CEC1-3E18-62C6-9D03940C955E}"/>
                </a:ext>
              </a:extLst>
            </p:cNvPr>
            <p:cNvSpPr/>
            <p:nvPr/>
          </p:nvSpPr>
          <p:spPr>
            <a:xfrm>
              <a:off x="2264612" y="2543055"/>
              <a:ext cx="103822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/projects</a:t>
              </a:r>
              <a:endParaRPr lang="en-US" sz="2500" dirty="0"/>
            </a:p>
          </p:txBody>
        </p:sp>
        <p:sp>
          <p:nvSpPr>
            <p:cNvPr id="70" name="Text 9">
              <a:extLst>
                <a:ext uri="{FF2B5EF4-FFF2-40B4-BE49-F238E27FC236}">
                  <a16:creationId xmlns:a16="http://schemas.microsoft.com/office/drawing/2014/main" id="{945E2161-6879-AF54-723F-3F84468AFCEC}"/>
                </a:ext>
              </a:extLst>
            </p:cNvPr>
            <p:cNvSpPr/>
            <p:nvPr/>
          </p:nvSpPr>
          <p:spPr>
            <a:xfrm>
              <a:off x="4057280" y="2566521"/>
              <a:ext cx="982853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/scratch</a:t>
              </a:r>
              <a:endParaRPr lang="en-US" sz="2500" dirty="0"/>
            </a:p>
          </p:txBody>
        </p:sp>
        <p:sp>
          <p:nvSpPr>
            <p:cNvPr id="71" name="Text 10">
              <a:extLst>
                <a:ext uri="{FF2B5EF4-FFF2-40B4-BE49-F238E27FC236}">
                  <a16:creationId xmlns:a16="http://schemas.microsoft.com/office/drawing/2014/main" id="{BDA28349-CCB1-D51F-DA3B-CEBF8DD2620F}"/>
                </a:ext>
              </a:extLst>
            </p:cNvPr>
            <p:cNvSpPr/>
            <p:nvPr/>
          </p:nvSpPr>
          <p:spPr>
            <a:xfrm>
              <a:off x="5881096" y="2362337"/>
              <a:ext cx="830580" cy="29070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/curc</a:t>
              </a:r>
              <a:endParaRPr lang="en-US" sz="2500" dirty="0"/>
            </a:p>
          </p:txBody>
        </p:sp>
        <p:sp>
          <p:nvSpPr>
            <p:cNvPr id="72" name="Text 11">
              <a:extLst>
                <a:ext uri="{FF2B5EF4-FFF2-40B4-BE49-F238E27FC236}">
                  <a16:creationId xmlns:a16="http://schemas.microsoft.com/office/drawing/2014/main" id="{6477E823-B668-B538-BEE2-D139BB507F4D}"/>
                </a:ext>
              </a:extLst>
            </p:cNvPr>
            <p:cNvSpPr/>
            <p:nvPr/>
          </p:nvSpPr>
          <p:spPr>
            <a:xfrm>
              <a:off x="5888017" y="2715334"/>
              <a:ext cx="1072833" cy="1522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(software stack)</a:t>
              </a:r>
              <a:endParaRPr lang="en-US" sz="1200" dirty="0"/>
            </a:p>
          </p:txBody>
        </p:sp>
        <p:sp>
          <p:nvSpPr>
            <p:cNvPr id="73" name="Text 12">
              <a:extLst>
                <a:ext uri="{FF2B5EF4-FFF2-40B4-BE49-F238E27FC236}">
                  <a16:creationId xmlns:a16="http://schemas.microsoft.com/office/drawing/2014/main" id="{C9B69215-6FEB-CB6D-1EF9-2FE57F15619D}"/>
                </a:ext>
              </a:extLst>
            </p:cNvPr>
            <p:cNvSpPr/>
            <p:nvPr/>
          </p:nvSpPr>
          <p:spPr>
            <a:xfrm>
              <a:off x="8746597" y="2604590"/>
              <a:ext cx="48450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</a:t>
              </a:r>
              <a:endParaRPr lang="en-US" sz="2500" dirty="0"/>
            </a:p>
          </p:txBody>
        </p:sp>
        <p:sp>
          <p:nvSpPr>
            <p:cNvPr id="74" name="Shape 13">
              <a:extLst>
                <a:ext uri="{FF2B5EF4-FFF2-40B4-BE49-F238E27FC236}">
                  <a16:creationId xmlns:a16="http://schemas.microsoft.com/office/drawing/2014/main" id="{35872FC4-F16A-D4BE-804C-17173BD6BDD6}"/>
                </a:ext>
              </a:extLst>
            </p:cNvPr>
            <p:cNvSpPr/>
            <p:nvPr/>
          </p:nvSpPr>
          <p:spPr>
            <a:xfrm>
              <a:off x="939145" y="2909136"/>
              <a:ext cx="0" cy="456819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Shape 15">
              <a:extLst>
                <a:ext uri="{FF2B5EF4-FFF2-40B4-BE49-F238E27FC236}">
                  <a16:creationId xmlns:a16="http://schemas.microsoft.com/office/drawing/2014/main" id="{07FA9F19-90A9-9244-0EDF-DD1D5C8A4F68}"/>
                </a:ext>
              </a:extLst>
            </p:cNvPr>
            <p:cNvSpPr/>
            <p:nvPr/>
          </p:nvSpPr>
          <p:spPr>
            <a:xfrm>
              <a:off x="2697206" y="2909136"/>
              <a:ext cx="0" cy="456819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Text 16">
              <a:extLst>
                <a:ext uri="{FF2B5EF4-FFF2-40B4-BE49-F238E27FC236}">
                  <a16:creationId xmlns:a16="http://schemas.microsoft.com/office/drawing/2014/main" id="{C6EA4DD5-CABA-36F2-9DE1-E17FFC3F18BC}"/>
                </a:ext>
              </a:extLst>
            </p:cNvPr>
            <p:cNvSpPr/>
            <p:nvPr/>
          </p:nvSpPr>
          <p:spPr>
            <a:xfrm>
              <a:off x="1915076" y="3393641"/>
              <a:ext cx="1591945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/projects/&lt;user&gt;</a:t>
              </a:r>
              <a:endParaRPr lang="en-US" sz="2200" dirty="0"/>
            </a:p>
          </p:txBody>
        </p:sp>
        <p:sp>
          <p:nvSpPr>
            <p:cNvPr id="78" name="Shape 17">
              <a:extLst>
                <a:ext uri="{FF2B5EF4-FFF2-40B4-BE49-F238E27FC236}">
                  <a16:creationId xmlns:a16="http://schemas.microsoft.com/office/drawing/2014/main" id="{D82A27B9-DA7F-01FB-6553-5BA77F2753DD}"/>
                </a:ext>
              </a:extLst>
            </p:cNvPr>
            <p:cNvSpPr/>
            <p:nvPr/>
          </p:nvSpPr>
          <p:spPr>
            <a:xfrm>
              <a:off x="4462188" y="2909136"/>
              <a:ext cx="0" cy="456819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 18">
              <a:extLst>
                <a:ext uri="{FF2B5EF4-FFF2-40B4-BE49-F238E27FC236}">
                  <a16:creationId xmlns:a16="http://schemas.microsoft.com/office/drawing/2014/main" id="{2488637E-5685-591F-F2A9-B80F58C11AEA}"/>
                </a:ext>
              </a:extLst>
            </p:cNvPr>
            <p:cNvSpPr/>
            <p:nvPr/>
          </p:nvSpPr>
          <p:spPr>
            <a:xfrm>
              <a:off x="3744492" y="3365955"/>
              <a:ext cx="1522730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/scratch/alpine</a:t>
              </a:r>
              <a:endParaRPr lang="en-US" sz="2200" dirty="0"/>
            </a:p>
          </p:txBody>
        </p:sp>
        <p:sp>
          <p:nvSpPr>
            <p:cNvPr id="80" name="Shape 19">
              <a:extLst>
                <a:ext uri="{FF2B5EF4-FFF2-40B4-BE49-F238E27FC236}">
                  <a16:creationId xmlns:a16="http://schemas.microsoft.com/office/drawing/2014/main" id="{DB02772A-365A-61C1-2133-BE0B97A0CB66}"/>
                </a:ext>
              </a:extLst>
            </p:cNvPr>
            <p:cNvSpPr/>
            <p:nvPr/>
          </p:nvSpPr>
          <p:spPr>
            <a:xfrm>
              <a:off x="4462188" y="3725873"/>
              <a:ext cx="0" cy="58832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Text 20">
              <a:extLst>
                <a:ext uri="{FF2B5EF4-FFF2-40B4-BE49-F238E27FC236}">
                  <a16:creationId xmlns:a16="http://schemas.microsoft.com/office/drawing/2014/main" id="{7193255B-88AB-479F-F665-46EEC20EBB2E}"/>
                </a:ext>
              </a:extLst>
            </p:cNvPr>
            <p:cNvSpPr/>
            <p:nvPr/>
          </p:nvSpPr>
          <p:spPr>
            <a:xfrm>
              <a:off x="3579696" y="4339062"/>
              <a:ext cx="1938020" cy="40144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00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/scratch/alpine/&lt;user&gt;</a:t>
              </a:r>
              <a:endParaRPr lang="en-US" sz="2200" dirty="0"/>
            </a:p>
          </p:txBody>
        </p:sp>
        <p:sp>
          <p:nvSpPr>
            <p:cNvPr id="82" name="Shape 21">
              <a:extLst>
                <a:ext uri="{FF2B5EF4-FFF2-40B4-BE49-F238E27FC236}">
                  <a16:creationId xmlns:a16="http://schemas.microsoft.com/office/drawing/2014/main" id="{98AAE701-30B7-0DCF-AB1A-382DB76375EA}"/>
                </a:ext>
              </a:extLst>
            </p:cNvPr>
            <p:cNvSpPr/>
            <p:nvPr/>
          </p:nvSpPr>
          <p:spPr>
            <a:xfrm>
              <a:off x="8919634" y="2992194"/>
              <a:ext cx="2207958" cy="0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Shape 22">
              <a:extLst>
                <a:ext uri="{FF2B5EF4-FFF2-40B4-BE49-F238E27FC236}">
                  <a16:creationId xmlns:a16="http://schemas.microsoft.com/office/drawing/2014/main" id="{A754E921-4590-914B-EA8F-94D42ED779E8}"/>
                </a:ext>
              </a:extLst>
            </p:cNvPr>
            <p:cNvSpPr/>
            <p:nvPr/>
          </p:nvSpPr>
          <p:spPr>
            <a:xfrm>
              <a:off x="8919634" y="2992194"/>
              <a:ext cx="0" cy="352997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Shape 23">
              <a:extLst>
                <a:ext uri="{FF2B5EF4-FFF2-40B4-BE49-F238E27FC236}">
                  <a16:creationId xmlns:a16="http://schemas.microsoft.com/office/drawing/2014/main" id="{D56F742A-E615-83B9-605B-5AFB3D8BBDE5}"/>
                </a:ext>
              </a:extLst>
            </p:cNvPr>
            <p:cNvSpPr/>
            <p:nvPr/>
          </p:nvSpPr>
          <p:spPr>
            <a:xfrm>
              <a:off x="11127592" y="2992194"/>
              <a:ext cx="0" cy="352997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Text 24">
              <a:extLst>
                <a:ext uri="{FF2B5EF4-FFF2-40B4-BE49-F238E27FC236}">
                  <a16:creationId xmlns:a16="http://schemas.microsoft.com/office/drawing/2014/main" id="{D66BF242-0215-B388-14F1-D8736BDC4C42}"/>
                </a:ext>
              </a:extLst>
            </p:cNvPr>
            <p:cNvSpPr/>
            <p:nvPr/>
          </p:nvSpPr>
          <p:spPr>
            <a:xfrm>
              <a:off x="8490501" y="3386719"/>
              <a:ext cx="1072833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/pl/active</a:t>
              </a:r>
              <a:endParaRPr lang="en-US" sz="2200" dirty="0"/>
            </a:p>
          </p:txBody>
        </p:sp>
        <p:sp>
          <p:nvSpPr>
            <p:cNvPr id="86" name="Text 25">
              <a:extLst>
                <a:ext uri="{FF2B5EF4-FFF2-40B4-BE49-F238E27FC236}">
                  <a16:creationId xmlns:a16="http://schemas.microsoft.com/office/drawing/2014/main" id="{2B70B4BD-74B1-294F-8D31-19443268CF96}"/>
                </a:ext>
              </a:extLst>
            </p:cNvPr>
            <p:cNvSpPr/>
            <p:nvPr/>
          </p:nvSpPr>
          <p:spPr>
            <a:xfrm>
              <a:off x="10650009" y="3386719"/>
              <a:ext cx="1142048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/pl/archive</a:t>
              </a:r>
              <a:endParaRPr lang="en-US" sz="2200" dirty="0"/>
            </a:p>
          </p:txBody>
        </p:sp>
        <p:sp>
          <p:nvSpPr>
            <p:cNvPr id="87" name="Shape 26">
              <a:extLst>
                <a:ext uri="{FF2B5EF4-FFF2-40B4-BE49-F238E27FC236}">
                  <a16:creationId xmlns:a16="http://schemas.microsoft.com/office/drawing/2014/main" id="{C73D1A8E-A458-7137-0B6C-6AA0EBD8942C}"/>
                </a:ext>
              </a:extLst>
            </p:cNvPr>
            <p:cNvSpPr/>
            <p:nvPr/>
          </p:nvSpPr>
          <p:spPr>
            <a:xfrm>
              <a:off x="8926556" y="3705108"/>
              <a:ext cx="0" cy="560642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Shape 27">
              <a:extLst>
                <a:ext uri="{FF2B5EF4-FFF2-40B4-BE49-F238E27FC236}">
                  <a16:creationId xmlns:a16="http://schemas.microsoft.com/office/drawing/2014/main" id="{F318DEA4-71FF-CF1C-E2BE-BB2F78E352AD}"/>
                </a:ext>
              </a:extLst>
            </p:cNvPr>
            <p:cNvSpPr/>
            <p:nvPr/>
          </p:nvSpPr>
          <p:spPr>
            <a:xfrm>
              <a:off x="11127592" y="3705108"/>
              <a:ext cx="0" cy="560642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Text 28">
              <a:extLst>
                <a:ext uri="{FF2B5EF4-FFF2-40B4-BE49-F238E27FC236}">
                  <a16:creationId xmlns:a16="http://schemas.microsoft.com/office/drawing/2014/main" id="{4FDE1D9B-6996-9AC2-4E12-FFFEC540BA03}"/>
                </a:ext>
              </a:extLst>
            </p:cNvPr>
            <p:cNvSpPr/>
            <p:nvPr/>
          </p:nvSpPr>
          <p:spPr>
            <a:xfrm>
              <a:off x="8137504" y="4265750"/>
              <a:ext cx="173037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/pl/active/&lt;group&gt;</a:t>
              </a:r>
              <a:endParaRPr lang="en-US" sz="2200" dirty="0"/>
            </a:p>
          </p:txBody>
        </p:sp>
        <p:sp>
          <p:nvSpPr>
            <p:cNvPr id="90" name="Text 29">
              <a:extLst>
                <a:ext uri="{FF2B5EF4-FFF2-40B4-BE49-F238E27FC236}">
                  <a16:creationId xmlns:a16="http://schemas.microsoft.com/office/drawing/2014/main" id="{06122E52-9D21-086B-B54E-1FC166F113BE}"/>
                </a:ext>
              </a:extLst>
            </p:cNvPr>
            <p:cNvSpPr/>
            <p:nvPr/>
          </p:nvSpPr>
          <p:spPr>
            <a:xfrm>
              <a:off x="10220876" y="4265750"/>
              <a:ext cx="173037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00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/pl/archive/&lt;group&gt;</a:t>
              </a:r>
              <a:endParaRPr lang="en-US" sz="2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541538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D1509-77CB-4751-3CB8-3681BB4CF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File Operations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B8C84-8206-64FA-B9BE-EF0B6FEB3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15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8D13F85-FCE9-3E80-AE51-F8EA1963CBA8}"/>
              </a:ext>
            </a:extLst>
          </p:cNvPr>
          <p:cNvGrpSpPr/>
          <p:nvPr/>
        </p:nvGrpSpPr>
        <p:grpSpPr>
          <a:xfrm>
            <a:off x="1470660" y="1462088"/>
            <a:ext cx="3474720" cy="2089594"/>
            <a:chOff x="2254948" y="1844230"/>
            <a:chExt cx="3474720" cy="2089594"/>
          </a:xfrm>
        </p:grpSpPr>
        <p:pic>
          <p:nvPicPr>
            <p:cNvPr id="8" name="Graphic 7" descr="Open folder outline">
              <a:extLst>
                <a:ext uri="{FF2B5EF4-FFF2-40B4-BE49-F238E27FC236}">
                  <a16:creationId xmlns:a16="http://schemas.microsoft.com/office/drawing/2014/main" id="{F74EA82F-188A-8B6F-FCB6-F43D9871AA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4E2B4F8A-6AFC-0DEF-2392-A542C7E2C8F7}"/>
                </a:ext>
              </a:extLst>
            </p:cNvPr>
            <p:cNvSpPr/>
            <p:nvPr/>
          </p:nvSpPr>
          <p:spPr>
            <a:xfrm>
              <a:off x="2254948" y="1844230"/>
              <a:ext cx="3474720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5FC35D2-BDCD-83BB-2466-69FA7B53B4E3}"/>
                </a:ext>
              </a:extLst>
            </p:cNvPr>
            <p:cNvSpPr txBox="1"/>
            <p:nvPr/>
          </p:nvSpPr>
          <p:spPr>
            <a:xfrm>
              <a:off x="2317811" y="3181668"/>
              <a:ext cx="33489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cd [-o] &lt;path&gt;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A327B03-6CB1-4FDA-0EF0-4254291FE320}"/>
                </a:ext>
              </a:extLst>
            </p:cNvPr>
            <p:cNvSpPr txBox="1"/>
            <p:nvPr/>
          </p:nvSpPr>
          <p:spPr>
            <a:xfrm>
              <a:off x="2999889" y="2014340"/>
              <a:ext cx="19848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Change </a:t>
              </a:r>
            </a:p>
            <a:p>
              <a:pPr algn="ctr"/>
              <a:r>
                <a:rPr lang="en-US" sz="3200" b="1" dirty="0"/>
                <a:t>Directory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86375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AA154-0F87-E490-799D-6C35BE8C7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D2CB-CFC6-5E1F-F406-EB7DC873A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File Operations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AE2512-1F62-A123-6126-51927A27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16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5ACB0D-5429-642B-3844-CAA0101E4B50}"/>
              </a:ext>
            </a:extLst>
          </p:cNvPr>
          <p:cNvGrpSpPr/>
          <p:nvPr/>
        </p:nvGrpSpPr>
        <p:grpSpPr>
          <a:xfrm>
            <a:off x="1470660" y="1462088"/>
            <a:ext cx="3474720" cy="2089594"/>
            <a:chOff x="2254948" y="1844230"/>
            <a:chExt cx="3474720" cy="2089594"/>
          </a:xfrm>
        </p:grpSpPr>
        <p:pic>
          <p:nvPicPr>
            <p:cNvPr id="8" name="Graphic 7" descr="Open folder outline">
              <a:extLst>
                <a:ext uri="{FF2B5EF4-FFF2-40B4-BE49-F238E27FC236}">
                  <a16:creationId xmlns:a16="http://schemas.microsoft.com/office/drawing/2014/main" id="{E1359854-1EE1-7B16-FA39-CF1E3C0573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819D3B02-0D84-8CA2-C13B-50BEA7475A61}"/>
                </a:ext>
              </a:extLst>
            </p:cNvPr>
            <p:cNvSpPr/>
            <p:nvPr/>
          </p:nvSpPr>
          <p:spPr>
            <a:xfrm>
              <a:off x="2254948" y="1844230"/>
              <a:ext cx="3474720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0F72A0A-BD67-1C9D-60E0-75ADFF138B63}"/>
                </a:ext>
              </a:extLst>
            </p:cNvPr>
            <p:cNvSpPr txBox="1"/>
            <p:nvPr/>
          </p:nvSpPr>
          <p:spPr>
            <a:xfrm>
              <a:off x="2317811" y="3181668"/>
              <a:ext cx="33489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cd [-o] &lt;path&gt;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BBFCC7C-F228-3522-D10E-0BCCCA932898}"/>
                </a:ext>
              </a:extLst>
            </p:cNvPr>
            <p:cNvSpPr txBox="1"/>
            <p:nvPr/>
          </p:nvSpPr>
          <p:spPr>
            <a:xfrm>
              <a:off x="2999889" y="2014340"/>
              <a:ext cx="19848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Change </a:t>
              </a:r>
            </a:p>
            <a:p>
              <a:pPr algn="ctr"/>
              <a:r>
                <a:rPr lang="en-US" sz="3200" b="1" dirty="0"/>
                <a:t>Directory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6A311D-80AF-384C-2FA6-E775C34575E4}"/>
              </a:ext>
            </a:extLst>
          </p:cNvPr>
          <p:cNvGrpSpPr/>
          <p:nvPr/>
        </p:nvGrpSpPr>
        <p:grpSpPr>
          <a:xfrm>
            <a:off x="5234940" y="1462088"/>
            <a:ext cx="5486400" cy="2089594"/>
            <a:chOff x="2014999" y="1844230"/>
            <a:chExt cx="4114800" cy="2089594"/>
          </a:xfrm>
        </p:grpSpPr>
        <p:pic>
          <p:nvPicPr>
            <p:cNvPr id="14" name="Graphic 13" descr="Open folder outline">
              <a:extLst>
                <a:ext uri="{FF2B5EF4-FFF2-40B4-BE49-F238E27FC236}">
                  <a16:creationId xmlns:a16="http://schemas.microsoft.com/office/drawing/2014/main" id="{4A17EAE9-25B9-D8A3-860F-93253E7E2F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9E025B76-8C1A-E79F-938E-2FF568D622AA}"/>
                </a:ext>
              </a:extLst>
            </p:cNvPr>
            <p:cNvSpPr/>
            <p:nvPr/>
          </p:nvSpPr>
          <p:spPr>
            <a:xfrm>
              <a:off x="2014999" y="1844230"/>
              <a:ext cx="4114800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D36564-2F63-CDA1-8051-7FD215C4E402}"/>
                </a:ext>
              </a:extLst>
            </p:cNvPr>
            <p:cNvSpPr txBox="1"/>
            <p:nvPr/>
          </p:nvSpPr>
          <p:spPr>
            <a:xfrm>
              <a:off x="2058867" y="3181668"/>
              <a:ext cx="402706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mkdir</a:t>
              </a:r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[-o] &lt;path&gt;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0B54AA9-67E7-A7F8-B27D-31C1AD81FC11}"/>
                </a:ext>
              </a:extLst>
            </p:cNvPr>
            <p:cNvSpPr txBox="1"/>
            <p:nvPr/>
          </p:nvSpPr>
          <p:spPr>
            <a:xfrm>
              <a:off x="3079980" y="2014340"/>
              <a:ext cx="19848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Make </a:t>
              </a:r>
            </a:p>
            <a:p>
              <a:pPr algn="ctr"/>
              <a:r>
                <a:rPr lang="en-US" sz="3200" b="1" dirty="0"/>
                <a:t>Directory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99934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09585-13ED-8EC4-DABE-642DA9F62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8ED6A-5D6B-99D3-B76D-CE40D3DE7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File Operations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3576AE-A8C4-51BB-2997-FDCECC372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17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2AE8C47-6B88-833F-82C6-718830002FC6}"/>
              </a:ext>
            </a:extLst>
          </p:cNvPr>
          <p:cNvGrpSpPr/>
          <p:nvPr/>
        </p:nvGrpSpPr>
        <p:grpSpPr>
          <a:xfrm>
            <a:off x="1470660" y="1462088"/>
            <a:ext cx="3474720" cy="2089594"/>
            <a:chOff x="2254948" y="1844230"/>
            <a:chExt cx="3474720" cy="2089594"/>
          </a:xfrm>
        </p:grpSpPr>
        <p:pic>
          <p:nvPicPr>
            <p:cNvPr id="8" name="Graphic 7" descr="Open folder outline">
              <a:extLst>
                <a:ext uri="{FF2B5EF4-FFF2-40B4-BE49-F238E27FC236}">
                  <a16:creationId xmlns:a16="http://schemas.microsoft.com/office/drawing/2014/main" id="{A2B2BBBC-BBF2-C29C-B44E-10B4E5F5D8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3B330AA-4326-3A68-28E3-DE28039631E9}"/>
                </a:ext>
              </a:extLst>
            </p:cNvPr>
            <p:cNvSpPr/>
            <p:nvPr/>
          </p:nvSpPr>
          <p:spPr>
            <a:xfrm>
              <a:off x="2254948" y="1844230"/>
              <a:ext cx="3474720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711AAA7-97A4-D862-7379-427031C5E800}"/>
                </a:ext>
              </a:extLst>
            </p:cNvPr>
            <p:cNvSpPr txBox="1"/>
            <p:nvPr/>
          </p:nvSpPr>
          <p:spPr>
            <a:xfrm>
              <a:off x="2317811" y="3181668"/>
              <a:ext cx="334899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cd [-o] &lt;path&gt;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178B09F-BDBE-9455-2F30-EF281CCCDDBB}"/>
                </a:ext>
              </a:extLst>
            </p:cNvPr>
            <p:cNvSpPr txBox="1"/>
            <p:nvPr/>
          </p:nvSpPr>
          <p:spPr>
            <a:xfrm>
              <a:off x="2999889" y="2014340"/>
              <a:ext cx="19848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Change </a:t>
              </a:r>
            </a:p>
            <a:p>
              <a:pPr algn="ctr"/>
              <a:r>
                <a:rPr lang="en-US" sz="3200" b="1" dirty="0"/>
                <a:t>Directory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14A573F-25D0-A0EB-17FC-60EDA9879DD3}"/>
              </a:ext>
            </a:extLst>
          </p:cNvPr>
          <p:cNvGrpSpPr/>
          <p:nvPr/>
        </p:nvGrpSpPr>
        <p:grpSpPr>
          <a:xfrm>
            <a:off x="5234940" y="1462088"/>
            <a:ext cx="5486400" cy="2089594"/>
            <a:chOff x="2014999" y="1844230"/>
            <a:chExt cx="4114800" cy="2089594"/>
          </a:xfrm>
        </p:grpSpPr>
        <p:pic>
          <p:nvPicPr>
            <p:cNvPr id="14" name="Graphic 13" descr="Open folder outline">
              <a:extLst>
                <a:ext uri="{FF2B5EF4-FFF2-40B4-BE49-F238E27FC236}">
                  <a16:creationId xmlns:a16="http://schemas.microsoft.com/office/drawing/2014/main" id="{B99DA71A-AAF1-2741-E268-353637F212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B1C8374C-F6BE-5F58-8583-54AD09173532}"/>
                </a:ext>
              </a:extLst>
            </p:cNvPr>
            <p:cNvSpPr/>
            <p:nvPr/>
          </p:nvSpPr>
          <p:spPr>
            <a:xfrm>
              <a:off x="2014999" y="1844230"/>
              <a:ext cx="4114800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771E6F4-18CA-D3B5-A065-0D644F06F028}"/>
                </a:ext>
              </a:extLst>
            </p:cNvPr>
            <p:cNvSpPr txBox="1"/>
            <p:nvPr/>
          </p:nvSpPr>
          <p:spPr>
            <a:xfrm>
              <a:off x="2058867" y="3181668"/>
              <a:ext cx="402706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mkdir</a:t>
              </a:r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[-o] &lt;path&gt;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573E52A-3085-641E-1A62-53113F68D8FE}"/>
                </a:ext>
              </a:extLst>
            </p:cNvPr>
            <p:cNvSpPr txBox="1"/>
            <p:nvPr/>
          </p:nvSpPr>
          <p:spPr>
            <a:xfrm>
              <a:off x="3079980" y="2014340"/>
              <a:ext cx="19848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Make </a:t>
              </a:r>
            </a:p>
            <a:p>
              <a:pPr algn="ctr"/>
              <a:r>
                <a:rPr lang="en-US" sz="3200" b="1" dirty="0"/>
                <a:t>Directory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07B095-7776-3039-2874-914916C65074}"/>
              </a:ext>
            </a:extLst>
          </p:cNvPr>
          <p:cNvGrpSpPr/>
          <p:nvPr/>
        </p:nvGrpSpPr>
        <p:grpSpPr>
          <a:xfrm>
            <a:off x="1470660" y="3916301"/>
            <a:ext cx="5486400" cy="2089594"/>
            <a:chOff x="2238984" y="1844230"/>
            <a:chExt cx="3478273" cy="2089594"/>
          </a:xfrm>
        </p:grpSpPr>
        <p:pic>
          <p:nvPicPr>
            <p:cNvPr id="19" name="Graphic 18" descr="Open folder outline">
              <a:extLst>
                <a:ext uri="{FF2B5EF4-FFF2-40B4-BE49-F238E27FC236}">
                  <a16:creationId xmlns:a16="http://schemas.microsoft.com/office/drawing/2014/main" id="{1DCC10C2-3B91-1463-8650-16993518C2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75532" y="2971800"/>
              <a:ext cx="0" cy="0"/>
            </a:xfrm>
            <a:prstGeom prst="rect">
              <a:avLst/>
            </a:prstGeom>
          </p:spPr>
        </p:pic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F255A528-8FB8-BE79-3FF8-F3E547B71B9A}"/>
                </a:ext>
              </a:extLst>
            </p:cNvPr>
            <p:cNvSpPr/>
            <p:nvPr/>
          </p:nvSpPr>
          <p:spPr>
            <a:xfrm>
              <a:off x="2238984" y="1844230"/>
              <a:ext cx="3478273" cy="2089594"/>
            </a:xfrm>
            <a:prstGeom prst="round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3F9D1DA-C7B4-010F-253C-64E262FD44F0}"/>
                </a:ext>
              </a:extLst>
            </p:cNvPr>
            <p:cNvSpPr txBox="1"/>
            <p:nvPr/>
          </p:nvSpPr>
          <p:spPr>
            <a:xfrm>
              <a:off x="2271696" y="3181668"/>
              <a:ext cx="34128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cp [-o] &lt;source&gt; &lt;</a:t>
              </a:r>
              <a:r>
                <a:rPr lang="en-US" sz="3200" b="1" dirty="0" err="1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dest</a:t>
              </a:r>
              <a:r>
                <a:rPr lang="en-US" sz="3200" b="1" dirty="0">
                  <a:solidFill>
                    <a:schemeClr val="accent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&gt;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B5AA8FD-364A-63FE-4951-04CE484CE8FA}"/>
                </a:ext>
              </a:extLst>
            </p:cNvPr>
            <p:cNvSpPr txBox="1"/>
            <p:nvPr/>
          </p:nvSpPr>
          <p:spPr>
            <a:xfrm>
              <a:off x="2742739" y="2014340"/>
              <a:ext cx="2470764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 b="1" dirty="0"/>
                <a:t>Copy / Move </a:t>
              </a:r>
            </a:p>
            <a:p>
              <a:pPr algn="ctr"/>
              <a:r>
                <a:rPr lang="en-US" sz="3200" b="1" dirty="0"/>
                <a:t>Files &amp; Directories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17147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5B5DA-BC6A-7BA7-29D4-08F9204B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B9173-4CCA-F71B-04B5-91BA41E03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File Operations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70C9A1-5845-D561-B1F3-AE1A4949D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18</a:t>
            </a:fld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A868109-8DDA-00F1-76C1-1411E8180F00}"/>
              </a:ext>
            </a:extLst>
          </p:cNvPr>
          <p:cNvGrpSpPr/>
          <p:nvPr/>
        </p:nvGrpSpPr>
        <p:grpSpPr>
          <a:xfrm>
            <a:off x="1470660" y="1462088"/>
            <a:ext cx="9250680" cy="4543807"/>
            <a:chOff x="2254948" y="1462088"/>
            <a:chExt cx="9250680" cy="454380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33D9678-2E76-3E55-D6E2-36200B4A28C3}"/>
                </a:ext>
              </a:extLst>
            </p:cNvPr>
            <p:cNvGrpSpPr/>
            <p:nvPr/>
          </p:nvGrpSpPr>
          <p:grpSpPr>
            <a:xfrm>
              <a:off x="2254948" y="1462088"/>
              <a:ext cx="3474720" cy="2089594"/>
              <a:chOff x="2254948" y="1844230"/>
              <a:chExt cx="3474720" cy="2089594"/>
            </a:xfrm>
          </p:grpSpPr>
          <p:pic>
            <p:nvPicPr>
              <p:cNvPr id="8" name="Graphic 7" descr="Open folder outline">
                <a:extLst>
                  <a:ext uri="{FF2B5EF4-FFF2-40B4-BE49-F238E27FC236}">
                    <a16:creationId xmlns:a16="http://schemas.microsoft.com/office/drawing/2014/main" id="{93FC7E3C-272D-62E3-604B-82C88C201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E1EC58D-E66E-F5E9-8E69-92CDF35683AC}"/>
                  </a:ext>
                </a:extLst>
              </p:cNvPr>
              <p:cNvSpPr/>
              <p:nvPr/>
            </p:nvSpPr>
            <p:spPr>
              <a:xfrm>
                <a:off x="2254948" y="1844230"/>
                <a:ext cx="347472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E18E69-4A6A-5B22-87B5-0CFACD4691B1}"/>
                  </a:ext>
                </a:extLst>
              </p:cNvPr>
              <p:cNvSpPr txBox="1"/>
              <p:nvPr/>
            </p:nvSpPr>
            <p:spPr>
              <a:xfrm>
                <a:off x="2317811" y="3181668"/>
                <a:ext cx="334899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cd [-o] &lt;path&gt;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DED40F7-7D64-888C-08A5-19FC803F5427}"/>
                  </a:ext>
                </a:extLst>
              </p:cNvPr>
              <p:cNvSpPr txBox="1"/>
              <p:nvPr/>
            </p:nvSpPr>
            <p:spPr>
              <a:xfrm>
                <a:off x="2999889" y="2014340"/>
                <a:ext cx="1984839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Change </a:t>
                </a:r>
              </a:p>
              <a:p>
                <a:pPr algn="ctr"/>
                <a:r>
                  <a:rPr lang="en-US" sz="3200" b="1" dirty="0"/>
                  <a:t>Directory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E25A928-ACE1-7794-2A29-E38B9B600A94}"/>
                </a:ext>
              </a:extLst>
            </p:cNvPr>
            <p:cNvGrpSpPr/>
            <p:nvPr/>
          </p:nvGrpSpPr>
          <p:grpSpPr>
            <a:xfrm>
              <a:off x="6019228" y="1462088"/>
              <a:ext cx="5486400" cy="2089594"/>
              <a:chOff x="2014999" y="1844230"/>
              <a:chExt cx="4114800" cy="2089594"/>
            </a:xfrm>
          </p:grpSpPr>
          <p:pic>
            <p:nvPicPr>
              <p:cNvPr id="14" name="Graphic 13" descr="Open folder outline">
                <a:extLst>
                  <a:ext uri="{FF2B5EF4-FFF2-40B4-BE49-F238E27FC236}">
                    <a16:creationId xmlns:a16="http://schemas.microsoft.com/office/drawing/2014/main" id="{06A1603C-FD67-7A77-1556-CA3E65C8B0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005D8A23-1E7B-56B7-FA44-70B4B3819EE7}"/>
                  </a:ext>
                </a:extLst>
              </p:cNvPr>
              <p:cNvSpPr/>
              <p:nvPr/>
            </p:nvSpPr>
            <p:spPr>
              <a:xfrm>
                <a:off x="2014999" y="1844230"/>
                <a:ext cx="411480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C3DDA6F-EE57-F771-6066-10223EE52066}"/>
                  </a:ext>
                </a:extLst>
              </p:cNvPr>
              <p:cNvSpPr txBox="1"/>
              <p:nvPr/>
            </p:nvSpPr>
            <p:spPr>
              <a:xfrm>
                <a:off x="2058867" y="3181668"/>
                <a:ext cx="402706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mkdir</a:t>
                </a:r>
                <a:r>
                  <a:rPr lang="en-US" sz="3200" b="1" dirty="0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[-o] &lt;path&gt;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B899B-ACD2-C6A0-0046-2FAD5F77A9FB}"/>
                  </a:ext>
                </a:extLst>
              </p:cNvPr>
              <p:cNvSpPr txBox="1"/>
              <p:nvPr/>
            </p:nvSpPr>
            <p:spPr>
              <a:xfrm>
                <a:off x="3079980" y="2014340"/>
                <a:ext cx="1984839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Make </a:t>
                </a:r>
              </a:p>
              <a:p>
                <a:pPr algn="ctr"/>
                <a:r>
                  <a:rPr lang="en-US" sz="3200" b="1" dirty="0"/>
                  <a:t>Directory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4900AFF-1E42-7815-4763-1050602C2771}"/>
                </a:ext>
              </a:extLst>
            </p:cNvPr>
            <p:cNvGrpSpPr/>
            <p:nvPr/>
          </p:nvGrpSpPr>
          <p:grpSpPr>
            <a:xfrm>
              <a:off x="2254948" y="3916301"/>
              <a:ext cx="5486400" cy="2089594"/>
              <a:chOff x="2238984" y="1844230"/>
              <a:chExt cx="3478273" cy="2089594"/>
            </a:xfrm>
          </p:grpSpPr>
          <p:pic>
            <p:nvPicPr>
              <p:cNvPr id="19" name="Graphic 18" descr="Open folder outline">
                <a:extLst>
                  <a:ext uri="{FF2B5EF4-FFF2-40B4-BE49-F238E27FC236}">
                    <a16:creationId xmlns:a16="http://schemas.microsoft.com/office/drawing/2014/main" id="{7619D01D-3E4F-7B09-D3B4-C6A2762F0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5C4562FB-7C03-8BD1-998A-7F011482916C}"/>
                  </a:ext>
                </a:extLst>
              </p:cNvPr>
              <p:cNvSpPr/>
              <p:nvPr/>
            </p:nvSpPr>
            <p:spPr>
              <a:xfrm>
                <a:off x="2238984" y="1844230"/>
                <a:ext cx="3478273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4BC9B5B-3CF7-804E-D51B-00BDDC734B9A}"/>
                  </a:ext>
                </a:extLst>
              </p:cNvPr>
              <p:cNvSpPr txBox="1"/>
              <p:nvPr/>
            </p:nvSpPr>
            <p:spPr>
              <a:xfrm>
                <a:off x="2271696" y="3181668"/>
                <a:ext cx="341284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cp [-o] &lt;source&gt; &lt;</a:t>
                </a:r>
                <a:r>
                  <a:rPr lang="en-US" sz="3200" b="1" dirty="0" err="1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dest</a:t>
                </a:r>
                <a:r>
                  <a:rPr lang="en-US" sz="3200" b="1" dirty="0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&gt;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5A21E4C-9245-1DA6-0994-1FA1B615320B}"/>
                  </a:ext>
                </a:extLst>
              </p:cNvPr>
              <p:cNvSpPr txBox="1"/>
              <p:nvPr/>
            </p:nvSpPr>
            <p:spPr>
              <a:xfrm>
                <a:off x="2742739" y="2014340"/>
                <a:ext cx="2470764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Copy / Move </a:t>
                </a:r>
              </a:p>
              <a:p>
                <a:pPr algn="ctr"/>
                <a:r>
                  <a:rPr lang="en-US" sz="3200" b="1" dirty="0"/>
                  <a:t>Files &amp; Directories 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F762859-AFFB-01F6-9BC0-972AD90C53EF}"/>
                </a:ext>
              </a:extLst>
            </p:cNvPr>
            <p:cNvGrpSpPr/>
            <p:nvPr/>
          </p:nvGrpSpPr>
          <p:grpSpPr>
            <a:xfrm>
              <a:off x="8030908" y="3916301"/>
              <a:ext cx="3474720" cy="2089594"/>
              <a:chOff x="2254948" y="1844230"/>
              <a:chExt cx="3474720" cy="2089594"/>
            </a:xfrm>
          </p:grpSpPr>
          <p:pic>
            <p:nvPicPr>
              <p:cNvPr id="24" name="Graphic 23" descr="Open folder outline">
                <a:extLst>
                  <a:ext uri="{FF2B5EF4-FFF2-40B4-BE49-F238E27FC236}">
                    <a16:creationId xmlns:a16="http://schemas.microsoft.com/office/drawing/2014/main" id="{1C0AF813-67D3-F2EB-05E1-D283404B8D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C9851041-E733-31A0-23AA-9FEE8EB9118C}"/>
                  </a:ext>
                </a:extLst>
              </p:cNvPr>
              <p:cNvSpPr/>
              <p:nvPr/>
            </p:nvSpPr>
            <p:spPr>
              <a:xfrm>
                <a:off x="2254948" y="1844230"/>
                <a:ext cx="347472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3D33C83-4A9B-CA16-5E91-678EF8E7F46C}"/>
                  </a:ext>
                </a:extLst>
              </p:cNvPr>
              <p:cNvSpPr txBox="1"/>
              <p:nvPr/>
            </p:nvSpPr>
            <p:spPr>
              <a:xfrm>
                <a:off x="2317811" y="3181668"/>
                <a:ext cx="334899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chemeClr val="accent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rm [-o] &lt;path&gt;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C318CE-5B6E-B6F2-6BB6-733FA143943F}"/>
                  </a:ext>
                </a:extLst>
              </p:cNvPr>
              <p:cNvSpPr txBox="1"/>
              <p:nvPr/>
            </p:nvSpPr>
            <p:spPr>
              <a:xfrm>
                <a:off x="3228317" y="2014340"/>
                <a:ext cx="1527982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Delete </a:t>
                </a:r>
              </a:p>
              <a:p>
                <a:pPr algn="ctr"/>
                <a:r>
                  <a:rPr lang="en-US" sz="3200" b="1" dirty="0"/>
                  <a:t>Files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642590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2A80F-467A-598A-27CA-29D7AB90F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061" y="83771"/>
            <a:ext cx="11265877" cy="1325563"/>
          </a:xfrm>
        </p:spPr>
        <p:txBody>
          <a:bodyPr/>
          <a:lstStyle/>
          <a:p>
            <a:r>
              <a:rPr lang="en-US" dirty="0"/>
              <a:t>Create and edit a file – Terminal Text Editors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5D91E8-1460-FB3B-3CB2-3E96670D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19</a:t>
            </a:fld>
            <a:endParaRPr 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E70EF3A4-5D20-8FC8-D18B-D1E2A7B2D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003" y="1919771"/>
            <a:ext cx="2588146" cy="2593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undefined">
            <a:extLst>
              <a:ext uri="{FF2B5EF4-FFF2-40B4-BE49-F238E27FC236}">
                <a16:creationId xmlns:a16="http://schemas.microsoft.com/office/drawing/2014/main" id="{7ED316EC-14FF-145E-0407-F8D5D7370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9554" y="1892931"/>
            <a:ext cx="2504284" cy="250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1B0254-9AB2-7400-7547-32E8717BC092}"/>
              </a:ext>
            </a:extLst>
          </p:cNvPr>
          <p:cNvSpPr txBox="1"/>
          <p:nvPr/>
        </p:nvSpPr>
        <p:spPr>
          <a:xfrm>
            <a:off x="5192896" y="4667972"/>
            <a:ext cx="15376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Nano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2634B4-AF40-DF74-B510-3B418611DD74}"/>
              </a:ext>
            </a:extLst>
          </p:cNvPr>
          <p:cNvSpPr txBox="1"/>
          <p:nvPr/>
        </p:nvSpPr>
        <p:spPr>
          <a:xfrm>
            <a:off x="1605392" y="4706490"/>
            <a:ext cx="11993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Vim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9DE716-6152-038B-9818-B2CAD2E0DC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4243" y="1776826"/>
            <a:ext cx="2793505" cy="27364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35EB34-99AB-6FA2-4581-3E5B01CD1D91}"/>
              </a:ext>
            </a:extLst>
          </p:cNvPr>
          <p:cNvSpPr txBox="1"/>
          <p:nvPr/>
        </p:nvSpPr>
        <p:spPr>
          <a:xfrm>
            <a:off x="8883077" y="4667972"/>
            <a:ext cx="18758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Emacs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20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738BD-DBBE-2994-7077-B94D7FE35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187"/>
            <a:ext cx="10515600" cy="1325563"/>
          </a:xfrm>
        </p:spPr>
        <p:txBody>
          <a:bodyPr/>
          <a:lstStyle/>
          <a:p>
            <a:r>
              <a:rPr lang="en-US" dirty="0"/>
              <a:t>Creating a Bash Script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2F1B2F-F244-BE48-7497-088CA2C34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20</a:t>
            </a:fld>
            <a:endParaRPr lang="en-US"/>
          </a:p>
        </p:txBody>
      </p:sp>
      <p:pic>
        <p:nvPicPr>
          <p:cNvPr id="7" name="Graphic 6" descr="Programmer male with solid fill">
            <a:extLst>
              <a:ext uri="{FF2B5EF4-FFF2-40B4-BE49-F238E27FC236}">
                <a16:creationId xmlns:a16="http://schemas.microsoft.com/office/drawing/2014/main" id="{F651B605-88E9-D063-5E96-8891257EEC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0000" y="1615675"/>
            <a:ext cx="4116910" cy="4116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2584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216;p31">
            <a:extLst>
              <a:ext uri="{FF2B5EF4-FFF2-40B4-BE49-F238E27FC236}">
                <a16:creationId xmlns:a16="http://schemas.microsoft.com/office/drawing/2014/main" id="{7BB7D35D-D791-33B1-E779-2E55122C2C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1901" y="188360"/>
            <a:ext cx="9962909" cy="714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ctr" anchorCtr="0">
            <a:spAutoFit/>
          </a:bodyPr>
          <a:lstStyle/>
          <a:p>
            <a:pPr marL="2997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Shell script basics</a:t>
            </a:r>
            <a:endParaRPr dirty="0"/>
          </a:p>
        </p:txBody>
      </p:sp>
      <p:sp>
        <p:nvSpPr>
          <p:cNvPr id="223" name="Google Shape;223;p32"/>
          <p:cNvSpPr txBox="1"/>
          <p:nvPr/>
        </p:nvSpPr>
        <p:spPr>
          <a:xfrm>
            <a:off x="672775" y="1190417"/>
            <a:ext cx="10302600" cy="2093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4900" rIns="0" bIns="0" anchor="t" anchorCtr="0">
            <a:spAutoFit/>
          </a:bodyPr>
          <a:lstStyle/>
          <a:p>
            <a:pPr marL="677130" marR="0" lvl="0" indent="-3429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In shell scripts, the first line must specify the shell e.g.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Courier New" panose="02070309020205020404" pitchFamily="49" charset="0"/>
              </a:rPr>
              <a:t>#!/bin/bash</a:t>
            </a:r>
            <a:endParaRPr sz="2400" dirty="0">
              <a:solidFill>
                <a:schemeClr val="accent1">
                  <a:lumMod val="75000"/>
                </a:schemeClr>
              </a:solidFill>
              <a:latin typeface="+mn-lt"/>
              <a:ea typeface="Helvetica Neue Light" panose="02000403000000020004" pitchFamily="2" charset="0"/>
              <a:cs typeface="Courier New" panose="02070309020205020404" pitchFamily="49" charset="0"/>
            </a:endParaRPr>
          </a:p>
          <a:p>
            <a:pPr marL="683448" marR="28477" lvl="0" indent="-349218" algn="l" rtl="0">
              <a:lnSpc>
                <a:spcPct val="125000"/>
              </a:lnSpc>
              <a:spcBef>
                <a:spcPts val="507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The program loader recognizes the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Courier New" panose="02070309020205020404" pitchFamily="49" charset="0"/>
              </a:rPr>
              <a:t>#!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 and will interpret the rest of the line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Courier New" panose="02070309020205020404" pitchFamily="49" charset="0"/>
              </a:rPr>
              <a:t>(/bin/bash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) as the interpreter program.</a:t>
            </a:r>
            <a:endParaRPr sz="2400" dirty="0">
              <a:solidFill>
                <a:schemeClr val="dk1"/>
              </a:solidFill>
              <a:latin typeface="+mn-lt"/>
              <a:ea typeface="Helvetica Neue Light" panose="02000403000000020004" pitchFamily="2" charset="0"/>
            </a:endParaRPr>
          </a:p>
          <a:p>
            <a:pPr marL="677130" marR="0" lvl="0" indent="-342900" algn="l" rtl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If a line starts with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Courier New" panose="02070309020205020404" pitchFamily="49" charset="0"/>
              </a:rPr>
              <a:t>#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, it is a comment and is not run.</a:t>
            </a:r>
            <a:endParaRPr sz="2400" dirty="0">
              <a:solidFill>
                <a:schemeClr val="dk1"/>
              </a:solidFill>
              <a:latin typeface="+mn-lt"/>
              <a:ea typeface="Helvetica Neue Light" panose="02000403000000020004" pitchFamily="2" charset="0"/>
            </a:endParaRPr>
          </a:p>
        </p:txBody>
      </p:sp>
      <p:sp>
        <p:nvSpPr>
          <p:cNvPr id="222" name="Google Shape;222;p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2775" y="3510125"/>
            <a:ext cx="6070925" cy="2415600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32"/>
          <p:cNvSpPr txBox="1"/>
          <p:nvPr/>
        </p:nvSpPr>
        <p:spPr>
          <a:xfrm>
            <a:off x="944700" y="3497425"/>
            <a:ext cx="5694600" cy="271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1475" rIns="0" bIns="0" anchor="t" anchorCtr="0">
            <a:spAutoFit/>
          </a:bodyPr>
          <a:lstStyle/>
          <a:p>
            <a:pPr marL="29975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#!/bin/bash</a:t>
            </a:r>
            <a:b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#look at the files in /</a:t>
            </a:r>
            <a:r>
              <a:rPr lang="en-US" sz="2600" i="1" dirty="0" err="1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tmp</a:t>
            </a:r>
            <a:endParaRPr sz="27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9975" marR="1212522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cd</a:t>
            </a:r>
            <a:r>
              <a:rPr lang="en-US" sz="2600" dirty="0">
                <a:solidFill>
                  <a:srgbClr val="007F00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2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tmp</a:t>
            </a: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2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9975" marR="1212522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ls </a:t>
            </a:r>
            <a:endParaRPr dirty="0"/>
          </a:p>
          <a:p>
            <a:pPr marL="29975" marR="1212522" lvl="0" indent="0" algn="l" rtl="0">
              <a:lnSpc>
                <a:spcPct val="10269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32"/>
          <p:cNvSpPr txBox="1"/>
          <p:nvPr/>
        </p:nvSpPr>
        <p:spPr>
          <a:xfrm>
            <a:off x="6996234" y="3454776"/>
            <a:ext cx="3228731" cy="2799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450" rIns="0" bIns="0" anchor="t" anchorCtr="0">
            <a:spAutoFit/>
          </a:bodyPr>
          <a:lstStyle/>
          <a:p>
            <a:pPr marL="29975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Shell to run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Comment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Change directories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List everything in /</a:t>
            </a:r>
            <a:r>
              <a:rPr lang="en-US" sz="2500" dirty="0" err="1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tmp</a:t>
            </a: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endParaRPr sz="13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06900"/>
              </a:lnSpc>
              <a:spcBef>
                <a:spcPts val="319"/>
              </a:spcBef>
              <a:spcAft>
                <a:spcPts val="0"/>
              </a:spcAft>
              <a:buNone/>
            </a:pPr>
            <a:endParaRPr sz="2500" dirty="0">
              <a:solidFill>
                <a:schemeClr val="dk2"/>
              </a:solidFill>
            </a:endParaRP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B732C146-9EAD-2FB1-DBB8-E744A2E51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BAF56-F053-8140-3372-ECB312439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BF2681-0074-923B-B3BD-4A160FBAF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22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0BB9CD20-92CD-3ECF-7E94-0529795236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latin typeface="Helvetica Neue Light"/>
                <a:ea typeface="Helvetica Neue Light"/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51" name="Group 50" descr="An icon of a person at a laptop">
            <a:extLst>
              <a:ext uri="{FF2B5EF4-FFF2-40B4-BE49-F238E27FC236}">
                <a16:creationId xmlns:a16="http://schemas.microsoft.com/office/drawing/2014/main" id="{8FE4B81F-59A2-167B-EFB9-D69545BE0121}"/>
              </a:ext>
            </a:extLst>
          </p:cNvPr>
          <p:cNvGrpSpPr/>
          <p:nvPr/>
        </p:nvGrpSpPr>
        <p:grpSpPr>
          <a:xfrm>
            <a:off x="1069178" y="1759077"/>
            <a:ext cx="10053644" cy="3339847"/>
            <a:chOff x="527419" y="1759076"/>
            <a:chExt cx="10053644" cy="3339847"/>
          </a:xfrm>
        </p:grpSpPr>
        <p:pic>
          <p:nvPicPr>
            <p:cNvPr id="6" name="Google Shape;210;p30">
              <a:extLst>
                <a:ext uri="{FF2B5EF4-FFF2-40B4-BE49-F238E27FC236}">
                  <a16:creationId xmlns:a16="http://schemas.microsoft.com/office/drawing/2014/main" id="{00F69A1E-9E75-8B4F-7B7A-3FD416D6FDEB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27419" y="2240350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" name="Picture 2" descr="The logo of the Slurm workload manager">
              <a:extLst>
                <a:ext uri="{FF2B5EF4-FFF2-40B4-BE49-F238E27FC236}">
                  <a16:creationId xmlns:a16="http://schemas.microsoft.com/office/drawing/2014/main" id="{2F94C7A0-6885-1241-6243-2A63FA07FBF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4705705" y="2847708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5F0BBE22-45F0-06F9-65D2-38CAFA524316}"/>
                </a:ext>
              </a:extLst>
            </p:cNvPr>
            <p:cNvSpPr/>
            <p:nvPr/>
          </p:nvSpPr>
          <p:spPr>
            <a:xfrm>
              <a:off x="553195" y="1759076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4BEEC62-EEEC-8DD5-B264-36D48FB94C3C}"/>
                </a:ext>
              </a:extLst>
            </p:cNvPr>
            <p:cNvGrpSpPr/>
            <p:nvPr/>
          </p:nvGrpSpPr>
          <p:grpSpPr>
            <a:xfrm>
              <a:off x="540307" y="1873650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B2356C4-E987-5FD9-0498-7093DB2C96F1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83EF7E0-C4C4-141B-583B-1A4A1057FC6D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196DB69-8358-30DA-A574-839E8B445062}"/>
                </a:ext>
              </a:extLst>
            </p:cNvPr>
            <p:cNvSpPr txBox="1"/>
            <p:nvPr/>
          </p:nvSpPr>
          <p:spPr>
            <a:xfrm>
              <a:off x="553195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  <p:sp>
          <p:nvSpPr>
            <p:cNvPr id="34" name="Right Arrow Callout 33">
              <a:extLst>
                <a:ext uri="{FF2B5EF4-FFF2-40B4-BE49-F238E27FC236}">
                  <a16:creationId xmlns:a16="http://schemas.microsoft.com/office/drawing/2014/main" id="{53B2438B-DE92-FC0E-5F5A-31E2C3D5847D}"/>
                </a:ext>
              </a:extLst>
            </p:cNvPr>
            <p:cNvSpPr/>
            <p:nvPr/>
          </p:nvSpPr>
          <p:spPr>
            <a:xfrm>
              <a:off x="4391862" y="1759076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1E78B64-D741-A3A8-737E-565785CB99E3}"/>
                </a:ext>
              </a:extLst>
            </p:cNvPr>
            <p:cNvGrpSpPr/>
            <p:nvPr/>
          </p:nvGrpSpPr>
          <p:grpSpPr>
            <a:xfrm>
              <a:off x="4378974" y="1873650"/>
              <a:ext cx="2351516" cy="707886"/>
              <a:chOff x="540307" y="1873650"/>
              <a:chExt cx="2351516" cy="707886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DB58BF0-1AC0-E835-E8C2-453449BD89F7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CAAB496-0FC3-7C56-0849-9BD91B82D929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3602C48-8713-D63D-6BEF-24FF26758FFD}"/>
                </a:ext>
              </a:extLst>
            </p:cNvPr>
            <p:cNvSpPr txBox="1"/>
            <p:nvPr/>
          </p:nvSpPr>
          <p:spPr>
            <a:xfrm>
              <a:off x="4391862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DE0D769-D307-F219-DDF9-C283803A5F54}"/>
                </a:ext>
              </a:extLst>
            </p:cNvPr>
            <p:cNvSpPr/>
            <p:nvPr/>
          </p:nvSpPr>
          <p:spPr>
            <a:xfrm>
              <a:off x="8225377" y="1764791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25C956A-F3A3-E57D-1151-D2CEFEC2F1D3}"/>
                </a:ext>
              </a:extLst>
            </p:cNvPr>
            <p:cNvSpPr txBox="1"/>
            <p:nvPr/>
          </p:nvSpPr>
          <p:spPr>
            <a:xfrm>
              <a:off x="8242436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Tuning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088B5AE1-FC9E-5EED-7E61-9ECD4D9A620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571730" y="2757570"/>
              <a:ext cx="1645920" cy="1546836"/>
              <a:chOff x="8412658" y="2617108"/>
              <a:chExt cx="1929294" cy="1813150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F1C8633E-9FC0-F538-F9D0-15AD98B8EB0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23" name="Rounded Rectangle 22" descr="An icon representing a computer chip">
                  <a:extLst>
                    <a:ext uri="{FF2B5EF4-FFF2-40B4-BE49-F238E27FC236}">
                      <a16:creationId xmlns:a16="http://schemas.microsoft.com/office/drawing/2014/main" id="{9500E024-3667-C85A-29BE-9F2D586FA393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24" name="Graphic 23">
                  <a:extLst>
                    <a:ext uri="{FF2B5EF4-FFF2-40B4-BE49-F238E27FC236}">
                      <a16:creationId xmlns:a16="http://schemas.microsoft.com/office/drawing/2014/main" id="{06A6C78C-943A-DAB1-3EDA-9770449E81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C1030451-9732-1B0B-15E5-BB68E3C460E3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42" name="Rounded Rectangle 41" descr="An icon of a stopwatch">
                  <a:extLst>
                    <a:ext uri="{FF2B5EF4-FFF2-40B4-BE49-F238E27FC236}">
                      <a16:creationId xmlns:a16="http://schemas.microsoft.com/office/drawing/2014/main" id="{D768B632-319D-BACA-F108-8C1C75B6D18A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45" name="Graphic 44" descr="Stopwatch with solid fill">
                  <a:extLst>
                    <a:ext uri="{FF2B5EF4-FFF2-40B4-BE49-F238E27FC236}">
                      <a16:creationId xmlns:a16="http://schemas.microsoft.com/office/drawing/2014/main" id="{E332EDF5-5FAC-012C-EEB8-060CC6C741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12678C8-A0CE-4242-67BB-67A089A50638}"/>
                </a:ext>
              </a:extLst>
            </p:cNvPr>
            <p:cNvGrpSpPr/>
            <p:nvPr/>
          </p:nvGrpSpPr>
          <p:grpSpPr>
            <a:xfrm>
              <a:off x="8205444" y="1891581"/>
              <a:ext cx="2351516" cy="707886"/>
              <a:chOff x="540307" y="1873650"/>
              <a:chExt cx="2351516" cy="707886"/>
            </a:xfrm>
          </p:grpSpPr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7B4C415-E291-5B37-D0A8-CFA479EEC4AA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F021DD8-90DA-36F1-CA72-26D847145939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Down Arrow 6">
            <a:extLst>
              <a:ext uri="{FF2B5EF4-FFF2-40B4-BE49-F238E27FC236}">
                <a16:creationId xmlns:a16="http://schemas.microsoft.com/office/drawing/2014/main" id="{8608F1A0-B9A3-6A6F-DC5C-ED59C872F653}"/>
              </a:ext>
            </a:extLst>
          </p:cNvPr>
          <p:cNvSpPr/>
          <p:nvPr/>
        </p:nvSpPr>
        <p:spPr>
          <a:xfrm rot="10800000">
            <a:off x="5536006" y="5245515"/>
            <a:ext cx="1133856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0352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42CE9-0675-EC06-F000-CC9AD35A2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Light"/>
                <a:ea typeface="Helvetica Neue Light"/>
                <a:cs typeface="Helvetica Neue Light"/>
                <a:sym typeface="Helvetica Neue Light"/>
              </a:rPr>
              <a:t>Interactive jobs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4FEDA-43EC-712B-B865-19D679DBF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0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798" dirty="0" err="1">
                <a:solidFill>
                  <a:srgbClr val="0070C0"/>
                </a:solidFill>
              </a:rPr>
              <a:t>acompile</a:t>
            </a:r>
            <a:r>
              <a:rPr lang="en-US" sz="2798" dirty="0">
                <a:solidFill>
                  <a:srgbClr val="2F2B20"/>
                </a:solidFill>
              </a:rPr>
              <a:t>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Quick access to resources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Limit of 4 CPUs for up to 12 hours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Focused on compiling/building software and small workflows</a:t>
            </a:r>
          </a:p>
          <a:p>
            <a:pPr marL="0" indent="0">
              <a:buNone/>
            </a:pPr>
            <a:endParaRPr lang="en-US" sz="28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sinteractive</a:t>
            </a:r>
            <a:endParaRPr lang="en-US" sz="28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522288" indent="-222250"/>
            <a:r>
              <a:rPr lang="en-US" sz="2400" dirty="0"/>
              <a:t>Request any partition, more resources, and longer </a:t>
            </a:r>
            <a:r>
              <a:rPr lang="en-US" sz="2400" dirty="0" err="1"/>
              <a:t>walltime</a:t>
            </a:r>
            <a:endParaRPr lang="en-US" sz="2400" dirty="0"/>
          </a:p>
          <a:p>
            <a:pPr marL="522288" indent="-222250"/>
            <a:r>
              <a:rPr lang="en-US" sz="2400" dirty="0">
                <a:solidFill>
                  <a:srgbClr val="2F2B20"/>
                </a:solidFill>
              </a:rPr>
              <a:t>Subject to standard wait times (not immediate access)</a:t>
            </a:r>
          </a:p>
          <a:p>
            <a:pPr marL="522288" indent="-222250"/>
            <a:r>
              <a:rPr lang="en-US" sz="2400" dirty="0">
                <a:solidFill>
                  <a:srgbClr val="2F2B20"/>
                </a:solidFill>
              </a:rPr>
              <a:t>As the name implies, allows you to access a job interactively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C126B-89FC-72C8-59A3-0FCCDCDA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1516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A83B-11EF-CA66-2994-83CD52980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>
                <a:latin typeface="Helvetica Neue Light"/>
                <a:ea typeface="Helvetica Neue Light"/>
                <a:cs typeface="Helvetica Neue Light"/>
                <a:sym typeface="Helvetica Neue Light"/>
              </a:rPr>
              <a:t>Running an interactive job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A4B3B-750F-BC61-3BAB-ECDD9C58D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323"/>
            <a:ext cx="10515600" cy="4351338"/>
          </a:xfrm>
        </p:spPr>
        <p:txBody>
          <a:bodyPr/>
          <a:lstStyle/>
          <a:p>
            <a:r>
              <a:rPr lang="en-US" dirty="0"/>
              <a:t>Here we will run a Python script using an interactive job</a:t>
            </a:r>
          </a:p>
          <a:p>
            <a:r>
              <a:rPr lang="en-US" dirty="0"/>
              <a:t>First request resources: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When the job starts you will be put on a compute node and you can execute your commands: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To quit: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143048-956C-658F-9280-F986F073F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24</a:t>
            </a:fld>
            <a:endParaRPr lang="en-US"/>
          </a:p>
        </p:txBody>
      </p:sp>
      <p:sp>
        <p:nvSpPr>
          <p:cNvPr id="6" name="Google Shape;676;p69">
            <a:extLst>
              <a:ext uri="{FF2B5EF4-FFF2-40B4-BE49-F238E27FC236}">
                <a16:creationId xmlns:a16="http://schemas.microsoft.com/office/drawing/2014/main" id="{3A5FD3D4-9009-92D0-8F81-15435F50C02D}"/>
              </a:ext>
            </a:extLst>
          </p:cNvPr>
          <p:cNvSpPr/>
          <p:nvPr/>
        </p:nvSpPr>
        <p:spPr>
          <a:xfrm>
            <a:off x="1159999" y="2349875"/>
            <a:ext cx="10870076" cy="4002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sinteractive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--partition=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atesting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=testing --time=00:10:00 --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677;p69">
            <a:extLst>
              <a:ext uri="{FF2B5EF4-FFF2-40B4-BE49-F238E27FC236}">
                <a16:creationId xmlns:a16="http://schemas.microsoft.com/office/drawing/2014/main" id="{508607B9-0D5C-B404-BA51-BC3402A6C455}"/>
              </a:ext>
            </a:extLst>
          </p:cNvPr>
          <p:cNvSpPr/>
          <p:nvPr/>
        </p:nvSpPr>
        <p:spPr>
          <a:xfrm>
            <a:off x="1159999" y="3813627"/>
            <a:ext cx="7689900" cy="748481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module load anaconda  </a:t>
            </a:r>
            <a:endParaRPr b="1" dirty="0">
              <a:solidFill>
                <a:srgbClr val="0070C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python 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my_very_cool_script.py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678;p69">
            <a:extLst>
              <a:ext uri="{FF2B5EF4-FFF2-40B4-BE49-F238E27FC236}">
                <a16:creationId xmlns:a16="http://schemas.microsoft.com/office/drawing/2014/main" id="{A82BCC9A-F85C-03B7-2975-78EF4B73C029}"/>
              </a:ext>
            </a:extLst>
          </p:cNvPr>
          <p:cNvSpPr/>
          <p:nvPr/>
        </p:nvSpPr>
        <p:spPr>
          <a:xfrm>
            <a:off x="1159999" y="5352224"/>
            <a:ext cx="7689900" cy="4002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exit</a:t>
            </a:r>
            <a:endParaRPr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990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46005-17DF-C163-F359-579D84C66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Light"/>
                <a:ea typeface="Helvetica Neue Light"/>
                <a:cs typeface="Helvetica Neue Light"/>
                <a:sym typeface="Helvetica Neue Light"/>
              </a:rPr>
              <a:t>Batch Jobs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79D60-9D88-06D2-2DBF-7409090E2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90750"/>
            <a:ext cx="10515600" cy="330835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b="1" dirty="0">
                <a:solidFill>
                  <a:srgbClr val="2F2B20"/>
                </a:solidFill>
              </a:rPr>
              <a:t>Batch Jobs</a:t>
            </a:r>
            <a:r>
              <a:rPr lang="en-US" dirty="0">
                <a:solidFill>
                  <a:srgbClr val="2F2B20"/>
                </a:solidFill>
              </a:rPr>
              <a:t> are jobs you submit to the scheduler that are run later without supervision</a:t>
            </a:r>
            <a:endParaRPr lang="en-US" dirty="0"/>
          </a:p>
          <a:p>
            <a:r>
              <a:rPr lang="en-US" dirty="0">
                <a:solidFill>
                  <a:srgbClr val="2F2B20"/>
                </a:solidFill>
              </a:rPr>
              <a:t>A job script is simply a script that includes </a:t>
            </a:r>
            <a:r>
              <a:rPr lang="en-US" b="1" dirty="0">
                <a:solidFill>
                  <a:srgbClr val="2F2B20"/>
                </a:solidFill>
              </a:rPr>
              <a:t>SLURM directives</a:t>
            </a:r>
            <a:r>
              <a:rPr lang="en-US" dirty="0">
                <a:solidFill>
                  <a:srgbClr val="2F2B20"/>
                </a:solidFill>
              </a:rPr>
              <a:t> (resource specifics) ahead of any commands.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085E6-3FF9-B283-DB43-4334640E2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037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85C88-55D5-AAC5-53EB-EE49AA2DB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Light"/>
                <a:ea typeface="Helvetica Neue Light"/>
                <a:cs typeface="Helvetica Neue Light"/>
                <a:sym typeface="Helvetica Neue Light"/>
              </a:rPr>
              <a:t>Anatomy of a job script 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6EA042-C86E-8A83-DDA4-9FCEA90C0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26</a:t>
            </a:fld>
            <a:endParaRPr lang="en-US"/>
          </a:p>
        </p:txBody>
      </p:sp>
      <p:sp>
        <p:nvSpPr>
          <p:cNvPr id="6" name="Google Shape;418;p43">
            <a:extLst>
              <a:ext uri="{FF2B5EF4-FFF2-40B4-BE49-F238E27FC236}">
                <a16:creationId xmlns:a16="http://schemas.microsoft.com/office/drawing/2014/main" id="{549AC956-14EB-7A28-3E05-7BC3C33B1571}"/>
              </a:ext>
            </a:extLst>
          </p:cNvPr>
          <p:cNvSpPr txBox="1"/>
          <p:nvPr/>
        </p:nvSpPr>
        <p:spPr>
          <a:xfrm>
            <a:off x="838200" y="1891183"/>
            <a:ext cx="10515600" cy="3706118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675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#!/bin/bash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Directives 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#SBATCH --&lt;option&gt;=&lt;value&gt; 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Software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module load &lt;software&gt;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User scripting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&lt;command&gt;</a:t>
            </a:r>
            <a:endParaRPr sz="2400" b="1" dirty="0"/>
          </a:p>
        </p:txBody>
      </p:sp>
    </p:spTree>
    <p:extLst>
      <p:ext uri="{BB962C8B-B14F-4D97-AF65-F5344CB8AC3E}">
        <p14:creationId xmlns:p14="http://schemas.microsoft.com/office/powerpoint/2010/main" val="34346835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8713F-2EF8-AEBD-6D37-EF3013CB2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F6E75-A8BA-7D39-896B-E2BA14912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Directives in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5C334-04C4-B977-D208-CBF8F7CAD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5512" y="3082924"/>
            <a:ext cx="7800975" cy="69215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--&lt;option&gt;=</a:t>
            </a:r>
            <a:r>
              <a:rPr lang="en-US" sz="3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&lt;value&gt;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C0B011-F9D7-5C76-072E-30EE9A5B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780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8DA20-B22C-52E3-4029-3E11FF99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Directives in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5D11F-9AD0-4EF9-F33B-8565ACFE0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5512" y="3082924"/>
            <a:ext cx="7800975" cy="69215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--&lt;option&gt;=</a:t>
            </a:r>
            <a:r>
              <a:rPr lang="en-US" sz="3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&lt;value&gt;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817518-7C3C-7486-7550-B240F3336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28</a:t>
            </a:fld>
            <a:endParaRPr lang="en-US"/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DA4FC2AB-B523-3EC0-D161-A16B72C11849}"/>
              </a:ext>
            </a:extLst>
          </p:cNvPr>
          <p:cNvSpPr/>
          <p:nvPr/>
        </p:nvSpPr>
        <p:spPr>
          <a:xfrm rot="16200000">
            <a:off x="5815584" y="3863276"/>
            <a:ext cx="1252728" cy="1152144"/>
          </a:xfrm>
          <a:prstGeom prst="bentArrow">
            <a:avLst>
              <a:gd name="adj1" fmla="val 32937"/>
              <a:gd name="adj2" fmla="val 34244"/>
              <a:gd name="adj3" fmla="val 36765"/>
              <a:gd name="adj4" fmla="val 4375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6C2C7-EA4E-52A2-A95D-5F45B603CF8C}"/>
              </a:ext>
            </a:extLst>
          </p:cNvPr>
          <p:cNvSpPr txBox="1"/>
          <p:nvPr/>
        </p:nvSpPr>
        <p:spPr>
          <a:xfrm>
            <a:off x="7114032" y="4505591"/>
            <a:ext cx="374653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Options listed </a:t>
            </a:r>
          </a:p>
          <a:p>
            <a:r>
              <a:rPr lang="en-US" sz="4000" b="1" dirty="0"/>
              <a:t>at the end</a:t>
            </a:r>
          </a:p>
        </p:txBody>
      </p:sp>
    </p:spTree>
    <p:extLst>
      <p:ext uri="{BB962C8B-B14F-4D97-AF65-F5344CB8AC3E}">
        <p14:creationId xmlns:p14="http://schemas.microsoft.com/office/powerpoint/2010/main" val="15679942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F3C24-5FE4-F44A-9B79-1F0B71D2E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2C6B0-3280-1E93-7B3D-78EE2046F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– Creating a </a:t>
            </a:r>
            <a:r>
              <a:rPr lang="en-US" i="1" dirty="0"/>
              <a:t>Batch</a:t>
            </a:r>
            <a:r>
              <a:rPr lang="en-US" dirty="0"/>
              <a:t> Script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E5A7FD-380B-179F-1602-A18E53F10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29</a:t>
            </a:fld>
            <a:endParaRPr lang="en-US"/>
          </a:p>
        </p:txBody>
      </p:sp>
      <p:pic>
        <p:nvPicPr>
          <p:cNvPr id="7" name="Graphic 6" descr="Programmer male with solid fill">
            <a:extLst>
              <a:ext uri="{FF2B5EF4-FFF2-40B4-BE49-F238E27FC236}">
                <a16:creationId xmlns:a16="http://schemas.microsoft.com/office/drawing/2014/main" id="{9689758E-1B00-4D06-E38E-2112E42DD6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0000" y="1316736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188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8CB0E-A1F5-9F88-0F48-B1581C48E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entury Gothic" panose="020B0502020202020204" pitchFamily="34" charset="0"/>
              </a:rPr>
              <a:t>Example job script</a:t>
            </a:r>
          </a:p>
        </p:txBody>
      </p:sp>
      <p:sp>
        <p:nvSpPr>
          <p:cNvPr id="6" name="Google Shape;427;p44">
            <a:extLst>
              <a:ext uri="{FF2B5EF4-FFF2-40B4-BE49-F238E27FC236}">
                <a16:creationId xmlns:a16="http://schemas.microsoft.com/office/drawing/2014/main" id="{3C594338-B5E4-A7B3-5DB7-FF0FB0681EBC}"/>
              </a:ext>
            </a:extLst>
          </p:cNvPr>
          <p:cNvSpPr txBox="1"/>
          <p:nvPr/>
        </p:nvSpPr>
        <p:spPr>
          <a:xfrm>
            <a:off x="812442" y="1830091"/>
            <a:ext cx="10515600" cy="4321671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675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#!/bin/bash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Directives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                  	# Number of requested tasks/cores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--time=0:01:00              	# Max run time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--partition=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amilan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     	       # Specify Alpine CPU node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=normal                   # Specify QoS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--output=test_%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j.out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       	# Rename standard output file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Software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module purge                          # Purge all existing modules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User commands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echo "This is a test submitted by $USER" </a:t>
            </a:r>
            <a:endParaRPr b="1" dirty="0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3C2D7056-BAA3-C8C6-4D0A-7F2F33224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5746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5264D-A9C0-1D4A-624B-7AC6EE671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52D0F-6DFD-07C9-A8D4-F861D3340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Submitting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E2C94-20DF-72B3-D453-1A93522B2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02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</a:t>
            </a: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job_file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&gt; &lt;other-directives&gt;</a:t>
            </a:r>
            <a:endParaRPr lang="en-US" sz="3200" dirty="0"/>
          </a:p>
          <a:p>
            <a:r>
              <a:rPr lang="en-US" dirty="0"/>
              <a:t>Command to submit a job to the SLURM job scheduler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48C311-FCBC-08FC-838D-7ADAF62E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129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8AE96-F3D6-EDF7-A73D-5614F1AED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2794-CACB-DCB6-969E-6AF91EC0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Submitting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72141-1295-763B-E558-961F7FE17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02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</a:t>
            </a: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job_file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&gt; &lt;other-directives&gt;</a:t>
            </a:r>
            <a:endParaRPr lang="en-US" sz="3200" dirty="0"/>
          </a:p>
          <a:p>
            <a:r>
              <a:rPr lang="en-US" dirty="0"/>
              <a:t>Command to submit a job to the SLURM job scheduler</a:t>
            </a:r>
          </a:p>
          <a:p>
            <a:r>
              <a:rPr lang="en-US" dirty="0"/>
              <a:t>If we created the job script “</a:t>
            </a:r>
            <a:r>
              <a:rPr lang="en-US" dirty="0" err="1"/>
              <a:t>my_first_job.sh</a:t>
            </a:r>
            <a:r>
              <a:rPr lang="en-US" dirty="0"/>
              <a:t>” then we would submit it as follows:</a:t>
            </a:r>
          </a:p>
          <a:p>
            <a:pPr marL="915988" indent="0"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/path/to/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my_first_job.sh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DA7B8-79FE-AA4D-D627-7DC080121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365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BD66B-C564-6FF8-F795-C4157D7B9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Submitting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07AB8-A2B1-B61F-443C-A12B8E2C9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02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</a:t>
            </a: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job_file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&gt; &lt;other-directives&gt;</a:t>
            </a:r>
            <a:endParaRPr lang="en-US" sz="3200" dirty="0"/>
          </a:p>
          <a:p>
            <a:r>
              <a:rPr lang="en-US" dirty="0"/>
              <a:t>Command to submit a job to the SLURM job scheduler</a:t>
            </a:r>
          </a:p>
          <a:p>
            <a:r>
              <a:rPr lang="en-US" dirty="0"/>
              <a:t>If we created the job script “</a:t>
            </a:r>
            <a:r>
              <a:rPr lang="en-US" dirty="0" err="1"/>
              <a:t>my_first_job.sh</a:t>
            </a:r>
            <a:r>
              <a:rPr lang="en-US" dirty="0"/>
              <a:t>” then we would submit it as follows:</a:t>
            </a:r>
          </a:p>
          <a:p>
            <a:pPr marL="915988" indent="0">
              <a:spcAft>
                <a:spcPts val="1800"/>
              </a:spcAft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/path/to/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my_first_job.sh</a:t>
            </a:r>
            <a:endParaRPr lang="en-US" dirty="0"/>
          </a:p>
          <a:p>
            <a:r>
              <a:rPr lang="en-US" dirty="0"/>
              <a:t>Modify </a:t>
            </a:r>
            <a:r>
              <a:rPr lang="en-US" dirty="0" err="1"/>
              <a:t>slurm</a:t>
            </a:r>
            <a:r>
              <a:rPr lang="en-US" dirty="0"/>
              <a:t> directives in the batch script:</a:t>
            </a:r>
          </a:p>
          <a:p>
            <a:pPr marL="915988" indent="0"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/path/to/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my_first_job.sh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=12</a:t>
            </a:r>
            <a:endParaRPr lang="en-US" sz="28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43A6D-36CC-2497-91D7-3D0FF7E06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6687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5"/>
          <p:cNvSpPr txBox="1">
            <a:spLocks noGrp="1"/>
          </p:cNvSpPr>
          <p:nvPr>
            <p:ph type="title"/>
          </p:nvPr>
        </p:nvSpPr>
        <p:spPr>
          <a:xfrm>
            <a:off x="690400" y="503346"/>
            <a:ext cx="12056405" cy="714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ctr" anchorCtr="0">
            <a:spAutoFit/>
          </a:bodyPr>
          <a:lstStyle/>
          <a:p>
            <a:pPr marL="2997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Local vs Environment variables</a:t>
            </a:r>
            <a:endParaRPr dirty="0"/>
          </a:p>
        </p:txBody>
      </p:sp>
      <p:pic>
        <p:nvPicPr>
          <p:cNvPr id="6" name="Graphic 5" descr="Cmd Terminal with solid fill">
            <a:extLst>
              <a:ext uri="{FF2B5EF4-FFF2-40B4-BE49-F238E27FC236}">
                <a16:creationId xmlns:a16="http://schemas.microsoft.com/office/drawing/2014/main" id="{753FC738-191B-2D02-8088-3759287DA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15462" y="1218270"/>
            <a:ext cx="3240024" cy="32400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B37A4DA-9201-53F3-2906-F7C1ED4AC715}"/>
              </a:ext>
            </a:extLst>
          </p:cNvPr>
          <p:cNvSpPr txBox="1"/>
          <p:nvPr/>
        </p:nvSpPr>
        <p:spPr>
          <a:xfrm flipH="1">
            <a:off x="2276856" y="3923206"/>
            <a:ext cx="2724912" cy="1331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sz="2400" b="1" dirty="0"/>
              <a:t>Environment</a:t>
            </a:r>
          </a:p>
          <a:p>
            <a:pPr algn="ctr">
              <a:lnSpc>
                <a:spcPct val="130000"/>
              </a:lnSpc>
            </a:pPr>
            <a:r>
              <a:rPr lang="en-US" sz="2000" b="1" dirty="0"/>
              <a:t>Accessible across scripts / shells</a:t>
            </a:r>
            <a:endParaRPr lang="en-US" b="1" dirty="0"/>
          </a:p>
        </p:txBody>
      </p:sp>
      <p:pic>
        <p:nvPicPr>
          <p:cNvPr id="9" name="Graphic 8" descr="Scroll with solid fill">
            <a:extLst>
              <a:ext uri="{FF2B5EF4-FFF2-40B4-BE49-F238E27FC236}">
                <a16:creationId xmlns:a16="http://schemas.microsoft.com/office/drawing/2014/main" id="{334B03BF-14FF-467F-A8B4-30114C85BC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36516" y="1566842"/>
            <a:ext cx="2560320" cy="25603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8AAF9CD-5A62-C3C1-2ED8-6248C5E65807}"/>
              </a:ext>
            </a:extLst>
          </p:cNvPr>
          <p:cNvSpPr txBox="1"/>
          <p:nvPr/>
        </p:nvSpPr>
        <p:spPr>
          <a:xfrm flipH="1">
            <a:off x="7190234" y="3926158"/>
            <a:ext cx="2724912" cy="1331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sz="2400" b="1" dirty="0"/>
              <a:t>Local</a:t>
            </a:r>
          </a:p>
          <a:p>
            <a:pPr algn="ctr">
              <a:lnSpc>
                <a:spcPct val="130000"/>
              </a:lnSpc>
            </a:pPr>
            <a:r>
              <a:rPr lang="en-US" sz="2000" b="1" dirty="0"/>
              <a:t>Only exists in </a:t>
            </a:r>
            <a:br>
              <a:rPr lang="en-US" sz="2000" b="1" dirty="0"/>
            </a:br>
            <a:r>
              <a:rPr lang="en-US" sz="2000" b="1" dirty="0"/>
              <a:t>current script / shell</a:t>
            </a:r>
            <a:endParaRPr lang="en-US" b="1" dirty="0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CACA804A-82DC-4AF7-CEB1-A1713C320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8"/>
          <p:cNvSpPr txBox="1">
            <a:spLocks noGrp="1"/>
          </p:cNvSpPr>
          <p:nvPr>
            <p:ph type="title"/>
          </p:nvPr>
        </p:nvSpPr>
        <p:spPr>
          <a:xfrm>
            <a:off x="878685" y="398236"/>
            <a:ext cx="9677425" cy="689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ctr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Environment variables</a:t>
            </a:r>
            <a:endParaRPr dirty="0"/>
          </a:p>
        </p:txBody>
      </p:sp>
      <p:sp>
        <p:nvSpPr>
          <p:cNvPr id="253" name="Google Shape;253;p28"/>
          <p:cNvSpPr txBox="1"/>
          <p:nvPr/>
        </p:nvSpPr>
        <p:spPr>
          <a:xfrm>
            <a:off x="651851" y="1300730"/>
            <a:ext cx="11227632" cy="533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325" rIns="0" bIns="0" anchor="t" anchorCtr="0">
            <a:spAutoFit/>
          </a:bodyPr>
          <a:lstStyle/>
          <a:p>
            <a:pPr marL="255903" marR="0" lvl="0" indent="-24320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  <a:sym typeface="Arial"/>
              </a:rPr>
              <a:t>Environment variables store important information needed by Linux users and programs</a:t>
            </a:r>
            <a:endParaRPr sz="2550" dirty="0">
              <a:solidFill>
                <a:schemeClr val="dk1"/>
              </a:solidFill>
              <a:latin typeface="+mn-lt"/>
              <a:ea typeface="Helvetica Neue Light" panose="02000403000000020004" pitchFamily="2" charset="0"/>
              <a:cs typeface="Source Sans Pro Light" panose="020F0302020204030204" pitchFamily="34" charset="0"/>
              <a:sym typeface="Arial"/>
            </a:endParaRPr>
          </a:p>
          <a:p>
            <a:pPr marL="255903" marR="5080" lvl="0" indent="-243203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  <a:sym typeface="Arial"/>
              </a:rPr>
              <a:t>Type </a:t>
            </a:r>
            <a:r>
              <a:rPr lang="en-US" sz="255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  <a:sym typeface="Arial"/>
              </a:rPr>
              <a:t>env</a:t>
            </a: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  <a:sym typeface="Arial"/>
              </a:rPr>
              <a:t> to see your currently set up environment variables </a:t>
            </a:r>
            <a:endParaRPr sz="2550" dirty="0">
              <a:solidFill>
                <a:schemeClr val="dk1"/>
              </a:solidFill>
              <a:latin typeface="+mn-lt"/>
              <a:ea typeface="Helvetica Neue Light" panose="02000403000000020004" pitchFamily="2" charset="0"/>
              <a:cs typeface="Source Sans Pro Light" panose="020F0302020204030204" pitchFamily="34" charset="0"/>
              <a:sym typeface="Arial"/>
            </a:endParaRPr>
          </a:p>
          <a:p>
            <a:pPr marL="255903" marR="0" lvl="0" indent="-243203" algn="l" rtl="0">
              <a:lnSpc>
                <a:spcPct val="100000"/>
              </a:lnSpc>
              <a:spcBef>
                <a:spcPts val="615"/>
              </a:spcBef>
              <a:spcAft>
                <a:spcPts val="0"/>
              </a:spcAft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  <a:sym typeface="Arial"/>
              </a:rPr>
              <a:t>Useful environment variables:</a:t>
            </a:r>
          </a:p>
          <a:p>
            <a:pPr marL="255903" marR="0" lvl="0" indent="-243203" algn="l" rtl="0">
              <a:lnSpc>
                <a:spcPct val="100000"/>
              </a:lnSpc>
              <a:spcBef>
                <a:spcPts val="615"/>
              </a:spcBef>
              <a:spcAft>
                <a:spcPts val="0"/>
              </a:spcAft>
              <a:buClr>
                <a:srgbClr val="A9A57C"/>
              </a:buClr>
              <a:buSzPts val="2550"/>
              <a:buFont typeface="Arial"/>
              <a:buChar char="•"/>
            </a:pPr>
            <a:endParaRPr lang="en-US" sz="1100" dirty="0">
              <a:solidFill>
                <a:srgbClr val="2F2B20"/>
              </a:solidFill>
              <a:latin typeface="+mn-lt"/>
              <a:ea typeface="Helvetica Neue Light" panose="02000403000000020004" pitchFamily="2" charset="0"/>
              <a:cs typeface="Source Sans Pro Light" panose="020F0302020204030204" pitchFamily="34" charset="0"/>
            </a:endParaRPr>
          </a:p>
          <a:p>
            <a:pPr marL="12700" lvl="0">
              <a:spcBef>
                <a:spcPts val="615"/>
              </a:spcBef>
              <a:buClr>
                <a:srgbClr val="A9A57C"/>
              </a:buClr>
              <a:buSzPts val="2550"/>
            </a:pP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</a:rPr>
              <a:t>    </a:t>
            </a:r>
            <a:r>
              <a:rPr lang="en-US" sz="255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  <a:sym typeface="Arial"/>
              </a:rPr>
              <a:t>PATH</a:t>
            </a: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  <a:sym typeface="Arial"/>
              </a:rPr>
              <a:t> 			</a:t>
            </a: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</a:rPr>
              <a:t>directories to search for commands</a:t>
            </a:r>
            <a:endParaRPr lang="en-US" sz="2550" dirty="0">
              <a:solidFill>
                <a:srgbClr val="2F2B20"/>
              </a:solidFill>
              <a:latin typeface="+mn-lt"/>
              <a:ea typeface="Helvetica Neue Light" panose="02000403000000020004" pitchFamily="2" charset="0"/>
              <a:cs typeface="Source Sans Pro Light" panose="020F0302020204030204" pitchFamily="34" charset="0"/>
              <a:sym typeface="Arial"/>
            </a:endParaRPr>
          </a:p>
          <a:p>
            <a:pPr marL="12700" lvl="0">
              <a:spcBef>
                <a:spcPts val="615"/>
              </a:spcBef>
              <a:buClr>
                <a:srgbClr val="A9A57C"/>
              </a:buClr>
              <a:buSzPts val="2550"/>
            </a:pP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</a:rPr>
              <a:t>    </a:t>
            </a:r>
            <a:r>
              <a:rPr lang="en-US" sz="255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</a:rPr>
              <a:t>HOME</a:t>
            </a: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</a:rPr>
              <a:t> 			home directory</a:t>
            </a:r>
          </a:p>
          <a:p>
            <a:pPr marL="12700" lvl="0">
              <a:spcBef>
                <a:spcPts val="615"/>
              </a:spcBef>
              <a:buClr>
                <a:srgbClr val="A9A57C"/>
              </a:buClr>
              <a:buSzPts val="2550"/>
            </a:pP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</a:rPr>
              <a:t>    </a:t>
            </a:r>
            <a:r>
              <a:rPr lang="en-US" sz="255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  <a:sym typeface="Arial"/>
              </a:rPr>
              <a:t>PWD</a:t>
            </a: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  <a:sym typeface="Arial"/>
              </a:rPr>
              <a:t>			current working directory</a:t>
            </a:r>
          </a:p>
          <a:p>
            <a:pPr marL="12700" lvl="0">
              <a:spcBef>
                <a:spcPts val="615"/>
              </a:spcBef>
              <a:buClr>
                <a:srgbClr val="A9A57C"/>
              </a:buClr>
              <a:buSzPts val="2550"/>
            </a:pP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</a:rPr>
              <a:t>    </a:t>
            </a:r>
            <a:r>
              <a:rPr lang="en-US" sz="255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</a:rPr>
              <a:t>USER</a:t>
            </a: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</a:rPr>
              <a:t>			username</a:t>
            </a:r>
          </a:p>
          <a:p>
            <a:pPr marL="12700">
              <a:spcBef>
                <a:spcPts val="615"/>
              </a:spcBef>
              <a:buClr>
                <a:srgbClr val="A9A57C"/>
              </a:buClr>
              <a:buSzPts val="2550"/>
            </a:pP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</a:rPr>
              <a:t>    </a:t>
            </a:r>
            <a:r>
              <a:rPr lang="en-US" sz="2550" dirty="0">
                <a:solidFill>
                  <a:schemeClr val="accent1">
                    <a:lumMod val="75000"/>
                  </a:schemeClr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  <a:sym typeface="Arial"/>
              </a:rPr>
              <a:t>LD_LIBRARY_PATH</a:t>
            </a: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  <a:sym typeface="Arial"/>
              </a:rPr>
              <a:t>	directories to </a:t>
            </a:r>
            <a:r>
              <a:rPr lang="en-US" sz="2550" dirty="0">
                <a:solidFill>
                  <a:srgbClr val="2F2B20"/>
                </a:solidFill>
                <a:latin typeface="+mn-lt"/>
                <a:ea typeface="Helvetica Neue Light" panose="02000403000000020004" pitchFamily="2" charset="0"/>
                <a:cs typeface="Source Sans Pro Light" panose="020F0302020204030204" pitchFamily="34" charset="0"/>
              </a:rPr>
              <a:t>search for dynamically-loaded libraries</a:t>
            </a:r>
          </a:p>
          <a:p>
            <a:pPr marL="12700" marR="0" lvl="0" algn="l" rtl="0">
              <a:lnSpc>
                <a:spcPct val="100000"/>
              </a:lnSpc>
              <a:spcBef>
                <a:spcPts val="615"/>
              </a:spcBef>
              <a:spcAft>
                <a:spcPts val="0"/>
              </a:spcAft>
              <a:buClr>
                <a:srgbClr val="A9A57C"/>
              </a:buClr>
              <a:buSzPts val="2550"/>
            </a:pPr>
            <a:endParaRPr lang="en-US" sz="2550" dirty="0">
              <a:solidFill>
                <a:srgbClr val="2F2B20"/>
              </a:solidFill>
              <a:latin typeface="Source Sans Pro Light" panose="020F0302020204030204" pitchFamily="34" charset="0"/>
              <a:ea typeface="Helvetica Neue Light" panose="02000403000000020004" pitchFamily="2" charset="0"/>
              <a:cs typeface="Source Sans Pro Light" panose="020F0302020204030204" pitchFamily="34" charset="0"/>
              <a:sym typeface="Arial"/>
            </a:endParaRPr>
          </a:p>
          <a:p>
            <a:pPr marL="255903" lvl="1" indent="-243203">
              <a:spcBef>
                <a:spcPts val="615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50" dirty="0">
              <a:solidFill>
                <a:srgbClr val="2F2B20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Source Sans Pro Light" panose="020F030202020403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94F88B20-5AF7-8F31-04AD-164BD0616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262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>
          <a:extLst>
            <a:ext uri="{FF2B5EF4-FFF2-40B4-BE49-F238E27FC236}">
              <a16:creationId xmlns:a16="http://schemas.microsoft.com/office/drawing/2014/main" id="{29E12D79-4219-5490-B77A-B2343040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5">
            <a:extLst>
              <a:ext uri="{FF2B5EF4-FFF2-40B4-BE49-F238E27FC236}">
                <a16:creationId xmlns:a16="http://schemas.microsoft.com/office/drawing/2014/main" id="{50768024-BC9C-0FA9-9BBC-44C32D63B3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0400" y="503346"/>
            <a:ext cx="12056405" cy="714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ctr" anchorCtr="0">
            <a:spAutoFit/>
          </a:bodyPr>
          <a:lstStyle/>
          <a:p>
            <a:pPr marL="2997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Local vs Environment Variables</a:t>
            </a:r>
            <a:endParaRPr dirty="0"/>
          </a:p>
        </p:txBody>
      </p:sp>
      <p:sp>
        <p:nvSpPr>
          <p:cNvPr id="2" name="Google Shape;222;p32">
            <a:extLst>
              <a:ext uri="{FF2B5EF4-FFF2-40B4-BE49-F238E27FC236}">
                <a16:creationId xmlns:a16="http://schemas.microsoft.com/office/drawing/2014/main" id="{28DB921B-C9E9-02D4-8059-1DD8C24E80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3359" y="3033632"/>
            <a:ext cx="7477694" cy="2980306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24;p32">
            <a:extLst>
              <a:ext uri="{FF2B5EF4-FFF2-40B4-BE49-F238E27FC236}">
                <a16:creationId xmlns:a16="http://schemas.microsoft.com/office/drawing/2014/main" id="{0A5AAA42-1720-2ABE-3A13-286563328A47}"/>
              </a:ext>
            </a:extLst>
          </p:cNvPr>
          <p:cNvSpPr txBox="1"/>
          <p:nvPr/>
        </p:nvSpPr>
        <p:spPr>
          <a:xfrm>
            <a:off x="897329" y="2866787"/>
            <a:ext cx="7257887" cy="3300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1475" rIns="0" bIns="0" anchor="t" anchorCtr="0">
            <a:spAutoFit/>
          </a:bodyPr>
          <a:lstStyle/>
          <a:p>
            <a:pPr marL="29975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#!/bin/bash</a:t>
            </a:r>
            <a:b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# set local variable</a:t>
            </a:r>
          </a:p>
          <a:p>
            <a:pPr marL="29975">
              <a:lnSpc>
                <a:spcPct val="150000"/>
              </a:lnSpc>
            </a:pPr>
            <a:r>
              <a:rPr lang="en-US" sz="2600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a="bb" </a:t>
            </a:r>
          </a:p>
          <a:p>
            <a:pPr marL="29975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# print out the inherited variable  </a:t>
            </a:r>
          </a:p>
          <a:p>
            <a:pPr marL="29975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i="1" dirty="0">
                <a:solidFill>
                  <a:schemeClr val="tx1"/>
                </a:solidFill>
                <a:latin typeface="Courier New"/>
                <a:ea typeface="Times New Roman"/>
                <a:cs typeface="Courier New"/>
                <a:sym typeface="Courier New"/>
              </a:rPr>
              <a:t>echo $g</a:t>
            </a:r>
            <a:endParaRPr sz="2700" dirty="0">
              <a:solidFill>
                <a:schemeClr val="tx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9975" marR="1212522" lvl="0" indent="0" algn="l" rtl="0">
              <a:lnSpc>
                <a:spcPct val="10269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Google Shape;222;p32">
            <a:extLst>
              <a:ext uri="{FF2B5EF4-FFF2-40B4-BE49-F238E27FC236}">
                <a16:creationId xmlns:a16="http://schemas.microsoft.com/office/drawing/2014/main" id="{68331C81-3D5B-33EA-AB8A-3F913B1C2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3359" y="1769414"/>
            <a:ext cx="7257887" cy="1008466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224;p32">
            <a:extLst>
              <a:ext uri="{FF2B5EF4-FFF2-40B4-BE49-F238E27FC236}">
                <a16:creationId xmlns:a16="http://schemas.microsoft.com/office/drawing/2014/main" id="{AE0B5273-4714-D77F-A2AD-B113881A7577}"/>
              </a:ext>
            </a:extLst>
          </p:cNvPr>
          <p:cNvSpPr txBox="1"/>
          <p:nvPr/>
        </p:nvSpPr>
        <p:spPr>
          <a:xfrm>
            <a:off x="690400" y="2051705"/>
            <a:ext cx="8726162" cy="443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1475" rIns="0" bIns="0" anchor="t" anchorCtr="0">
            <a:spAutoFit/>
          </a:bodyPr>
          <a:lstStyle/>
          <a:p>
            <a:pPr marL="29975" marR="1212522">
              <a:lnSpc>
                <a:spcPct val="102699"/>
              </a:lnSpc>
            </a:pPr>
            <a:r>
              <a:rPr lang="en-US" sz="2600" dirty="0"/>
              <a:t>[username@login-ci3 </a:t>
            </a:r>
            <a:r>
              <a:rPr lang="en-US" sz="2600" dirty="0" err="1"/>
              <a:t>rc_temp</a:t>
            </a:r>
            <a:r>
              <a:rPr lang="en-US" sz="2600" dirty="0"/>
              <a:t>] export g="Hi!"</a:t>
            </a:r>
            <a:endParaRPr sz="2600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20F0E483-4403-72F2-4787-5F798494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2067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>
          <a:extLst>
            <a:ext uri="{FF2B5EF4-FFF2-40B4-BE49-F238E27FC236}">
              <a16:creationId xmlns:a16="http://schemas.microsoft.com/office/drawing/2014/main" id="{9176661E-983A-4D43-504D-09A5880A6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5">
            <a:extLst>
              <a:ext uri="{FF2B5EF4-FFF2-40B4-BE49-F238E27FC236}">
                <a16:creationId xmlns:a16="http://schemas.microsoft.com/office/drawing/2014/main" id="{BB0AACBA-106E-A44C-8D69-00408E4579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0400" y="503346"/>
            <a:ext cx="12056405" cy="714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ctr" anchorCtr="0">
            <a:spAutoFit/>
          </a:bodyPr>
          <a:lstStyle/>
          <a:p>
            <a:pPr marL="2997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Local vs Environment Variables</a:t>
            </a:r>
            <a:endParaRPr dirty="0"/>
          </a:p>
        </p:txBody>
      </p:sp>
      <p:sp>
        <p:nvSpPr>
          <p:cNvPr id="7" name="Google Shape;222;p32">
            <a:extLst>
              <a:ext uri="{FF2B5EF4-FFF2-40B4-BE49-F238E27FC236}">
                <a16:creationId xmlns:a16="http://schemas.microsoft.com/office/drawing/2014/main" id="{3A5C6829-2732-9075-17E8-546BA2AE4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0955" y="2151044"/>
            <a:ext cx="7257887" cy="2086848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224;p32">
            <a:extLst>
              <a:ext uri="{FF2B5EF4-FFF2-40B4-BE49-F238E27FC236}">
                <a16:creationId xmlns:a16="http://schemas.microsoft.com/office/drawing/2014/main" id="{0D362974-A097-027B-1DAF-2221AAD46779}"/>
              </a:ext>
            </a:extLst>
          </p:cNvPr>
          <p:cNvSpPr txBox="1"/>
          <p:nvPr/>
        </p:nvSpPr>
        <p:spPr>
          <a:xfrm>
            <a:off x="954170" y="2519226"/>
            <a:ext cx="7029245" cy="1268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1475" rIns="0" bIns="0" anchor="t" anchorCtr="0">
            <a:spAutoFit/>
          </a:bodyPr>
          <a:lstStyle/>
          <a:p>
            <a:pPr marL="29975" marR="1212522" lvl="0" indent="0" algn="l" rtl="0">
              <a:lnSpc>
                <a:spcPct val="102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/>
              <a:t>[username@login-ci3 </a:t>
            </a:r>
            <a:r>
              <a:rPr lang="en-US" sz="2600" dirty="0" err="1"/>
              <a:t>rc_temp</a:t>
            </a:r>
            <a:r>
              <a:rPr lang="en-US" sz="2600" dirty="0"/>
              <a:t>] ./</a:t>
            </a:r>
            <a:r>
              <a:rPr lang="en-US" sz="2600" dirty="0" err="1"/>
              <a:t>test.sh</a:t>
            </a:r>
            <a:endParaRPr lang="en-US" sz="2600" dirty="0"/>
          </a:p>
          <a:p>
            <a:pPr marL="29975" marR="1212522" lvl="0" indent="0" algn="l" rtl="0">
              <a:lnSpc>
                <a:spcPct val="102699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2600" dirty="0"/>
          </a:p>
          <a:p>
            <a:pPr marL="29975" marR="1212522">
              <a:lnSpc>
                <a:spcPct val="102699"/>
              </a:lnSpc>
            </a:pPr>
            <a:r>
              <a:rPr lang="en-US" sz="2600" dirty="0"/>
              <a:t>[username@login-ci3 </a:t>
            </a:r>
            <a:r>
              <a:rPr lang="en-US" sz="2600" dirty="0" err="1"/>
              <a:t>rc_temp</a:t>
            </a:r>
            <a:r>
              <a:rPr lang="en-US" sz="2600" dirty="0"/>
              <a:t>] echo $a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075CBEA2-6360-1A21-BBF7-F82E28A1A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53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D4A86-6FEA-1155-5B83-5491D49D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CF83C-02DC-DA2A-B776-4300DC559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vs Interactive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DFA68D-0B2D-9AE6-D0B5-C0C44034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38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6E00DBC-566A-ADE3-3BE2-1EF88A121C61}"/>
              </a:ext>
            </a:extLst>
          </p:cNvPr>
          <p:cNvGrpSpPr/>
          <p:nvPr/>
        </p:nvGrpSpPr>
        <p:grpSpPr>
          <a:xfrm>
            <a:off x="3424168" y="1948917"/>
            <a:ext cx="5343664" cy="2960167"/>
            <a:chOff x="3424168" y="1948917"/>
            <a:chExt cx="5343664" cy="2960167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FE964C7-4A73-0C79-2988-02006FC16305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592E0BEA-0B26-29EB-3E56-1DBAE106D55E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7ECA97D3-DC9F-8C91-B663-64CD9B6CBC0E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33CBC-45F8-6353-FA45-2928A1FE45F3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215DF8-DCC9-ED9A-65A4-D1190FDE89B0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15" name="Graphic 14" descr="An icon of a person programming on a laptop">
                <a:extLst>
                  <a:ext uri="{FF2B5EF4-FFF2-40B4-BE49-F238E27FC236}">
                    <a16:creationId xmlns:a16="http://schemas.microsoft.com/office/drawing/2014/main" id="{DE7CAA8E-76A1-2377-C760-69F222CF4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17" name="Graphic 16" descr="An icon representing a file or document">
              <a:extLst>
                <a:ext uri="{FF2B5EF4-FFF2-40B4-BE49-F238E27FC236}">
                  <a16:creationId xmlns:a16="http://schemas.microsoft.com/office/drawing/2014/main" id="{2566823B-D19D-622C-99CC-9F864BE399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607929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CC3F-3895-502D-7242-965CA0F79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92153-6E2E-C170-17F9-DBDF795DE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vs Interactive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AD8F64-FFDA-5CF6-4124-1816A54E9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39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F36445-63C8-82CC-6C23-9CEB13F9D9E2}"/>
              </a:ext>
            </a:extLst>
          </p:cNvPr>
          <p:cNvSpPr txBox="1"/>
          <p:nvPr/>
        </p:nvSpPr>
        <p:spPr>
          <a:xfrm>
            <a:off x="160197" y="1994315"/>
            <a:ext cx="308837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Runs a job script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 need for user input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Best for tested workflows and long/big jobs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6A7AC6A-B9DA-041D-71DC-17FC865BA3A5}"/>
              </a:ext>
            </a:extLst>
          </p:cNvPr>
          <p:cNvGrpSpPr/>
          <p:nvPr/>
        </p:nvGrpSpPr>
        <p:grpSpPr>
          <a:xfrm>
            <a:off x="3424168" y="1948917"/>
            <a:ext cx="5343664" cy="2960167"/>
            <a:chOff x="3424168" y="1948917"/>
            <a:chExt cx="5343664" cy="296016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E239D7B-4DCB-123B-48AF-95712D451A00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AB367987-6009-0636-733F-CBFCA18EBBF5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DE7F83E3-BBC2-1491-EDE4-0DD45D8C6865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5782679-042D-75C5-7A70-1D96940BE1BE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6E3BC51-32EA-9BDD-43DB-8B1C04752165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24" name="Graphic 23" descr="An icon of a person programming on a laptop">
                <a:extLst>
                  <a:ext uri="{FF2B5EF4-FFF2-40B4-BE49-F238E27FC236}">
                    <a16:creationId xmlns:a16="http://schemas.microsoft.com/office/drawing/2014/main" id="{7A85FAC7-3D9E-78CB-5EAE-0C33D24053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19" name="Graphic 18" descr="An icon representing a file or document">
              <a:extLst>
                <a:ext uri="{FF2B5EF4-FFF2-40B4-BE49-F238E27FC236}">
                  <a16:creationId xmlns:a16="http://schemas.microsoft.com/office/drawing/2014/main" id="{D8379EFC-C293-5AB8-6DED-6C5D19E5A5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475703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10388-416E-AA4F-FC49-309362646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vs Interactive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83361-27F4-BA5E-EED8-7CECFD095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40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4CC414-8620-6559-A22F-F1AA392748DC}"/>
              </a:ext>
            </a:extLst>
          </p:cNvPr>
          <p:cNvSpPr txBox="1"/>
          <p:nvPr/>
        </p:nvSpPr>
        <p:spPr>
          <a:xfrm>
            <a:off x="160197" y="1994315"/>
            <a:ext cx="308837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Runs a job script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 need for user input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Best for tested workflows and long/big jobs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073384-F341-1B8D-B6FD-B3C203D3B160}"/>
              </a:ext>
            </a:extLst>
          </p:cNvPr>
          <p:cNvSpPr txBox="1"/>
          <p:nvPr/>
        </p:nvSpPr>
        <p:spPr>
          <a:xfrm>
            <a:off x="8956904" y="1994314"/>
            <a:ext cx="308837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Terminal or GUI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Requires active user input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Best for development and exploration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F6E79DA-7A1F-A0C0-D1A9-37F9F29170BD}"/>
              </a:ext>
            </a:extLst>
          </p:cNvPr>
          <p:cNvGrpSpPr/>
          <p:nvPr/>
        </p:nvGrpSpPr>
        <p:grpSpPr>
          <a:xfrm>
            <a:off x="3424168" y="1948917"/>
            <a:ext cx="5343664" cy="2960167"/>
            <a:chOff x="3424168" y="1948917"/>
            <a:chExt cx="5343664" cy="2960167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3AA2079-D46A-3DEB-9AA7-255B40007A96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8A7AC559-E178-8D39-3A19-0328C6323827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C8B2C8E3-AAFA-76A1-1162-DDF9533C2ABB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C93AB09-A554-1683-0C66-FDE52A157E59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C865B89-EFD3-BA0A-7C51-11F53227D8EA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25" name="Graphic 24" descr="An icon of a person programming on a laptop">
                <a:extLst>
                  <a:ext uri="{FF2B5EF4-FFF2-40B4-BE49-F238E27FC236}">
                    <a16:creationId xmlns:a16="http://schemas.microsoft.com/office/drawing/2014/main" id="{EDE6EF99-E5C3-509F-788F-CE7891604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20" name="Graphic 19" descr="An icon representing a file or a document">
              <a:extLst>
                <a:ext uri="{FF2B5EF4-FFF2-40B4-BE49-F238E27FC236}">
                  <a16:creationId xmlns:a16="http://schemas.microsoft.com/office/drawing/2014/main" id="{A5DD03E6-21B8-28D0-43B9-64B4D18517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455025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5AC1C-077E-7BB6-EF1B-FC45B6F9A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6FE749-D2F8-0D85-551D-008B54CC4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41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8599CDE3-6FD9-5F2A-A0AB-21654D8767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latin typeface="Helvetica Neue Light"/>
                <a:ea typeface="Helvetica Neue Light"/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51" name="Group 50" descr="An icon of a person at a laptop">
            <a:extLst>
              <a:ext uri="{FF2B5EF4-FFF2-40B4-BE49-F238E27FC236}">
                <a16:creationId xmlns:a16="http://schemas.microsoft.com/office/drawing/2014/main" id="{0B70DF9C-53BD-E746-17B7-F154C51C8101}"/>
              </a:ext>
            </a:extLst>
          </p:cNvPr>
          <p:cNvGrpSpPr/>
          <p:nvPr/>
        </p:nvGrpSpPr>
        <p:grpSpPr>
          <a:xfrm>
            <a:off x="1069178" y="1759077"/>
            <a:ext cx="10053644" cy="3339847"/>
            <a:chOff x="527419" y="1759076"/>
            <a:chExt cx="10053644" cy="3339847"/>
          </a:xfrm>
        </p:grpSpPr>
        <p:pic>
          <p:nvPicPr>
            <p:cNvPr id="6" name="Google Shape;210;p30">
              <a:extLst>
                <a:ext uri="{FF2B5EF4-FFF2-40B4-BE49-F238E27FC236}">
                  <a16:creationId xmlns:a16="http://schemas.microsoft.com/office/drawing/2014/main" id="{06DC3AB8-A619-E30E-38D3-08BEE8F06DCF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27419" y="2240350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" name="Picture 2" descr="The logo of the Slurm workload manager">
              <a:extLst>
                <a:ext uri="{FF2B5EF4-FFF2-40B4-BE49-F238E27FC236}">
                  <a16:creationId xmlns:a16="http://schemas.microsoft.com/office/drawing/2014/main" id="{2DDFEB84-EC82-063E-8685-2B512381AF8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4705705" y="2847708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A4F0BC81-3B80-F186-76E9-DEC891A4AD3A}"/>
                </a:ext>
              </a:extLst>
            </p:cNvPr>
            <p:cNvSpPr/>
            <p:nvPr/>
          </p:nvSpPr>
          <p:spPr>
            <a:xfrm>
              <a:off x="553195" y="1759076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A73AD7E-8BA4-DDD2-6338-6878E059C509}"/>
                </a:ext>
              </a:extLst>
            </p:cNvPr>
            <p:cNvGrpSpPr/>
            <p:nvPr/>
          </p:nvGrpSpPr>
          <p:grpSpPr>
            <a:xfrm>
              <a:off x="540307" y="1873650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4DB5615-62DD-849F-D91F-617CEFB60621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14384B9-4798-3BEF-1EF2-B32ED4A1363B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6E030BC-EB60-59D2-5760-86B278AFEAE7}"/>
                </a:ext>
              </a:extLst>
            </p:cNvPr>
            <p:cNvSpPr txBox="1"/>
            <p:nvPr/>
          </p:nvSpPr>
          <p:spPr>
            <a:xfrm>
              <a:off x="553195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  <p:sp>
          <p:nvSpPr>
            <p:cNvPr id="34" name="Right Arrow Callout 33">
              <a:extLst>
                <a:ext uri="{FF2B5EF4-FFF2-40B4-BE49-F238E27FC236}">
                  <a16:creationId xmlns:a16="http://schemas.microsoft.com/office/drawing/2014/main" id="{D9512C88-C042-40BF-10E9-66D34411DED6}"/>
                </a:ext>
              </a:extLst>
            </p:cNvPr>
            <p:cNvSpPr/>
            <p:nvPr/>
          </p:nvSpPr>
          <p:spPr>
            <a:xfrm>
              <a:off x="4391862" y="1759076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CFCA36A-651F-BB48-9975-E5FD34AF5D6B}"/>
                </a:ext>
              </a:extLst>
            </p:cNvPr>
            <p:cNvGrpSpPr/>
            <p:nvPr/>
          </p:nvGrpSpPr>
          <p:grpSpPr>
            <a:xfrm>
              <a:off x="4378974" y="1873650"/>
              <a:ext cx="2351516" cy="707886"/>
              <a:chOff x="540307" y="1873650"/>
              <a:chExt cx="2351516" cy="707886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5197AF0-81C7-09D0-265D-8E410D95C5B0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E7A58C57-8F3A-6E2B-9E34-BD2DD434E57A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06D2B-49FC-9CBE-DA33-D3B27E3BEEB2}"/>
                </a:ext>
              </a:extLst>
            </p:cNvPr>
            <p:cNvSpPr txBox="1"/>
            <p:nvPr/>
          </p:nvSpPr>
          <p:spPr>
            <a:xfrm>
              <a:off x="4391862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C4AFB66-5D85-2525-F7FE-A3D3BAF52C0D}"/>
                </a:ext>
              </a:extLst>
            </p:cNvPr>
            <p:cNvSpPr/>
            <p:nvPr/>
          </p:nvSpPr>
          <p:spPr>
            <a:xfrm>
              <a:off x="8225377" y="1764791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820E346-9333-BFEB-31B2-4B70121B4102}"/>
                </a:ext>
              </a:extLst>
            </p:cNvPr>
            <p:cNvSpPr txBox="1"/>
            <p:nvPr/>
          </p:nvSpPr>
          <p:spPr>
            <a:xfrm>
              <a:off x="8242436" y="4432981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Tuning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BBC58E5D-DE7C-C80F-A1A7-DF3AB9BFF56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571730" y="2757570"/>
              <a:ext cx="1645920" cy="1546836"/>
              <a:chOff x="8412658" y="2617108"/>
              <a:chExt cx="1929294" cy="1813150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2285B12-CB0D-4A75-D7FF-316A0E1A1D18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23" name="Rounded Rectangle 22" descr="An icon representing a computer chip">
                  <a:extLst>
                    <a:ext uri="{FF2B5EF4-FFF2-40B4-BE49-F238E27FC236}">
                      <a16:creationId xmlns:a16="http://schemas.microsoft.com/office/drawing/2014/main" id="{69BA1F83-4FE9-FA51-4A02-F08E950AD0A7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24" name="Graphic 23">
                  <a:extLst>
                    <a:ext uri="{FF2B5EF4-FFF2-40B4-BE49-F238E27FC236}">
                      <a16:creationId xmlns:a16="http://schemas.microsoft.com/office/drawing/2014/main" id="{123579C2-BD2F-931A-55AE-DC77B206D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64A97E56-3FC0-61D2-E6E4-AFBB143E8259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42" name="Rounded Rectangle 41" descr="An icon of a stopwatch">
                  <a:extLst>
                    <a:ext uri="{FF2B5EF4-FFF2-40B4-BE49-F238E27FC236}">
                      <a16:creationId xmlns:a16="http://schemas.microsoft.com/office/drawing/2014/main" id="{E58490D2-10CB-8C77-A8FD-F75E62A41E1C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45" name="Graphic 44" descr="Stopwatch with solid fill">
                  <a:extLst>
                    <a:ext uri="{FF2B5EF4-FFF2-40B4-BE49-F238E27FC236}">
                      <a16:creationId xmlns:a16="http://schemas.microsoft.com/office/drawing/2014/main" id="{67947035-26AB-1035-D772-55839C333F3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257D441-B318-1B1F-8907-7BDA25A1F10A}"/>
                </a:ext>
              </a:extLst>
            </p:cNvPr>
            <p:cNvGrpSpPr/>
            <p:nvPr/>
          </p:nvGrpSpPr>
          <p:grpSpPr>
            <a:xfrm>
              <a:off x="8205444" y="1891581"/>
              <a:ext cx="2351516" cy="707886"/>
              <a:chOff x="540307" y="1873650"/>
              <a:chExt cx="2351516" cy="707886"/>
            </a:xfrm>
          </p:grpSpPr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45FFE5A-F234-9BF5-0E01-965A5898AC47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5E4FCF8-80B1-B6E1-9DCE-B95911A1736A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Down Arrow 6">
            <a:extLst>
              <a:ext uri="{FF2B5EF4-FFF2-40B4-BE49-F238E27FC236}">
                <a16:creationId xmlns:a16="http://schemas.microsoft.com/office/drawing/2014/main" id="{1004DF84-443A-F157-8E38-D917E88769C3}"/>
              </a:ext>
            </a:extLst>
          </p:cNvPr>
          <p:cNvSpPr/>
          <p:nvPr/>
        </p:nvSpPr>
        <p:spPr>
          <a:xfrm rot="10800000">
            <a:off x="9415272" y="5302968"/>
            <a:ext cx="1133856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3447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56442-548A-8AFC-8538-E5543E07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EEC50-AE60-A450-79B6-73B6D2740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42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4458504-B85C-321A-3F6F-A53FDE6B7ED9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C1BC1D-F9FF-0404-8A27-96E939AFEFEA}"/>
              </a:ext>
            </a:extLst>
          </p:cNvPr>
          <p:cNvSpPr txBox="1"/>
          <p:nvPr/>
        </p:nvSpPr>
        <p:spPr>
          <a:xfrm>
            <a:off x="868240" y="3598703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Partition</a:t>
            </a:r>
          </a:p>
        </p:txBody>
      </p:sp>
      <p:grpSp>
        <p:nvGrpSpPr>
          <p:cNvPr id="15" name="Group 14" descr="An icon representing computer servers">
            <a:extLst>
              <a:ext uri="{FF2B5EF4-FFF2-40B4-BE49-F238E27FC236}">
                <a16:creationId xmlns:a16="http://schemas.microsoft.com/office/drawing/2014/main" id="{A2DFDB4D-CC8B-882A-38FC-20A0F59E6971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F5101368-8EE5-F8FF-DF23-304998CDDB1C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D3BC8511-17FD-9540-05AD-861FFA9C4E15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54C3F8F-C2A7-F4F0-8725-E121AAD002E6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BF74D9-2324-7E46-87B5-9A10CBCBA863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44145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3E294-310F-2AC6-5E3F-A935C89A4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436EE-4FE2-1DAD-19A2-5862D59C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80C0C0-94C6-97BE-0DDC-2D3277F2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43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320DCB8-CEAB-C97A-EE06-11A89043D82D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729AD33-02B6-11E3-1DBE-838F1956C5A9}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Graphic 9" descr="An icon representing a computer chip">
            <a:extLst>
              <a:ext uri="{FF2B5EF4-FFF2-40B4-BE49-F238E27FC236}">
                <a16:creationId xmlns:a16="http://schemas.microsoft.com/office/drawing/2014/main" id="{2D76DCD5-F265-E7C4-C680-83A0F9251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6BFF715-6AE0-CBD0-244A-720F58837CF1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/>
              <a:t>NTasks</a:t>
            </a:r>
            <a:r>
              <a:rPr lang="en-US" sz="2800" b="1" dirty="0"/>
              <a:t> &amp;</a:t>
            </a:r>
          </a:p>
          <a:p>
            <a:pPr algn="ctr"/>
            <a:r>
              <a:rPr lang="en-US" sz="2800" b="1" dirty="0"/>
              <a:t>Nodes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C0E7CB-0B4A-8131-66CA-67FAA2FAEACA}"/>
              </a:ext>
            </a:extLst>
          </p:cNvPr>
          <p:cNvSpPr txBox="1"/>
          <p:nvPr/>
        </p:nvSpPr>
        <p:spPr>
          <a:xfrm>
            <a:off x="868240" y="3598703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Partition</a:t>
            </a:r>
          </a:p>
        </p:txBody>
      </p:sp>
      <p:grpSp>
        <p:nvGrpSpPr>
          <p:cNvPr id="15" name="Group 14" descr="An icon representing computer servers">
            <a:extLst>
              <a:ext uri="{FF2B5EF4-FFF2-40B4-BE49-F238E27FC236}">
                <a16:creationId xmlns:a16="http://schemas.microsoft.com/office/drawing/2014/main" id="{CDC0DAB9-45C5-D7C5-78EC-A2A4B0DC3778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6658A2AA-8409-E771-50FE-B7BDC63EDF4C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7539AF29-764B-89A9-B221-BA3AB8DC1771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B5B4EE1-3F7D-2433-1ED6-99A0684B23B0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F4CA59C-6614-58AD-A716-4C113A578A94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44650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0747B-8D76-917B-D983-3549508AB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F05CB-250D-74F2-C175-ABD9B7D1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264995-BBA8-0F61-3AD6-C21DE6A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44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822A61D-0772-D362-F5AD-7A603689B757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1505764-9258-4990-23DD-53E4F62F6EA6}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3EA4E1C-A54B-ACB8-0E6C-ECB07DA42EE0}"/>
              </a:ext>
            </a:extLst>
          </p:cNvPr>
          <p:cNvSpPr/>
          <p:nvPr/>
        </p:nvSpPr>
        <p:spPr>
          <a:xfrm>
            <a:off x="6351536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 descr="An icon representing a computer chip">
            <a:extLst>
              <a:ext uri="{FF2B5EF4-FFF2-40B4-BE49-F238E27FC236}">
                <a16:creationId xmlns:a16="http://schemas.microsoft.com/office/drawing/2014/main" id="{413D430A-E975-E141-EF76-5C5250108D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F3D6950-1B44-6675-E42A-1723BD59F734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/>
              <a:t>NTasks</a:t>
            </a:r>
            <a:r>
              <a:rPr lang="en-US" sz="2800" b="1" dirty="0"/>
              <a:t> &amp;</a:t>
            </a:r>
          </a:p>
          <a:p>
            <a:pPr algn="ctr"/>
            <a:r>
              <a:rPr lang="en-US" sz="2800" b="1" dirty="0"/>
              <a:t>Nodes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A46DBC-CB50-A46E-1B06-C74715AF245A}"/>
              </a:ext>
            </a:extLst>
          </p:cNvPr>
          <p:cNvSpPr txBox="1"/>
          <p:nvPr/>
        </p:nvSpPr>
        <p:spPr>
          <a:xfrm>
            <a:off x="6628752" y="3598702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Wall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172C74-1C63-C64D-54C1-C2B682F31C64}"/>
              </a:ext>
            </a:extLst>
          </p:cNvPr>
          <p:cNvSpPr txBox="1"/>
          <p:nvPr/>
        </p:nvSpPr>
        <p:spPr>
          <a:xfrm>
            <a:off x="868240" y="3598703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Partition</a:t>
            </a:r>
          </a:p>
        </p:txBody>
      </p:sp>
      <p:grpSp>
        <p:nvGrpSpPr>
          <p:cNvPr id="15" name="Group 14" descr="An icon representing computer servers">
            <a:extLst>
              <a:ext uri="{FF2B5EF4-FFF2-40B4-BE49-F238E27FC236}">
                <a16:creationId xmlns:a16="http://schemas.microsoft.com/office/drawing/2014/main" id="{5989D363-B097-FF6C-D343-CCB174B17CB0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73B0487-954B-B0FB-83B6-7DF18F62C4FF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E6B8793F-1DB4-08F2-3F12-711E133D755C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01A720AE-2F85-9A2D-D7CA-3ED347AAB5BA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88A9668-6DD1-52AC-31A6-BB4A8AFDB4F6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3" name="Graphic 22" descr="An icon representing a stopwatch">
            <a:extLst>
              <a:ext uri="{FF2B5EF4-FFF2-40B4-BE49-F238E27FC236}">
                <a16:creationId xmlns:a16="http://schemas.microsoft.com/office/drawing/2014/main" id="{E8973D92-2A46-40FA-C9F7-984BB1AD4D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4456" y="2108099"/>
            <a:ext cx="1463040" cy="146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4340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9AC3F-B36D-F4CB-D8C3-690176582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4AC38-EBF2-8027-9CED-AAF959756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7E2850-3189-C25E-CE20-291FA16AA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45</a:t>
            </a:fld>
            <a:endParaRPr lang="en-US"/>
          </a:p>
        </p:txBody>
      </p:sp>
      <p:sp>
        <p:nvSpPr>
          <p:cNvPr id="6" name="Rounded Rectangle 5" descr="An icon representing computer servers">
            <a:extLst>
              <a:ext uri="{FF2B5EF4-FFF2-40B4-BE49-F238E27FC236}">
                <a16:creationId xmlns:a16="http://schemas.microsoft.com/office/drawing/2014/main" id="{65A9EC2B-62BF-D652-B41B-39D5F55AC29E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81F5C74-4C8E-C110-DC8D-8F6BE23AD9F1}"/>
              </a:ext>
            </a:extLst>
          </p:cNvPr>
          <p:cNvSpPr/>
          <p:nvPr/>
        </p:nvSpPr>
        <p:spPr>
          <a:xfrm>
            <a:off x="9231793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B5AA982-33D3-0F8D-90BC-2EA0442FC118}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894F8D0-BC83-D128-FCE4-30CF00393A33}"/>
              </a:ext>
            </a:extLst>
          </p:cNvPr>
          <p:cNvSpPr/>
          <p:nvPr/>
        </p:nvSpPr>
        <p:spPr>
          <a:xfrm>
            <a:off x="6351536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 descr="An icon representing a computer chip">
            <a:extLst>
              <a:ext uri="{FF2B5EF4-FFF2-40B4-BE49-F238E27FC236}">
                <a16:creationId xmlns:a16="http://schemas.microsoft.com/office/drawing/2014/main" id="{A84A5AE3-7846-D070-E0B0-A88423A15A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0AA7C8-B519-8EB7-571A-6CC56C84165F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/>
              <a:t>NTasks</a:t>
            </a:r>
            <a:r>
              <a:rPr lang="en-US" sz="2800" b="1" dirty="0"/>
              <a:t> &amp;</a:t>
            </a:r>
          </a:p>
          <a:p>
            <a:pPr algn="ctr"/>
            <a:r>
              <a:rPr lang="en-US" sz="2800" b="1" dirty="0"/>
              <a:t>Nodes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89E0C3-4E4A-AB35-2EE3-09D7BEF6AB64}"/>
              </a:ext>
            </a:extLst>
          </p:cNvPr>
          <p:cNvSpPr txBox="1"/>
          <p:nvPr/>
        </p:nvSpPr>
        <p:spPr>
          <a:xfrm>
            <a:off x="6628752" y="3598702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Wall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51CA9F-6A60-CD44-B096-218DA26FAFF0}"/>
              </a:ext>
            </a:extLst>
          </p:cNvPr>
          <p:cNvSpPr txBox="1"/>
          <p:nvPr/>
        </p:nvSpPr>
        <p:spPr>
          <a:xfrm>
            <a:off x="9509009" y="3606035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Quality of Service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97FACF-FA93-25B4-D092-916BC6FFE15F}"/>
              </a:ext>
            </a:extLst>
          </p:cNvPr>
          <p:cNvSpPr txBox="1"/>
          <p:nvPr/>
        </p:nvSpPr>
        <p:spPr>
          <a:xfrm>
            <a:off x="868240" y="3598703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Partition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C679D75-B7FD-3E0D-15A8-5F6F4E963B26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2643DC7-BAC5-8196-05C0-3D6914467583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A63C65AA-8285-AAF9-AD5E-896C4064A2AC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646F8F7-6F26-E316-9BAA-C90F0F29B66E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A334DF2-65AA-99A7-CDEE-3A2B32F77CB6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3" name="Graphic 22" descr="An icon representing a stopwatch">
            <a:extLst>
              <a:ext uri="{FF2B5EF4-FFF2-40B4-BE49-F238E27FC236}">
                <a16:creationId xmlns:a16="http://schemas.microsoft.com/office/drawing/2014/main" id="{15656884-67DE-87EF-BC9A-9D2DDA894C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4456" y="2108099"/>
            <a:ext cx="1463040" cy="1463040"/>
          </a:xfrm>
          <a:prstGeom prst="rect">
            <a:avLst/>
          </a:prstGeom>
        </p:spPr>
      </p:pic>
      <p:grpSp>
        <p:nvGrpSpPr>
          <p:cNvPr id="27" name="Group 26" descr="An icon of two horizontal arrows pointing inward towards the same vertical line">
            <a:extLst>
              <a:ext uri="{FF2B5EF4-FFF2-40B4-BE49-F238E27FC236}">
                <a16:creationId xmlns:a16="http://schemas.microsoft.com/office/drawing/2014/main" id="{6489D76A-0F65-6B92-08DE-F8D05D32B4D2}"/>
              </a:ext>
            </a:extLst>
          </p:cNvPr>
          <p:cNvGrpSpPr/>
          <p:nvPr/>
        </p:nvGrpSpPr>
        <p:grpSpPr>
          <a:xfrm>
            <a:off x="9631316" y="2329377"/>
            <a:ext cx="1669833" cy="1188720"/>
            <a:chOff x="9673851" y="2181479"/>
            <a:chExt cx="1669833" cy="1188720"/>
          </a:xfrm>
        </p:grpSpPr>
        <p:sp>
          <p:nvSpPr>
            <p:cNvPr id="24" name="Left Arrow 23">
              <a:extLst>
                <a:ext uri="{FF2B5EF4-FFF2-40B4-BE49-F238E27FC236}">
                  <a16:creationId xmlns:a16="http://schemas.microsoft.com/office/drawing/2014/main" id="{956CEA1A-892E-CBAD-595F-CF7CC5C1AB47}"/>
                </a:ext>
              </a:extLst>
            </p:cNvPr>
            <p:cNvSpPr/>
            <p:nvPr/>
          </p:nvSpPr>
          <p:spPr>
            <a:xfrm>
              <a:off x="10687262" y="2272919"/>
              <a:ext cx="656422" cy="1005840"/>
            </a:xfrm>
            <a:prstGeom prst="lef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Left Arrow 24">
              <a:extLst>
                <a:ext uri="{FF2B5EF4-FFF2-40B4-BE49-F238E27FC236}">
                  <a16:creationId xmlns:a16="http://schemas.microsoft.com/office/drawing/2014/main" id="{6414FC7B-7CAD-05B4-1F93-8C81F87E4C8F}"/>
                </a:ext>
              </a:extLst>
            </p:cNvPr>
            <p:cNvSpPr/>
            <p:nvPr/>
          </p:nvSpPr>
          <p:spPr>
            <a:xfrm flipH="1">
              <a:off x="9673851" y="2272919"/>
              <a:ext cx="656422" cy="1005840"/>
            </a:xfrm>
            <a:prstGeom prst="lef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D08D084B-9E5D-BA11-1EE9-AA977A047F15}"/>
                </a:ext>
              </a:extLst>
            </p:cNvPr>
            <p:cNvSpPr/>
            <p:nvPr/>
          </p:nvSpPr>
          <p:spPr>
            <a:xfrm>
              <a:off x="10424366" y="2181479"/>
              <a:ext cx="168802" cy="1188720"/>
            </a:xfrm>
            <a:prstGeom prst="round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84141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8DAD-CA87-BB95-9B68-25857067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3B9F4-EF0D-E0E6-E720-4090B8F6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9C8E1-4A3F-3447-5456-7F89A6256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46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C3A013A-7654-5101-9585-2E719A610256}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CD88E42-D24B-1006-96C3-7C4E429DEF36}"/>
              </a:ext>
            </a:extLst>
          </p:cNvPr>
          <p:cNvSpPr/>
          <p:nvPr/>
        </p:nvSpPr>
        <p:spPr>
          <a:xfrm>
            <a:off x="9231793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2720723-9903-0331-1B37-3F644ABE5852}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6E2B605-040B-C330-C21E-202342DD9AB5}"/>
              </a:ext>
            </a:extLst>
          </p:cNvPr>
          <p:cNvSpPr/>
          <p:nvPr/>
        </p:nvSpPr>
        <p:spPr>
          <a:xfrm>
            <a:off x="6351536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 descr="A greyed-out icon representing a computer chip">
            <a:extLst>
              <a:ext uri="{FF2B5EF4-FFF2-40B4-BE49-F238E27FC236}">
                <a16:creationId xmlns:a16="http://schemas.microsoft.com/office/drawing/2014/main" id="{27579A53-89EE-BD93-5756-096A3E3CC1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6FF3EE5-FB3E-4D39-0995-EB0EAAE3BDEB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>
                <a:solidFill>
                  <a:schemeClr val="bg1">
                    <a:lumMod val="75000"/>
                  </a:schemeClr>
                </a:solidFill>
              </a:rPr>
              <a:t>NTasks</a:t>
            </a:r>
            <a:r>
              <a:rPr lang="en-US" sz="2800" b="1" dirty="0">
                <a:solidFill>
                  <a:schemeClr val="bg1">
                    <a:lumMod val="75000"/>
                  </a:schemeClr>
                </a:solidFill>
              </a:rPr>
              <a:t> &amp;</a:t>
            </a:r>
          </a:p>
          <a:p>
            <a:pPr algn="ctr"/>
            <a:r>
              <a:rPr lang="en-US" sz="2800" b="1" dirty="0">
                <a:solidFill>
                  <a:schemeClr val="bg1">
                    <a:lumMod val="75000"/>
                  </a:schemeClr>
                </a:solidFill>
              </a:rPr>
              <a:t>Nodes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923B53-B346-EA76-B633-F9D44E43E86C}"/>
              </a:ext>
            </a:extLst>
          </p:cNvPr>
          <p:cNvSpPr txBox="1"/>
          <p:nvPr/>
        </p:nvSpPr>
        <p:spPr>
          <a:xfrm>
            <a:off x="6628752" y="3598702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>
                    <a:lumMod val="75000"/>
                  </a:schemeClr>
                </a:solidFill>
              </a:rPr>
              <a:t>Wall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AFE7EC-1E01-DFB8-F242-FA2124FC3607}"/>
              </a:ext>
            </a:extLst>
          </p:cNvPr>
          <p:cNvSpPr txBox="1"/>
          <p:nvPr/>
        </p:nvSpPr>
        <p:spPr>
          <a:xfrm>
            <a:off x="9509009" y="3606035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Quality of Service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9A244D-F6AF-552C-19C2-6752AD24058F}"/>
              </a:ext>
            </a:extLst>
          </p:cNvPr>
          <p:cNvSpPr txBox="1"/>
          <p:nvPr/>
        </p:nvSpPr>
        <p:spPr>
          <a:xfrm>
            <a:off x="868240" y="3598703"/>
            <a:ext cx="191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Partition</a:t>
            </a:r>
          </a:p>
        </p:txBody>
      </p:sp>
      <p:grpSp>
        <p:nvGrpSpPr>
          <p:cNvPr id="15" name="Group 14" descr="An icon representing computer servers">
            <a:extLst>
              <a:ext uri="{FF2B5EF4-FFF2-40B4-BE49-F238E27FC236}">
                <a16:creationId xmlns:a16="http://schemas.microsoft.com/office/drawing/2014/main" id="{557A7C84-316C-58B9-2BD2-6454AEB83B92}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61E32EA-C8F0-50C5-56A6-88E6E108E6AE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B98F36B-EE39-1A0E-E31D-3F46005A5521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12F31B62-A15A-D08F-0EF4-70938F949C34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17261A2-E4C0-492E-35E9-FE8C16FC1053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3" name="Graphic 22" descr="A greyed-out icon representing a stopwatch">
            <a:extLst>
              <a:ext uri="{FF2B5EF4-FFF2-40B4-BE49-F238E27FC236}">
                <a16:creationId xmlns:a16="http://schemas.microsoft.com/office/drawing/2014/main" id="{9E5C8B12-0263-4197-32D0-7EE56E31BF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4456" y="2108099"/>
            <a:ext cx="1463040" cy="1463040"/>
          </a:xfrm>
          <a:prstGeom prst="rect">
            <a:avLst/>
          </a:prstGeom>
        </p:spPr>
      </p:pic>
      <p:grpSp>
        <p:nvGrpSpPr>
          <p:cNvPr id="27" name="Group 26" descr="An icon of two horizontal arrows pointing inward towards the same vertical line">
            <a:extLst>
              <a:ext uri="{FF2B5EF4-FFF2-40B4-BE49-F238E27FC236}">
                <a16:creationId xmlns:a16="http://schemas.microsoft.com/office/drawing/2014/main" id="{2560ABF4-6CB8-32C0-0F03-DB7F7448FBED}"/>
              </a:ext>
            </a:extLst>
          </p:cNvPr>
          <p:cNvGrpSpPr/>
          <p:nvPr/>
        </p:nvGrpSpPr>
        <p:grpSpPr>
          <a:xfrm>
            <a:off x="9631316" y="2329377"/>
            <a:ext cx="1669833" cy="1188720"/>
            <a:chOff x="9673851" y="2181479"/>
            <a:chExt cx="1669833" cy="1188720"/>
          </a:xfrm>
        </p:grpSpPr>
        <p:sp>
          <p:nvSpPr>
            <p:cNvPr id="24" name="Left Arrow 23">
              <a:extLst>
                <a:ext uri="{FF2B5EF4-FFF2-40B4-BE49-F238E27FC236}">
                  <a16:creationId xmlns:a16="http://schemas.microsoft.com/office/drawing/2014/main" id="{7C6595E2-A404-54AC-8364-F3F1FB222EA7}"/>
                </a:ext>
              </a:extLst>
            </p:cNvPr>
            <p:cNvSpPr/>
            <p:nvPr/>
          </p:nvSpPr>
          <p:spPr>
            <a:xfrm>
              <a:off x="10687262" y="2272919"/>
              <a:ext cx="656422" cy="1005840"/>
            </a:xfrm>
            <a:prstGeom prst="lef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Left Arrow 24">
              <a:extLst>
                <a:ext uri="{FF2B5EF4-FFF2-40B4-BE49-F238E27FC236}">
                  <a16:creationId xmlns:a16="http://schemas.microsoft.com/office/drawing/2014/main" id="{2B78B150-9900-62B9-3262-7E9951A84B8E}"/>
                </a:ext>
              </a:extLst>
            </p:cNvPr>
            <p:cNvSpPr/>
            <p:nvPr/>
          </p:nvSpPr>
          <p:spPr>
            <a:xfrm flipH="1">
              <a:off x="9673851" y="2272919"/>
              <a:ext cx="656422" cy="1005840"/>
            </a:xfrm>
            <a:prstGeom prst="left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088B2F2C-B5A9-E496-4BA9-79E0342E3D1B}"/>
                </a:ext>
              </a:extLst>
            </p:cNvPr>
            <p:cNvSpPr/>
            <p:nvPr/>
          </p:nvSpPr>
          <p:spPr>
            <a:xfrm>
              <a:off x="10424366" y="2181479"/>
              <a:ext cx="168802" cy="1188720"/>
            </a:xfrm>
            <a:prstGeom prst="round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032445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5B02276A-EFC9-E7C2-56F0-15CCD49C1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D534403-D252-E56D-64B7-44E21E45E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pic>
        <p:nvPicPr>
          <p:cNvPr id="2" name="Picture 4" descr="A picture of five racks of computer servers">
            <a:extLst>
              <a:ext uri="{FF2B5EF4-FFF2-40B4-BE49-F238E27FC236}">
                <a16:creationId xmlns:a16="http://schemas.microsoft.com/office/drawing/2014/main" id="{AE45C49E-CFDF-4306-581F-E7ACE68299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D647B26-5158-ED42-CDA4-27A3D335058F}"/>
              </a:ext>
            </a:extLst>
          </p:cNvPr>
          <p:cNvGrpSpPr/>
          <p:nvPr/>
        </p:nvGrpSpPr>
        <p:grpSpPr>
          <a:xfrm>
            <a:off x="4742482" y="2255569"/>
            <a:ext cx="2124371" cy="2346859"/>
            <a:chOff x="4726983" y="2457616"/>
            <a:chExt cx="2124371" cy="234685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A1E32A-FBBF-CBF4-94B4-DF3636D17AFA}"/>
                </a:ext>
              </a:extLst>
            </p:cNvPr>
            <p:cNvSpPr/>
            <p:nvPr/>
          </p:nvSpPr>
          <p:spPr>
            <a:xfrm>
              <a:off x="4726983" y="2457616"/>
              <a:ext cx="2124371" cy="2346859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 descr="An icon representing a computer chip">
              <a:extLst>
                <a:ext uri="{FF2B5EF4-FFF2-40B4-BE49-F238E27FC236}">
                  <a16:creationId xmlns:a16="http://schemas.microsoft.com/office/drawing/2014/main" id="{8972347B-25BA-10DB-0E6E-398291FF4D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006742" y="2646573"/>
              <a:ext cx="1564852" cy="1564852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A3E7AB5-FB90-9A16-0C8D-3BCFE2EBFFA7}"/>
                </a:ext>
              </a:extLst>
            </p:cNvPr>
            <p:cNvSpPr txBox="1"/>
            <p:nvPr/>
          </p:nvSpPr>
          <p:spPr>
            <a:xfrm>
              <a:off x="5006742" y="4211425"/>
              <a:ext cx="15648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COMPUTE</a:t>
              </a:r>
            </a:p>
          </p:txBody>
        </p:sp>
      </p:grp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571075A-AF33-B50E-9D13-3E10B3224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834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81F2AE31-C903-A075-45AE-C9FAEB5B7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4B98FC8C-FF06-0B8F-D96A-382401CBC8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pic>
        <p:nvPicPr>
          <p:cNvPr id="2" name="Picture 4" descr="Five racks of computer servers, with four greyed-out">
            <a:extLst>
              <a:ext uri="{FF2B5EF4-FFF2-40B4-BE49-F238E27FC236}">
                <a16:creationId xmlns:a16="http://schemas.microsoft.com/office/drawing/2014/main" id="{D76C4C27-CF16-32EF-2B02-DC875A46C7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8754FF-9970-1B20-3829-DC5CA731B804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amilan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8588F9C-8692-06CC-DB20-8C929554192B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4" descr="One rack of computer servers">
            <a:extLst>
              <a:ext uri="{FF2B5EF4-FFF2-40B4-BE49-F238E27FC236}">
                <a16:creationId xmlns:a16="http://schemas.microsoft.com/office/drawing/2014/main" id="{534216B3-960E-27F8-DB59-CBB6C56DE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55669"/>
          <a:stretch/>
        </p:blipFill>
        <p:spPr bwMode="auto">
          <a:xfrm>
            <a:off x="3750073" y="1405542"/>
            <a:ext cx="612771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5F8BFF5C-F169-650D-76DB-2012555C9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089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A50FCCDE-C33A-5A78-D620-566B793C4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6BC7BDC2-8F23-2E3F-A086-6D562460F2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pic>
        <p:nvPicPr>
          <p:cNvPr id="2" name="Picture 4" descr="Five racks of computer servers, with four greyed-out">
            <a:extLst>
              <a:ext uri="{FF2B5EF4-FFF2-40B4-BE49-F238E27FC236}">
                <a16:creationId xmlns:a16="http://schemas.microsoft.com/office/drawing/2014/main" id="{183031EF-805D-5644-5589-4AC8E2F29D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5B12A5-AE6B-359E-D1DB-AD85914D07AF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amilan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D11255-D11F-B19F-2577-DDA92EB5F4DF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2F3AB29-CED6-F8D1-8E74-4FF6094098A9}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12EE2A-F148-A6F1-A41B-ED2B6A15E60D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</a:t>
            </a:r>
          </a:p>
        </p:txBody>
      </p:sp>
      <p:pic>
        <p:nvPicPr>
          <p:cNvPr id="3" name="Picture 4" descr="One rack of computer servers">
            <a:extLst>
              <a:ext uri="{FF2B5EF4-FFF2-40B4-BE49-F238E27FC236}">
                <a16:creationId xmlns:a16="http://schemas.microsoft.com/office/drawing/2014/main" id="{2AC8105C-28B0-043F-7305-E318EA8501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20" r="46078"/>
          <a:stretch/>
        </p:blipFill>
        <p:spPr bwMode="auto">
          <a:xfrm>
            <a:off x="4362844" y="1405541"/>
            <a:ext cx="725556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E66322-08D5-2B07-86C8-91D7506EA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7420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DEDF127B-CF79-2CE4-041D-EB50B103D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A2C910E0-1C77-E540-47C6-C28109A76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pic>
        <p:nvPicPr>
          <p:cNvPr id="2" name="Picture 4" descr="Five racks of computer servers, with four greyed-out">
            <a:extLst>
              <a:ext uri="{FF2B5EF4-FFF2-40B4-BE49-F238E27FC236}">
                <a16:creationId xmlns:a16="http://schemas.microsoft.com/office/drawing/2014/main" id="{2C29DF53-653E-1BAC-A40A-E5FB3DF100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CF03BA3-F1DC-A196-7B02-13163CF5624E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amilan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EFB6CF-8B26-3C6C-BF5E-2EAEDC815DA2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7B9BB7F-86DE-645D-B613-B7B9953012C9}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AFF0EE-4C65-315A-1F98-B4BF97EF6962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6F69A9F-8AF7-609E-733E-8B26233FF974}"/>
              </a:ext>
            </a:extLst>
          </p:cNvPr>
          <p:cNvSpPr/>
          <p:nvPr/>
        </p:nvSpPr>
        <p:spPr>
          <a:xfrm>
            <a:off x="9144006" y="1845674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08D644-8891-D83F-4FEC-60FBC4670B07}"/>
              </a:ext>
            </a:extLst>
          </p:cNvPr>
          <p:cNvSpPr txBox="1"/>
          <p:nvPr/>
        </p:nvSpPr>
        <p:spPr>
          <a:xfrm>
            <a:off x="9144006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/>
            <a:r>
              <a:rPr lang="en-US" sz="2400" dirty="0"/>
              <a:t>Nvidia GPU’s</a:t>
            </a:r>
          </a:p>
        </p:txBody>
      </p:sp>
      <p:pic>
        <p:nvPicPr>
          <p:cNvPr id="4" name="Picture 4" descr="One rack of computer servers">
            <a:extLst>
              <a:ext uri="{FF2B5EF4-FFF2-40B4-BE49-F238E27FC236}">
                <a16:creationId xmlns:a16="http://schemas.microsoft.com/office/drawing/2014/main" id="{1FBE6356-92C3-F795-FEFA-FD85AA9BDB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047" r="24103"/>
          <a:stretch/>
        </p:blipFill>
        <p:spPr bwMode="auto">
          <a:xfrm>
            <a:off x="5815179" y="1405542"/>
            <a:ext cx="868310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F9118E-F006-915A-D9C2-A2A6694FB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644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69A8D0B7-E62C-9A89-6ED2-CF369D8E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81FE0DD-2F2F-B38E-5996-41801CDCD7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pic>
        <p:nvPicPr>
          <p:cNvPr id="2" name="Picture 4" descr="Five racks of computer servers, with four greyed-out">
            <a:extLst>
              <a:ext uri="{FF2B5EF4-FFF2-40B4-BE49-F238E27FC236}">
                <a16:creationId xmlns:a16="http://schemas.microsoft.com/office/drawing/2014/main" id="{E16FB7C0-0E1D-A232-FF0F-589BB28EC0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A159802-B800-F03E-CB1E-52C845AB7B46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amilan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4AF8A3E-2720-16D0-C499-2353D3163FDD}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EBE9323-7087-02D4-DADD-AEF0C2EDF739}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E63697-2043-65EC-6BD9-A8921F009786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086B3A5-E89C-B5AF-F8D7-7451DF0897D5}"/>
              </a:ext>
            </a:extLst>
          </p:cNvPr>
          <p:cNvSpPr/>
          <p:nvPr/>
        </p:nvSpPr>
        <p:spPr>
          <a:xfrm>
            <a:off x="9144006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E709A5-A77D-6C7F-47E8-A99551A981D4}"/>
              </a:ext>
            </a:extLst>
          </p:cNvPr>
          <p:cNvSpPr txBox="1"/>
          <p:nvPr/>
        </p:nvSpPr>
        <p:spPr>
          <a:xfrm>
            <a:off x="9144006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/>
            <a:r>
              <a:rPr lang="en-US" sz="2400" dirty="0"/>
              <a:t>Nvidia GPU’s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144D29D-1730-2FA6-3963-E5DB3794ABAB}"/>
              </a:ext>
            </a:extLst>
          </p:cNvPr>
          <p:cNvSpPr/>
          <p:nvPr/>
        </p:nvSpPr>
        <p:spPr>
          <a:xfrm>
            <a:off x="9144000" y="3852763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F8C06C-F808-2A89-69FF-0B0CECD94420}"/>
              </a:ext>
            </a:extLst>
          </p:cNvPr>
          <p:cNvSpPr txBox="1"/>
          <p:nvPr/>
        </p:nvSpPr>
        <p:spPr>
          <a:xfrm>
            <a:off x="9144000" y="4099535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ami100</a:t>
            </a:r>
          </a:p>
          <a:p>
            <a:pPr algn="ctr"/>
            <a:r>
              <a:rPr lang="en-US" sz="2400" dirty="0"/>
              <a:t>AMD GPU’s</a:t>
            </a:r>
          </a:p>
        </p:txBody>
      </p:sp>
      <p:pic>
        <p:nvPicPr>
          <p:cNvPr id="3" name="Picture 4" descr="One rack of computer servers">
            <a:extLst>
              <a:ext uri="{FF2B5EF4-FFF2-40B4-BE49-F238E27FC236}">
                <a16:creationId xmlns:a16="http://schemas.microsoft.com/office/drawing/2014/main" id="{EB08938C-C5B3-8D2A-89C4-52115E7E99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62" r="2"/>
          <a:stretch/>
        </p:blipFill>
        <p:spPr bwMode="auto">
          <a:xfrm>
            <a:off x="6673303" y="1405542"/>
            <a:ext cx="176862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ED4773-6156-857D-9B33-0BD100FFA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580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BA592-0979-2D36-18CF-AE9884174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entury Gothic" panose="020B0502020202020204" pitchFamily="34" charset="0"/>
                <a:cs typeface="Helvetica Neue Light"/>
                <a:sym typeface="Helvetica Neue Light"/>
              </a:rPr>
              <a:t>Alpine Partitions</a:t>
            </a:r>
            <a:endParaRPr lang="en-US" b="1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51BEE-7A49-DBA4-B0F3-BF6CA1E8F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84250"/>
          </a:xfrm>
        </p:spPr>
        <p:txBody>
          <a:bodyPr/>
          <a:lstStyle/>
          <a:p>
            <a:r>
              <a:rPr lang="en-US" dirty="0"/>
              <a:t>Partitions are a collection of compute nodes e.g. computers with common characteristics</a:t>
            </a:r>
          </a:p>
        </p:txBody>
      </p:sp>
      <p:graphicFrame>
        <p:nvGraphicFramePr>
          <p:cNvPr id="6" name="Google Shape;833;p68">
            <a:extLst>
              <a:ext uri="{FF2B5EF4-FFF2-40B4-BE49-F238E27FC236}">
                <a16:creationId xmlns:a16="http://schemas.microsoft.com/office/drawing/2014/main" id="{09EC120D-F933-09A9-8CA6-E7080D3A2723}"/>
              </a:ext>
            </a:extLst>
          </p:cNvPr>
          <p:cNvGraphicFramePr/>
          <p:nvPr/>
        </p:nvGraphicFramePr>
        <p:xfrm>
          <a:off x="838200" y="2809875"/>
          <a:ext cx="10218825" cy="31742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6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0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6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6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0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Partition</a:t>
                      </a:r>
                      <a:endParaRPr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 of nodes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/>
                        <a:t>RAM/core (GB)</a:t>
                      </a:r>
                      <a:endParaRPr sz="1800" b="1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cores/node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GPUs/node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amilan</a:t>
                      </a:r>
                      <a:endParaRPr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Compute Node</a:t>
                      </a:r>
                      <a:r>
                        <a:rPr lang="en-US" sz="1800"/>
                        <a:t>: AMD Milan</a:t>
                      </a: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406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32,48,64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ami100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 </a:t>
                      </a:r>
                      <a:r>
                        <a:rPr lang="en-US" sz="1800" dirty="0"/>
                        <a:t>Node:</a:t>
                      </a:r>
                      <a:endParaRPr sz="1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3x AMD MI100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8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64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3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aa100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GPU Node:</a:t>
                      </a:r>
                      <a:endParaRPr sz="1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3x Nvidia A100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12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 err="1"/>
                        <a:t>amem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High-memory node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24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21.5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48,64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0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995787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4B93F1-ABFF-3C17-9B96-739A94709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8079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F72F4-AC02-54B3-90D1-BED586865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A3909-28CE-59E4-61B3-932570CC8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b="1" dirty="0">
                <a:latin typeface="Century Gothic" panose="020B0502020202020204" pitchFamily="34" charset="0"/>
                <a:cs typeface="Helvetica Neue Light"/>
                <a:sym typeface="Helvetica Neue Light"/>
              </a:rPr>
              <a:t>Alpine Testing Partitions</a:t>
            </a:r>
            <a:endParaRPr lang="en-US" b="1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9EBED-13AB-034F-CFD7-00FB1DAC0B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8805"/>
            <a:ext cx="10515600" cy="154903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many of the partitions we have testing partitions that provide quicker access to resources. </a:t>
            </a:r>
          </a:p>
          <a:p>
            <a:pPr marL="0" indent="0">
              <a:buNone/>
            </a:pPr>
            <a:r>
              <a:rPr lang="en-US" b="1" u="sng" dirty="0"/>
              <a:t>Note: </a:t>
            </a:r>
            <a:r>
              <a:rPr lang="en-US" dirty="0"/>
              <a:t>there are restrictions on the amount of resources you can request. These restrictions can be found in our documentation.  </a:t>
            </a:r>
          </a:p>
        </p:txBody>
      </p:sp>
      <p:graphicFrame>
        <p:nvGraphicFramePr>
          <p:cNvPr id="6" name="Google Shape;833;p68">
            <a:extLst>
              <a:ext uri="{FF2B5EF4-FFF2-40B4-BE49-F238E27FC236}">
                <a16:creationId xmlns:a16="http://schemas.microsoft.com/office/drawing/2014/main" id="{EC46FB0D-D7D1-CB1A-6CBD-5805716EE2C3}"/>
              </a:ext>
            </a:extLst>
          </p:cNvPr>
          <p:cNvGraphicFramePr/>
          <p:nvPr/>
        </p:nvGraphicFramePr>
        <p:xfrm>
          <a:off x="838200" y="3107748"/>
          <a:ext cx="10218825" cy="31742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6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0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6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6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0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Partition</a:t>
                      </a:r>
                      <a:endParaRPr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 of nodes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/>
                        <a:t>RAM/core (GB)</a:t>
                      </a:r>
                      <a:endParaRPr sz="1800" b="1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cores/node</a:t>
                      </a:r>
                      <a:endParaRPr sz="1800" b="1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GPUs/node</a:t>
                      </a:r>
                      <a:endParaRPr sz="1800" b="1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atesting</a:t>
                      </a:r>
                      <a:endParaRPr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Compute Node</a:t>
                      </a:r>
                      <a:r>
                        <a:rPr lang="en-US" sz="1800"/>
                        <a:t>: AMD Milan</a:t>
                      </a: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2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/>
                        <a:t>acompile</a:t>
                      </a:r>
                      <a:endParaRPr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General Compute Node: AMD Milan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5728692"/>
                  </a:ext>
                </a:extLst>
              </a:tr>
              <a:tr h="34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atesting_mi100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 </a:t>
                      </a:r>
                      <a:r>
                        <a:rPr lang="en-US" sz="1800" dirty="0"/>
                        <a:t>Node:</a:t>
                      </a:r>
                      <a:endParaRPr sz="1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3x AMD MI100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1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64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3</a:t>
                      </a:r>
                      <a:endParaRPr sz="1800" u="none" strike="noStrike" cap="none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atesting_a100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GPU Node:</a:t>
                      </a:r>
                      <a:endParaRPr sz="1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3x Nvidia A100</a:t>
                      </a:r>
                      <a:endParaRPr sz="1800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1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3.75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64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6 MIG instances</a:t>
                      </a:r>
                      <a:endParaRPr sz="1800" u="none" strike="noStrike" cap="none" dirty="0"/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394AC5-7265-84D3-1F67-F032EB670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9725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454B4-7ED9-AEA2-A420-EA4A20E9C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entury Gothic" panose="020B0502020202020204" pitchFamily="34" charset="0"/>
                <a:ea typeface="Helvetica Neue Light"/>
                <a:cs typeface="Helvetica Neue Light"/>
                <a:sym typeface="Helvetica Neue Light"/>
              </a:rPr>
              <a:t>Quality of Service (QoS)</a:t>
            </a:r>
            <a:endParaRPr lang="en-US" b="1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B10E2-C1DD-AC1E-9158-7086D5820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08200"/>
          </a:xfrm>
        </p:spPr>
        <p:txBody>
          <a:bodyPr/>
          <a:lstStyle/>
          <a:p>
            <a:r>
              <a:rPr lang="en-US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Quality of Service specifies additional constraints for a job</a:t>
            </a:r>
          </a:p>
          <a:p>
            <a:pPr lvl="1"/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On Alpine, QoS can be used to run long jobs, specify testing partitions, and select high-memory nodes</a:t>
            </a:r>
          </a:p>
        </p:txBody>
      </p:sp>
      <p:graphicFrame>
        <p:nvGraphicFramePr>
          <p:cNvPr id="6" name="Google Shape;457;p47">
            <a:extLst>
              <a:ext uri="{FF2B5EF4-FFF2-40B4-BE49-F238E27FC236}">
                <a16:creationId xmlns:a16="http://schemas.microsoft.com/office/drawing/2014/main" id="{44A11A17-9710-F439-2831-B272913177E0}"/>
              </a:ext>
            </a:extLst>
          </p:cNvPr>
          <p:cNvGraphicFramePr/>
          <p:nvPr/>
        </p:nvGraphicFramePr>
        <p:xfrm>
          <a:off x="838200" y="3137262"/>
          <a:ext cx="10204937" cy="29860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23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90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38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QoS</a:t>
                      </a:r>
                      <a:endParaRPr sz="18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wall time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jobs/user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nodes/user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normal</a:t>
                      </a:r>
                      <a:endParaRPr sz="1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 QoS</a:t>
                      </a:r>
                      <a:endParaRPr sz="1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1000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128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83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needing longer wall times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 D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200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 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mem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High-memory jobs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7 D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279699"/>
                  </a:ext>
                </a:extLst>
              </a:tr>
              <a:tr h="56302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testing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submitted to testing partitions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480231"/>
                  </a:ext>
                </a:extLst>
              </a:tr>
              <a:tr h="56302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compile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submitted to compile partition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12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593831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087F4B-1B8B-BA05-DAD2-2776A060F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48810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C7383-0643-D9C8-138A-DB883E5F1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entury Gothic" panose="020B0502020202020204" pitchFamily="34" charset="0"/>
              </a:rPr>
              <a:t>Common directives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DEB44-E1A9-DD63-63C0-70C59617BA8B}"/>
              </a:ext>
            </a:extLst>
          </p:cNvPr>
          <p:cNvSpPr txBox="1"/>
          <p:nvPr/>
        </p:nvSpPr>
        <p:spPr>
          <a:xfrm>
            <a:off x="838200" y="1894367"/>
            <a:ext cx="9519914" cy="34724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40665" marR="0" lvl="0" indent="-205740" algn="l" rtl="0">
              <a:lnSpc>
                <a:spcPct val="122511"/>
              </a:lnSpc>
              <a:spcBef>
                <a:spcPts val="0"/>
              </a:spcBef>
              <a:spcAft>
                <a:spcPts val="0"/>
              </a:spcAft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Partition – A collection of compute nodes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--partition=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-US" sz="1800" dirty="0" err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partition_name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Quality of service (QoS) – System defined constraints for a job (more on this later!)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b="1" dirty="0">
                <a:solidFill>
                  <a:srgbClr val="2F2B20"/>
                </a:solidFill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</a:t>
            </a:r>
            <a:r>
              <a:rPr lang="en-US" sz="1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-US" sz="1800" dirty="0" err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Allocation</a:t>
            </a:r>
            <a:r>
              <a:rPr lang="en-US" b="1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 </a:t>
            </a:r>
            <a:r>
              <a:rPr lang="en-US" sz="1800" b="1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– Account to “charge to”</a:t>
            </a: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--account=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-US" sz="1800" dirty="0" err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account_name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lang="en-US" b="1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Number of nodes to run on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--nodes=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&lt;nodes&gt;</a:t>
            </a:r>
            <a:endParaRPr lang="en-US" b="1" dirty="0">
              <a:solidFill>
                <a:schemeClr val="dk1"/>
              </a:solidFill>
            </a:endParaRP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Number of cores to run on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</a:t>
            </a:r>
            <a:r>
              <a:rPr lang="en-US" sz="1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&lt;number-of-tasks&gt;</a:t>
            </a:r>
            <a:endParaRPr lang="en-US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5-Point Star 2" descr="Red star marking partition as a required directive">
            <a:extLst>
              <a:ext uri="{FF2B5EF4-FFF2-40B4-BE49-F238E27FC236}">
                <a16:creationId xmlns:a16="http://schemas.microsoft.com/office/drawing/2014/main" id="{4EEE6623-C3C9-752E-F4CF-F8072D588BD0}"/>
              </a:ext>
            </a:extLst>
          </p:cNvPr>
          <p:cNvSpPr/>
          <p:nvPr/>
        </p:nvSpPr>
        <p:spPr>
          <a:xfrm>
            <a:off x="644768" y="1990293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5-Point Star 6" descr="Red star marking Quality of Service (qos) as a required directive">
            <a:extLst>
              <a:ext uri="{FF2B5EF4-FFF2-40B4-BE49-F238E27FC236}">
                <a16:creationId xmlns:a16="http://schemas.microsoft.com/office/drawing/2014/main" id="{5639F9B9-9754-5B7F-2FDD-E46A1FEFB179}"/>
              </a:ext>
            </a:extLst>
          </p:cNvPr>
          <p:cNvSpPr/>
          <p:nvPr/>
        </p:nvSpPr>
        <p:spPr>
          <a:xfrm>
            <a:off x="644768" y="2679024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5-Point Star 7" descr="Red star explaining that a red star indicates a required directive">
            <a:extLst>
              <a:ext uri="{FF2B5EF4-FFF2-40B4-BE49-F238E27FC236}">
                <a16:creationId xmlns:a16="http://schemas.microsoft.com/office/drawing/2014/main" id="{F862C7AF-E8A5-5F80-AAFD-3FD27FA38385}"/>
              </a:ext>
            </a:extLst>
          </p:cNvPr>
          <p:cNvSpPr/>
          <p:nvPr/>
        </p:nvSpPr>
        <p:spPr>
          <a:xfrm>
            <a:off x="644768" y="5767573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C7483B-D188-6DB3-DF85-24BF47975F1C}"/>
              </a:ext>
            </a:extLst>
          </p:cNvPr>
          <p:cNvSpPr txBox="1"/>
          <p:nvPr/>
        </p:nvSpPr>
        <p:spPr>
          <a:xfrm>
            <a:off x="893887" y="5684019"/>
            <a:ext cx="3454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Must be specified for every job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27BA03-7A35-4956-0E0C-74286A603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4559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AA09-D4F0-B74D-65AB-6F9425CF4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360"/>
            <a:ext cx="10515600" cy="1325563"/>
          </a:xfrm>
        </p:spPr>
        <p:txBody>
          <a:bodyPr/>
          <a:lstStyle/>
          <a:p>
            <a:r>
              <a:rPr lang="en-US" b="1" dirty="0">
                <a:latin typeface="Century Gothic" panose="020B0502020202020204" pitchFamily="34" charset="0"/>
              </a:rPr>
              <a:t>Common directives</a:t>
            </a:r>
          </a:p>
        </p:txBody>
      </p:sp>
      <p:sp>
        <p:nvSpPr>
          <p:cNvPr id="6" name="Google Shape;434;p45">
            <a:extLst>
              <a:ext uri="{FF2B5EF4-FFF2-40B4-BE49-F238E27FC236}">
                <a16:creationId xmlns:a16="http://schemas.microsoft.com/office/drawing/2014/main" id="{31E6056B-34A1-9900-1C20-8A71EB141D66}"/>
              </a:ext>
            </a:extLst>
          </p:cNvPr>
          <p:cNvSpPr txBox="1"/>
          <p:nvPr/>
        </p:nvSpPr>
        <p:spPr>
          <a:xfrm>
            <a:off x="838200" y="1787035"/>
            <a:ext cx="9429751" cy="3538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675" rIns="0" bIns="0" anchor="t" anchorCtr="0">
            <a:spAutoFit/>
          </a:bodyPr>
          <a:lstStyle/>
          <a:p>
            <a:pPr marL="240665" marR="0" lvl="0" indent="-202692" algn="l" rtl="0">
              <a:lnSpc>
                <a:spcPct val="119836"/>
              </a:lnSpc>
              <a:spcBef>
                <a:spcPts val="26"/>
              </a:spcBef>
              <a:spcAft>
                <a:spcPts val="0"/>
              </a:spcAft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Wall time – How long you want to run on these resources</a:t>
            </a:r>
          </a:p>
          <a:p>
            <a:pPr marL="697865" lvl="1" indent="-202692">
              <a:lnSpc>
                <a:spcPct val="119836"/>
              </a:lnSpc>
              <a:spcBef>
                <a:spcPts val="26"/>
              </a:spcBef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--time=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&lt;wall time&gt;</a:t>
            </a:r>
            <a:endParaRPr lang="en-US" dirty="0">
              <a:solidFill>
                <a:srgbClr val="2F2B2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40665" marR="0" lvl="0" indent="-202692" algn="l" rtl="0">
              <a:lnSpc>
                <a:spcPct val="119836"/>
              </a:lnSpc>
              <a:spcBef>
                <a:spcPts val="0"/>
              </a:spcBef>
              <a:spcAft>
                <a:spcPts val="0"/>
              </a:spcAft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Job name</a:t>
            </a:r>
          </a:p>
          <a:p>
            <a:pPr marL="697865" lvl="1" indent="-202692">
              <a:lnSpc>
                <a:spcPct val="119836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--job-name=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&lt;jobname&gt;</a:t>
            </a:r>
            <a:endParaRPr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40665" marR="0" lvl="0" indent="-205740" algn="l" rtl="0">
              <a:lnSpc>
                <a:spcPct val="122511"/>
              </a:lnSpc>
              <a:spcBef>
                <a:spcPts val="0"/>
              </a:spcBef>
              <a:spcAft>
                <a:spcPts val="0"/>
              </a:spcAft>
              <a:buClr>
                <a:srgbClr val="A9A57C"/>
              </a:buClr>
              <a:buSzPts val="1800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Output – Where all output that would be written to the terminal should go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--output=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&lt;name&gt;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Send an email when events happen in the job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--mail-type=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&lt;type&gt;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Email address to send updates to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--mail-user=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&lt;user&gt;</a:t>
            </a:r>
          </a:p>
        </p:txBody>
      </p:sp>
      <p:sp>
        <p:nvSpPr>
          <p:cNvPr id="3" name="5-Point Star 2" descr="Red star explaining that a red star indicates a required directive">
            <a:extLst>
              <a:ext uri="{FF2B5EF4-FFF2-40B4-BE49-F238E27FC236}">
                <a16:creationId xmlns:a16="http://schemas.microsoft.com/office/drawing/2014/main" id="{DC5BBFBC-E827-A9B9-94EF-46575B0FE125}"/>
              </a:ext>
            </a:extLst>
          </p:cNvPr>
          <p:cNvSpPr/>
          <p:nvPr/>
        </p:nvSpPr>
        <p:spPr>
          <a:xfrm>
            <a:off x="548052" y="5746724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EA139F-8910-56E7-1812-C8566D3695D4}"/>
              </a:ext>
            </a:extLst>
          </p:cNvPr>
          <p:cNvSpPr txBox="1"/>
          <p:nvPr/>
        </p:nvSpPr>
        <p:spPr>
          <a:xfrm>
            <a:off x="797171" y="5663170"/>
            <a:ext cx="3454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Must be specified for every job</a:t>
            </a:r>
          </a:p>
        </p:txBody>
      </p:sp>
      <p:sp>
        <p:nvSpPr>
          <p:cNvPr id="8" name="5-Point Star 7" descr="Red star explaining that time is a required directive">
            <a:extLst>
              <a:ext uri="{FF2B5EF4-FFF2-40B4-BE49-F238E27FC236}">
                <a16:creationId xmlns:a16="http://schemas.microsoft.com/office/drawing/2014/main" id="{EA5E6197-07E0-53DA-9A59-24C0D1AC9B3C}"/>
              </a:ext>
            </a:extLst>
          </p:cNvPr>
          <p:cNvSpPr/>
          <p:nvPr/>
        </p:nvSpPr>
        <p:spPr>
          <a:xfrm>
            <a:off x="548052" y="1808863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68C0D8-D11A-5E2A-B969-55513EEDA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3853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75463-50BF-24AF-3C10-D30FBDDEC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Light"/>
                <a:ea typeface="Helvetica Neue Light"/>
                <a:cs typeface="Helvetica Neue Light"/>
                <a:sym typeface="Helvetica Neue Light"/>
              </a:rPr>
              <a:t>Checking your jobs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804A38D-FDC4-C07B-A6A5-96D3864AFC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 err="1">
                <a:solidFill>
                  <a:srgbClr val="0070C0"/>
                </a:solidFill>
              </a:rPr>
              <a:t>squeue</a:t>
            </a:r>
            <a:r>
              <a:rPr lang="en-US" dirty="0"/>
              <a:t>: Monitor your jobs status </a:t>
            </a:r>
            <a:r>
              <a:rPr lang="en-US" b="1" dirty="0"/>
              <a:t>in queue and while running</a:t>
            </a:r>
            <a:r>
              <a:rPr lang="en-US" dirty="0"/>
              <a:t>:</a:t>
            </a:r>
          </a:p>
          <a:p>
            <a:pPr marL="685800" lvl="1" indent="-34226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B20"/>
              </a:buClr>
              <a:buSzPts val="1800"/>
              <a:buChar char="•"/>
            </a:pPr>
            <a:r>
              <a:rPr lang="en-US" sz="24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By </a:t>
            </a:r>
            <a:r>
              <a:rPr lang="en-US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default,</a:t>
            </a:r>
            <a:r>
              <a:rPr lang="en-US" sz="24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 shows all jobs in queue can specify using: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>
                <a:solidFill>
                  <a:srgbClr val="0070C0"/>
                </a:solidFill>
              </a:rPr>
              <a:t>sacct</a:t>
            </a:r>
            <a:r>
              <a:rPr lang="en-US" dirty="0"/>
              <a:t>: Check back on usage statistics of </a:t>
            </a:r>
            <a:r>
              <a:rPr lang="en-US" b="1" dirty="0"/>
              <a:t>previous Jobs</a:t>
            </a:r>
          </a:p>
          <a:p>
            <a:pPr marL="685800" lvl="1" indent="-34226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B20"/>
              </a:buClr>
              <a:buSzPts val="1800"/>
              <a:buChar char="•"/>
            </a:pPr>
            <a:r>
              <a:rPr lang="en-US" sz="28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By default, only checks all jobs from the start of the current day can specify using:</a:t>
            </a:r>
          </a:p>
          <a:p>
            <a:endParaRPr lang="en-US" b="1" dirty="0"/>
          </a:p>
        </p:txBody>
      </p:sp>
      <p:sp>
        <p:nvSpPr>
          <p:cNvPr id="10" name="Google Shape;513;p52">
            <a:extLst>
              <a:ext uri="{FF2B5EF4-FFF2-40B4-BE49-F238E27FC236}">
                <a16:creationId xmlns:a16="http://schemas.microsoft.com/office/drawing/2014/main" id="{6270ABA3-0AD8-3DB2-D330-EF60D5D9006E}"/>
              </a:ext>
            </a:extLst>
          </p:cNvPr>
          <p:cNvSpPr/>
          <p:nvPr/>
        </p:nvSpPr>
        <p:spPr>
          <a:xfrm>
            <a:off x="1620572" y="2662251"/>
            <a:ext cx="7263300" cy="7080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squeue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–u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squeue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–p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&lt;partition&gt;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514;p52">
            <a:extLst>
              <a:ext uri="{FF2B5EF4-FFF2-40B4-BE49-F238E27FC236}">
                <a16:creationId xmlns:a16="http://schemas.microsoft.com/office/drawing/2014/main" id="{CAE36032-1193-A772-7D31-F09CE2559DD8}"/>
              </a:ext>
            </a:extLst>
          </p:cNvPr>
          <p:cNvSpPr/>
          <p:nvPr/>
        </p:nvSpPr>
        <p:spPr>
          <a:xfrm>
            <a:off x="1620572" y="5040513"/>
            <a:ext cx="7263300" cy="10158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 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 –u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18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 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 --start=MM/DD/YY –u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1800" dirty="0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–j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&lt;job-id&gt;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01835F56-1994-3251-C6BE-9145A84CFEAA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2699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107-FD63-3C5A-931B-D01E0BD5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Checking your jobs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E9A12-6AB5-5F86-E292-71CEE3639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To check the percentage of CPU and memory usage of a job </a:t>
            </a:r>
            <a:r>
              <a:rPr lang="en-US" sz="2800" b="1" dirty="0"/>
              <a:t>after it completes, </a:t>
            </a:r>
            <a:r>
              <a:rPr lang="en-US" sz="2800" dirty="0"/>
              <a:t>use </a:t>
            </a:r>
            <a:r>
              <a:rPr lang="en-US" sz="2800" dirty="0" err="1">
                <a:solidFill>
                  <a:srgbClr val="0070C0"/>
                </a:solidFill>
              </a:rPr>
              <a:t>seff</a:t>
            </a:r>
            <a:endParaRPr lang="en-US" sz="2800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To see general statistics for your submitted jobs, use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 err="1">
                <a:solidFill>
                  <a:srgbClr val="0070C0"/>
                </a:solidFill>
              </a:rPr>
              <a:t>jobstats</a:t>
            </a:r>
            <a:r>
              <a:rPr lang="en-US" dirty="0"/>
              <a:t> </a:t>
            </a:r>
          </a:p>
        </p:txBody>
      </p:sp>
      <p:sp>
        <p:nvSpPr>
          <p:cNvPr id="6" name="Google Shape;524;p53">
            <a:extLst>
              <a:ext uri="{FF2B5EF4-FFF2-40B4-BE49-F238E27FC236}">
                <a16:creationId xmlns:a16="http://schemas.microsoft.com/office/drawing/2014/main" id="{CF4DCEF5-D99B-F879-C459-5E4536E68F31}"/>
              </a:ext>
            </a:extLst>
          </p:cNvPr>
          <p:cNvSpPr/>
          <p:nvPr/>
        </p:nvSpPr>
        <p:spPr>
          <a:xfrm>
            <a:off x="1185579" y="4241445"/>
            <a:ext cx="7263450" cy="7389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module load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slurmtools</a:t>
            </a:r>
            <a:endParaRPr lang="en-US" sz="20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jobstats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 &lt;# of days&gt;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525;p53">
            <a:extLst>
              <a:ext uri="{FF2B5EF4-FFF2-40B4-BE49-F238E27FC236}">
                <a16:creationId xmlns:a16="http://schemas.microsoft.com/office/drawing/2014/main" id="{5D84A3AA-B607-E8D8-B14E-9655F494AA9B}"/>
              </a:ext>
            </a:extLst>
          </p:cNvPr>
          <p:cNvSpPr/>
          <p:nvPr/>
        </p:nvSpPr>
        <p:spPr>
          <a:xfrm>
            <a:off x="1185729" y="2757419"/>
            <a:ext cx="7263300" cy="7389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module load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slurmtools</a:t>
            </a:r>
            <a:endParaRPr sz="20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seff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&lt;job number&gt;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FBBE5115-E911-129B-C175-8232773E456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7355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CE62E-E30C-F963-780F-4C867BBEC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Job Monitoring - XDMOD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7966D6-9645-45E3-95A6-E25C97B46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59</a:t>
            </a:fld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E36BD517-D6FE-03D3-3158-D78C63FF0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4195" y="1462088"/>
            <a:ext cx="8128005" cy="41148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49494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Thank you!</a:t>
            </a:r>
            <a:endParaRPr dirty="0"/>
          </a:p>
        </p:txBody>
      </p:sp>
      <p:sp>
        <p:nvSpPr>
          <p:cNvPr id="899" name="Google Shape;899;p7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13538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25450" indent="-34290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</a:pPr>
            <a:r>
              <a:rPr lang="en-US" sz="2300" b="1" u="sng" dirty="0">
                <a:solidFill>
                  <a:srgbClr val="1D1C1D"/>
                </a:solidFill>
              </a:rPr>
              <a:t>Documentation</a:t>
            </a:r>
            <a:r>
              <a:rPr lang="en-US" sz="2300" dirty="0">
                <a:solidFill>
                  <a:srgbClr val="1D1C1D"/>
                </a:solidFill>
              </a:rPr>
              <a:t>: </a:t>
            </a:r>
            <a:r>
              <a:rPr lang="en-US" sz="2300" u="sng" dirty="0">
                <a:solidFill>
                  <a:schemeClr val="hlink"/>
                </a:solidFill>
                <a:hlinkClick r:id="rId3"/>
              </a:rPr>
              <a:t>curc.readthedocs.io/</a:t>
            </a:r>
            <a:r>
              <a:rPr lang="en-US" sz="2300" dirty="0">
                <a:solidFill>
                  <a:srgbClr val="1D1C1D"/>
                </a:solidFill>
              </a:rPr>
              <a:t> </a:t>
            </a:r>
            <a:endParaRPr sz="2300" dirty="0">
              <a:solidFill>
                <a:srgbClr val="1D1C1D"/>
              </a:solidFill>
            </a:endParaRPr>
          </a:p>
          <a:p>
            <a:pPr marL="425450" indent="-34290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</a:pPr>
            <a:r>
              <a:rPr lang="en-US" sz="2300" b="1" u="sng" dirty="0">
                <a:solidFill>
                  <a:srgbClr val="1D1C1D"/>
                </a:solidFill>
              </a:rPr>
              <a:t>Trainings with Center for Research Data and Digital Scholarship (CRDDS)</a:t>
            </a:r>
            <a:r>
              <a:rPr lang="en-US" sz="2300" dirty="0">
                <a:solidFill>
                  <a:srgbClr val="1D1C1D"/>
                </a:solidFill>
              </a:rPr>
              <a:t>: </a:t>
            </a:r>
            <a:r>
              <a:rPr lang="en-US" sz="2300" u="sng" dirty="0">
                <a:solidFill>
                  <a:schemeClr val="hlink"/>
                </a:solidFill>
                <a:hlinkClick r:id="rId4"/>
              </a:rPr>
              <a:t>https://www.colorado.edu/crdds/</a:t>
            </a:r>
            <a:r>
              <a:rPr lang="en-US" sz="2300" dirty="0">
                <a:solidFill>
                  <a:srgbClr val="1D1C1D"/>
                </a:solidFill>
              </a:rPr>
              <a:t> </a:t>
            </a:r>
          </a:p>
          <a:p>
            <a:pPr marL="425450" indent="-34290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</a:pPr>
            <a:r>
              <a:rPr lang="en-US" sz="2300" b="1" u="sng" dirty="0">
                <a:solidFill>
                  <a:srgbClr val="1D1C1D"/>
                </a:solidFill>
              </a:rPr>
              <a:t>Helpdesk</a:t>
            </a:r>
            <a:r>
              <a:rPr lang="en-US" sz="2300" dirty="0">
                <a:solidFill>
                  <a:srgbClr val="1D1C1D"/>
                </a:solidFill>
              </a:rPr>
              <a:t>: </a:t>
            </a:r>
            <a:r>
              <a:rPr lang="en-US" sz="2300" u="sng" dirty="0">
                <a:solidFill>
                  <a:schemeClr val="hlink"/>
                </a:solidFill>
                <a:hlinkClick r:id="rId5"/>
              </a:rPr>
              <a:t>rc-help@colorado.edu</a:t>
            </a:r>
            <a:endParaRPr lang="en-US" sz="2300" u="sng" dirty="0">
              <a:solidFill>
                <a:schemeClr val="hlink"/>
              </a:solidFill>
            </a:endParaRPr>
          </a:p>
          <a:p>
            <a:pPr marL="425450" indent="-34290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</a:pPr>
            <a:r>
              <a:rPr lang="en-US" sz="2300" b="1" u="sng" dirty="0">
                <a:solidFill>
                  <a:schemeClr val="tx1"/>
                </a:solidFill>
                <a:hlinkClick r:id="rId6"/>
              </a:rPr>
              <a:t>Consult Hours</a:t>
            </a:r>
            <a:r>
              <a:rPr lang="en-US" sz="2300" b="1" dirty="0">
                <a:solidFill>
                  <a:schemeClr val="tx1"/>
                </a:solidFill>
              </a:rPr>
              <a:t> (Tuesday 12:00-1:00 in-person, Thursday 1:00-2:00 virtually)</a:t>
            </a:r>
            <a:endParaRPr dirty="0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527A0F18-D910-F69A-21B1-A26505FAD037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7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Survey and feedback</a:t>
            </a:r>
            <a:endParaRPr/>
          </a:p>
        </p:txBody>
      </p:sp>
      <p:sp>
        <p:nvSpPr>
          <p:cNvPr id="914" name="Google Shape;914;p7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lvl="0" indent="0" algn="l" rtl="0">
              <a:lnSpc>
                <a:spcPct val="2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600" dirty="0"/>
          </a:p>
          <a:p>
            <a:pPr marL="0" lvl="0" indent="0" algn="l" rtl="0">
              <a:lnSpc>
                <a:spcPct val="2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000" u="sng" dirty="0">
                <a:solidFill>
                  <a:schemeClr val="hlink"/>
                </a:solidFill>
                <a:hlinkClick r:id="rId3"/>
              </a:rPr>
              <a:t>https://tinyurl.com/curc-survey18</a:t>
            </a:r>
            <a:endParaRPr sz="30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3300" dirty="0"/>
          </a:p>
        </p:txBody>
      </p:sp>
      <p:pic>
        <p:nvPicPr>
          <p:cNvPr id="3" name="Picture 2" descr="QR code that links to https://tinyurl.com/curc-survey18&#10;">
            <a:extLst>
              <a:ext uri="{FF2B5EF4-FFF2-40B4-BE49-F238E27FC236}">
                <a16:creationId xmlns:a16="http://schemas.microsoft.com/office/drawing/2014/main" id="{983AAC64-E355-5BED-7878-3C7333DDD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9733" y="1355834"/>
            <a:ext cx="3943350" cy="3943350"/>
          </a:xfrm>
          <a:prstGeom prst="rect">
            <a:avLst/>
          </a:prstGeom>
        </p:spPr>
      </p:pic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5BF014E-B895-DF32-3246-F9FB62788AF2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61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B Content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2c16b9d-8c83-445e-a4f4-1fe3d2f43f13" xsi:nil="true"/>
    <lcf76f155ced4ddcb4097134ff3c332f xmlns="7e49f7d3-8802-46ca-9604-495ce27f67f4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C7320DB280744439FF1CC777D09ECA4" ma:contentTypeVersion="15" ma:contentTypeDescription="Create a new document." ma:contentTypeScope="" ma:versionID="e50b92032c956cc777cf00ac7d475189">
  <xsd:schema xmlns:xsd="http://www.w3.org/2001/XMLSchema" xmlns:xs="http://www.w3.org/2001/XMLSchema" xmlns:p="http://schemas.microsoft.com/office/2006/metadata/properties" xmlns:ns2="7e49f7d3-8802-46ca-9604-495ce27f67f4" xmlns:ns3="a1519f9a-9d6a-41c1-afc9-552e4069f82f" xmlns:ns4="92c16b9d-8c83-445e-a4f4-1fe3d2f43f13" targetNamespace="http://schemas.microsoft.com/office/2006/metadata/properties" ma:root="true" ma:fieldsID="fcd7cab68a23f1df7b42ced4f3edf141" ns2:_="" ns3:_="" ns4:_="">
    <xsd:import namespace="7e49f7d3-8802-46ca-9604-495ce27f67f4"/>
    <xsd:import namespace="a1519f9a-9d6a-41c1-afc9-552e4069f82f"/>
    <xsd:import namespace="92c16b9d-8c83-445e-a4f4-1fe3d2f43f1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4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e49f7d3-8802-46ca-9604-495ce27f67f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2802cc5-2881-4dd7-9d75-38905e9cf7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519f9a-9d6a-41c1-afc9-552e4069f82f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c16b9d-8c83-445e-a4f4-1fe3d2f43f13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95373c19-887a-4e93-8582-23ebe3fe2f18}" ma:internalName="TaxCatchAll" ma:showField="CatchAllData" ma:web="a1519f9a-9d6a-41c1-afc9-552e4069f8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AB02FF4-25A1-49FE-9DF7-DD19F525B7FA}">
  <ds:schemaRefs>
    <ds:schemaRef ds:uri="7e49f7d3-8802-46ca-9604-495ce27f67f4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http://www.w3.org/XML/1998/namespace"/>
    <ds:schemaRef ds:uri="92c16b9d-8c83-445e-a4f4-1fe3d2f43f13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a1519f9a-9d6a-41c1-afc9-552e4069f82f"/>
  </ds:schemaRefs>
</ds:datastoreItem>
</file>

<file path=customXml/itemProps2.xml><?xml version="1.0" encoding="utf-8"?>
<ds:datastoreItem xmlns:ds="http://schemas.openxmlformats.org/officeDocument/2006/customXml" ds:itemID="{6BBC22CE-40EC-4545-8FE9-90326628051D}">
  <ds:schemaRefs>
    <ds:schemaRef ds:uri="7e49f7d3-8802-46ca-9604-495ce27f67f4"/>
    <ds:schemaRef ds:uri="92c16b9d-8c83-445e-a4f4-1fe3d2f43f13"/>
    <ds:schemaRef ds:uri="a1519f9a-9d6a-41c1-afc9-552e4069f82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6B4C708-AA43-4CE7-BE2D-F9D9A02F494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3ded8b1b-070d-4629-82e4-c0b019f46057}" enabled="0" method="" siteId="{3ded8b1b-070d-4629-82e4-c0b019f4605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11013</TotalTime>
  <Words>3444</Words>
  <Application>Microsoft Macintosh PowerPoint</Application>
  <PresentationFormat>Widescreen</PresentationFormat>
  <Paragraphs>654</Paragraphs>
  <Slides>61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72" baseType="lpstr">
      <vt:lpstr>Arial</vt:lpstr>
      <vt:lpstr>Arial Black</vt:lpstr>
      <vt:lpstr>Calibri</vt:lpstr>
      <vt:lpstr>Century Gothic</vt:lpstr>
      <vt:lpstr>Consolas</vt:lpstr>
      <vt:lpstr>Courier New</vt:lpstr>
      <vt:lpstr>Helvetica Neue</vt:lpstr>
      <vt:lpstr>Helvetica Neue Light</vt:lpstr>
      <vt:lpstr>Source Sans Pro Light</vt:lpstr>
      <vt:lpstr>Times New Roman</vt:lpstr>
      <vt:lpstr>CUB Content </vt:lpstr>
      <vt:lpstr>Getting Started with Research Computing From Command Line to Job Scheduling</vt:lpstr>
      <vt:lpstr>Useful CURC links</vt:lpstr>
      <vt:lpstr>The user support team</vt:lpstr>
      <vt:lpstr>PowerPoint Presentation</vt:lpstr>
      <vt:lpstr>General Overview of Job Submission</vt:lpstr>
      <vt:lpstr>General Overview of Job Submission</vt:lpstr>
      <vt:lpstr>General Overview of Job Submission</vt:lpstr>
      <vt:lpstr>Accessing the Terminal</vt:lpstr>
      <vt:lpstr>Accessing the Terminal</vt:lpstr>
      <vt:lpstr>Accessing the Terminal</vt:lpstr>
      <vt:lpstr>Accessing the Alpine Shell</vt:lpstr>
      <vt:lpstr>Linux Command Line</vt:lpstr>
      <vt:lpstr>List Files and Directories</vt:lpstr>
      <vt:lpstr>Standard CURC Directories</vt:lpstr>
      <vt:lpstr>File Operations</vt:lpstr>
      <vt:lpstr>File Operations</vt:lpstr>
      <vt:lpstr>File Operations</vt:lpstr>
      <vt:lpstr>File Operations</vt:lpstr>
      <vt:lpstr>Create and edit a file – Terminal Text Editors</vt:lpstr>
      <vt:lpstr>Creating a Bash Script</vt:lpstr>
      <vt:lpstr>Shell script basics</vt:lpstr>
      <vt:lpstr>General Overview of Job Submission</vt:lpstr>
      <vt:lpstr>Interactive jobs</vt:lpstr>
      <vt:lpstr>Running an interactive job</vt:lpstr>
      <vt:lpstr>Batch Jobs</vt:lpstr>
      <vt:lpstr>Anatomy of a job script </vt:lpstr>
      <vt:lpstr>Directives in a job script</vt:lpstr>
      <vt:lpstr>Directives in a job script</vt:lpstr>
      <vt:lpstr>Demo – Creating a Batch Script</vt:lpstr>
      <vt:lpstr>Example job script</vt:lpstr>
      <vt:lpstr>Submitting a Job script</vt:lpstr>
      <vt:lpstr>Submitting a Job script</vt:lpstr>
      <vt:lpstr>Submitting a Job script</vt:lpstr>
      <vt:lpstr>Local vs Environment variables</vt:lpstr>
      <vt:lpstr>Environment variables</vt:lpstr>
      <vt:lpstr>Local vs Environment Variables</vt:lpstr>
      <vt:lpstr>Local vs Environment Variables</vt:lpstr>
      <vt:lpstr>Batch vs Interactive</vt:lpstr>
      <vt:lpstr>Batch vs Interactive</vt:lpstr>
      <vt:lpstr>Batch vs Interactive</vt:lpstr>
      <vt:lpstr>General Overview of Job Submission</vt:lpstr>
      <vt:lpstr>Common Resource Requests</vt:lpstr>
      <vt:lpstr>Common Resource Requests</vt:lpstr>
      <vt:lpstr>Common Resource Requests</vt:lpstr>
      <vt:lpstr>Common Resource Requests</vt:lpstr>
      <vt:lpstr>Common Resource Requests</vt:lpstr>
      <vt:lpstr>Alpine Partitions</vt:lpstr>
      <vt:lpstr>Alpine Partitions</vt:lpstr>
      <vt:lpstr>Alpine Partitions</vt:lpstr>
      <vt:lpstr>Alpine Partitions</vt:lpstr>
      <vt:lpstr>Alpine Partitions</vt:lpstr>
      <vt:lpstr>Alpine Partitions</vt:lpstr>
      <vt:lpstr>Alpine Testing Partitions</vt:lpstr>
      <vt:lpstr>Quality of Service (QoS)</vt:lpstr>
      <vt:lpstr>Common directives</vt:lpstr>
      <vt:lpstr>Common directives</vt:lpstr>
      <vt:lpstr>Checking your jobs</vt:lpstr>
      <vt:lpstr>Checking your jobs</vt:lpstr>
      <vt:lpstr>Job Monitoring - XDMOD</vt:lpstr>
      <vt:lpstr>Thank you!</vt:lpstr>
      <vt:lpstr>Survey and 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CURC Alpine Allocations</dc:title>
  <dc:creator>Layla Freeborn</dc:creator>
  <cp:lastModifiedBy>Brandon Reyes</cp:lastModifiedBy>
  <cp:revision>52</cp:revision>
  <cp:lastPrinted>2025-09-12T16:15:41Z</cp:lastPrinted>
  <dcterms:created xsi:type="dcterms:W3CDTF">2023-01-13T17:07:22Z</dcterms:created>
  <dcterms:modified xsi:type="dcterms:W3CDTF">2026-08-28T17:53:58Z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0x010100DC7320DB280744439FF1CC777D09ECA4</vt:lpwstr>
  </property>
</Properties>
</file>